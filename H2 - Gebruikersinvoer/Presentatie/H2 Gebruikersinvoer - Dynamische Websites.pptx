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4"/>
  </p:notesMasterIdLst>
  <p:sldIdLst>
    <p:sldId id="256" r:id="rId2"/>
    <p:sldId id="273" r:id="rId3"/>
    <p:sldId id="274" r:id="rId4"/>
    <p:sldId id="275" r:id="rId5"/>
    <p:sldId id="276" r:id="rId6"/>
    <p:sldId id="278" r:id="rId7"/>
    <p:sldId id="277" r:id="rId8"/>
    <p:sldId id="279" r:id="rId9"/>
    <p:sldId id="280" r:id="rId10"/>
    <p:sldId id="281" r:id="rId11"/>
    <p:sldId id="282" r:id="rId12"/>
    <p:sldId id="272" r:id="rId13"/>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E7D8E5-334B-6BED-3A15-C50C85D7133C}" v="2733" dt="2025-11-05T14:12:54.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533" autoAdjust="0"/>
  </p:normalViewPr>
  <p:slideViewPr>
    <p:cSldViewPr snapToGrid="0">
      <p:cViewPr varScale="1">
        <p:scale>
          <a:sx n="48" d="100"/>
          <a:sy n="48" d="100"/>
        </p:scale>
        <p:origin x="136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6355E-35B0-47A6-8E00-D68DE081856C}" type="datetimeFigureOut">
              <a:rPr lang="nl-BE" smtClean="0"/>
              <a:t>5/11/2025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D449-D42A-4711-8837-53EC15580D9C}" type="slidenum">
              <a:rPr lang="nl-BE" smtClean="0"/>
              <a:t>‹nr.›</a:t>
            </a:fld>
            <a:endParaRPr lang="nl-BE"/>
          </a:p>
        </p:txBody>
      </p:sp>
    </p:spTree>
    <p:extLst>
      <p:ext uri="{BB962C8B-B14F-4D97-AF65-F5344CB8AC3E}">
        <p14:creationId xmlns:p14="http://schemas.microsoft.com/office/powerpoint/2010/main" val="1580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jarnste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latin typeface="Calibri"/>
                <a:ea typeface="Calibri"/>
                <a:cs typeface="Calibri"/>
              </a:rPr>
              <a:t>(2025-2026) Jarne Verlinden – 6icw</a:t>
            </a:r>
          </a:p>
          <a:p>
            <a:r>
              <a:rPr lang="en-US" dirty="0">
                <a:hlinkClick r:id="rId3"/>
              </a:rPr>
              <a:t>https://github.com/jarnster</a:t>
            </a:r>
            <a:endParaRPr lang="en-US"/>
          </a:p>
          <a:p>
            <a:endParaRPr lang="en-US" dirty="0"/>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a:t>
            </a:fld>
            <a:endParaRPr lang="nl-BE"/>
          </a:p>
        </p:txBody>
      </p:sp>
    </p:spTree>
    <p:extLst>
      <p:ext uri="{BB962C8B-B14F-4D97-AF65-F5344CB8AC3E}">
        <p14:creationId xmlns:p14="http://schemas.microsoft.com/office/powerpoint/2010/main" val="41059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We </a:t>
            </a:r>
            <a:r>
              <a:rPr lang="en-US" dirty="0" err="1"/>
              <a:t>stellen</a:t>
            </a:r>
            <a:r>
              <a:rPr lang="en-US" dirty="0"/>
              <a:t> </a:t>
            </a:r>
            <a:r>
              <a:rPr lang="en-US" dirty="0" err="1"/>
              <a:t>ons</a:t>
            </a:r>
            <a:r>
              <a:rPr lang="en-US" dirty="0"/>
              <a:t> </a:t>
            </a:r>
            <a:r>
              <a:rPr lang="en-US" dirty="0" err="1"/>
              <a:t>eerst</a:t>
            </a:r>
            <a:r>
              <a:rPr lang="en-US" dirty="0"/>
              <a:t> de </a:t>
            </a:r>
            <a:r>
              <a:rPr lang="en-US" dirty="0" err="1"/>
              <a:t>vraag</a:t>
            </a:r>
            <a:r>
              <a:rPr lang="en-US" dirty="0"/>
              <a:t>: Wat is </a:t>
            </a:r>
            <a:r>
              <a:rPr lang="en-US" dirty="0" err="1"/>
              <a:t>gebruikersinvoer</a:t>
            </a:r>
            <a:r>
              <a:rPr lang="en-US" dirty="0"/>
              <a:t>? Dat is </a:t>
            </a:r>
            <a:r>
              <a:rPr lang="en-US" dirty="0" err="1"/>
              <a:t>eigenlijk</a:t>
            </a:r>
            <a:r>
              <a:rPr lang="en-US" dirty="0"/>
              <a:t> </a:t>
            </a:r>
            <a:r>
              <a:rPr lang="en-US" dirty="0" err="1"/>
              <a:t>alles</a:t>
            </a:r>
            <a:r>
              <a:rPr lang="en-US" dirty="0"/>
              <a:t> </a:t>
            </a:r>
            <a:r>
              <a:rPr lang="en-US" dirty="0" err="1"/>
              <a:t>waarop</a:t>
            </a:r>
            <a:r>
              <a:rPr lang="en-US" dirty="0"/>
              <a:t> de </a:t>
            </a:r>
            <a:r>
              <a:rPr lang="en-US" dirty="0" err="1"/>
              <a:t>eindgebruiker</a:t>
            </a:r>
            <a:r>
              <a:rPr lang="en-US" dirty="0"/>
              <a:t> </a:t>
            </a:r>
            <a:r>
              <a:rPr lang="en-US" dirty="0" err="1"/>
              <a:t>invloed</a:t>
            </a:r>
            <a:r>
              <a:rPr lang="en-US" dirty="0"/>
              <a:t> op </a:t>
            </a:r>
            <a:r>
              <a:rPr lang="en-US" dirty="0" err="1"/>
              <a:t>heeft</a:t>
            </a:r>
            <a:r>
              <a:rPr lang="en-US" dirty="0"/>
              <a:t>.</a:t>
            </a:r>
          </a:p>
          <a:p>
            <a:endParaRPr lang="en-US" dirty="0"/>
          </a:p>
          <a:p>
            <a:r>
              <a:rPr lang="en-US" dirty="0" err="1"/>
              <a:t>Bijvoorbeeld</a:t>
            </a:r>
            <a:r>
              <a:rPr lang="en-US" dirty="0"/>
              <a:t> </a:t>
            </a:r>
            <a:r>
              <a:rPr lang="en-US" dirty="0" err="1"/>
              <a:t>een</a:t>
            </a:r>
            <a:r>
              <a:rPr lang="en-US" dirty="0"/>
              <a:t> </a:t>
            </a:r>
            <a:r>
              <a:rPr lang="en-US" dirty="0" err="1"/>
              <a:t>formulier</a:t>
            </a:r>
            <a:r>
              <a:rPr lang="en-US" dirty="0"/>
              <a:t>, </a:t>
            </a:r>
            <a:r>
              <a:rPr lang="en-US" dirty="0" err="1"/>
              <a:t>een</a:t>
            </a:r>
            <a:r>
              <a:rPr lang="en-US" dirty="0"/>
              <a:t> GET parameter </a:t>
            </a:r>
            <a:r>
              <a:rPr lang="en-US" dirty="0" err="1"/>
              <a:t>zoals</a:t>
            </a:r>
            <a:r>
              <a:rPr lang="en-US" dirty="0"/>
              <a:t> ID </a:t>
            </a:r>
            <a:r>
              <a:rPr lang="en-US" dirty="0" err="1"/>
              <a:t>en</a:t>
            </a:r>
            <a:r>
              <a:rPr lang="en-US" dirty="0"/>
              <a:t> headers.</a:t>
            </a:r>
          </a:p>
          <a:p>
            <a:endParaRPr lang="en-US" dirty="0"/>
          </a:p>
          <a:p>
            <a:r>
              <a:rPr lang="en-US" dirty="0"/>
              <a:t>In H1 </a:t>
            </a:r>
            <a:r>
              <a:rPr lang="en-US" dirty="0" err="1"/>
              <a:t>werkten</a:t>
            </a:r>
            <a:r>
              <a:rPr lang="en-US" dirty="0"/>
              <a:t> we met </a:t>
            </a:r>
            <a:r>
              <a:rPr lang="en-US" dirty="0" err="1"/>
              <a:t>gegevens</a:t>
            </a:r>
            <a:r>
              <a:rPr lang="en-US" dirty="0"/>
              <a:t> die we </a:t>
            </a:r>
            <a:r>
              <a:rPr lang="en-US" dirty="0" err="1"/>
              <a:t>vooraf</a:t>
            </a:r>
            <a:r>
              <a:rPr lang="en-US" dirty="0"/>
              <a:t> </a:t>
            </a:r>
            <a:r>
              <a:rPr lang="en-US" dirty="0" err="1"/>
              <a:t>instelde</a:t>
            </a:r>
            <a:r>
              <a:rPr lang="en-US" dirty="0"/>
              <a:t>. Nu </a:t>
            </a:r>
            <a:r>
              <a:rPr lang="en-US" dirty="0" err="1"/>
              <a:t>gaan</a:t>
            </a:r>
            <a:r>
              <a:rPr lang="en-US" dirty="0"/>
              <a:t> we, met </a:t>
            </a:r>
            <a:r>
              <a:rPr lang="en-US" dirty="0" err="1"/>
              <a:t>behulp</a:t>
            </a:r>
            <a:r>
              <a:rPr lang="en-US" dirty="0"/>
              <a:t> van </a:t>
            </a:r>
            <a:r>
              <a:rPr lang="en-US" dirty="0" err="1"/>
              <a:t>formulieren</a:t>
            </a:r>
            <a:r>
              <a:rPr lang="en-US" dirty="0"/>
              <a:t> </a:t>
            </a:r>
            <a:r>
              <a:rPr lang="en-US" dirty="0" err="1"/>
              <a:t>en</a:t>
            </a:r>
            <a:r>
              <a:rPr lang="en-US" dirty="0"/>
              <a:t> </a:t>
            </a:r>
            <a:r>
              <a:rPr lang="en-US" dirty="0" err="1"/>
              <a:t>andere</a:t>
            </a:r>
            <a:r>
              <a:rPr lang="en-US" dirty="0"/>
              <a:t> parameters (</a:t>
            </a:r>
            <a:r>
              <a:rPr lang="en-US" dirty="0" err="1"/>
              <a:t>zoals</a:t>
            </a:r>
            <a:r>
              <a:rPr lang="en-US" dirty="0"/>
              <a:t> $_GET) </a:t>
            </a:r>
            <a:r>
              <a:rPr lang="en-US" dirty="0" err="1"/>
              <a:t>gebruikersinvoer</a:t>
            </a:r>
            <a:r>
              <a:rPr lang="en-US" dirty="0"/>
              <a:t> </a:t>
            </a:r>
            <a:r>
              <a:rPr lang="en-US" dirty="0" err="1"/>
              <a:t>accepteren</a:t>
            </a:r>
            <a:r>
              <a:rPr lang="en-US" dirty="0"/>
              <a:t>.</a:t>
            </a:r>
            <a:endParaRPr lang="nl-NL"/>
          </a:p>
          <a:p>
            <a:endParaRPr lang="en-US" dirty="0">
              <a:latin typeface="Calibri"/>
              <a:ea typeface="Calibri"/>
              <a:cs typeface="Calibri"/>
            </a:endParaRPr>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2</a:t>
            </a:fld>
            <a:endParaRPr lang="nl-BE"/>
          </a:p>
        </p:txBody>
      </p:sp>
    </p:spTree>
    <p:extLst>
      <p:ext uri="{BB962C8B-B14F-4D97-AF65-F5344CB8AC3E}">
        <p14:creationId xmlns:p14="http://schemas.microsoft.com/office/powerpoint/2010/main" val="2510024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40D76-7A76-135A-1C34-F04D2D25FFD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A77554E-CC5D-5CD7-D9A4-8338A23EF49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7D88C6D-DF0D-089C-9C53-4CAA83FC0EC7}"/>
              </a:ext>
            </a:extLst>
          </p:cNvPr>
          <p:cNvSpPr>
            <a:spLocks noGrp="1"/>
          </p:cNvSpPr>
          <p:nvPr>
            <p:ph type="body" idx="1"/>
          </p:nvPr>
        </p:nvSpPr>
        <p:spPr/>
        <p:txBody>
          <a:bodyPr/>
          <a:lstStyle/>
          <a:p>
            <a:r>
              <a:rPr lang="en-US" dirty="0"/>
              <a:t>We </a:t>
            </a:r>
            <a:r>
              <a:rPr lang="en-US" dirty="0" err="1"/>
              <a:t>stellen</a:t>
            </a:r>
            <a:r>
              <a:rPr lang="en-US" dirty="0"/>
              <a:t> </a:t>
            </a:r>
            <a:r>
              <a:rPr lang="en-US" dirty="0" err="1"/>
              <a:t>ons</a:t>
            </a:r>
            <a:r>
              <a:rPr lang="en-US" dirty="0"/>
              <a:t> </a:t>
            </a:r>
            <a:r>
              <a:rPr lang="en-US" dirty="0" err="1"/>
              <a:t>eerst</a:t>
            </a:r>
            <a:r>
              <a:rPr lang="en-US" dirty="0"/>
              <a:t> de </a:t>
            </a:r>
            <a:r>
              <a:rPr lang="en-US" dirty="0" err="1"/>
              <a:t>vraag</a:t>
            </a:r>
            <a:r>
              <a:rPr lang="en-US" dirty="0"/>
              <a:t>: Wat is </a:t>
            </a:r>
            <a:r>
              <a:rPr lang="en-US" dirty="0" err="1"/>
              <a:t>gebruikersinvoer</a:t>
            </a:r>
            <a:r>
              <a:rPr lang="en-US" dirty="0"/>
              <a:t>? Dat is </a:t>
            </a:r>
            <a:r>
              <a:rPr lang="en-US" dirty="0" err="1"/>
              <a:t>eigenlijk</a:t>
            </a:r>
            <a:r>
              <a:rPr lang="en-US" dirty="0"/>
              <a:t> </a:t>
            </a:r>
            <a:r>
              <a:rPr lang="en-US" dirty="0" err="1"/>
              <a:t>alles</a:t>
            </a:r>
            <a:r>
              <a:rPr lang="en-US" dirty="0"/>
              <a:t> </a:t>
            </a:r>
            <a:r>
              <a:rPr lang="en-US" dirty="0" err="1"/>
              <a:t>waarop</a:t>
            </a:r>
            <a:r>
              <a:rPr lang="en-US" dirty="0"/>
              <a:t> de </a:t>
            </a:r>
            <a:r>
              <a:rPr lang="en-US" dirty="0" err="1"/>
              <a:t>eindgebruiker</a:t>
            </a:r>
            <a:r>
              <a:rPr lang="en-US" dirty="0"/>
              <a:t> </a:t>
            </a:r>
            <a:r>
              <a:rPr lang="en-US" dirty="0" err="1"/>
              <a:t>invloed</a:t>
            </a:r>
            <a:r>
              <a:rPr lang="en-US" dirty="0"/>
              <a:t> op </a:t>
            </a:r>
            <a:r>
              <a:rPr lang="en-US" dirty="0" err="1"/>
              <a:t>heeft</a:t>
            </a:r>
            <a:r>
              <a:rPr lang="en-US" dirty="0"/>
              <a:t>.</a:t>
            </a:r>
          </a:p>
          <a:p>
            <a:endParaRPr lang="en-US" dirty="0"/>
          </a:p>
          <a:p>
            <a:r>
              <a:rPr lang="en-US" dirty="0" err="1"/>
              <a:t>Bijvoorbeeld</a:t>
            </a:r>
            <a:r>
              <a:rPr lang="en-US" dirty="0"/>
              <a:t> </a:t>
            </a:r>
            <a:r>
              <a:rPr lang="en-US" dirty="0" err="1"/>
              <a:t>een</a:t>
            </a:r>
            <a:r>
              <a:rPr lang="en-US" dirty="0"/>
              <a:t> </a:t>
            </a:r>
            <a:r>
              <a:rPr lang="en-US" dirty="0" err="1"/>
              <a:t>formulier</a:t>
            </a:r>
            <a:r>
              <a:rPr lang="en-US" dirty="0"/>
              <a:t>, </a:t>
            </a:r>
            <a:r>
              <a:rPr lang="en-US" dirty="0" err="1"/>
              <a:t>een</a:t>
            </a:r>
            <a:r>
              <a:rPr lang="en-US" dirty="0"/>
              <a:t> GET parameter </a:t>
            </a:r>
            <a:r>
              <a:rPr lang="en-US" dirty="0" err="1"/>
              <a:t>zoals</a:t>
            </a:r>
            <a:r>
              <a:rPr lang="en-US" dirty="0"/>
              <a:t> ID </a:t>
            </a:r>
            <a:r>
              <a:rPr lang="en-US" dirty="0" err="1"/>
              <a:t>en</a:t>
            </a:r>
            <a:r>
              <a:rPr lang="en-US" dirty="0"/>
              <a:t> headers.</a:t>
            </a:r>
          </a:p>
          <a:p>
            <a:endParaRPr lang="en-US" dirty="0"/>
          </a:p>
          <a:p>
            <a:r>
              <a:rPr lang="en-US" dirty="0"/>
              <a:t>In H1 </a:t>
            </a:r>
            <a:r>
              <a:rPr lang="en-US" dirty="0" err="1"/>
              <a:t>werkten</a:t>
            </a:r>
            <a:r>
              <a:rPr lang="en-US" dirty="0"/>
              <a:t> we met </a:t>
            </a:r>
            <a:r>
              <a:rPr lang="en-US" dirty="0" err="1"/>
              <a:t>gegevens</a:t>
            </a:r>
            <a:r>
              <a:rPr lang="en-US" dirty="0"/>
              <a:t> die we </a:t>
            </a:r>
            <a:r>
              <a:rPr lang="en-US" dirty="0" err="1"/>
              <a:t>vooraf</a:t>
            </a:r>
            <a:r>
              <a:rPr lang="en-US" dirty="0"/>
              <a:t> </a:t>
            </a:r>
            <a:r>
              <a:rPr lang="en-US" dirty="0" err="1"/>
              <a:t>instelde</a:t>
            </a:r>
            <a:r>
              <a:rPr lang="en-US" dirty="0"/>
              <a:t>. Nu </a:t>
            </a:r>
            <a:r>
              <a:rPr lang="en-US" dirty="0" err="1"/>
              <a:t>gaan</a:t>
            </a:r>
            <a:r>
              <a:rPr lang="en-US" dirty="0"/>
              <a:t> we, met </a:t>
            </a:r>
            <a:r>
              <a:rPr lang="en-US" dirty="0" err="1"/>
              <a:t>behulp</a:t>
            </a:r>
            <a:r>
              <a:rPr lang="en-US" dirty="0"/>
              <a:t> van </a:t>
            </a:r>
            <a:r>
              <a:rPr lang="en-US" dirty="0" err="1"/>
              <a:t>formulieren</a:t>
            </a:r>
            <a:r>
              <a:rPr lang="en-US" dirty="0"/>
              <a:t> </a:t>
            </a:r>
            <a:r>
              <a:rPr lang="en-US" dirty="0" err="1"/>
              <a:t>en</a:t>
            </a:r>
            <a:r>
              <a:rPr lang="en-US" dirty="0"/>
              <a:t> </a:t>
            </a:r>
            <a:r>
              <a:rPr lang="en-US" dirty="0" err="1"/>
              <a:t>andere</a:t>
            </a:r>
            <a:r>
              <a:rPr lang="en-US" dirty="0"/>
              <a:t> parameters (</a:t>
            </a:r>
            <a:r>
              <a:rPr lang="en-US" dirty="0" err="1"/>
              <a:t>zoals</a:t>
            </a:r>
            <a:r>
              <a:rPr lang="en-US" dirty="0"/>
              <a:t> $_GET) </a:t>
            </a:r>
            <a:r>
              <a:rPr lang="en-US" dirty="0" err="1"/>
              <a:t>gebruikersinvoer</a:t>
            </a:r>
            <a:r>
              <a:rPr lang="en-US" dirty="0"/>
              <a:t> </a:t>
            </a:r>
            <a:r>
              <a:rPr lang="en-US" dirty="0" err="1"/>
              <a:t>accepteren</a:t>
            </a:r>
            <a:r>
              <a:rPr lang="en-US" dirty="0"/>
              <a:t>.</a:t>
            </a:r>
            <a:endParaRPr lang="nl-NL"/>
          </a:p>
          <a:p>
            <a:endParaRPr lang="en-US" dirty="0">
              <a:latin typeface="Aptos"/>
              <a:ea typeface="Calibri"/>
              <a:cs typeface="Calibri"/>
            </a:endParaRPr>
          </a:p>
          <a:p>
            <a:r>
              <a:rPr lang="en-US" dirty="0">
                <a:latin typeface="Aptos"/>
                <a:ea typeface="Calibri"/>
                <a:cs typeface="Calibri"/>
              </a:rPr>
              <a:t>Als </a:t>
            </a:r>
            <a:r>
              <a:rPr lang="en-US" dirty="0" err="1">
                <a:latin typeface="Aptos"/>
                <a:ea typeface="Calibri"/>
                <a:cs typeface="Calibri"/>
              </a:rPr>
              <a:t>eerst</a:t>
            </a:r>
            <a:r>
              <a:rPr lang="en-US" dirty="0">
                <a:latin typeface="Aptos"/>
                <a:ea typeface="Calibri"/>
                <a:cs typeface="Calibri"/>
              </a:rPr>
              <a:t> </a:t>
            </a:r>
            <a:r>
              <a:rPr lang="en-US" dirty="0" err="1">
                <a:latin typeface="Aptos"/>
                <a:ea typeface="Calibri"/>
                <a:cs typeface="Calibri"/>
              </a:rPr>
              <a:t>zullen</a:t>
            </a:r>
            <a:r>
              <a:rPr lang="en-US" dirty="0">
                <a:latin typeface="Aptos"/>
                <a:ea typeface="Calibri"/>
                <a:cs typeface="Calibri"/>
              </a:rPr>
              <a:t> we </a:t>
            </a:r>
            <a:r>
              <a:rPr lang="en-US" dirty="0" err="1">
                <a:latin typeface="Aptos"/>
                <a:ea typeface="Calibri"/>
                <a:cs typeface="Calibri"/>
              </a:rPr>
              <a:t>formulieren</a:t>
            </a:r>
            <a:r>
              <a:rPr lang="en-US" dirty="0">
                <a:latin typeface="Aptos"/>
                <a:ea typeface="Calibri"/>
                <a:cs typeface="Calibri"/>
              </a:rPr>
              <a:t> </a:t>
            </a:r>
            <a:r>
              <a:rPr lang="en-US" dirty="0" err="1">
                <a:latin typeface="Aptos"/>
                <a:ea typeface="Calibri"/>
                <a:cs typeface="Calibri"/>
              </a:rPr>
              <a:t>bekijken</a:t>
            </a:r>
            <a:r>
              <a:rPr lang="en-US" dirty="0">
                <a:latin typeface="Aptos"/>
                <a:ea typeface="Calibri"/>
                <a:cs typeface="Calibri"/>
              </a:rPr>
              <a:t>. Als je </a:t>
            </a:r>
            <a:r>
              <a:rPr lang="en-US" dirty="0" err="1">
                <a:latin typeface="Aptos"/>
                <a:ea typeface="Calibri"/>
                <a:cs typeface="Calibri"/>
              </a:rPr>
              <a:t>een</a:t>
            </a:r>
            <a:r>
              <a:rPr lang="en-US" dirty="0">
                <a:latin typeface="Aptos"/>
                <a:ea typeface="Calibri"/>
                <a:cs typeface="Calibri"/>
              </a:rPr>
              <a:t> Form element in HTML </a:t>
            </a:r>
            <a:r>
              <a:rPr lang="en-US" dirty="0" err="1">
                <a:latin typeface="Aptos"/>
                <a:ea typeface="Calibri"/>
                <a:cs typeface="Calibri"/>
              </a:rPr>
              <a:t>hebt</a:t>
            </a:r>
            <a:r>
              <a:rPr lang="en-US" dirty="0">
                <a:latin typeface="Aptos"/>
                <a:ea typeface="Calibri"/>
                <a:cs typeface="Calibri"/>
              </a:rPr>
              <a:t> </a:t>
            </a:r>
            <a:r>
              <a:rPr lang="en-US" dirty="0" err="1">
                <a:latin typeface="Aptos"/>
                <a:ea typeface="Calibri"/>
                <a:cs typeface="Calibri"/>
              </a:rPr>
              <a:t>mét</a:t>
            </a:r>
            <a:r>
              <a:rPr lang="en-US" dirty="0">
                <a:latin typeface="Aptos"/>
                <a:ea typeface="Calibri"/>
                <a:cs typeface="Calibri"/>
              </a:rPr>
              <a:t> de "method" attribute, dan </a:t>
            </a:r>
            <a:r>
              <a:rPr lang="en-US" dirty="0" err="1">
                <a:latin typeface="Aptos"/>
                <a:ea typeface="Calibri"/>
                <a:cs typeface="Calibri"/>
              </a:rPr>
              <a:t>zal</a:t>
            </a:r>
            <a:r>
              <a:rPr lang="en-US" dirty="0">
                <a:latin typeface="Aptos"/>
                <a:ea typeface="Calibri"/>
                <a:cs typeface="Calibri"/>
              </a:rPr>
              <a:t> de browser </a:t>
            </a:r>
            <a:r>
              <a:rPr lang="en-US" dirty="0" err="1">
                <a:latin typeface="Aptos"/>
                <a:ea typeface="Calibri"/>
                <a:cs typeface="Calibri"/>
              </a:rPr>
              <a:t>automatisch</a:t>
            </a:r>
            <a:r>
              <a:rPr lang="en-US" dirty="0">
                <a:latin typeface="Aptos"/>
                <a:ea typeface="Calibri"/>
                <a:cs typeface="Calibri"/>
              </a:rPr>
              <a:t> </a:t>
            </a:r>
            <a:r>
              <a:rPr lang="en-US" dirty="0" err="1">
                <a:latin typeface="Aptos"/>
                <a:ea typeface="Calibri"/>
                <a:cs typeface="Calibri"/>
              </a:rPr>
              <a:t>een</a:t>
            </a:r>
            <a:r>
              <a:rPr lang="en-US" dirty="0">
                <a:latin typeface="Aptos"/>
                <a:ea typeface="Calibri"/>
                <a:cs typeface="Calibri"/>
              </a:rPr>
              <a:t> HTTP request </a:t>
            </a:r>
            <a:r>
              <a:rPr lang="en-US" dirty="0" err="1">
                <a:latin typeface="Aptos"/>
                <a:ea typeface="Calibri"/>
                <a:cs typeface="Calibri"/>
              </a:rPr>
              <a:t>maken</a:t>
            </a:r>
            <a:r>
              <a:rPr lang="en-US" dirty="0">
                <a:latin typeface="Aptos"/>
                <a:ea typeface="Calibri"/>
                <a:cs typeface="Calibri"/>
              </a:rPr>
              <a:t> op basis van de </a:t>
            </a:r>
            <a:r>
              <a:rPr lang="en-US" dirty="0" err="1">
                <a:latin typeface="Aptos"/>
                <a:ea typeface="Calibri"/>
                <a:cs typeface="Calibri"/>
              </a:rPr>
              <a:t>methode</a:t>
            </a:r>
            <a:r>
              <a:rPr lang="en-US" dirty="0">
                <a:latin typeface="Aptos"/>
                <a:ea typeface="Calibri"/>
                <a:cs typeface="Calibri"/>
              </a:rPr>
              <a:t> </a:t>
            </a:r>
            <a:r>
              <a:rPr lang="en-US" dirty="0" err="1">
                <a:latin typeface="Aptos"/>
                <a:ea typeface="Calibri"/>
                <a:cs typeface="Calibri"/>
              </a:rPr>
              <a:t>inclusief</a:t>
            </a:r>
            <a:r>
              <a:rPr lang="en-US" dirty="0">
                <a:latin typeface="Aptos"/>
                <a:ea typeface="Calibri"/>
                <a:cs typeface="Calibri"/>
              </a:rPr>
              <a:t> de </a:t>
            </a:r>
            <a:r>
              <a:rPr lang="en-US" dirty="0" err="1">
                <a:latin typeface="Aptos"/>
                <a:ea typeface="Calibri"/>
                <a:cs typeface="Calibri"/>
              </a:rPr>
              <a:t>gebruikersinvoer</a:t>
            </a:r>
            <a:r>
              <a:rPr lang="en-US" dirty="0">
                <a:latin typeface="Aptos"/>
                <a:ea typeface="Calibri"/>
                <a:cs typeface="Calibri"/>
              </a:rPr>
              <a:t> in de &lt;input&gt; </a:t>
            </a:r>
            <a:r>
              <a:rPr lang="en-US" dirty="0" err="1">
                <a:latin typeface="Aptos"/>
                <a:ea typeface="Calibri"/>
                <a:cs typeface="Calibri"/>
              </a:rPr>
              <a:t>velden</a:t>
            </a:r>
            <a:r>
              <a:rPr lang="en-US" dirty="0">
                <a:latin typeface="Aptos"/>
                <a:ea typeface="Calibri"/>
                <a:cs typeface="Calibri"/>
              </a:rPr>
              <a:t>.</a:t>
            </a:r>
          </a:p>
          <a:p>
            <a:endParaRPr lang="en-US" dirty="0">
              <a:latin typeface="Aptos"/>
              <a:ea typeface="Calibri"/>
              <a:cs typeface="Calibri"/>
            </a:endParaRPr>
          </a:p>
          <a:p>
            <a:r>
              <a:rPr lang="en-US" dirty="0" err="1">
                <a:latin typeface="Aptos"/>
                <a:ea typeface="Calibri"/>
                <a:cs typeface="Calibri"/>
              </a:rPr>
              <a:t>Daarna</a:t>
            </a:r>
            <a:r>
              <a:rPr lang="en-US" dirty="0">
                <a:latin typeface="Aptos"/>
                <a:ea typeface="Calibri"/>
                <a:cs typeface="Calibri"/>
              </a:rPr>
              <a:t> is het jouw taak om de </a:t>
            </a:r>
            <a:r>
              <a:rPr lang="en-US" dirty="0" err="1">
                <a:latin typeface="Aptos"/>
                <a:ea typeface="Calibri"/>
                <a:cs typeface="Calibri"/>
              </a:rPr>
              <a:t>gegevens</a:t>
            </a:r>
            <a:r>
              <a:rPr lang="en-US" dirty="0">
                <a:latin typeface="Aptos"/>
                <a:ea typeface="Calibri"/>
                <a:cs typeface="Calibri"/>
              </a:rPr>
              <a:t> op te </a:t>
            </a:r>
            <a:r>
              <a:rPr lang="en-US" dirty="0" err="1">
                <a:latin typeface="Aptos"/>
                <a:ea typeface="Calibri"/>
                <a:cs typeface="Calibri"/>
              </a:rPr>
              <a:t>vangen</a:t>
            </a:r>
            <a:r>
              <a:rPr lang="en-US" dirty="0">
                <a:latin typeface="Aptos"/>
                <a:ea typeface="Calibri"/>
                <a:cs typeface="Calibri"/>
              </a:rPr>
              <a:t> </a:t>
            </a:r>
            <a:r>
              <a:rPr lang="en-US" dirty="0" err="1">
                <a:latin typeface="Aptos"/>
                <a:ea typeface="Calibri"/>
                <a:cs typeface="Calibri"/>
              </a:rPr>
              <a:t>en</a:t>
            </a:r>
            <a:r>
              <a:rPr lang="en-US" dirty="0">
                <a:latin typeface="Aptos"/>
                <a:ea typeface="Calibri"/>
                <a:cs typeface="Calibri"/>
              </a:rPr>
              <a:t> </a:t>
            </a:r>
            <a:r>
              <a:rPr lang="en-US" dirty="0" err="1">
                <a:latin typeface="Aptos"/>
                <a:ea typeface="Calibri"/>
                <a:cs typeface="Calibri"/>
              </a:rPr>
              <a:t>veilig</a:t>
            </a:r>
            <a:r>
              <a:rPr lang="en-US" dirty="0">
                <a:latin typeface="Aptos"/>
                <a:ea typeface="Calibri"/>
                <a:cs typeface="Calibri"/>
              </a:rPr>
              <a:t> </a:t>
            </a:r>
            <a:r>
              <a:rPr lang="en-US" dirty="0" err="1">
                <a:latin typeface="Aptos"/>
                <a:ea typeface="Calibri"/>
                <a:cs typeface="Calibri"/>
              </a:rPr>
              <a:t>te</a:t>
            </a:r>
            <a:r>
              <a:rPr lang="en-US" dirty="0">
                <a:latin typeface="Aptos"/>
                <a:ea typeface="Calibri"/>
                <a:cs typeface="Calibri"/>
              </a:rPr>
              <a:t> </a:t>
            </a:r>
            <a:r>
              <a:rPr lang="en-US" dirty="0" err="1">
                <a:latin typeface="Aptos"/>
                <a:ea typeface="Calibri"/>
                <a:cs typeface="Calibri"/>
              </a:rPr>
              <a:t>verwerken</a:t>
            </a:r>
            <a:r>
              <a:rPr lang="en-US" dirty="0">
                <a:latin typeface="Aptos"/>
                <a:ea typeface="Calibri"/>
                <a:cs typeface="Calibri"/>
              </a:rPr>
              <a:t> met PHP.</a:t>
            </a:r>
          </a:p>
          <a:p>
            <a:endParaRPr lang="en-US" dirty="0">
              <a:latin typeface="Calibri"/>
              <a:ea typeface="Calibri"/>
              <a:cs typeface="Calibri"/>
            </a:endParaRPr>
          </a:p>
        </p:txBody>
      </p:sp>
      <p:sp>
        <p:nvSpPr>
          <p:cNvPr id="4" name="Tijdelijke aanduiding voor dianummer 3">
            <a:extLst>
              <a:ext uri="{FF2B5EF4-FFF2-40B4-BE49-F238E27FC236}">
                <a16:creationId xmlns:a16="http://schemas.microsoft.com/office/drawing/2014/main" id="{2F82A66F-91E7-0FC8-7A55-18C40CED4A18}"/>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3316649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1347-C79E-C778-7E0A-29A56E667E6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77F9293-2E27-60C0-F852-BFE6E0DA61F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6598C15-63E1-B9E6-C6AD-4ED19E09B588}"/>
              </a:ext>
            </a:extLst>
          </p:cNvPr>
          <p:cNvSpPr>
            <a:spLocks noGrp="1"/>
          </p:cNvSpPr>
          <p:nvPr>
            <p:ph type="body" idx="1"/>
          </p:nvPr>
        </p:nvSpPr>
        <p:spPr/>
        <p:txBody>
          <a:bodyPr/>
          <a:lstStyle/>
          <a:p>
            <a:r>
              <a:rPr lang="en-US" dirty="0">
                <a:ea typeface="Calibri"/>
              </a:rPr>
              <a:t>We </a:t>
            </a:r>
            <a:r>
              <a:rPr lang="en-US" dirty="0" err="1">
                <a:ea typeface="Calibri"/>
              </a:rPr>
              <a:t>bekijken</a:t>
            </a:r>
            <a:r>
              <a:rPr lang="en-US" dirty="0">
                <a:ea typeface="Calibri"/>
              </a:rPr>
              <a:t> nu </a:t>
            </a:r>
            <a:r>
              <a:rPr lang="en-US" dirty="0" err="1">
                <a:ea typeface="Calibri"/>
              </a:rPr>
              <a:t>een</a:t>
            </a:r>
            <a:r>
              <a:rPr lang="en-US" dirty="0">
                <a:ea typeface="Calibri"/>
              </a:rPr>
              <a:t> </a:t>
            </a:r>
            <a:r>
              <a:rPr lang="en-US" dirty="0" err="1">
                <a:ea typeface="Calibri"/>
              </a:rPr>
              <a:t>voorbeeld</a:t>
            </a:r>
            <a:r>
              <a:rPr lang="en-US" dirty="0">
                <a:ea typeface="Calibri"/>
              </a:rPr>
              <a:t> </a:t>
            </a:r>
            <a:r>
              <a:rPr lang="en-US" dirty="0" err="1">
                <a:ea typeface="Calibri"/>
              </a:rPr>
              <a:t>dat</a:t>
            </a:r>
            <a:r>
              <a:rPr lang="en-US" dirty="0">
                <a:ea typeface="Calibri"/>
              </a:rPr>
              <a:t> </a:t>
            </a:r>
            <a:r>
              <a:rPr lang="en-US" dirty="0" err="1">
                <a:ea typeface="Calibri"/>
              </a:rPr>
              <a:t>duidelijk</a:t>
            </a:r>
            <a:r>
              <a:rPr lang="en-US" dirty="0">
                <a:ea typeface="Calibri"/>
              </a:rPr>
              <a:t> </a:t>
            </a:r>
            <a:r>
              <a:rPr lang="en-US" dirty="0" err="1">
                <a:ea typeface="Calibri"/>
              </a:rPr>
              <a:t>maakt</a:t>
            </a:r>
            <a:r>
              <a:rPr lang="en-US" dirty="0">
                <a:ea typeface="Calibri"/>
              </a:rPr>
              <a:t> hoe PHP </a:t>
            </a:r>
            <a:r>
              <a:rPr lang="en-US" dirty="0" err="1">
                <a:ea typeface="Calibri"/>
              </a:rPr>
              <a:t>en</a:t>
            </a:r>
            <a:r>
              <a:rPr lang="en-US" dirty="0">
                <a:ea typeface="Calibri"/>
              </a:rPr>
              <a:t> </a:t>
            </a:r>
            <a:r>
              <a:rPr lang="en-US" dirty="0" err="1">
                <a:ea typeface="Calibri"/>
              </a:rPr>
              <a:t>formulieren</a:t>
            </a:r>
            <a:r>
              <a:rPr lang="en-US" dirty="0">
                <a:ea typeface="Calibri"/>
              </a:rPr>
              <a:t> </a:t>
            </a:r>
            <a:r>
              <a:rPr lang="en-US" dirty="0" err="1">
                <a:ea typeface="Calibri"/>
              </a:rPr>
              <a:t>samengaan</a:t>
            </a:r>
            <a:r>
              <a:rPr lang="en-US" dirty="0">
                <a:ea typeface="Calibri"/>
              </a:rPr>
              <a:t>.</a:t>
            </a:r>
          </a:p>
          <a:p>
            <a:endParaRPr lang="en-US" dirty="0">
              <a:ea typeface="Calibri"/>
            </a:endParaRPr>
          </a:p>
          <a:p>
            <a:r>
              <a:rPr lang="en-US" dirty="0">
                <a:ea typeface="Calibri"/>
              </a:rPr>
              <a:t>Links </a:t>
            </a:r>
            <a:r>
              <a:rPr lang="en-US" dirty="0" err="1">
                <a:ea typeface="Calibri"/>
              </a:rPr>
              <a:t>zie</a:t>
            </a:r>
            <a:r>
              <a:rPr lang="en-US" dirty="0">
                <a:ea typeface="Calibri"/>
              </a:rPr>
              <a:t> je de code van de </a:t>
            </a:r>
            <a:r>
              <a:rPr lang="en-US" dirty="0" err="1">
                <a:ea typeface="Calibri"/>
              </a:rPr>
              <a:t>webpagina</a:t>
            </a:r>
            <a:r>
              <a:rPr lang="en-US" dirty="0">
                <a:ea typeface="Calibri"/>
              </a:rPr>
              <a:t>. </a:t>
            </a:r>
            <a:r>
              <a:rPr lang="en-US" dirty="0" err="1">
                <a:ea typeface="Calibri"/>
              </a:rPr>
              <a:t>Rechts</a:t>
            </a:r>
            <a:r>
              <a:rPr lang="en-US" dirty="0">
                <a:ea typeface="Calibri"/>
              </a:rPr>
              <a:t> </a:t>
            </a:r>
            <a:r>
              <a:rPr lang="en-US" dirty="0" err="1">
                <a:ea typeface="Calibri"/>
              </a:rPr>
              <a:t>zie</a:t>
            </a:r>
            <a:r>
              <a:rPr lang="en-US" dirty="0">
                <a:ea typeface="Calibri"/>
              </a:rPr>
              <a:t> je de output in de browser </a:t>
            </a:r>
            <a:r>
              <a:rPr lang="en-US" dirty="0" err="1">
                <a:ea typeface="Calibri"/>
              </a:rPr>
              <a:t>zonder</a:t>
            </a:r>
            <a:r>
              <a:rPr lang="en-US" dirty="0">
                <a:ea typeface="Calibri"/>
              </a:rPr>
              <a:t> </a:t>
            </a:r>
            <a:r>
              <a:rPr lang="en-US" dirty="0" err="1">
                <a:ea typeface="Calibri"/>
              </a:rPr>
              <a:t>interacties</a:t>
            </a:r>
            <a:r>
              <a:rPr lang="en-US" dirty="0">
                <a:ea typeface="Calibri"/>
              </a:rPr>
              <a:t>.</a:t>
            </a:r>
          </a:p>
        </p:txBody>
      </p:sp>
      <p:sp>
        <p:nvSpPr>
          <p:cNvPr id="4" name="Tijdelijke aanduiding voor dianummer 3">
            <a:extLst>
              <a:ext uri="{FF2B5EF4-FFF2-40B4-BE49-F238E27FC236}">
                <a16:creationId xmlns:a16="http://schemas.microsoft.com/office/drawing/2014/main" id="{686B7D43-C811-C73B-FBAF-5B77E25E3A6E}"/>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2052420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D248A-4F9A-34C3-F385-455EC9CE120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76DCF35-A62B-E65A-0D63-5B031559A5A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F9C3D1A-5B4D-191F-BBC0-6F128E571F3F}"/>
              </a:ext>
            </a:extLst>
          </p:cNvPr>
          <p:cNvSpPr>
            <a:spLocks noGrp="1"/>
          </p:cNvSpPr>
          <p:nvPr>
            <p:ph type="body" idx="1"/>
          </p:nvPr>
        </p:nvSpPr>
        <p:spPr/>
        <p:txBody>
          <a:bodyPr/>
          <a:lstStyle/>
          <a:p>
            <a:endParaRPr lang="en-US" dirty="0">
              <a:ea typeface="Calibri"/>
            </a:endParaRPr>
          </a:p>
        </p:txBody>
      </p:sp>
      <p:sp>
        <p:nvSpPr>
          <p:cNvPr id="4" name="Tijdelijke aanduiding voor dianummer 3">
            <a:extLst>
              <a:ext uri="{FF2B5EF4-FFF2-40B4-BE49-F238E27FC236}">
                <a16:creationId xmlns:a16="http://schemas.microsoft.com/office/drawing/2014/main" id="{6D0FAC60-6DF2-DF4C-C57A-2F136B16356B}"/>
              </a:ext>
            </a:extLst>
          </p:cNvPr>
          <p:cNvSpPr>
            <a:spLocks noGrp="1"/>
          </p:cNvSpPr>
          <p:nvPr>
            <p:ph type="sldNum" sz="quarter" idx="5"/>
          </p:nvPr>
        </p:nvSpPr>
        <p:spPr/>
        <p:txBody>
          <a:bodyPr/>
          <a:lstStyle/>
          <a:p>
            <a:fld id="{39DBD449-D42A-4711-8837-53EC15580D9C}" type="slidenum">
              <a:rPr lang="nl-BE" smtClean="0"/>
              <a:t>5</a:t>
            </a:fld>
            <a:endParaRPr lang="nl-BE"/>
          </a:p>
        </p:txBody>
      </p:sp>
    </p:spTree>
    <p:extLst>
      <p:ext uri="{BB962C8B-B14F-4D97-AF65-F5344CB8AC3E}">
        <p14:creationId xmlns:p14="http://schemas.microsoft.com/office/powerpoint/2010/main" val="4080122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CB1EA-455C-867F-D563-64C628A5018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3BEDA19-8B9A-4800-2D7E-53918505523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3A50E81-EC09-C3BC-6F60-842665A643E1}"/>
              </a:ext>
            </a:extLst>
          </p:cNvPr>
          <p:cNvSpPr>
            <a:spLocks noGrp="1"/>
          </p:cNvSpPr>
          <p:nvPr>
            <p:ph type="body" idx="1"/>
          </p:nvPr>
        </p:nvSpPr>
        <p:spPr/>
        <p:txBody>
          <a:bodyPr/>
          <a:lstStyle/>
          <a:p>
            <a:endParaRPr lang="en-US" dirty="0">
              <a:ea typeface="Calibri"/>
            </a:endParaRPr>
          </a:p>
        </p:txBody>
      </p:sp>
      <p:sp>
        <p:nvSpPr>
          <p:cNvPr id="4" name="Tijdelijke aanduiding voor dianummer 3">
            <a:extLst>
              <a:ext uri="{FF2B5EF4-FFF2-40B4-BE49-F238E27FC236}">
                <a16:creationId xmlns:a16="http://schemas.microsoft.com/office/drawing/2014/main" id="{DEE46730-8A0B-D5DC-5BCA-0B719D37A7EB}"/>
              </a:ext>
            </a:extLst>
          </p:cNvPr>
          <p:cNvSpPr>
            <a:spLocks noGrp="1"/>
          </p:cNvSpPr>
          <p:nvPr>
            <p:ph type="sldNum" sz="quarter" idx="5"/>
          </p:nvPr>
        </p:nvSpPr>
        <p:spPr/>
        <p:txBody>
          <a:bodyPr/>
          <a:lstStyle/>
          <a:p>
            <a:fld id="{39DBD449-D42A-4711-8837-53EC15580D9C}" type="slidenum">
              <a:rPr lang="nl-BE" smtClean="0"/>
              <a:t>6</a:t>
            </a:fld>
            <a:endParaRPr lang="nl-BE"/>
          </a:p>
        </p:txBody>
      </p:sp>
    </p:spTree>
    <p:extLst>
      <p:ext uri="{BB962C8B-B14F-4D97-AF65-F5344CB8AC3E}">
        <p14:creationId xmlns:p14="http://schemas.microsoft.com/office/powerpoint/2010/main" val="622560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FB3AC-C23F-610E-2664-39E30056C0F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FB75DDA-C86E-77FA-1B56-18925E78D46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EE8D3E8-986E-7AC2-8EAE-9DDE62E762A8}"/>
              </a:ext>
            </a:extLst>
          </p:cNvPr>
          <p:cNvSpPr>
            <a:spLocks noGrp="1"/>
          </p:cNvSpPr>
          <p:nvPr>
            <p:ph type="body" idx="1"/>
          </p:nvPr>
        </p:nvSpPr>
        <p:spPr/>
        <p:txBody>
          <a:bodyPr/>
          <a:lstStyle/>
          <a:p>
            <a:endParaRPr lang="en-US" dirty="0">
              <a:ea typeface="Calibri"/>
            </a:endParaRPr>
          </a:p>
        </p:txBody>
      </p:sp>
      <p:sp>
        <p:nvSpPr>
          <p:cNvPr id="4" name="Tijdelijke aanduiding voor dianummer 3">
            <a:extLst>
              <a:ext uri="{FF2B5EF4-FFF2-40B4-BE49-F238E27FC236}">
                <a16:creationId xmlns:a16="http://schemas.microsoft.com/office/drawing/2014/main" id="{2DC0397C-C8CA-1CEC-08C6-D447B2F67A6C}"/>
              </a:ext>
            </a:extLst>
          </p:cNvPr>
          <p:cNvSpPr>
            <a:spLocks noGrp="1"/>
          </p:cNvSpPr>
          <p:nvPr>
            <p:ph type="sldNum" sz="quarter" idx="5"/>
          </p:nvPr>
        </p:nvSpPr>
        <p:spPr/>
        <p:txBody>
          <a:bodyPr/>
          <a:lstStyle/>
          <a:p>
            <a:fld id="{39DBD449-D42A-4711-8837-53EC15580D9C}" type="slidenum">
              <a:rPr lang="nl-BE" smtClean="0"/>
              <a:t>6</a:t>
            </a:fld>
            <a:endParaRPr lang="nl-BE"/>
          </a:p>
        </p:txBody>
      </p:sp>
    </p:spTree>
    <p:extLst>
      <p:ext uri="{BB962C8B-B14F-4D97-AF65-F5344CB8AC3E}">
        <p14:creationId xmlns:p14="http://schemas.microsoft.com/office/powerpoint/2010/main" val="1819013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6A68-B049-A943-C6E5-6BF5BCE57AD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7479A1B-FCDD-BD49-C11D-E5FF42C7F9F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0992051-A8AC-09BC-9FA3-662D7B485856}"/>
              </a:ext>
            </a:extLst>
          </p:cNvPr>
          <p:cNvSpPr>
            <a:spLocks noGrp="1"/>
          </p:cNvSpPr>
          <p:nvPr>
            <p:ph type="body" idx="1"/>
          </p:nvPr>
        </p:nvSpPr>
        <p:spPr/>
        <p:txBody>
          <a:bodyPr/>
          <a:lstStyle/>
          <a:p>
            <a:endParaRPr lang="en-US" dirty="0">
              <a:ea typeface="Calibri"/>
            </a:endParaRPr>
          </a:p>
        </p:txBody>
      </p:sp>
      <p:sp>
        <p:nvSpPr>
          <p:cNvPr id="4" name="Tijdelijke aanduiding voor dianummer 3">
            <a:extLst>
              <a:ext uri="{FF2B5EF4-FFF2-40B4-BE49-F238E27FC236}">
                <a16:creationId xmlns:a16="http://schemas.microsoft.com/office/drawing/2014/main" id="{5AE130D4-A778-D5C6-C825-C29126930ED4}"/>
              </a:ext>
            </a:extLst>
          </p:cNvPr>
          <p:cNvSpPr>
            <a:spLocks noGrp="1"/>
          </p:cNvSpPr>
          <p:nvPr>
            <p:ph type="sldNum" sz="quarter" idx="5"/>
          </p:nvPr>
        </p:nvSpPr>
        <p:spPr/>
        <p:txBody>
          <a:bodyPr/>
          <a:lstStyle/>
          <a:p>
            <a:fld id="{39DBD449-D42A-4711-8837-53EC15580D9C}" type="slidenum">
              <a:rPr lang="nl-BE" smtClean="0"/>
              <a:t>8</a:t>
            </a:fld>
            <a:endParaRPr lang="nl-BE"/>
          </a:p>
        </p:txBody>
      </p:sp>
    </p:spTree>
    <p:extLst>
      <p:ext uri="{BB962C8B-B14F-4D97-AF65-F5344CB8AC3E}">
        <p14:creationId xmlns:p14="http://schemas.microsoft.com/office/powerpoint/2010/main" val="1108503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871B-4225-AED2-6D6F-8889E688913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A14CAEC-B367-A052-2647-80CB9E06C818}"/>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5A9E3B5-4193-0AFF-BFB6-5C1F2B9BC9FD}"/>
              </a:ext>
            </a:extLst>
          </p:cNvPr>
          <p:cNvSpPr>
            <a:spLocks noGrp="1"/>
          </p:cNvSpPr>
          <p:nvPr>
            <p:ph type="body" idx="1"/>
          </p:nvPr>
        </p:nvSpPr>
        <p:spPr/>
        <p:txBody>
          <a:bodyPr/>
          <a:lstStyle/>
          <a:p>
            <a:endParaRPr lang="en-US" dirty="0">
              <a:ea typeface="Calibri"/>
            </a:endParaRPr>
          </a:p>
        </p:txBody>
      </p:sp>
      <p:sp>
        <p:nvSpPr>
          <p:cNvPr id="4" name="Tijdelijke aanduiding voor dianummer 3">
            <a:extLst>
              <a:ext uri="{FF2B5EF4-FFF2-40B4-BE49-F238E27FC236}">
                <a16:creationId xmlns:a16="http://schemas.microsoft.com/office/drawing/2014/main" id="{5A91F44F-B62B-4C96-BD9E-9C662DC88755}"/>
              </a:ext>
            </a:extLst>
          </p:cNvPr>
          <p:cNvSpPr>
            <a:spLocks noGrp="1"/>
          </p:cNvSpPr>
          <p:nvPr>
            <p:ph type="sldNum" sz="quarter" idx="5"/>
          </p:nvPr>
        </p:nvSpPr>
        <p:spPr/>
        <p:txBody>
          <a:bodyPr/>
          <a:lstStyle/>
          <a:p>
            <a:fld id="{39DBD449-D42A-4711-8837-53EC15580D9C}" type="slidenum">
              <a:rPr lang="nl-BE" smtClean="0"/>
              <a:t>9</a:t>
            </a:fld>
            <a:endParaRPr lang="nl-BE"/>
          </a:p>
        </p:txBody>
      </p:sp>
    </p:spTree>
    <p:extLst>
      <p:ext uri="{BB962C8B-B14F-4D97-AF65-F5344CB8AC3E}">
        <p14:creationId xmlns:p14="http://schemas.microsoft.com/office/powerpoint/2010/main" val="3980409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F2C83-3DE2-9515-936A-4CB5B17C6BA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BD64DC4-A00E-B9ED-75D3-E0643C76A1F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C4959A1-E4E5-6889-06B5-F0CEA0B043B8}"/>
              </a:ext>
            </a:extLst>
          </p:cNvPr>
          <p:cNvSpPr>
            <a:spLocks noGrp="1"/>
          </p:cNvSpPr>
          <p:nvPr>
            <p:ph type="body" idx="1"/>
          </p:nvPr>
        </p:nvSpPr>
        <p:spPr/>
        <p:txBody>
          <a:bodyPr/>
          <a:lstStyle/>
          <a:p>
            <a:endParaRPr lang="en-US" dirty="0">
              <a:ea typeface="Calibri"/>
            </a:endParaRPr>
          </a:p>
        </p:txBody>
      </p:sp>
      <p:sp>
        <p:nvSpPr>
          <p:cNvPr id="4" name="Tijdelijke aanduiding voor dianummer 3">
            <a:extLst>
              <a:ext uri="{FF2B5EF4-FFF2-40B4-BE49-F238E27FC236}">
                <a16:creationId xmlns:a16="http://schemas.microsoft.com/office/drawing/2014/main" id="{426324B0-C571-CC87-F739-63B356EA7B10}"/>
              </a:ext>
            </a:extLst>
          </p:cNvPr>
          <p:cNvSpPr>
            <a:spLocks noGrp="1"/>
          </p:cNvSpPr>
          <p:nvPr>
            <p:ph type="sldNum" sz="quarter" idx="5"/>
          </p:nvPr>
        </p:nvSpPr>
        <p:spPr/>
        <p:txBody>
          <a:bodyPr/>
          <a:lstStyle/>
          <a:p>
            <a:fld id="{39DBD449-D42A-4711-8837-53EC15580D9C}" type="slidenum">
              <a:rPr lang="nl-BE" smtClean="0"/>
              <a:t>10</a:t>
            </a:fld>
            <a:endParaRPr lang="nl-BE"/>
          </a:p>
        </p:txBody>
      </p:sp>
    </p:spTree>
    <p:extLst>
      <p:ext uri="{BB962C8B-B14F-4D97-AF65-F5344CB8AC3E}">
        <p14:creationId xmlns:p14="http://schemas.microsoft.com/office/powerpoint/2010/main" val="3917747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57AAC-A093-FA2D-2233-54FFD71EF9F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142A8CB-BD55-EFF8-658E-2AE02D76B27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A6C13A6-35C6-7987-F32C-AE99BDF5D8F1}"/>
              </a:ext>
            </a:extLst>
          </p:cNvPr>
          <p:cNvSpPr>
            <a:spLocks noGrp="1"/>
          </p:cNvSpPr>
          <p:nvPr>
            <p:ph type="body" idx="1"/>
          </p:nvPr>
        </p:nvSpPr>
        <p:spPr/>
        <p:txBody>
          <a:bodyPr/>
          <a:lstStyle/>
          <a:p>
            <a:r>
              <a:rPr lang="en-US" dirty="0"/>
              <a:t>We </a:t>
            </a:r>
            <a:r>
              <a:rPr lang="en-US" dirty="0" err="1"/>
              <a:t>stellen</a:t>
            </a:r>
            <a:r>
              <a:rPr lang="en-US" dirty="0"/>
              <a:t> </a:t>
            </a:r>
            <a:r>
              <a:rPr lang="en-US" dirty="0" err="1"/>
              <a:t>ons</a:t>
            </a:r>
            <a:r>
              <a:rPr lang="en-US" dirty="0"/>
              <a:t> </a:t>
            </a:r>
            <a:r>
              <a:rPr lang="en-US" dirty="0" err="1"/>
              <a:t>eerst</a:t>
            </a:r>
            <a:r>
              <a:rPr lang="en-US" dirty="0"/>
              <a:t> de </a:t>
            </a:r>
            <a:r>
              <a:rPr lang="en-US" dirty="0" err="1"/>
              <a:t>vraag</a:t>
            </a:r>
            <a:r>
              <a:rPr lang="en-US" dirty="0"/>
              <a:t>: Wat is </a:t>
            </a:r>
            <a:r>
              <a:rPr lang="en-US" dirty="0" err="1"/>
              <a:t>gebruikersinvoer</a:t>
            </a:r>
            <a:r>
              <a:rPr lang="en-US" dirty="0"/>
              <a:t>? Dat is </a:t>
            </a:r>
            <a:r>
              <a:rPr lang="en-US" dirty="0" err="1"/>
              <a:t>eigenlijk</a:t>
            </a:r>
            <a:r>
              <a:rPr lang="en-US" dirty="0"/>
              <a:t> </a:t>
            </a:r>
            <a:r>
              <a:rPr lang="en-US" dirty="0" err="1"/>
              <a:t>alles</a:t>
            </a:r>
            <a:r>
              <a:rPr lang="en-US" dirty="0"/>
              <a:t> </a:t>
            </a:r>
            <a:r>
              <a:rPr lang="en-US" dirty="0" err="1"/>
              <a:t>waarop</a:t>
            </a:r>
            <a:r>
              <a:rPr lang="en-US" dirty="0"/>
              <a:t> de </a:t>
            </a:r>
            <a:r>
              <a:rPr lang="en-US" dirty="0" err="1"/>
              <a:t>eindgebruiker</a:t>
            </a:r>
            <a:r>
              <a:rPr lang="en-US" dirty="0"/>
              <a:t> </a:t>
            </a:r>
            <a:r>
              <a:rPr lang="en-US" dirty="0" err="1"/>
              <a:t>invloed</a:t>
            </a:r>
            <a:r>
              <a:rPr lang="en-US" dirty="0"/>
              <a:t> op </a:t>
            </a:r>
            <a:r>
              <a:rPr lang="en-US" dirty="0" err="1"/>
              <a:t>heeft</a:t>
            </a:r>
            <a:r>
              <a:rPr lang="en-US" dirty="0"/>
              <a:t>.</a:t>
            </a:r>
          </a:p>
          <a:p>
            <a:endParaRPr lang="en-US" dirty="0"/>
          </a:p>
          <a:p>
            <a:r>
              <a:rPr lang="en-US" dirty="0" err="1"/>
              <a:t>Bijvoorbeeld</a:t>
            </a:r>
            <a:r>
              <a:rPr lang="en-US" dirty="0"/>
              <a:t> </a:t>
            </a:r>
            <a:r>
              <a:rPr lang="en-US" dirty="0" err="1"/>
              <a:t>een</a:t>
            </a:r>
            <a:r>
              <a:rPr lang="en-US" dirty="0"/>
              <a:t> </a:t>
            </a:r>
            <a:r>
              <a:rPr lang="en-US" dirty="0" err="1"/>
              <a:t>formulier</a:t>
            </a:r>
            <a:r>
              <a:rPr lang="en-US" dirty="0"/>
              <a:t>, </a:t>
            </a:r>
            <a:r>
              <a:rPr lang="en-US" dirty="0" err="1"/>
              <a:t>een</a:t>
            </a:r>
            <a:r>
              <a:rPr lang="en-US" dirty="0"/>
              <a:t> GET parameter </a:t>
            </a:r>
            <a:r>
              <a:rPr lang="en-US" dirty="0" err="1"/>
              <a:t>zoals</a:t>
            </a:r>
            <a:r>
              <a:rPr lang="en-US" dirty="0"/>
              <a:t> ID </a:t>
            </a:r>
            <a:r>
              <a:rPr lang="en-US" dirty="0" err="1"/>
              <a:t>en</a:t>
            </a:r>
            <a:r>
              <a:rPr lang="en-US" dirty="0"/>
              <a:t> headers.</a:t>
            </a:r>
          </a:p>
          <a:p>
            <a:endParaRPr lang="en-US" dirty="0"/>
          </a:p>
          <a:p>
            <a:r>
              <a:rPr lang="en-US" dirty="0"/>
              <a:t>In H1 </a:t>
            </a:r>
            <a:r>
              <a:rPr lang="en-US" dirty="0" err="1"/>
              <a:t>werkten</a:t>
            </a:r>
            <a:r>
              <a:rPr lang="en-US" dirty="0"/>
              <a:t> we met </a:t>
            </a:r>
            <a:r>
              <a:rPr lang="en-US" dirty="0" err="1"/>
              <a:t>gegevens</a:t>
            </a:r>
            <a:r>
              <a:rPr lang="en-US" dirty="0"/>
              <a:t> die we </a:t>
            </a:r>
            <a:r>
              <a:rPr lang="en-US" dirty="0" err="1"/>
              <a:t>vooraf</a:t>
            </a:r>
            <a:r>
              <a:rPr lang="en-US" dirty="0"/>
              <a:t> </a:t>
            </a:r>
            <a:r>
              <a:rPr lang="en-US" dirty="0" err="1"/>
              <a:t>instelde</a:t>
            </a:r>
            <a:r>
              <a:rPr lang="en-US" dirty="0"/>
              <a:t>. Nu </a:t>
            </a:r>
            <a:r>
              <a:rPr lang="en-US" dirty="0" err="1"/>
              <a:t>gaan</a:t>
            </a:r>
            <a:r>
              <a:rPr lang="en-US" dirty="0"/>
              <a:t> we, met </a:t>
            </a:r>
            <a:r>
              <a:rPr lang="en-US" dirty="0" err="1"/>
              <a:t>behulp</a:t>
            </a:r>
            <a:r>
              <a:rPr lang="en-US" dirty="0"/>
              <a:t> van </a:t>
            </a:r>
            <a:r>
              <a:rPr lang="en-US" dirty="0" err="1"/>
              <a:t>formulieren</a:t>
            </a:r>
            <a:r>
              <a:rPr lang="en-US" dirty="0"/>
              <a:t> </a:t>
            </a:r>
            <a:r>
              <a:rPr lang="en-US" dirty="0" err="1"/>
              <a:t>en</a:t>
            </a:r>
            <a:r>
              <a:rPr lang="en-US" dirty="0"/>
              <a:t> </a:t>
            </a:r>
            <a:r>
              <a:rPr lang="en-US" dirty="0" err="1"/>
              <a:t>andere</a:t>
            </a:r>
            <a:r>
              <a:rPr lang="en-US" dirty="0"/>
              <a:t> parameters (</a:t>
            </a:r>
            <a:r>
              <a:rPr lang="en-US" dirty="0" err="1"/>
              <a:t>zoals</a:t>
            </a:r>
            <a:r>
              <a:rPr lang="en-US" dirty="0"/>
              <a:t> $_GET) </a:t>
            </a:r>
            <a:r>
              <a:rPr lang="en-US" dirty="0" err="1"/>
              <a:t>gebruikersinvoer</a:t>
            </a:r>
            <a:r>
              <a:rPr lang="en-US" dirty="0"/>
              <a:t> </a:t>
            </a:r>
            <a:r>
              <a:rPr lang="en-US" dirty="0" err="1"/>
              <a:t>accepteren</a:t>
            </a:r>
            <a:r>
              <a:rPr lang="en-US" dirty="0"/>
              <a:t>.</a:t>
            </a:r>
            <a:endParaRPr lang="nl-NL"/>
          </a:p>
          <a:p>
            <a:endParaRPr lang="en-US" dirty="0">
              <a:latin typeface="Calibri"/>
              <a:ea typeface="Calibri"/>
              <a:cs typeface="Calibri"/>
            </a:endParaRPr>
          </a:p>
        </p:txBody>
      </p:sp>
      <p:sp>
        <p:nvSpPr>
          <p:cNvPr id="4" name="Tijdelijke aanduiding voor dianummer 3">
            <a:extLst>
              <a:ext uri="{FF2B5EF4-FFF2-40B4-BE49-F238E27FC236}">
                <a16:creationId xmlns:a16="http://schemas.microsoft.com/office/drawing/2014/main" id="{1E4F3468-F320-B442-62C6-06DB0A03B181}"/>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3072881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B55E-F384-3346-9D31-E8B7123F52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AB5098-42BE-D401-BBD2-3842E3F4E93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E397478-9C48-B92A-FF6E-08E1953502F1}"/>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929D769E-B26B-DBE5-0148-598E0463C603}"/>
              </a:ext>
            </a:extLst>
          </p:cNvPr>
          <p:cNvSpPr>
            <a:spLocks noGrp="1"/>
          </p:cNvSpPr>
          <p:nvPr>
            <p:ph type="sldNum" sz="quarter" idx="5"/>
          </p:nvPr>
        </p:nvSpPr>
        <p:spPr/>
        <p:txBody>
          <a:bodyPr/>
          <a:lstStyle/>
          <a:p>
            <a:fld id="{39DBD449-D42A-4711-8837-53EC15580D9C}" type="slidenum">
              <a:rPr lang="nl-BE" smtClean="0"/>
              <a:t>29</a:t>
            </a:fld>
            <a:endParaRPr lang="nl-BE"/>
          </a:p>
        </p:txBody>
      </p:sp>
    </p:spTree>
    <p:extLst>
      <p:ext uri="{BB962C8B-B14F-4D97-AF65-F5344CB8AC3E}">
        <p14:creationId xmlns:p14="http://schemas.microsoft.com/office/powerpoint/2010/main" val="158665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3350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9883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11/5/2025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717680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565349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11/5/2025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527849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73402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11/5/2025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40128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11/5/2025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27183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11/5/2025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161222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11/5/2025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672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11/5/2025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411458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11/5/2025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345686417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6DA711-7BD0-BB8C-2A0C-0814AB4FBDF5}"/>
              </a:ext>
            </a:extLst>
          </p:cNvPr>
          <p:cNvSpPr>
            <a:spLocks noGrp="1"/>
          </p:cNvSpPr>
          <p:nvPr>
            <p:ph type="ctrTitle"/>
          </p:nvPr>
        </p:nvSpPr>
        <p:spPr>
          <a:xfrm>
            <a:off x="7168896" y="1129554"/>
            <a:ext cx="4361688" cy="3475236"/>
          </a:xfrm>
        </p:spPr>
        <p:txBody>
          <a:bodyPr vert="horz" lIns="91440" tIns="45720" rIns="91440" bIns="45720" rtlCol="0" anchor="b">
            <a:noAutofit/>
          </a:bodyPr>
          <a:lstStyle/>
          <a:p>
            <a:pPr algn="l"/>
            <a:r>
              <a:rPr lang="nl-BE" b="0" dirty="0"/>
              <a:t>Webdesign:</a:t>
            </a:r>
            <a:r>
              <a:rPr lang="nl-BE" dirty="0"/>
              <a:t> </a:t>
            </a:r>
            <a:r>
              <a:rPr lang="nl-BE" b="0" dirty="0">
                <a:solidFill>
                  <a:schemeClr val="accent3"/>
                </a:solidFill>
              </a:rPr>
              <a:t>Dynamische Websites</a:t>
            </a:r>
            <a:br>
              <a:rPr lang="nl-BE" b="0" dirty="0"/>
            </a:br>
            <a:br>
              <a:rPr lang="nl-BE" b="0" dirty="0"/>
            </a:br>
            <a:r>
              <a:rPr lang="nl-BE" dirty="0">
                <a:solidFill>
                  <a:schemeClr val="accent3"/>
                </a:solidFill>
              </a:rPr>
              <a:t>H2 Gebruikersinvoer</a:t>
            </a:r>
            <a:endParaRPr lang="nl-NL" dirty="0">
              <a:solidFill>
                <a:schemeClr val="accent3"/>
              </a:solidFill>
            </a:endParaRPr>
          </a:p>
        </p:txBody>
      </p:sp>
      <p:sp>
        <p:nvSpPr>
          <p:cNvPr id="3" name="Ondertitel 2">
            <a:extLst>
              <a:ext uri="{FF2B5EF4-FFF2-40B4-BE49-F238E27FC236}">
                <a16:creationId xmlns:a16="http://schemas.microsoft.com/office/drawing/2014/main" id="{B9F38A38-247B-CA6E-A49D-55F15E60FA51}"/>
              </a:ext>
            </a:extLst>
          </p:cNvPr>
          <p:cNvSpPr>
            <a:spLocks noGrp="1"/>
          </p:cNvSpPr>
          <p:nvPr>
            <p:ph type="subTitle" idx="1"/>
          </p:nvPr>
        </p:nvSpPr>
        <p:spPr>
          <a:xfrm>
            <a:off x="7168896" y="4754016"/>
            <a:ext cx="4597136" cy="1636917"/>
          </a:xfrm>
        </p:spPr>
        <p:txBody>
          <a:bodyPr vert="horz" lIns="91440" tIns="45720" rIns="91440" bIns="45720" rtlCol="0" anchor="t">
            <a:normAutofit fontScale="70000" lnSpcReduction="20000"/>
          </a:bodyPr>
          <a:lstStyle/>
          <a:p>
            <a:pPr algn="l"/>
            <a:r>
              <a:rPr lang="nl-BE" dirty="0"/>
              <a:t>Met PHP</a:t>
            </a:r>
          </a:p>
          <a:p>
            <a:pPr algn="l"/>
            <a:endParaRPr lang="nl-BE" dirty="0"/>
          </a:p>
          <a:p>
            <a:pPr algn="l"/>
            <a:r>
              <a:rPr lang="nl-BE" dirty="0"/>
              <a:t>2025-2026</a:t>
            </a:r>
          </a:p>
          <a:p>
            <a:pPr algn="l"/>
            <a:r>
              <a:rPr lang="nl-BE" dirty="0"/>
              <a:t>Jarne Verlinden – 6icw</a:t>
            </a:r>
          </a:p>
          <a:p>
            <a:pPr algn="l"/>
            <a:r>
              <a:rPr lang="nl-BE" dirty="0"/>
              <a:t>(https://github.com/Jarnster)</a:t>
            </a:r>
          </a:p>
        </p:txBody>
      </p:sp>
      <p:pic>
        <p:nvPicPr>
          <p:cNvPr id="16" name="Picture 3">
            <a:extLst>
              <a:ext uri="{FF2B5EF4-FFF2-40B4-BE49-F238E27FC236}">
                <a16:creationId xmlns:a16="http://schemas.microsoft.com/office/drawing/2014/main" id="{2CFA8DA1-873D-5196-F291-EF49E01AF953}"/>
              </a:ext>
            </a:extLst>
          </p:cNvPr>
          <p:cNvPicPr>
            <a:picLocks noChangeAspect="1"/>
          </p:cNvPicPr>
          <p:nvPr/>
        </p:nvPicPr>
        <p:blipFill>
          <a:blip r:embed="rId3"/>
          <a:srcRect l="5447" r="46611"/>
          <a:stretch>
            <a:fillRect/>
          </a:stretch>
        </p:blipFill>
        <p:spPr>
          <a:xfrm>
            <a:off x="20" y="1"/>
            <a:ext cx="6575591" cy="6858000"/>
          </a:xfrm>
          <a:prstGeom prst="rect">
            <a:avLst/>
          </a:prstGeom>
        </p:spPr>
      </p:pic>
      <p:sp>
        <p:nvSpPr>
          <p:cNvPr id="4" name="Tekstvak 3">
            <a:extLst>
              <a:ext uri="{FF2B5EF4-FFF2-40B4-BE49-F238E27FC236}">
                <a16:creationId xmlns:a16="http://schemas.microsoft.com/office/drawing/2014/main" id="{85895E27-575A-AEC4-37EC-5F4FFEB01E62}"/>
              </a:ext>
            </a:extLst>
          </p:cNvPr>
          <p:cNvSpPr txBox="1"/>
          <p:nvPr/>
        </p:nvSpPr>
        <p:spPr>
          <a:xfrm>
            <a:off x="6731393" y="147903"/>
            <a:ext cx="50299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b="1" i="1" dirty="0">
                <a:solidFill>
                  <a:srgbClr val="FF0000"/>
                </a:solidFill>
                <a:ea typeface="+mn-lt"/>
                <a:cs typeface="+mn-lt"/>
              </a:rPr>
              <a:t>Disclaimer:</a:t>
            </a:r>
            <a:r>
              <a:rPr lang="nl-NL" sz="1200" i="1" dirty="0">
                <a:ea typeface="+mn-lt"/>
                <a:cs typeface="+mn-lt"/>
              </a:rPr>
              <a:t> Sommige afbeeldingen en diagrammen in deze presentatie zijn afkomstig van het internet en zijn niet door mijzelf gemaakt. Alle rechten behoren toe aan de respectieve eigenaars. Deze presentatie is uitsluitend bedoeld voor educatief gebruik.</a:t>
            </a:r>
            <a:endParaRPr lang="nl-NL" sz="1200" i="1"/>
          </a:p>
        </p:txBody>
      </p:sp>
    </p:spTree>
    <p:extLst>
      <p:ext uri="{BB962C8B-B14F-4D97-AF65-F5344CB8AC3E}">
        <p14:creationId xmlns:p14="http://schemas.microsoft.com/office/powerpoint/2010/main" val="2297990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632136-DD05-286D-8C74-2205617EDB02}"/>
              </a:ext>
            </a:extLst>
          </p:cNvPr>
          <p:cNvSpPr>
            <a:spLocks noGrp="1"/>
          </p:cNvSpPr>
          <p:nvPr>
            <p:ph type="title"/>
          </p:nvPr>
        </p:nvSpPr>
        <p:spPr/>
        <p:txBody>
          <a:bodyPr/>
          <a:lstStyle/>
          <a:p>
            <a:r>
              <a:rPr lang="nl-NL" dirty="0"/>
              <a:t>Wat is gebruikersinvoer?</a:t>
            </a:r>
          </a:p>
        </p:txBody>
      </p:sp>
      <p:sp>
        <p:nvSpPr>
          <p:cNvPr id="3" name="Tijdelijke aanduiding voor inhoud 2">
            <a:extLst>
              <a:ext uri="{FF2B5EF4-FFF2-40B4-BE49-F238E27FC236}">
                <a16:creationId xmlns:a16="http://schemas.microsoft.com/office/drawing/2014/main" id="{1512ACFA-5762-94DA-4BD9-105EA12E3DA7}"/>
              </a:ext>
            </a:extLst>
          </p:cNvPr>
          <p:cNvSpPr>
            <a:spLocks noGrp="1"/>
          </p:cNvSpPr>
          <p:nvPr>
            <p:ph idx="1"/>
          </p:nvPr>
        </p:nvSpPr>
        <p:spPr/>
        <p:txBody>
          <a:bodyPr vert="horz" lIns="91440" tIns="45720" rIns="91440" bIns="45720" rtlCol="0" anchor="t">
            <a:normAutofit/>
          </a:bodyPr>
          <a:lstStyle/>
          <a:p>
            <a:pPr marL="0" indent="0">
              <a:buNone/>
            </a:pPr>
            <a:r>
              <a:rPr lang="nl-NL" b="1" dirty="0"/>
              <a:t>Alles waarop de eindgebruiker invloed op kan uitoefenen!</a:t>
            </a:r>
          </a:p>
          <a:p>
            <a:pPr marL="0" indent="0">
              <a:buNone/>
            </a:pPr>
            <a:r>
              <a:rPr lang="nl-NL" b="1" dirty="0"/>
              <a:t>Het beïnvloedt de werking van je website of online programma.</a:t>
            </a:r>
          </a:p>
          <a:p>
            <a:pPr>
              <a:buFont typeface="Calibri"/>
              <a:buChar char="-"/>
            </a:pPr>
            <a:r>
              <a:rPr lang="nl-NL" dirty="0"/>
              <a:t>Formulieren </a:t>
            </a:r>
            <a:r>
              <a:rPr lang="nl-NL" i="1" dirty="0"/>
              <a:t>(wordt omgezet naar de gekozen "</a:t>
            </a:r>
            <a:r>
              <a:rPr lang="nl-NL" i="1" dirty="0" err="1"/>
              <a:t>method</a:t>
            </a:r>
            <a:r>
              <a:rPr lang="nl-NL" i="1" dirty="0"/>
              <a:t>" </a:t>
            </a:r>
            <a:r>
              <a:rPr lang="nl-NL" i="1" dirty="0" err="1"/>
              <a:t>attribute</a:t>
            </a:r>
            <a:r>
              <a:rPr lang="nl-NL" i="1" dirty="0"/>
              <a:t>)</a:t>
            </a:r>
          </a:p>
          <a:p>
            <a:pPr>
              <a:buFont typeface="Calibri"/>
              <a:buChar char="-"/>
            </a:pPr>
            <a:r>
              <a:rPr lang="nl-NL" dirty="0" err="1"/>
              <a:t>Superglobals</a:t>
            </a:r>
            <a:r>
              <a:rPr lang="nl-NL" dirty="0"/>
              <a:t> zoals $_GET en $_POST</a:t>
            </a:r>
          </a:p>
          <a:p>
            <a:pPr>
              <a:buFont typeface="Calibri"/>
              <a:buChar char="-"/>
            </a:pPr>
            <a:r>
              <a:rPr lang="nl-NL" dirty="0"/>
              <a:t>Headers</a:t>
            </a:r>
          </a:p>
          <a:p>
            <a:pPr marL="0" indent="0">
              <a:buNone/>
            </a:pPr>
            <a:endParaRPr lang="nl-NL" dirty="0"/>
          </a:p>
        </p:txBody>
      </p:sp>
    </p:spTree>
    <p:extLst>
      <p:ext uri="{BB962C8B-B14F-4D97-AF65-F5344CB8AC3E}">
        <p14:creationId xmlns:p14="http://schemas.microsoft.com/office/powerpoint/2010/main" val="430701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271DEF-3CBB-1F80-20EE-114C6C90A045}"/>
            </a:ext>
          </a:extLst>
        </p:cNvPr>
        <p:cNvGrpSpPr/>
        <p:nvPr/>
      </p:nvGrpSpPr>
      <p:grpSpPr>
        <a:xfrm>
          <a:off x="0" y="0"/>
          <a:ext cx="0" cy="0"/>
          <a:chOff x="0" y="0"/>
          <a:chExt cx="0" cy="0"/>
        </a:xfrm>
      </p:grpSpPr>
      <p:sp>
        <p:nvSpPr>
          <p:cNvPr id="22" name="Rectangle 17">
            <a:extLst>
              <a:ext uri="{FF2B5EF4-FFF2-40B4-BE49-F238E27FC236}">
                <a16:creationId xmlns:a16="http://schemas.microsoft.com/office/drawing/2014/main" id="{704A6291-4F42-21E3-23FD-6DDEDAC85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68DCC5E-C805-B341-1803-1621ED82040C}"/>
              </a:ext>
            </a:extLst>
          </p:cNvPr>
          <p:cNvSpPr>
            <a:spLocks noGrp="1"/>
          </p:cNvSpPr>
          <p:nvPr>
            <p:ph type="title"/>
          </p:nvPr>
        </p:nvSpPr>
        <p:spPr>
          <a:xfrm>
            <a:off x="-1024" y="-1331"/>
            <a:ext cx="7149863" cy="960367"/>
          </a:xfrm>
        </p:spPr>
        <p:txBody>
          <a:bodyPr vert="horz" lIns="91440" tIns="45720" rIns="91440" bIns="45720" rtlCol="0" anchor="b">
            <a:normAutofit/>
          </a:bodyPr>
          <a:lstStyle/>
          <a:p>
            <a:pPr algn="ctr"/>
            <a:r>
              <a:rPr lang="en-US" sz="4000"/>
              <a:t>HTML Forms</a:t>
            </a:r>
          </a:p>
        </p:txBody>
      </p:sp>
      <p:pic>
        <p:nvPicPr>
          <p:cNvPr id="6" name="Afbeelding 5" descr="HTML forms basics · WebPlatform Docs">
            <a:extLst>
              <a:ext uri="{FF2B5EF4-FFF2-40B4-BE49-F238E27FC236}">
                <a16:creationId xmlns:a16="http://schemas.microsoft.com/office/drawing/2014/main" id="{D5D318DD-ACF3-9960-4362-AE8B5A3F32BF}"/>
              </a:ext>
            </a:extLst>
          </p:cNvPr>
          <p:cNvPicPr>
            <a:picLocks noChangeAspect="1"/>
          </p:cNvPicPr>
          <p:nvPr/>
        </p:nvPicPr>
        <p:blipFill>
          <a:blip r:embed="rId3"/>
          <a:srcRect r="2538" b="3"/>
          <a:stretch>
            <a:fillRect/>
          </a:stretch>
        </p:blipFill>
        <p:spPr>
          <a:xfrm>
            <a:off x="99439" y="2796298"/>
            <a:ext cx="5058679" cy="3584281"/>
          </a:xfrm>
          <a:prstGeom prst="rect">
            <a:avLst/>
          </a:prstGeom>
        </p:spPr>
      </p:pic>
      <p:pic>
        <p:nvPicPr>
          <p:cNvPr id="8" name="Afbeelding 7" descr="Afbeelding met tekst, schermopname, Lettertype&#10;&#10;Door AI gegenereerde inhoud is mogelijk onjuist.">
            <a:extLst>
              <a:ext uri="{FF2B5EF4-FFF2-40B4-BE49-F238E27FC236}">
                <a16:creationId xmlns:a16="http://schemas.microsoft.com/office/drawing/2014/main" id="{FA97DF35-164B-E2DA-50C8-64AF6C589CBE}"/>
              </a:ext>
            </a:extLst>
          </p:cNvPr>
          <p:cNvPicPr>
            <a:picLocks noChangeAspect="1"/>
          </p:cNvPicPr>
          <p:nvPr/>
        </p:nvPicPr>
        <p:blipFill>
          <a:blip r:embed="rId4"/>
          <a:stretch>
            <a:fillRect/>
          </a:stretch>
        </p:blipFill>
        <p:spPr>
          <a:xfrm>
            <a:off x="4949298" y="3429177"/>
            <a:ext cx="7373409" cy="2065515"/>
          </a:xfrm>
          <a:prstGeom prst="rect">
            <a:avLst/>
          </a:prstGeom>
        </p:spPr>
      </p:pic>
      <p:sp>
        <p:nvSpPr>
          <p:cNvPr id="9" name="Tekstvak 8">
            <a:extLst>
              <a:ext uri="{FF2B5EF4-FFF2-40B4-BE49-F238E27FC236}">
                <a16:creationId xmlns:a16="http://schemas.microsoft.com/office/drawing/2014/main" id="{8C62E1AF-BB59-21BA-09E6-84505371B9A0}"/>
              </a:ext>
            </a:extLst>
          </p:cNvPr>
          <p:cNvSpPr txBox="1"/>
          <p:nvPr/>
        </p:nvSpPr>
        <p:spPr>
          <a:xfrm>
            <a:off x="304644" y="1093342"/>
            <a:ext cx="1189775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arenR"/>
            </a:pPr>
            <a:r>
              <a:rPr lang="nl-NL" dirty="0"/>
              <a:t>"Method" </a:t>
            </a:r>
            <a:r>
              <a:rPr lang="nl-NL" dirty="0" err="1"/>
              <a:t>attribute</a:t>
            </a:r>
            <a:r>
              <a:rPr lang="nl-NL" dirty="0"/>
              <a:t> op &lt;form&gt; element</a:t>
            </a:r>
            <a:endParaRPr lang="nl-NL" dirty="0" err="1"/>
          </a:p>
          <a:p>
            <a:pPr marL="285750" indent="-285750">
              <a:buAutoNum type="arabicParenR"/>
            </a:pPr>
            <a:r>
              <a:rPr lang="nl-NL" dirty="0"/>
              <a:t>Button met als type "</a:t>
            </a:r>
            <a:r>
              <a:rPr lang="nl-NL" dirty="0" err="1"/>
              <a:t>submit</a:t>
            </a:r>
            <a:r>
              <a:rPr lang="nl-NL" dirty="0"/>
              <a:t>" aangeklikt?</a:t>
            </a:r>
          </a:p>
          <a:p>
            <a:pPr marL="285750" indent="-285750">
              <a:buAutoNum type="arabicParenR"/>
            </a:pPr>
            <a:r>
              <a:rPr lang="nl-NL" dirty="0"/>
              <a:t>Browser maakt automatisch </a:t>
            </a:r>
            <a:r>
              <a:rPr lang="nl-NL" dirty="0" err="1"/>
              <a:t>request</a:t>
            </a:r>
            <a:r>
              <a:rPr lang="nl-NL" dirty="0"/>
              <a:t> van het type: "METHOD" naar de huidige pagina inclusief alle formuliervelden (data)</a:t>
            </a:r>
            <a:endParaRPr lang="nl-NL"/>
          </a:p>
          <a:p>
            <a:pPr marL="285750" indent="-285750">
              <a:buAutoNum type="arabicParenR"/>
            </a:pPr>
            <a:r>
              <a:rPr lang="nl-NL" dirty="0"/>
              <a:t>Aan jou om de gegevens op te vangen en veilig te verwerken</a:t>
            </a:r>
          </a:p>
          <a:p>
            <a:pPr marL="285750" indent="-285750">
              <a:buAutoNum type="arabicParenR"/>
            </a:pPr>
            <a:endParaRPr lang="nl-NL" dirty="0"/>
          </a:p>
        </p:txBody>
      </p:sp>
    </p:spTree>
    <p:extLst>
      <p:ext uri="{BB962C8B-B14F-4D97-AF65-F5344CB8AC3E}">
        <p14:creationId xmlns:p14="http://schemas.microsoft.com/office/powerpoint/2010/main" val="332413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78AC2F-1089-078A-3F7D-46C8BFD7FAC1}"/>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40A7190-01C3-EB5F-290B-2565AB617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5412C19-DBD4-A886-8F6E-0F3BC2A21C15}"/>
              </a:ext>
            </a:extLst>
          </p:cNvPr>
          <p:cNvSpPr>
            <a:spLocks noGrp="1"/>
          </p:cNvSpPr>
          <p:nvPr>
            <p:ph type="title"/>
          </p:nvPr>
        </p:nvSpPr>
        <p:spPr>
          <a:xfrm>
            <a:off x="6284931" y="1706"/>
            <a:ext cx="5044428" cy="1095875"/>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pic>
        <p:nvPicPr>
          <p:cNvPr id="3" name="Afbeelding 2" descr="Afbeelding met tekst, schermopname, Lettertype&#10;&#10;Door AI gegenereerde inhoud is mogelijk onjuist.">
            <a:extLst>
              <a:ext uri="{FF2B5EF4-FFF2-40B4-BE49-F238E27FC236}">
                <a16:creationId xmlns:a16="http://schemas.microsoft.com/office/drawing/2014/main" id="{9DEBFAB1-CB87-2EC4-AF1F-01D9D01758A2}"/>
              </a:ext>
            </a:extLst>
          </p:cNvPr>
          <p:cNvPicPr>
            <a:picLocks noChangeAspect="1"/>
          </p:cNvPicPr>
          <p:nvPr/>
        </p:nvPicPr>
        <p:blipFill>
          <a:blip r:embed="rId3"/>
          <a:stretch>
            <a:fillRect/>
          </a:stretch>
        </p:blipFill>
        <p:spPr>
          <a:xfrm>
            <a:off x="206928" y="471542"/>
            <a:ext cx="5119032" cy="5917956"/>
          </a:xfrm>
          <a:prstGeom prst="rect">
            <a:avLst/>
          </a:prstGeom>
        </p:spPr>
      </p:pic>
      <p:pic>
        <p:nvPicPr>
          <p:cNvPr id="4" name="Afbeelding 3" descr="Afbeelding met tekst, schermopname, Lettertype, lijn&#10;&#10;Door AI gegenereerde inhoud is mogelijk onjuist.">
            <a:extLst>
              <a:ext uri="{FF2B5EF4-FFF2-40B4-BE49-F238E27FC236}">
                <a16:creationId xmlns:a16="http://schemas.microsoft.com/office/drawing/2014/main" id="{1CCAF98F-9A9C-2B79-7E69-65DE36E1B5A0}"/>
              </a:ext>
            </a:extLst>
          </p:cNvPr>
          <p:cNvPicPr>
            <a:picLocks noChangeAspect="1"/>
          </p:cNvPicPr>
          <p:nvPr/>
        </p:nvPicPr>
        <p:blipFill>
          <a:blip r:embed="rId4"/>
          <a:stretch>
            <a:fillRect/>
          </a:stretch>
        </p:blipFill>
        <p:spPr>
          <a:xfrm>
            <a:off x="6740524" y="1495248"/>
            <a:ext cx="4507794" cy="4437591"/>
          </a:xfrm>
          <a:prstGeom prst="rect">
            <a:avLst/>
          </a:prstGeom>
        </p:spPr>
      </p:pic>
    </p:spTree>
    <p:extLst>
      <p:ext uri="{BB962C8B-B14F-4D97-AF65-F5344CB8AC3E}">
        <p14:creationId xmlns:p14="http://schemas.microsoft.com/office/powerpoint/2010/main" val="369010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5A8858-9DC6-0C4C-859B-887FC13798DF}"/>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849FC11-300E-12A0-75F1-0E71691F7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1371FF0-224A-7103-0BA0-5EF7DBFB69CA}"/>
              </a:ext>
            </a:extLst>
          </p:cNvPr>
          <p:cNvSpPr>
            <a:spLocks noGrp="1"/>
          </p:cNvSpPr>
          <p:nvPr>
            <p:ph type="title"/>
          </p:nvPr>
        </p:nvSpPr>
        <p:spPr>
          <a:xfrm>
            <a:off x="4027153" y="346017"/>
            <a:ext cx="5044428" cy="644320"/>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pic>
        <p:nvPicPr>
          <p:cNvPr id="9" name="Afbeelding 8" descr="Afbeelding met tekst, schermopname, diagram, Lettertype&#10;&#10;Door AI gegenereerde inhoud is mogelijk onjuist.">
            <a:extLst>
              <a:ext uri="{FF2B5EF4-FFF2-40B4-BE49-F238E27FC236}">
                <a16:creationId xmlns:a16="http://schemas.microsoft.com/office/drawing/2014/main" id="{9BB8516C-E160-AFD7-7AC5-90947FB049EC}"/>
              </a:ext>
            </a:extLst>
          </p:cNvPr>
          <p:cNvPicPr>
            <a:picLocks noChangeAspect="1"/>
          </p:cNvPicPr>
          <p:nvPr/>
        </p:nvPicPr>
        <p:blipFill>
          <a:blip r:embed="rId3"/>
          <a:stretch>
            <a:fillRect/>
          </a:stretch>
        </p:blipFill>
        <p:spPr>
          <a:xfrm>
            <a:off x="304802" y="1817784"/>
            <a:ext cx="11576755" cy="4746430"/>
          </a:xfrm>
          <a:prstGeom prst="rect">
            <a:avLst/>
          </a:prstGeom>
        </p:spPr>
      </p:pic>
      <p:sp>
        <p:nvSpPr>
          <p:cNvPr id="10" name="Tekstvak 9">
            <a:extLst>
              <a:ext uri="{FF2B5EF4-FFF2-40B4-BE49-F238E27FC236}">
                <a16:creationId xmlns:a16="http://schemas.microsoft.com/office/drawing/2014/main" id="{1497614C-359B-8CFD-06AB-DF5F4F39BE8B}"/>
              </a:ext>
            </a:extLst>
          </p:cNvPr>
          <p:cNvSpPr txBox="1"/>
          <p:nvPr/>
        </p:nvSpPr>
        <p:spPr>
          <a:xfrm>
            <a:off x="2588810" y="1087708"/>
            <a:ext cx="7604228" cy="3872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325"/>
              </a:lnSpc>
            </a:pPr>
            <a:r>
              <a:rPr lang="nl-NL" sz="2000" b="1" baseline="0" dirty="0">
                <a:latin typeface="Neue Haas Grotesk Text Pro"/>
                <a:ea typeface="Arial"/>
                <a:cs typeface="Arial"/>
              </a:rPr>
              <a:t>SITUATIE 1:</a:t>
            </a:r>
            <a:r>
              <a:rPr lang="en-US" sz="2000" dirty="0">
                <a:latin typeface="Neue Haas Grotesk Text Pro"/>
                <a:ea typeface="Arial"/>
                <a:cs typeface="Arial"/>
              </a:rPr>
              <a:t>​ De </a:t>
            </a:r>
            <a:r>
              <a:rPr lang="en-US" sz="2000" dirty="0" err="1">
                <a:latin typeface="Neue Haas Grotesk Text Pro"/>
                <a:ea typeface="Arial"/>
                <a:cs typeface="Arial"/>
              </a:rPr>
              <a:t>gebruiker</a:t>
            </a:r>
            <a:r>
              <a:rPr lang="en-US" sz="2000" dirty="0">
                <a:latin typeface="Neue Haas Grotesk Text Pro"/>
                <a:ea typeface="Arial"/>
                <a:cs typeface="Arial"/>
              </a:rPr>
              <a:t> </a:t>
            </a:r>
            <a:r>
              <a:rPr lang="en-US" sz="2000" dirty="0" err="1">
                <a:latin typeface="Neue Haas Grotesk Text Pro"/>
                <a:ea typeface="Arial"/>
                <a:cs typeface="Arial"/>
              </a:rPr>
              <a:t>gaat</a:t>
            </a:r>
            <a:r>
              <a:rPr lang="en-US" sz="2000" dirty="0">
                <a:latin typeface="Neue Haas Grotesk Text Pro"/>
                <a:ea typeface="Arial"/>
                <a:cs typeface="Arial"/>
              </a:rPr>
              <a:t> </a:t>
            </a:r>
            <a:r>
              <a:rPr lang="en-US" sz="2000" dirty="0" err="1">
                <a:latin typeface="Neue Haas Grotesk Text Pro"/>
                <a:ea typeface="Arial"/>
                <a:cs typeface="Arial"/>
              </a:rPr>
              <a:t>naar</a:t>
            </a:r>
            <a:r>
              <a:rPr lang="en-US" sz="2000" dirty="0">
                <a:latin typeface="Neue Haas Grotesk Text Pro"/>
                <a:ea typeface="Arial"/>
                <a:cs typeface="Arial"/>
              </a:rPr>
              <a:t> </a:t>
            </a:r>
            <a:r>
              <a:rPr lang="en-US" sz="2000" dirty="0" err="1">
                <a:latin typeface="Neue Haas Grotesk Text Pro"/>
                <a:ea typeface="Arial"/>
                <a:cs typeface="Arial"/>
              </a:rPr>
              <a:t>deze</a:t>
            </a:r>
            <a:r>
              <a:rPr lang="en-US" sz="2000" dirty="0">
                <a:latin typeface="Neue Haas Grotesk Text Pro"/>
                <a:ea typeface="Arial"/>
                <a:cs typeface="Arial"/>
              </a:rPr>
              <a:t> webpagina.</a:t>
            </a:r>
            <a:endParaRPr lang="en-US" sz="2000" dirty="0">
              <a:cs typeface="Arial"/>
            </a:endParaRPr>
          </a:p>
        </p:txBody>
      </p:sp>
    </p:spTree>
    <p:extLst>
      <p:ext uri="{BB962C8B-B14F-4D97-AF65-F5344CB8AC3E}">
        <p14:creationId xmlns:p14="http://schemas.microsoft.com/office/powerpoint/2010/main" val="1867164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439EA0-5304-BE53-8420-B733C7C79AB4}"/>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0B20013-35F7-18DE-A9A7-38DB680D1F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CAA443F-0612-99A2-6D14-FCC7E4C54990}"/>
              </a:ext>
            </a:extLst>
          </p:cNvPr>
          <p:cNvSpPr>
            <a:spLocks noGrp="1"/>
          </p:cNvSpPr>
          <p:nvPr>
            <p:ph type="title"/>
          </p:nvPr>
        </p:nvSpPr>
        <p:spPr>
          <a:xfrm>
            <a:off x="7216264" y="-167627"/>
            <a:ext cx="5044428" cy="898320"/>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pic>
        <p:nvPicPr>
          <p:cNvPr id="4" name="Afbeelding 3" descr="Afbeelding met tekst, schermopname, Lettertype, lijn&#10;&#10;Door AI gegenereerde inhoud is mogelijk onjuist.">
            <a:extLst>
              <a:ext uri="{FF2B5EF4-FFF2-40B4-BE49-F238E27FC236}">
                <a16:creationId xmlns:a16="http://schemas.microsoft.com/office/drawing/2014/main" id="{8468B878-F3E2-3401-5328-1D1AED712DFC}"/>
              </a:ext>
            </a:extLst>
          </p:cNvPr>
          <p:cNvPicPr>
            <a:picLocks noChangeAspect="1"/>
          </p:cNvPicPr>
          <p:nvPr/>
        </p:nvPicPr>
        <p:blipFill>
          <a:blip r:embed="rId3"/>
          <a:stretch>
            <a:fillRect/>
          </a:stretch>
        </p:blipFill>
        <p:spPr>
          <a:xfrm>
            <a:off x="2484613" y="2691871"/>
            <a:ext cx="1126774" cy="1395236"/>
          </a:xfrm>
          <a:prstGeom prst="rect">
            <a:avLst/>
          </a:prstGeom>
        </p:spPr>
      </p:pic>
      <p:sp>
        <p:nvSpPr>
          <p:cNvPr id="5" name="Tekstvak 4">
            <a:extLst>
              <a:ext uri="{FF2B5EF4-FFF2-40B4-BE49-F238E27FC236}">
                <a16:creationId xmlns:a16="http://schemas.microsoft.com/office/drawing/2014/main" id="{EA15A32F-C155-B7A4-0A2B-076B914ED538}"/>
              </a:ext>
            </a:extLst>
          </p:cNvPr>
          <p:cNvSpPr txBox="1"/>
          <p:nvPr/>
        </p:nvSpPr>
        <p:spPr>
          <a:xfrm>
            <a:off x="107097" y="280753"/>
            <a:ext cx="627721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2000" b="1" dirty="0"/>
              <a:t>SITUATIE 1:</a:t>
            </a:r>
            <a:r>
              <a:rPr lang="en-US" sz="2000" dirty="0"/>
              <a:t> De </a:t>
            </a:r>
            <a:r>
              <a:rPr lang="en-US" sz="2000" dirty="0" err="1"/>
              <a:t>gebruiker</a:t>
            </a:r>
            <a:r>
              <a:rPr lang="en-US" sz="2000" dirty="0"/>
              <a:t> </a:t>
            </a:r>
            <a:r>
              <a:rPr lang="en-US" sz="2000" dirty="0" err="1"/>
              <a:t>gaat</a:t>
            </a:r>
            <a:r>
              <a:rPr lang="en-US" sz="2000" dirty="0"/>
              <a:t> </a:t>
            </a:r>
            <a:r>
              <a:rPr lang="en-US" sz="2000" dirty="0" err="1"/>
              <a:t>naar</a:t>
            </a:r>
            <a:r>
              <a:rPr lang="en-US" sz="2000" dirty="0"/>
              <a:t> </a:t>
            </a:r>
            <a:r>
              <a:rPr lang="en-US" sz="2000" dirty="0" err="1"/>
              <a:t>deze</a:t>
            </a:r>
            <a:r>
              <a:rPr lang="en-US" sz="2000" dirty="0"/>
              <a:t> </a:t>
            </a:r>
            <a:r>
              <a:rPr lang="en-US" sz="2000" dirty="0" err="1"/>
              <a:t>webpagina</a:t>
            </a:r>
            <a:r>
              <a:rPr lang="en-US" sz="2000" dirty="0"/>
              <a:t>.</a:t>
            </a:r>
            <a:endParaRPr lang="nl-NL" sz="2000" dirty="0"/>
          </a:p>
          <a:p>
            <a:pPr marL="342900" indent="-342900">
              <a:buFont typeface="Calibri"/>
              <a:buChar char="-"/>
            </a:pPr>
            <a:endParaRPr lang="nl-NL" sz="2000" b="1" dirty="0"/>
          </a:p>
          <a:p>
            <a:r>
              <a:rPr lang="nl-NL" sz="2000" dirty="0">
                <a:solidFill>
                  <a:srgbClr val="FF0000"/>
                </a:solidFill>
              </a:rPr>
              <a:t>1° PHP Code voert uit</a:t>
            </a:r>
            <a:r>
              <a:rPr lang="nl-NL" sz="2000" dirty="0"/>
              <a:t> -&gt; Er gebeurt hier nog niets (</a:t>
            </a:r>
            <a:r>
              <a:rPr lang="nl-NL" sz="2000" dirty="0" err="1"/>
              <a:t>if</a:t>
            </a:r>
            <a:r>
              <a:rPr lang="nl-NL" sz="2000" dirty="0"/>
              <a:t> statement NIET voldaan)</a:t>
            </a:r>
          </a:p>
          <a:p>
            <a:endParaRPr lang="nl-NL" sz="2000" dirty="0"/>
          </a:p>
          <a:p>
            <a:r>
              <a:rPr lang="nl-NL" sz="2000" dirty="0">
                <a:solidFill>
                  <a:srgbClr val="00B050"/>
                </a:solidFill>
              </a:rPr>
              <a:t>2° HTML output renderen</a:t>
            </a:r>
          </a:p>
          <a:p>
            <a:endParaRPr lang="nl-NL" sz="2000" dirty="0">
              <a:solidFill>
                <a:srgbClr val="00B050"/>
              </a:solidFill>
            </a:endParaRPr>
          </a:p>
          <a:p>
            <a:r>
              <a:rPr lang="nl-NL" sz="2000" dirty="0"/>
              <a:t>Resultaat? Je ziet:</a:t>
            </a:r>
          </a:p>
        </p:txBody>
      </p:sp>
      <p:pic>
        <p:nvPicPr>
          <p:cNvPr id="7" name="Afbeelding 6" descr="Afbeelding met tekst, schermopname, scherm, Lettertype&#10;&#10;Door AI gegenereerde inhoud is mogelijk onjuist.">
            <a:extLst>
              <a:ext uri="{FF2B5EF4-FFF2-40B4-BE49-F238E27FC236}">
                <a16:creationId xmlns:a16="http://schemas.microsoft.com/office/drawing/2014/main" id="{8760ACF1-06AF-DD5C-483A-1A76E2926330}"/>
              </a:ext>
            </a:extLst>
          </p:cNvPr>
          <p:cNvPicPr>
            <a:picLocks noChangeAspect="1"/>
          </p:cNvPicPr>
          <p:nvPr/>
        </p:nvPicPr>
        <p:blipFill>
          <a:blip r:embed="rId4"/>
          <a:stretch>
            <a:fillRect/>
          </a:stretch>
        </p:blipFill>
        <p:spPr>
          <a:xfrm>
            <a:off x="7387519" y="900994"/>
            <a:ext cx="4709584" cy="5818011"/>
          </a:xfrm>
          <a:prstGeom prst="rect">
            <a:avLst/>
          </a:prstGeom>
        </p:spPr>
      </p:pic>
      <p:pic>
        <p:nvPicPr>
          <p:cNvPr id="9" name="Afbeelding 8" descr="Afbeelding met tekst, schermopname, diagram, Lettertype&#10;&#10;Door AI gegenereerde inhoud is mogelijk onjuist.">
            <a:extLst>
              <a:ext uri="{FF2B5EF4-FFF2-40B4-BE49-F238E27FC236}">
                <a16:creationId xmlns:a16="http://schemas.microsoft.com/office/drawing/2014/main" id="{A568B045-7B28-5B3A-1D5D-CDB865F9C390}"/>
              </a:ext>
            </a:extLst>
          </p:cNvPr>
          <p:cNvPicPr>
            <a:picLocks noChangeAspect="1"/>
          </p:cNvPicPr>
          <p:nvPr/>
        </p:nvPicPr>
        <p:blipFill>
          <a:blip r:embed="rId5"/>
          <a:stretch>
            <a:fillRect/>
          </a:stretch>
        </p:blipFill>
        <p:spPr>
          <a:xfrm>
            <a:off x="671690" y="4086851"/>
            <a:ext cx="6039555" cy="2494297"/>
          </a:xfrm>
          <a:prstGeom prst="rect">
            <a:avLst/>
          </a:prstGeom>
        </p:spPr>
      </p:pic>
      <p:sp>
        <p:nvSpPr>
          <p:cNvPr id="3" name="Rechthoek 2">
            <a:extLst>
              <a:ext uri="{FF2B5EF4-FFF2-40B4-BE49-F238E27FC236}">
                <a16:creationId xmlns:a16="http://schemas.microsoft.com/office/drawing/2014/main" id="{60C92AFB-7D9E-11E1-63C0-9CB9F453FA1B}"/>
              </a:ext>
            </a:extLst>
          </p:cNvPr>
          <p:cNvSpPr/>
          <p:nvPr/>
        </p:nvSpPr>
        <p:spPr>
          <a:xfrm>
            <a:off x="104399" y="1193548"/>
            <a:ext cx="2711484" cy="33712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Rechthoek 5">
            <a:extLst>
              <a:ext uri="{FF2B5EF4-FFF2-40B4-BE49-F238E27FC236}">
                <a16:creationId xmlns:a16="http://schemas.microsoft.com/office/drawing/2014/main" id="{53B67711-D174-7585-30EC-B6891496F632}"/>
              </a:ext>
            </a:extLst>
          </p:cNvPr>
          <p:cNvSpPr/>
          <p:nvPr/>
        </p:nvSpPr>
        <p:spPr>
          <a:xfrm>
            <a:off x="155199" y="2113592"/>
            <a:ext cx="3213839" cy="444369"/>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999306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E5B516-B842-6E1E-64CB-7F5F79E1DF87}"/>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C3F2476-09FC-2AC5-8C93-49DAC3A4A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C142916-550C-65F9-2C38-BBA7A932AC8B}"/>
              </a:ext>
            </a:extLst>
          </p:cNvPr>
          <p:cNvSpPr>
            <a:spLocks noGrp="1"/>
          </p:cNvSpPr>
          <p:nvPr>
            <p:ph type="title"/>
          </p:nvPr>
        </p:nvSpPr>
        <p:spPr>
          <a:xfrm>
            <a:off x="6691331" y="80728"/>
            <a:ext cx="5044428" cy="1095875"/>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pic>
        <p:nvPicPr>
          <p:cNvPr id="4" name="Afbeelding 3" descr="Afbeelding met tekst, schermopname, Lettertype, lijn&#10;&#10;Door AI gegenereerde inhoud is mogelijk onjuist.">
            <a:extLst>
              <a:ext uri="{FF2B5EF4-FFF2-40B4-BE49-F238E27FC236}">
                <a16:creationId xmlns:a16="http://schemas.microsoft.com/office/drawing/2014/main" id="{B3ABB3AF-2E9D-1E19-7790-CEC9C5247BDD}"/>
              </a:ext>
            </a:extLst>
          </p:cNvPr>
          <p:cNvPicPr>
            <a:picLocks noChangeAspect="1"/>
          </p:cNvPicPr>
          <p:nvPr/>
        </p:nvPicPr>
        <p:blipFill>
          <a:blip r:embed="rId3"/>
          <a:stretch>
            <a:fillRect/>
          </a:stretch>
        </p:blipFill>
        <p:spPr>
          <a:xfrm>
            <a:off x="4358568" y="4475514"/>
            <a:ext cx="2250018" cy="2224970"/>
          </a:xfrm>
          <a:prstGeom prst="rect">
            <a:avLst/>
          </a:prstGeom>
        </p:spPr>
      </p:pic>
      <p:sp>
        <p:nvSpPr>
          <p:cNvPr id="5" name="Tekstvak 4">
            <a:extLst>
              <a:ext uri="{FF2B5EF4-FFF2-40B4-BE49-F238E27FC236}">
                <a16:creationId xmlns:a16="http://schemas.microsoft.com/office/drawing/2014/main" id="{603CBB47-0383-40A0-6833-F6303ADA23BE}"/>
              </a:ext>
            </a:extLst>
          </p:cNvPr>
          <p:cNvSpPr txBox="1"/>
          <p:nvPr/>
        </p:nvSpPr>
        <p:spPr>
          <a:xfrm>
            <a:off x="33720" y="252530"/>
            <a:ext cx="657636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2000" b="1" dirty="0"/>
              <a:t>SITUATIE 2:</a:t>
            </a:r>
            <a:r>
              <a:rPr lang="en-US" sz="2000" dirty="0"/>
              <a:t> De </a:t>
            </a:r>
            <a:r>
              <a:rPr lang="en-US" sz="2000" dirty="0" err="1"/>
              <a:t>gebruiker</a:t>
            </a:r>
            <a:r>
              <a:rPr lang="en-US" sz="2000" dirty="0"/>
              <a:t> </a:t>
            </a:r>
            <a:r>
              <a:rPr lang="en-US" sz="2000" dirty="0" err="1"/>
              <a:t>klikt</a:t>
            </a:r>
            <a:r>
              <a:rPr lang="en-US" sz="2000" dirty="0"/>
              <a:t> op "LOGIN" </a:t>
            </a:r>
            <a:r>
              <a:rPr lang="en-US" sz="2000" dirty="0" err="1"/>
              <a:t>zonder</a:t>
            </a:r>
            <a:r>
              <a:rPr lang="en-US" sz="2000" dirty="0"/>
              <a:t> </a:t>
            </a:r>
            <a:r>
              <a:rPr lang="en-US" sz="2000" dirty="0" err="1"/>
              <a:t>invoervelden</a:t>
            </a:r>
            <a:r>
              <a:rPr lang="en-US" sz="2000" dirty="0"/>
              <a:t> in </a:t>
            </a:r>
            <a:r>
              <a:rPr lang="en-US" sz="2000" dirty="0" err="1"/>
              <a:t>te</a:t>
            </a:r>
            <a:r>
              <a:rPr lang="en-US" sz="2000" dirty="0"/>
              <a:t> </a:t>
            </a:r>
            <a:r>
              <a:rPr lang="en-US" sz="2000" dirty="0" err="1"/>
              <a:t>vullen</a:t>
            </a:r>
            <a:r>
              <a:rPr lang="en-US" sz="2000" dirty="0"/>
              <a:t>.</a:t>
            </a:r>
            <a:endParaRPr lang="nl-NL"/>
          </a:p>
          <a:p>
            <a:pPr marL="342900" indent="-342900">
              <a:buFont typeface="Calibri"/>
              <a:buChar char="-"/>
            </a:pPr>
            <a:endParaRPr lang="nl-NL" sz="2000" b="1" dirty="0">
              <a:solidFill>
                <a:srgbClr val="000000"/>
              </a:solidFill>
            </a:endParaRPr>
          </a:p>
          <a:p>
            <a:r>
              <a:rPr lang="nl-NL" sz="2000" dirty="0">
                <a:solidFill>
                  <a:srgbClr val="000000"/>
                </a:solidFill>
              </a:rPr>
              <a:t>1° Browser maakt POST </a:t>
            </a:r>
            <a:r>
              <a:rPr lang="nl-NL" sz="2000" dirty="0" err="1">
                <a:solidFill>
                  <a:srgbClr val="000000"/>
                </a:solidFill>
              </a:rPr>
              <a:t>request</a:t>
            </a:r>
            <a:r>
              <a:rPr lang="nl-NL" sz="2000" dirty="0">
                <a:solidFill>
                  <a:srgbClr val="000000"/>
                </a:solidFill>
              </a:rPr>
              <a:t> naar huidige pagina (</a:t>
            </a:r>
            <a:r>
              <a:rPr lang="nl-NL" sz="2000" dirty="0" err="1">
                <a:solidFill>
                  <a:srgbClr val="000000"/>
                </a:solidFill>
              </a:rPr>
              <a:t>index.php</a:t>
            </a:r>
            <a:r>
              <a:rPr lang="nl-NL" sz="2000" dirty="0">
                <a:solidFill>
                  <a:srgbClr val="000000"/>
                </a:solidFill>
              </a:rPr>
              <a:t>). Je ziet de pagina </a:t>
            </a:r>
            <a:r>
              <a:rPr lang="nl-NL" sz="2000" dirty="0" err="1">
                <a:solidFill>
                  <a:srgbClr val="000000"/>
                </a:solidFill>
              </a:rPr>
              <a:t>refreshen</a:t>
            </a:r>
            <a:r>
              <a:rPr lang="nl-NL" sz="2000" dirty="0">
                <a:solidFill>
                  <a:srgbClr val="000000"/>
                </a:solidFill>
              </a:rPr>
              <a:t>.</a:t>
            </a:r>
          </a:p>
          <a:p>
            <a:endParaRPr lang="nl-NL" sz="2000" b="1" dirty="0">
              <a:solidFill>
                <a:srgbClr val="000000"/>
              </a:solidFill>
            </a:endParaRPr>
          </a:p>
          <a:p>
            <a:r>
              <a:rPr lang="nl-NL" sz="2000" dirty="0">
                <a:solidFill>
                  <a:srgbClr val="000000"/>
                </a:solidFill>
              </a:rPr>
              <a:t>2° Webserver wordt actief (</a:t>
            </a:r>
            <a:r>
              <a:rPr lang="nl-NL" sz="2000" dirty="0" err="1">
                <a:solidFill>
                  <a:srgbClr val="000000"/>
                </a:solidFill>
              </a:rPr>
              <a:t>incoming</a:t>
            </a:r>
            <a:r>
              <a:rPr lang="nl-NL" sz="2000" dirty="0">
                <a:solidFill>
                  <a:srgbClr val="000000"/>
                </a:solidFill>
              </a:rPr>
              <a:t> </a:t>
            </a:r>
            <a:r>
              <a:rPr lang="nl-NL" sz="2000" dirty="0" err="1">
                <a:solidFill>
                  <a:srgbClr val="000000"/>
                </a:solidFill>
              </a:rPr>
              <a:t>request</a:t>
            </a:r>
            <a:r>
              <a:rPr lang="nl-NL" sz="2000" dirty="0">
                <a:solidFill>
                  <a:srgbClr val="000000"/>
                </a:solidFill>
              </a:rPr>
              <a:t> signaal)</a:t>
            </a:r>
          </a:p>
          <a:p>
            <a:endParaRPr lang="nl-NL" sz="2000" dirty="0">
              <a:solidFill>
                <a:srgbClr val="000000"/>
              </a:solidFill>
            </a:endParaRPr>
          </a:p>
          <a:p>
            <a:r>
              <a:rPr lang="nl-NL" sz="2000" dirty="0">
                <a:solidFill>
                  <a:srgbClr val="FF0000"/>
                </a:solidFill>
              </a:rPr>
              <a:t>3° PHP Code voert uit</a:t>
            </a:r>
            <a:r>
              <a:rPr lang="nl-NL" sz="2000" dirty="0"/>
              <a:t> -&gt; Er gebeurt hier nog niets (</a:t>
            </a:r>
            <a:r>
              <a:rPr lang="nl-NL" sz="2000" dirty="0" err="1"/>
              <a:t>if</a:t>
            </a:r>
            <a:r>
              <a:rPr lang="nl-NL" sz="2000" dirty="0"/>
              <a:t> statement NIET voldaan)</a:t>
            </a:r>
          </a:p>
          <a:p>
            <a:endParaRPr lang="nl-NL" sz="2000" dirty="0"/>
          </a:p>
          <a:p>
            <a:r>
              <a:rPr lang="nl-NL" sz="2000" dirty="0">
                <a:solidFill>
                  <a:srgbClr val="00B050"/>
                </a:solidFill>
              </a:rPr>
              <a:t>4° Output Buffer terug naar browser</a:t>
            </a:r>
            <a:endParaRPr lang="nl-NL" dirty="0"/>
          </a:p>
          <a:p>
            <a:endParaRPr lang="nl-NL" sz="2000" dirty="0">
              <a:solidFill>
                <a:srgbClr val="00B050"/>
              </a:solidFill>
            </a:endParaRPr>
          </a:p>
          <a:p>
            <a:r>
              <a:rPr lang="nl-NL" sz="2000" dirty="0"/>
              <a:t>Resultaat? Je ziet: exact hetzelfde</a:t>
            </a:r>
          </a:p>
        </p:txBody>
      </p:sp>
      <p:pic>
        <p:nvPicPr>
          <p:cNvPr id="7" name="Afbeelding 6" descr="Afbeelding met tekst, schermopname, scherm, Lettertype&#10;&#10;Door AI gegenereerde inhoud is mogelijk onjuist.">
            <a:extLst>
              <a:ext uri="{FF2B5EF4-FFF2-40B4-BE49-F238E27FC236}">
                <a16:creationId xmlns:a16="http://schemas.microsoft.com/office/drawing/2014/main" id="{FAB228E3-BE20-7B04-26EE-8FC7835DDF45}"/>
              </a:ext>
            </a:extLst>
          </p:cNvPr>
          <p:cNvPicPr>
            <a:picLocks noChangeAspect="1"/>
          </p:cNvPicPr>
          <p:nvPr/>
        </p:nvPicPr>
        <p:blipFill>
          <a:blip r:embed="rId4"/>
          <a:stretch>
            <a:fillRect/>
          </a:stretch>
        </p:blipFill>
        <p:spPr>
          <a:xfrm>
            <a:off x="6811786" y="1098550"/>
            <a:ext cx="4709584" cy="5818011"/>
          </a:xfrm>
          <a:prstGeom prst="rect">
            <a:avLst/>
          </a:prstGeom>
        </p:spPr>
      </p:pic>
    </p:spTree>
    <p:extLst>
      <p:ext uri="{BB962C8B-B14F-4D97-AF65-F5344CB8AC3E}">
        <p14:creationId xmlns:p14="http://schemas.microsoft.com/office/powerpoint/2010/main" val="18485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728AB5-C395-E568-770B-5BA6CDA4C320}"/>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BCCAAC2-11C2-1248-B8EA-560513368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FE34B4-4815-C52F-311D-46F29CE90BD7}"/>
              </a:ext>
            </a:extLst>
          </p:cNvPr>
          <p:cNvSpPr>
            <a:spLocks noGrp="1"/>
          </p:cNvSpPr>
          <p:nvPr>
            <p:ph type="title"/>
          </p:nvPr>
        </p:nvSpPr>
        <p:spPr>
          <a:xfrm>
            <a:off x="6691331" y="80728"/>
            <a:ext cx="5044428" cy="1095875"/>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sp>
        <p:nvSpPr>
          <p:cNvPr id="5" name="Tekstvak 4">
            <a:extLst>
              <a:ext uri="{FF2B5EF4-FFF2-40B4-BE49-F238E27FC236}">
                <a16:creationId xmlns:a16="http://schemas.microsoft.com/office/drawing/2014/main" id="{07565837-336F-953A-DEA0-D4E79F0A9D49}"/>
              </a:ext>
            </a:extLst>
          </p:cNvPr>
          <p:cNvSpPr txBox="1"/>
          <p:nvPr/>
        </p:nvSpPr>
        <p:spPr>
          <a:xfrm>
            <a:off x="-146" y="83197"/>
            <a:ext cx="6593299" cy="68634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2000" b="1" dirty="0"/>
              <a:t>SITUATIE 3:</a:t>
            </a:r>
            <a:r>
              <a:rPr lang="en-US" sz="2000" dirty="0"/>
              <a:t> De </a:t>
            </a:r>
            <a:r>
              <a:rPr lang="en-US" sz="2000" dirty="0" err="1"/>
              <a:t>gebruiker</a:t>
            </a:r>
            <a:r>
              <a:rPr lang="en-US" sz="2000" dirty="0"/>
              <a:t> </a:t>
            </a:r>
            <a:r>
              <a:rPr lang="en-US" sz="2000" dirty="0" err="1"/>
              <a:t>vult</a:t>
            </a:r>
            <a:r>
              <a:rPr lang="en-US" sz="2000" dirty="0"/>
              <a:t> "John Doe" in </a:t>
            </a:r>
            <a:r>
              <a:rPr lang="en-US" sz="2000" dirty="0" err="1"/>
              <a:t>en</a:t>
            </a:r>
            <a:r>
              <a:rPr lang="en-US" sz="2000" dirty="0"/>
              <a:t> </a:t>
            </a:r>
            <a:r>
              <a:rPr lang="en-US" sz="2000" dirty="0" err="1"/>
              <a:t>klikt</a:t>
            </a:r>
            <a:r>
              <a:rPr lang="en-US" sz="2000" dirty="0"/>
              <a:t> op "LOGIN".</a:t>
            </a: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r>
              <a:rPr lang="nl-NL" sz="2000" dirty="0">
                <a:solidFill>
                  <a:srgbClr val="000000"/>
                </a:solidFill>
              </a:rPr>
              <a:t>1° Browser maakt POST </a:t>
            </a:r>
            <a:r>
              <a:rPr lang="nl-NL" sz="2000" dirty="0" err="1">
                <a:solidFill>
                  <a:srgbClr val="000000"/>
                </a:solidFill>
              </a:rPr>
              <a:t>request</a:t>
            </a:r>
            <a:r>
              <a:rPr lang="nl-NL" sz="2000" dirty="0">
                <a:solidFill>
                  <a:srgbClr val="000000"/>
                </a:solidFill>
              </a:rPr>
              <a:t> naar huidige pagina (</a:t>
            </a:r>
            <a:r>
              <a:rPr lang="nl-NL" sz="2000" dirty="0" err="1">
                <a:solidFill>
                  <a:srgbClr val="000000"/>
                </a:solidFill>
              </a:rPr>
              <a:t>index.php</a:t>
            </a:r>
            <a:r>
              <a:rPr lang="nl-NL" sz="2000" dirty="0">
                <a:solidFill>
                  <a:srgbClr val="000000"/>
                </a:solidFill>
              </a:rPr>
              <a:t>). Je ziet de pagina </a:t>
            </a:r>
            <a:r>
              <a:rPr lang="nl-NL" sz="2000" dirty="0" err="1">
                <a:solidFill>
                  <a:srgbClr val="000000"/>
                </a:solidFill>
              </a:rPr>
              <a:t>refreshen</a:t>
            </a:r>
            <a:r>
              <a:rPr lang="nl-NL" sz="2000" dirty="0">
                <a:solidFill>
                  <a:srgbClr val="000000"/>
                </a:solidFill>
              </a:rPr>
              <a:t>.</a:t>
            </a:r>
          </a:p>
          <a:p>
            <a:endParaRPr lang="nl-NL" sz="2000" b="1" dirty="0">
              <a:solidFill>
                <a:srgbClr val="000000"/>
              </a:solidFill>
            </a:endParaRPr>
          </a:p>
          <a:p>
            <a:r>
              <a:rPr lang="nl-NL" sz="2000" dirty="0">
                <a:solidFill>
                  <a:srgbClr val="000000"/>
                </a:solidFill>
              </a:rPr>
              <a:t>2° Webserver wordt actief (</a:t>
            </a:r>
            <a:r>
              <a:rPr lang="nl-NL" sz="2000" dirty="0" err="1">
                <a:solidFill>
                  <a:srgbClr val="000000"/>
                </a:solidFill>
              </a:rPr>
              <a:t>incoming</a:t>
            </a:r>
            <a:r>
              <a:rPr lang="nl-NL" sz="2000" dirty="0">
                <a:solidFill>
                  <a:srgbClr val="000000"/>
                </a:solidFill>
              </a:rPr>
              <a:t> </a:t>
            </a:r>
            <a:r>
              <a:rPr lang="nl-NL" sz="2000" dirty="0" err="1">
                <a:solidFill>
                  <a:srgbClr val="000000"/>
                </a:solidFill>
              </a:rPr>
              <a:t>request</a:t>
            </a:r>
            <a:r>
              <a:rPr lang="nl-NL" sz="2000" dirty="0">
                <a:solidFill>
                  <a:srgbClr val="000000"/>
                </a:solidFill>
              </a:rPr>
              <a:t> signaal)</a:t>
            </a:r>
          </a:p>
          <a:p>
            <a:endParaRPr lang="nl-NL" sz="2000" dirty="0">
              <a:solidFill>
                <a:srgbClr val="000000"/>
              </a:solidFill>
            </a:endParaRPr>
          </a:p>
          <a:p>
            <a:r>
              <a:rPr lang="nl-NL" sz="2000" dirty="0">
                <a:solidFill>
                  <a:srgbClr val="FF0000"/>
                </a:solidFill>
              </a:rPr>
              <a:t>3° PHP Code voert uit</a:t>
            </a:r>
            <a:r>
              <a:rPr lang="nl-NL" sz="2000" dirty="0"/>
              <a:t> -&gt; $_POST['</a:t>
            </a:r>
            <a:r>
              <a:rPr lang="nl-NL" sz="2000" err="1"/>
              <a:t>fname</a:t>
            </a:r>
            <a:r>
              <a:rPr lang="nl-NL" sz="2000" dirty="0"/>
              <a:t>'] en </a:t>
            </a:r>
            <a:r>
              <a:rPr lang="nl-NL" sz="2000" err="1"/>
              <a:t>lname</a:t>
            </a:r>
            <a:r>
              <a:rPr lang="nl-NL" sz="2000" dirty="0"/>
              <a:t> zijn "set" (bevat waarde </a:t>
            </a:r>
            <a:r>
              <a:rPr lang="nl-NL" sz="2000" err="1"/>
              <a:t>ipv</a:t>
            </a:r>
            <a:r>
              <a:rPr lang="nl-NL" sz="2000" dirty="0"/>
              <a:t> leeg in sit.1 en sit.2)</a:t>
            </a:r>
          </a:p>
          <a:p>
            <a:endParaRPr lang="nl-NL" sz="2000" dirty="0">
              <a:solidFill>
                <a:srgbClr val="000000"/>
              </a:solidFill>
            </a:endParaRPr>
          </a:p>
          <a:p>
            <a:r>
              <a:rPr lang="nl-NL" sz="2000" dirty="0">
                <a:solidFill>
                  <a:srgbClr val="000000"/>
                </a:solidFill>
              </a:rPr>
              <a:t> =&gt; </a:t>
            </a:r>
            <a:r>
              <a:rPr lang="nl-NL" sz="2000" i="1" dirty="0">
                <a:solidFill>
                  <a:srgbClr val="000000"/>
                </a:solidFill>
              </a:rPr>
              <a:t>"Je hebt ingevoerd: John Doe"</a:t>
            </a:r>
            <a:r>
              <a:rPr lang="nl-NL" sz="2000" dirty="0">
                <a:solidFill>
                  <a:srgbClr val="000000"/>
                </a:solidFill>
              </a:rPr>
              <a:t> wordt </a:t>
            </a:r>
            <a:r>
              <a:rPr lang="nl-NL" sz="2000" dirty="0">
                <a:solidFill>
                  <a:srgbClr val="00B0F0"/>
                </a:solidFill>
              </a:rPr>
              <a:t>TOEGEVOEGD </a:t>
            </a:r>
            <a:r>
              <a:rPr lang="nl-NL" sz="2000" dirty="0">
                <a:solidFill>
                  <a:srgbClr val="000000"/>
                </a:solidFill>
              </a:rPr>
              <a:t>aan </a:t>
            </a:r>
            <a:r>
              <a:rPr lang="nl-NL" sz="2000" dirty="0">
                <a:solidFill>
                  <a:srgbClr val="00B050"/>
                </a:solidFill>
              </a:rPr>
              <a:t>Output Buffer.</a:t>
            </a:r>
            <a:endParaRPr lang="nl-NL">
              <a:solidFill>
                <a:srgbClr val="00B050"/>
              </a:solidFill>
            </a:endParaRPr>
          </a:p>
          <a:p>
            <a:endParaRPr lang="nl-NL" sz="2000" dirty="0">
              <a:solidFill>
                <a:srgbClr val="000000"/>
              </a:solidFill>
            </a:endParaRPr>
          </a:p>
          <a:p>
            <a:r>
              <a:rPr lang="nl-NL" sz="2000" dirty="0">
                <a:solidFill>
                  <a:srgbClr val="00B050"/>
                </a:solidFill>
              </a:rPr>
              <a:t>4° Output Buffer terug naar browser</a:t>
            </a:r>
          </a:p>
          <a:p>
            <a:endParaRPr lang="nl-NL" sz="2000" dirty="0">
              <a:solidFill>
                <a:srgbClr val="00B050"/>
              </a:solidFill>
            </a:endParaRPr>
          </a:p>
          <a:p>
            <a:r>
              <a:rPr lang="nl-NL" sz="2000" dirty="0"/>
              <a:t>Resultaat? Je ziet: "Je hebt ingevoerd...." Én het formulier</a:t>
            </a:r>
          </a:p>
        </p:txBody>
      </p:sp>
      <p:pic>
        <p:nvPicPr>
          <p:cNvPr id="7" name="Afbeelding 6" descr="Afbeelding met tekst, schermopname, scherm, Lettertype&#10;&#10;Door AI gegenereerde inhoud is mogelijk onjuist.">
            <a:extLst>
              <a:ext uri="{FF2B5EF4-FFF2-40B4-BE49-F238E27FC236}">
                <a16:creationId xmlns:a16="http://schemas.microsoft.com/office/drawing/2014/main" id="{5A502C83-585F-613D-4E90-F575093339B4}"/>
              </a:ext>
            </a:extLst>
          </p:cNvPr>
          <p:cNvPicPr>
            <a:picLocks noChangeAspect="1"/>
          </p:cNvPicPr>
          <p:nvPr/>
        </p:nvPicPr>
        <p:blipFill>
          <a:blip r:embed="rId3"/>
          <a:stretch>
            <a:fillRect/>
          </a:stretch>
        </p:blipFill>
        <p:spPr>
          <a:xfrm>
            <a:off x="6811786" y="1098550"/>
            <a:ext cx="4709584" cy="5818011"/>
          </a:xfrm>
          <a:prstGeom prst="rect">
            <a:avLst/>
          </a:prstGeom>
        </p:spPr>
      </p:pic>
      <p:pic>
        <p:nvPicPr>
          <p:cNvPr id="3" name="Afbeelding 2" descr="Afbeelding met tekst, schermopname, Lettertype, lijn&#10;&#10;Door AI gegenereerde inhoud is mogelijk onjuist.">
            <a:extLst>
              <a:ext uri="{FF2B5EF4-FFF2-40B4-BE49-F238E27FC236}">
                <a16:creationId xmlns:a16="http://schemas.microsoft.com/office/drawing/2014/main" id="{DB7BC74C-C24B-D423-B690-836BDAEDBBB0}"/>
              </a:ext>
            </a:extLst>
          </p:cNvPr>
          <p:cNvPicPr>
            <a:picLocks noChangeAspect="1"/>
          </p:cNvPicPr>
          <p:nvPr/>
        </p:nvPicPr>
        <p:blipFill>
          <a:blip r:embed="rId4"/>
          <a:stretch>
            <a:fillRect/>
          </a:stretch>
        </p:blipFill>
        <p:spPr>
          <a:xfrm>
            <a:off x="1556808" y="490890"/>
            <a:ext cx="1847851" cy="1614665"/>
          </a:xfrm>
          <a:prstGeom prst="rect">
            <a:avLst/>
          </a:prstGeom>
        </p:spPr>
      </p:pic>
    </p:spTree>
    <p:extLst>
      <p:ext uri="{BB962C8B-B14F-4D97-AF65-F5344CB8AC3E}">
        <p14:creationId xmlns:p14="http://schemas.microsoft.com/office/powerpoint/2010/main" val="245792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3CC2B8-B278-2B94-39C9-63959CF11429}"/>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440A369-8C52-07E9-A540-F91FD2269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B482BFF-4EAD-0138-7EBC-8E2710C317E2}"/>
              </a:ext>
            </a:extLst>
          </p:cNvPr>
          <p:cNvSpPr>
            <a:spLocks noGrp="1"/>
          </p:cNvSpPr>
          <p:nvPr>
            <p:ph type="title"/>
          </p:nvPr>
        </p:nvSpPr>
        <p:spPr>
          <a:xfrm>
            <a:off x="6691331" y="80728"/>
            <a:ext cx="5044428" cy="1095875"/>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sp>
        <p:nvSpPr>
          <p:cNvPr id="5" name="Tekstvak 4">
            <a:extLst>
              <a:ext uri="{FF2B5EF4-FFF2-40B4-BE49-F238E27FC236}">
                <a16:creationId xmlns:a16="http://schemas.microsoft.com/office/drawing/2014/main" id="{F280EC35-76D2-41E3-CF5E-B9282A772BFC}"/>
              </a:ext>
            </a:extLst>
          </p:cNvPr>
          <p:cNvSpPr txBox="1"/>
          <p:nvPr/>
        </p:nvSpPr>
        <p:spPr>
          <a:xfrm>
            <a:off x="33720" y="252530"/>
            <a:ext cx="6576366"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2000" b="1" dirty="0"/>
              <a:t>SITUATIE 3:</a:t>
            </a:r>
            <a:r>
              <a:rPr lang="en-US" sz="2000" dirty="0"/>
              <a:t> De </a:t>
            </a:r>
            <a:r>
              <a:rPr lang="en-US" sz="2000" dirty="0" err="1"/>
              <a:t>gebruiker</a:t>
            </a:r>
            <a:r>
              <a:rPr lang="en-US" sz="2000" dirty="0"/>
              <a:t> </a:t>
            </a:r>
            <a:r>
              <a:rPr lang="en-US" sz="2000" dirty="0" err="1"/>
              <a:t>vult</a:t>
            </a:r>
            <a:r>
              <a:rPr lang="en-US" sz="2000" dirty="0"/>
              <a:t> "John Doe" in </a:t>
            </a:r>
            <a:r>
              <a:rPr lang="en-US" sz="2000" dirty="0" err="1"/>
              <a:t>en</a:t>
            </a:r>
            <a:r>
              <a:rPr lang="en-US" sz="2000" dirty="0"/>
              <a:t> </a:t>
            </a:r>
            <a:r>
              <a:rPr lang="en-US" sz="2000" dirty="0" err="1"/>
              <a:t>klikt</a:t>
            </a:r>
            <a:r>
              <a:rPr lang="en-US" sz="2000" dirty="0"/>
              <a:t> op "LOGIN".</a:t>
            </a: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r>
              <a:rPr lang="en-US" sz="2000" dirty="0">
                <a:solidFill>
                  <a:srgbClr val="00B0F0"/>
                </a:solidFill>
              </a:rPr>
              <a:t>Output Buffer:</a:t>
            </a: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endParaRPr lang="nl-NL" sz="2000" dirty="0"/>
          </a:p>
        </p:txBody>
      </p:sp>
      <p:pic>
        <p:nvPicPr>
          <p:cNvPr id="7" name="Afbeelding 6" descr="Afbeelding met tekst, schermopname, scherm, Lettertype&#10;&#10;Door AI gegenereerde inhoud is mogelijk onjuist.">
            <a:extLst>
              <a:ext uri="{FF2B5EF4-FFF2-40B4-BE49-F238E27FC236}">
                <a16:creationId xmlns:a16="http://schemas.microsoft.com/office/drawing/2014/main" id="{0A04CC85-9038-5362-58A1-2DEFAE493FBA}"/>
              </a:ext>
            </a:extLst>
          </p:cNvPr>
          <p:cNvPicPr>
            <a:picLocks noChangeAspect="1"/>
          </p:cNvPicPr>
          <p:nvPr/>
        </p:nvPicPr>
        <p:blipFill>
          <a:blip r:embed="rId3"/>
          <a:stretch>
            <a:fillRect/>
          </a:stretch>
        </p:blipFill>
        <p:spPr>
          <a:xfrm>
            <a:off x="6811786" y="1098550"/>
            <a:ext cx="4709584" cy="5818011"/>
          </a:xfrm>
          <a:prstGeom prst="rect">
            <a:avLst/>
          </a:prstGeom>
        </p:spPr>
      </p:pic>
      <p:pic>
        <p:nvPicPr>
          <p:cNvPr id="4" name="Afbeelding 3" descr="Afbeelding met tekst, schermopname, Lettertype, nummer&#10;&#10;Door AI gegenereerde inhoud is mogelijk onjuist.">
            <a:extLst>
              <a:ext uri="{FF2B5EF4-FFF2-40B4-BE49-F238E27FC236}">
                <a16:creationId xmlns:a16="http://schemas.microsoft.com/office/drawing/2014/main" id="{4D9C5259-9C22-D9F9-1E55-134F17A303D1}"/>
              </a:ext>
            </a:extLst>
          </p:cNvPr>
          <p:cNvPicPr>
            <a:picLocks noChangeAspect="1"/>
          </p:cNvPicPr>
          <p:nvPr/>
        </p:nvPicPr>
        <p:blipFill>
          <a:blip r:embed="rId4"/>
          <a:stretch>
            <a:fillRect/>
          </a:stretch>
        </p:blipFill>
        <p:spPr>
          <a:xfrm>
            <a:off x="239888" y="1525587"/>
            <a:ext cx="3324578" cy="3513314"/>
          </a:xfrm>
          <a:prstGeom prst="rect">
            <a:avLst/>
          </a:prstGeom>
        </p:spPr>
      </p:pic>
      <p:sp>
        <p:nvSpPr>
          <p:cNvPr id="6" name="Tekstvak 5">
            <a:extLst>
              <a:ext uri="{FF2B5EF4-FFF2-40B4-BE49-F238E27FC236}">
                <a16:creationId xmlns:a16="http://schemas.microsoft.com/office/drawing/2014/main" id="{37854EC8-8453-17CF-1B67-AE2A4D92CD4E}"/>
              </a:ext>
            </a:extLst>
          </p:cNvPr>
          <p:cNvSpPr txBox="1"/>
          <p:nvPr/>
        </p:nvSpPr>
        <p:spPr>
          <a:xfrm>
            <a:off x="158008" y="5688282"/>
            <a:ext cx="610639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Merk op: de formuliervelden worden leeggemaakt omdat de browser "</a:t>
            </a:r>
            <a:r>
              <a:rPr lang="nl-NL" dirty="0" err="1"/>
              <a:t>refresht</a:t>
            </a:r>
            <a:r>
              <a:rPr lang="nl-NL" dirty="0"/>
              <a:t>": vergelijk dit met OPNIEUW openen van webpagina.</a:t>
            </a:r>
          </a:p>
        </p:txBody>
      </p:sp>
    </p:spTree>
    <p:extLst>
      <p:ext uri="{BB962C8B-B14F-4D97-AF65-F5344CB8AC3E}">
        <p14:creationId xmlns:p14="http://schemas.microsoft.com/office/powerpoint/2010/main" val="81932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BFFA75-ACEC-CEA5-E2AE-5E96B97CB93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50CB929-38CE-2348-4D5C-E36069B5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CB51E91-D5EB-F97F-0036-763480D11BDF}"/>
              </a:ext>
            </a:extLst>
          </p:cNvPr>
          <p:cNvSpPr>
            <a:spLocks noGrp="1"/>
          </p:cNvSpPr>
          <p:nvPr>
            <p:ph type="title"/>
          </p:nvPr>
        </p:nvSpPr>
        <p:spPr>
          <a:xfrm>
            <a:off x="6691331" y="80728"/>
            <a:ext cx="5044428" cy="1095875"/>
          </a:xfrm>
        </p:spPr>
        <p:txBody>
          <a:bodyPr vert="horz" lIns="91440" tIns="45720" rIns="91440" bIns="45720" rtlCol="0" anchor="b">
            <a:normAutofit/>
          </a:bodyPr>
          <a:lstStyle/>
          <a:p>
            <a:r>
              <a:rPr lang="en-US" sz="3200" dirty="0" err="1"/>
              <a:t>Visualisatie</a:t>
            </a:r>
            <a:r>
              <a:rPr lang="en-US" sz="3200" dirty="0"/>
              <a:t> in </a:t>
            </a:r>
            <a:r>
              <a:rPr lang="en-US" sz="3200" dirty="0" err="1"/>
              <a:t>stappen</a:t>
            </a:r>
            <a:endParaRPr lang="nl-NL" dirty="0" err="1"/>
          </a:p>
        </p:txBody>
      </p:sp>
      <p:sp>
        <p:nvSpPr>
          <p:cNvPr id="5" name="Tekstvak 4">
            <a:extLst>
              <a:ext uri="{FF2B5EF4-FFF2-40B4-BE49-F238E27FC236}">
                <a16:creationId xmlns:a16="http://schemas.microsoft.com/office/drawing/2014/main" id="{D295F7C1-7672-334C-E8B8-FE068854DCC3}"/>
              </a:ext>
            </a:extLst>
          </p:cNvPr>
          <p:cNvSpPr txBox="1"/>
          <p:nvPr/>
        </p:nvSpPr>
        <p:spPr>
          <a:xfrm>
            <a:off x="33720" y="252530"/>
            <a:ext cx="6576366"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2000" b="1" dirty="0"/>
              <a:t>SITUATIE 3:</a:t>
            </a:r>
            <a:r>
              <a:rPr lang="en-US" sz="2000" dirty="0"/>
              <a:t> De </a:t>
            </a:r>
            <a:r>
              <a:rPr lang="en-US" sz="2000" dirty="0" err="1"/>
              <a:t>gebruiker</a:t>
            </a:r>
            <a:r>
              <a:rPr lang="en-US" sz="2000" dirty="0"/>
              <a:t> </a:t>
            </a:r>
            <a:r>
              <a:rPr lang="en-US" sz="2000" dirty="0" err="1"/>
              <a:t>vult</a:t>
            </a:r>
            <a:r>
              <a:rPr lang="en-US" sz="2000" dirty="0"/>
              <a:t> "John Doe" in </a:t>
            </a:r>
            <a:r>
              <a:rPr lang="en-US" sz="2000" dirty="0" err="1"/>
              <a:t>en</a:t>
            </a:r>
            <a:r>
              <a:rPr lang="en-US" sz="2000" dirty="0"/>
              <a:t> </a:t>
            </a:r>
            <a:r>
              <a:rPr lang="en-US" sz="2000" dirty="0" err="1"/>
              <a:t>klikt</a:t>
            </a:r>
            <a:r>
              <a:rPr lang="en-US" sz="2000" dirty="0"/>
              <a:t> op "LOGIN".</a:t>
            </a: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r>
              <a:rPr lang="en-US" sz="2000" dirty="0">
                <a:solidFill>
                  <a:srgbClr val="00B0F0"/>
                </a:solidFill>
              </a:rPr>
              <a:t>Output Buffer:</a:t>
            </a: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pPr marL="342900" indent="-342900">
              <a:buFont typeface="Calibri"/>
              <a:buChar char="-"/>
            </a:pPr>
            <a:endParaRPr lang="en-US" sz="2000" dirty="0">
              <a:solidFill>
                <a:srgbClr val="000000"/>
              </a:solidFill>
            </a:endParaRPr>
          </a:p>
          <a:p>
            <a:endParaRPr lang="nl-NL" sz="2000" dirty="0"/>
          </a:p>
        </p:txBody>
      </p:sp>
      <p:pic>
        <p:nvPicPr>
          <p:cNvPr id="4" name="Afbeelding 3" descr="Afbeelding met tekst, schermopname, Lettertype, nummer&#10;&#10;Door AI gegenereerde inhoud is mogelijk onjuist.">
            <a:extLst>
              <a:ext uri="{FF2B5EF4-FFF2-40B4-BE49-F238E27FC236}">
                <a16:creationId xmlns:a16="http://schemas.microsoft.com/office/drawing/2014/main" id="{88DB966B-86B3-9CDF-2DBD-F1EBF682A41F}"/>
              </a:ext>
            </a:extLst>
          </p:cNvPr>
          <p:cNvPicPr>
            <a:picLocks noChangeAspect="1"/>
          </p:cNvPicPr>
          <p:nvPr/>
        </p:nvPicPr>
        <p:blipFill>
          <a:blip r:embed="rId3"/>
          <a:stretch>
            <a:fillRect/>
          </a:stretch>
        </p:blipFill>
        <p:spPr>
          <a:xfrm>
            <a:off x="239888" y="1525587"/>
            <a:ext cx="3324578" cy="3513314"/>
          </a:xfrm>
          <a:prstGeom prst="rect">
            <a:avLst/>
          </a:prstGeom>
        </p:spPr>
      </p:pic>
      <p:sp>
        <p:nvSpPr>
          <p:cNvPr id="6" name="Tekstvak 5">
            <a:extLst>
              <a:ext uri="{FF2B5EF4-FFF2-40B4-BE49-F238E27FC236}">
                <a16:creationId xmlns:a16="http://schemas.microsoft.com/office/drawing/2014/main" id="{2C7C25F7-61F9-273F-09E0-D178B50A05D5}"/>
              </a:ext>
            </a:extLst>
          </p:cNvPr>
          <p:cNvSpPr txBox="1"/>
          <p:nvPr/>
        </p:nvSpPr>
        <p:spPr>
          <a:xfrm>
            <a:off x="158008" y="5688282"/>
            <a:ext cx="610639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Merk op: de formuliervelden worden leeggemaakt omdat de browser "</a:t>
            </a:r>
            <a:r>
              <a:rPr lang="nl-NL" dirty="0" err="1"/>
              <a:t>refresht</a:t>
            </a:r>
            <a:r>
              <a:rPr lang="nl-NL" dirty="0"/>
              <a:t>": vergelijk dit met OPNIEUW openen van webpagina.</a:t>
            </a:r>
          </a:p>
        </p:txBody>
      </p:sp>
      <p:pic>
        <p:nvPicPr>
          <p:cNvPr id="3" name="Afbeelding 2">
            <a:extLst>
              <a:ext uri="{FF2B5EF4-FFF2-40B4-BE49-F238E27FC236}">
                <a16:creationId xmlns:a16="http://schemas.microsoft.com/office/drawing/2014/main" id="{DB2F1583-A20C-7997-441D-619C172A6A8F}"/>
              </a:ext>
            </a:extLst>
          </p:cNvPr>
          <p:cNvPicPr>
            <a:picLocks noChangeAspect="1"/>
          </p:cNvPicPr>
          <p:nvPr/>
        </p:nvPicPr>
        <p:blipFill>
          <a:blip r:embed="rId4"/>
          <a:stretch>
            <a:fillRect/>
          </a:stretch>
        </p:blipFill>
        <p:spPr>
          <a:xfrm>
            <a:off x="4572000" y="1265320"/>
            <a:ext cx="7162801" cy="4033850"/>
          </a:xfrm>
          <a:prstGeom prst="rect">
            <a:avLst/>
          </a:prstGeom>
        </p:spPr>
      </p:pic>
    </p:spTree>
    <p:extLst>
      <p:ext uri="{BB962C8B-B14F-4D97-AF65-F5344CB8AC3E}">
        <p14:creationId xmlns:p14="http://schemas.microsoft.com/office/powerpoint/2010/main" val="2871637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96F88-1EB0-4A73-DBE6-58CF9C0CBB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02554A7-1DDD-3438-B722-5487F469F144}"/>
              </a:ext>
            </a:extLst>
          </p:cNvPr>
          <p:cNvSpPr>
            <a:spLocks noGrp="1"/>
          </p:cNvSpPr>
          <p:nvPr>
            <p:ph type="title"/>
          </p:nvPr>
        </p:nvSpPr>
        <p:spPr/>
        <p:txBody>
          <a:bodyPr/>
          <a:lstStyle/>
          <a:p>
            <a:r>
              <a:rPr lang="nl-NL" dirty="0"/>
              <a:t>String </a:t>
            </a:r>
            <a:r>
              <a:rPr lang="nl-NL" dirty="0" err="1"/>
              <a:t>Methods</a:t>
            </a:r>
          </a:p>
        </p:txBody>
      </p:sp>
      <p:sp>
        <p:nvSpPr>
          <p:cNvPr id="3" name="Tijdelijke aanduiding voor inhoud 2">
            <a:extLst>
              <a:ext uri="{FF2B5EF4-FFF2-40B4-BE49-F238E27FC236}">
                <a16:creationId xmlns:a16="http://schemas.microsoft.com/office/drawing/2014/main" id="{614D18E0-6F68-F02C-D42B-D6954C416DC1}"/>
              </a:ext>
            </a:extLst>
          </p:cNvPr>
          <p:cNvSpPr>
            <a:spLocks noGrp="1"/>
          </p:cNvSpPr>
          <p:nvPr>
            <p:ph idx="1"/>
          </p:nvPr>
        </p:nvSpPr>
        <p:spPr/>
        <p:txBody>
          <a:bodyPr vert="horz" lIns="91440" tIns="45720" rIns="91440" bIns="45720" rtlCol="0" anchor="t">
            <a:normAutofit/>
          </a:bodyPr>
          <a:lstStyle/>
          <a:p>
            <a:pPr marL="0" indent="0">
              <a:buNone/>
            </a:pPr>
            <a:r>
              <a:rPr lang="nl-NL" b="1" dirty="0"/>
              <a:t>° </a:t>
            </a:r>
            <a:r>
              <a:rPr lang="nl-NL" b="1" dirty="0" err="1"/>
              <a:t>htmlspecialchars</a:t>
            </a:r>
            <a:r>
              <a:rPr lang="nl-NL" b="1" dirty="0"/>
              <a:t>($string)</a:t>
            </a:r>
            <a:endParaRPr lang="nl-NL"/>
          </a:p>
          <a:p>
            <a:pPr marL="0" indent="0">
              <a:buNone/>
            </a:pPr>
            <a:r>
              <a:rPr lang="nl-NL" b="1" dirty="0"/>
              <a:t> </a:t>
            </a:r>
            <a:r>
              <a:rPr lang="nl-NL" dirty="0"/>
              <a:t>=&gt; HTML/JS code "isoleren" zodat ze niet uitvoerbaar zijn</a:t>
            </a:r>
          </a:p>
          <a:p>
            <a:pPr marL="342900" indent="-342900">
              <a:buFont typeface="Calibri" panose="020B0604020202020204" pitchFamily="34" charset="0"/>
              <a:buChar char="-"/>
            </a:pPr>
            <a:r>
              <a:rPr lang="nl-NL" dirty="0"/>
              <a:t>Biedt veiligheid tegen XSS aanvallen (cross-site </a:t>
            </a:r>
            <a:r>
              <a:rPr lang="nl-NL" dirty="0" err="1"/>
              <a:t>scripting</a:t>
            </a:r>
            <a:r>
              <a:rPr lang="nl-NL" dirty="0"/>
              <a:t>) waarbij JS gebruikt wordt om code uit te voeren op een ander webadres.</a:t>
            </a:r>
          </a:p>
          <a:p>
            <a:pPr marL="0" indent="0">
              <a:buNone/>
            </a:pPr>
            <a:r>
              <a:rPr lang="nl-NL" b="1" dirty="0"/>
              <a:t>° </a:t>
            </a:r>
            <a:r>
              <a:rPr lang="nl-NL" b="1" dirty="0" err="1"/>
              <a:t>strtolower</a:t>
            </a:r>
            <a:r>
              <a:rPr lang="nl-NL" b="1" dirty="0"/>
              <a:t>($string)</a:t>
            </a:r>
          </a:p>
          <a:p>
            <a:pPr marL="342900" indent="-342900">
              <a:buFont typeface="Calibri" panose="020B0604020202020204" pitchFamily="34" charset="0"/>
              <a:buChar char="-"/>
            </a:pPr>
            <a:r>
              <a:rPr lang="nl-NL" dirty="0"/>
              <a:t>Maakt elk karakter </a:t>
            </a:r>
            <a:r>
              <a:rPr lang="nl-NL" err="1"/>
              <a:t>lowercase</a:t>
            </a:r>
            <a:r>
              <a:rPr lang="nl-NL" dirty="0"/>
              <a:t>.</a:t>
            </a:r>
          </a:p>
          <a:p>
            <a:pPr marL="0" indent="0">
              <a:buNone/>
            </a:pPr>
            <a:r>
              <a:rPr lang="nl-NL" b="1" dirty="0"/>
              <a:t>° </a:t>
            </a:r>
            <a:r>
              <a:rPr lang="nl-NL" b="1" dirty="0" err="1"/>
              <a:t>strtoupper</a:t>
            </a:r>
            <a:r>
              <a:rPr lang="nl-NL" b="1" dirty="0"/>
              <a:t>($string)</a:t>
            </a:r>
            <a:endParaRPr lang="nl-NL" dirty="0"/>
          </a:p>
          <a:p>
            <a:pPr marL="342900" indent="-342900">
              <a:buFont typeface="Calibri,Sans-Serif" panose="020B0604020202020204" pitchFamily="34" charset="0"/>
              <a:buChar char="-"/>
            </a:pPr>
            <a:r>
              <a:rPr lang="nl-NL" dirty="0"/>
              <a:t>Maakt elk karakter </a:t>
            </a:r>
            <a:r>
              <a:rPr lang="nl-NL" dirty="0" err="1"/>
              <a:t>uppercase</a:t>
            </a:r>
            <a:r>
              <a:rPr lang="nl-NL" dirty="0"/>
              <a:t>.</a:t>
            </a:r>
          </a:p>
        </p:txBody>
      </p:sp>
    </p:spTree>
    <p:extLst>
      <p:ext uri="{BB962C8B-B14F-4D97-AF65-F5344CB8AC3E}">
        <p14:creationId xmlns:p14="http://schemas.microsoft.com/office/powerpoint/2010/main" val="1323465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4D649-B5B8-7C2D-5561-327D26CA695B}"/>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DE4C4D99-DB5B-CDFE-4CF6-70A59E686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FB2393B-D75D-E0DF-3C02-C25E060ECE4A}"/>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dirty="0">
                <a:latin typeface="+mj-lt"/>
                <a:ea typeface="+mj-ea"/>
                <a:cs typeface="+mj-cs"/>
              </a:rPr>
              <a:t>Time to exercise!</a:t>
            </a:r>
            <a:endParaRPr lang="nl-NL" dirty="0">
              <a:ea typeface="+mj-ea"/>
              <a:cs typeface="+mj-cs"/>
            </a:endParaRPr>
          </a:p>
        </p:txBody>
      </p:sp>
      <p:sp>
        <p:nvSpPr>
          <p:cNvPr id="2" name="Tekstvak 1">
            <a:extLst>
              <a:ext uri="{FF2B5EF4-FFF2-40B4-BE49-F238E27FC236}">
                <a16:creationId xmlns:a16="http://schemas.microsoft.com/office/drawing/2014/main" id="{92D4698D-422D-6048-19B5-EEBCE41B5B8C}"/>
              </a:ext>
            </a:extLst>
          </p:cNvPr>
          <p:cNvSpPr txBox="1"/>
          <p:nvPr/>
        </p:nvSpPr>
        <p:spPr>
          <a:xfrm>
            <a:off x="755374" y="1828800"/>
            <a:ext cx="10998813" cy="2031325"/>
          </a:xfrm>
          <a:prstGeom prst="rect">
            <a:avLst/>
          </a:prstGeom>
          <a:noFill/>
        </p:spPr>
        <p:txBody>
          <a:bodyPr wrap="square" lIns="91440" tIns="45720" rIns="91440" bIns="45720" rtlCol="0" anchor="t">
            <a:spAutoFit/>
          </a:bodyPr>
          <a:lstStyle/>
          <a:p>
            <a:pPr marL="342900" indent="-342900">
              <a:buAutoNum type="arabicParenR"/>
            </a:pPr>
            <a:r>
              <a:rPr lang="nl-BE" dirty="0"/>
              <a:t>Open in </a:t>
            </a:r>
            <a:r>
              <a:rPr lang="nl-BE" dirty="0" err="1"/>
              <a:t>VSCode</a:t>
            </a:r>
            <a:r>
              <a:rPr lang="nl-BE" dirty="0"/>
              <a:t> de folder: "C:\</a:t>
            </a:r>
            <a:r>
              <a:rPr lang="nl-BE" dirty="0" err="1"/>
              <a:t>xampp</a:t>
            </a:r>
            <a:r>
              <a:rPr lang="nl-BE" dirty="0"/>
              <a:t>\</a:t>
            </a:r>
            <a:r>
              <a:rPr lang="nl-BE" dirty="0" err="1"/>
              <a:t>htdocs</a:t>
            </a:r>
            <a:r>
              <a:rPr lang="nl-BE" dirty="0"/>
              <a:t>"</a:t>
            </a:r>
          </a:p>
          <a:p>
            <a:pPr marL="342900" indent="-342900">
              <a:buAutoNum type="arabicParenR"/>
            </a:pPr>
            <a:r>
              <a:rPr lang="nl-BE" dirty="0"/>
              <a:t>Maak in </a:t>
            </a:r>
            <a:r>
              <a:rPr lang="nl-BE" dirty="0" err="1"/>
              <a:t>htdocs</a:t>
            </a:r>
            <a:r>
              <a:rPr lang="nl-BE" dirty="0"/>
              <a:t> voor elke oefening een apart mapje aan</a:t>
            </a:r>
          </a:p>
          <a:p>
            <a:pPr marL="342900" indent="-342900">
              <a:buAutoNum type="arabicParenR"/>
            </a:pPr>
            <a:r>
              <a:rPr lang="nl-BE" dirty="0"/>
              <a:t>Ga in je browser (Chrome, </a:t>
            </a:r>
            <a:r>
              <a:rPr lang="nl-BE" dirty="0" err="1"/>
              <a:t>Edge</a:t>
            </a:r>
            <a:r>
              <a:rPr lang="nl-BE" dirty="0"/>
              <a:t>, Brave, ...) naar "</a:t>
            </a:r>
            <a:r>
              <a:rPr lang="nl-BE" dirty="0" err="1"/>
              <a:t>localhost</a:t>
            </a:r>
            <a:r>
              <a:rPr lang="nl-BE" dirty="0"/>
              <a:t>"</a:t>
            </a:r>
          </a:p>
          <a:p>
            <a:pPr marL="342900" indent="-342900">
              <a:buAutoNum type="arabicParenR"/>
            </a:pPr>
            <a:r>
              <a:rPr lang="nl-BE" dirty="0"/>
              <a:t>Maak de file: "</a:t>
            </a:r>
            <a:r>
              <a:rPr lang="nl-BE" dirty="0" err="1"/>
              <a:t>index.php</a:t>
            </a:r>
            <a:r>
              <a:rPr lang="nl-BE" dirty="0"/>
              <a:t>" aan in het mapje van de oefening</a:t>
            </a:r>
          </a:p>
          <a:p>
            <a:pPr marL="342900" indent="-342900">
              <a:buAutoNum type="arabicParenR"/>
            </a:pPr>
            <a:endParaRPr lang="nl-BE" dirty="0"/>
          </a:p>
          <a:p>
            <a:r>
              <a:rPr lang="nl-BE" dirty="0"/>
              <a:t>💡Tip over werkwijze! Begin gewoon met je HTML code te schrijven en voeg PHP pas toe als het nodig is.</a:t>
            </a:r>
          </a:p>
        </p:txBody>
      </p:sp>
      <p:sp>
        <p:nvSpPr>
          <p:cNvPr id="4" name="Tekstvak 3">
            <a:extLst>
              <a:ext uri="{FF2B5EF4-FFF2-40B4-BE49-F238E27FC236}">
                <a16:creationId xmlns:a16="http://schemas.microsoft.com/office/drawing/2014/main" id="{56E0308D-B4D2-E795-9BD0-B5BFC4D4D357}"/>
              </a:ext>
            </a:extLst>
          </p:cNvPr>
          <p:cNvSpPr txBox="1"/>
          <p:nvPr/>
        </p:nvSpPr>
        <p:spPr>
          <a:xfrm>
            <a:off x="640148" y="4700277"/>
            <a:ext cx="11218946" cy="646331"/>
          </a:xfrm>
          <a:prstGeom prst="rect">
            <a:avLst/>
          </a:prstGeom>
          <a:noFill/>
        </p:spPr>
        <p:txBody>
          <a:bodyPr wrap="square" lIns="91440" tIns="45720" rIns="91440" bIns="45720" rtlCol="0" anchor="t">
            <a:spAutoFit/>
          </a:bodyPr>
          <a:lstStyle/>
          <a:p>
            <a:r>
              <a:rPr lang="nl-BE" dirty="0"/>
              <a:t>Sommige oefeningen hebben extra: ➕Toevoeging of ⭐Uitdaging </a:t>
            </a:r>
            <a:r>
              <a:rPr lang="nl-BE" i="1" dirty="0"/>
              <a:t>(aantal sterren toont moeilijkheidsgraad)</a:t>
            </a:r>
            <a:endParaRPr lang="nl-NL" i="1" dirty="0"/>
          </a:p>
        </p:txBody>
      </p:sp>
    </p:spTree>
    <p:extLst>
      <p:ext uri="{BB962C8B-B14F-4D97-AF65-F5344CB8AC3E}">
        <p14:creationId xmlns:p14="http://schemas.microsoft.com/office/powerpoint/2010/main" val="74452290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877</Words>
  <Application>Microsoft Office PowerPoint</Application>
  <PresentationFormat>Breedbeeld</PresentationFormat>
  <Paragraphs>111</Paragraphs>
  <Slides>12</Slides>
  <Notes>12</Notes>
  <HiddenSlides>0</HiddenSlides>
  <MMClips>0</MMClips>
  <ScaleCrop>false</ScaleCrop>
  <HeadingPairs>
    <vt:vector size="4" baseType="variant">
      <vt:variant>
        <vt:lpstr>Thema</vt:lpstr>
      </vt:variant>
      <vt:variant>
        <vt:i4>1</vt:i4>
      </vt:variant>
      <vt:variant>
        <vt:lpstr>Diatitels</vt:lpstr>
      </vt:variant>
      <vt:variant>
        <vt:i4>12</vt:i4>
      </vt:variant>
    </vt:vector>
  </HeadingPairs>
  <TitlesOfParts>
    <vt:vector size="13" baseType="lpstr">
      <vt:lpstr>VanillaVTI</vt:lpstr>
      <vt:lpstr>Webdesign: Dynamische Websites  H2 Gebruikersinvoer</vt:lpstr>
      <vt:lpstr>Wat is gebruikersinvoer?</vt:lpstr>
      <vt:lpstr>HTML Forms</vt:lpstr>
      <vt:lpstr>Visualisatie in stappen</vt:lpstr>
      <vt:lpstr>Visualisatie in stappen</vt:lpstr>
      <vt:lpstr>Visualisatie in stappen</vt:lpstr>
      <vt:lpstr>Visualisatie in stappen</vt:lpstr>
      <vt:lpstr>Visualisatie in stappen</vt:lpstr>
      <vt:lpstr>Visualisatie in stappen</vt:lpstr>
      <vt:lpstr>Visualisatie in stappen</vt:lpstr>
      <vt:lpstr>String Methods</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Jarne Verlinden</dc:creator>
  <cp:lastModifiedBy>Jarne Verlinden</cp:lastModifiedBy>
  <cp:revision>1273</cp:revision>
  <dcterms:created xsi:type="dcterms:W3CDTF">2025-10-16T12:22:40Z</dcterms:created>
  <dcterms:modified xsi:type="dcterms:W3CDTF">2025-11-05T14:13:25Z</dcterms:modified>
</cp:coreProperties>
</file>