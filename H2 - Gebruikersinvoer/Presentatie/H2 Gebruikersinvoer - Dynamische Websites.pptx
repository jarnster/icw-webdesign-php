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14"/>
  </p:notesMasterIdLst>
  <p:sldIdLst>
    <p:sldId id="256" r:id="rId2"/>
    <p:sldId id="273" r:id="rId3"/>
    <p:sldId id="274" r:id="rId4"/>
    <p:sldId id="275" r:id="rId5"/>
    <p:sldId id="276" r:id="rId6"/>
    <p:sldId id="278" r:id="rId7"/>
    <p:sldId id="277" r:id="rId8"/>
    <p:sldId id="279" r:id="rId9"/>
    <p:sldId id="280" r:id="rId10"/>
    <p:sldId id="281" r:id="rId11"/>
    <p:sldId id="282" r:id="rId12"/>
    <p:sldId id="272" r:id="rId13"/>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EE67B2F-D9B4-C3A6-04B6-18FEC51ED8A1}" v="6" dt="2025-11-05T20:32:47.659"/>
    <p1510:client id="{C6E7D8E5-334B-6BED-3A15-C50C85D7133C}" v="2733" dt="2025-11-05T14:12:54.5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5533" autoAdjust="0"/>
  </p:normalViewPr>
  <p:slideViewPr>
    <p:cSldViewPr snapToGrid="0">
      <p:cViewPr varScale="1">
        <p:scale>
          <a:sx n="48" d="100"/>
          <a:sy n="48" d="100"/>
        </p:scale>
        <p:origin x="1364" y="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5/11/2025</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latin typeface="Calibri"/>
                <a:ea typeface="Calibri"/>
                <a:cs typeface="Calibri"/>
              </a:rPr>
              <a:t>(2025-2026) Jarne Verlinden – 6icw</a:t>
            </a:r>
          </a:p>
          <a:p>
            <a:r>
              <a:rPr lang="en-US" dirty="0">
                <a:hlinkClick r:id="rId3"/>
              </a:rPr>
              <a:t>https://github.com/jarnster</a:t>
            </a:r>
            <a:endParaRPr lang="en-US"/>
          </a:p>
          <a:p>
            <a:endParaRPr lang="en-US" dirty="0"/>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t>We </a:t>
            </a:r>
            <a:r>
              <a:rPr lang="en-US" dirty="0" err="1"/>
              <a:t>stellen</a:t>
            </a:r>
            <a:r>
              <a:rPr lang="en-US" dirty="0"/>
              <a:t> </a:t>
            </a:r>
            <a:r>
              <a:rPr lang="en-US" dirty="0" err="1"/>
              <a:t>ons</a:t>
            </a:r>
            <a:r>
              <a:rPr lang="en-US" dirty="0"/>
              <a:t> </a:t>
            </a:r>
            <a:r>
              <a:rPr lang="en-US" dirty="0" err="1"/>
              <a:t>eerst</a:t>
            </a:r>
            <a:r>
              <a:rPr lang="en-US" dirty="0"/>
              <a:t> de </a:t>
            </a:r>
            <a:r>
              <a:rPr lang="en-US" dirty="0" err="1"/>
              <a:t>vraag</a:t>
            </a:r>
            <a:r>
              <a:rPr lang="en-US" dirty="0"/>
              <a:t>: Wat is </a:t>
            </a:r>
            <a:r>
              <a:rPr lang="en-US" dirty="0" err="1"/>
              <a:t>gebruikersinvoer</a:t>
            </a:r>
            <a:r>
              <a:rPr lang="en-US" dirty="0"/>
              <a:t>? Dat is </a:t>
            </a:r>
            <a:r>
              <a:rPr lang="en-US" dirty="0" err="1"/>
              <a:t>eigenlijk</a:t>
            </a:r>
            <a:r>
              <a:rPr lang="en-US" dirty="0"/>
              <a:t> </a:t>
            </a:r>
            <a:r>
              <a:rPr lang="en-US" dirty="0" err="1"/>
              <a:t>alles</a:t>
            </a:r>
            <a:r>
              <a:rPr lang="en-US" dirty="0"/>
              <a:t> </a:t>
            </a:r>
            <a:r>
              <a:rPr lang="en-US" dirty="0" err="1"/>
              <a:t>waarop</a:t>
            </a:r>
            <a:r>
              <a:rPr lang="en-US" dirty="0"/>
              <a:t> de </a:t>
            </a:r>
            <a:r>
              <a:rPr lang="en-US" dirty="0" err="1"/>
              <a:t>eindgebruiker</a:t>
            </a:r>
            <a:r>
              <a:rPr lang="en-US" dirty="0"/>
              <a:t> </a:t>
            </a:r>
            <a:r>
              <a:rPr lang="en-US" dirty="0" err="1"/>
              <a:t>invloed</a:t>
            </a:r>
            <a:r>
              <a:rPr lang="en-US" dirty="0"/>
              <a:t> op </a:t>
            </a:r>
            <a:r>
              <a:rPr lang="en-US" dirty="0" err="1"/>
              <a:t>heeft</a:t>
            </a:r>
            <a:r>
              <a:rPr lang="en-US" dirty="0"/>
              <a:t>.</a:t>
            </a:r>
          </a:p>
          <a:p>
            <a:endParaRPr lang="en-US" dirty="0"/>
          </a:p>
          <a:p>
            <a:r>
              <a:rPr lang="en-US" dirty="0" err="1"/>
              <a:t>Bijvoorbeeld</a:t>
            </a:r>
            <a:r>
              <a:rPr lang="en-US" dirty="0"/>
              <a:t> </a:t>
            </a:r>
            <a:r>
              <a:rPr lang="en-US" dirty="0" err="1"/>
              <a:t>een</a:t>
            </a:r>
            <a:r>
              <a:rPr lang="en-US" dirty="0"/>
              <a:t> </a:t>
            </a:r>
            <a:r>
              <a:rPr lang="en-US" dirty="0" err="1"/>
              <a:t>formulier</a:t>
            </a:r>
            <a:r>
              <a:rPr lang="en-US" dirty="0"/>
              <a:t>, </a:t>
            </a:r>
            <a:r>
              <a:rPr lang="en-US" dirty="0" err="1"/>
              <a:t>een</a:t>
            </a:r>
            <a:r>
              <a:rPr lang="en-US" dirty="0"/>
              <a:t> GET parameter </a:t>
            </a:r>
            <a:r>
              <a:rPr lang="en-US" dirty="0" err="1"/>
              <a:t>zoals</a:t>
            </a:r>
            <a:r>
              <a:rPr lang="en-US" dirty="0"/>
              <a:t> ID </a:t>
            </a:r>
            <a:r>
              <a:rPr lang="en-US" dirty="0" err="1"/>
              <a:t>en</a:t>
            </a:r>
            <a:r>
              <a:rPr lang="en-US" dirty="0"/>
              <a:t> headers.</a:t>
            </a:r>
          </a:p>
          <a:p>
            <a:endParaRPr lang="en-US" dirty="0"/>
          </a:p>
          <a:p>
            <a:r>
              <a:rPr lang="en-US" dirty="0"/>
              <a:t>In H1 </a:t>
            </a:r>
            <a:r>
              <a:rPr lang="en-US" dirty="0" err="1"/>
              <a:t>werkten</a:t>
            </a:r>
            <a:r>
              <a:rPr lang="en-US" dirty="0"/>
              <a:t> we met </a:t>
            </a:r>
            <a:r>
              <a:rPr lang="en-US" dirty="0" err="1"/>
              <a:t>gegevens</a:t>
            </a:r>
            <a:r>
              <a:rPr lang="en-US" dirty="0"/>
              <a:t> die we </a:t>
            </a:r>
            <a:r>
              <a:rPr lang="en-US" dirty="0" err="1"/>
              <a:t>vooraf</a:t>
            </a:r>
            <a:r>
              <a:rPr lang="en-US" dirty="0"/>
              <a:t> </a:t>
            </a:r>
            <a:r>
              <a:rPr lang="en-US" dirty="0" err="1"/>
              <a:t>instelde</a:t>
            </a:r>
            <a:r>
              <a:rPr lang="en-US" dirty="0"/>
              <a:t>. Nu </a:t>
            </a:r>
            <a:r>
              <a:rPr lang="en-US" dirty="0" err="1"/>
              <a:t>gaan</a:t>
            </a:r>
            <a:r>
              <a:rPr lang="en-US" dirty="0"/>
              <a:t> we, met </a:t>
            </a:r>
            <a:r>
              <a:rPr lang="en-US" dirty="0" err="1"/>
              <a:t>behulp</a:t>
            </a:r>
            <a:r>
              <a:rPr lang="en-US" dirty="0"/>
              <a:t> van </a:t>
            </a:r>
            <a:r>
              <a:rPr lang="en-US" dirty="0" err="1"/>
              <a:t>formulieren</a:t>
            </a:r>
            <a:r>
              <a:rPr lang="en-US" dirty="0"/>
              <a:t> </a:t>
            </a:r>
            <a:r>
              <a:rPr lang="en-US" dirty="0" err="1"/>
              <a:t>en</a:t>
            </a:r>
            <a:r>
              <a:rPr lang="en-US" dirty="0"/>
              <a:t> </a:t>
            </a:r>
            <a:r>
              <a:rPr lang="en-US" dirty="0" err="1"/>
              <a:t>andere</a:t>
            </a:r>
            <a:r>
              <a:rPr lang="en-US" dirty="0"/>
              <a:t> parameters (</a:t>
            </a:r>
            <a:r>
              <a:rPr lang="en-US" dirty="0" err="1"/>
              <a:t>zoals</a:t>
            </a:r>
            <a:r>
              <a:rPr lang="en-US" dirty="0"/>
              <a:t> $_GET) </a:t>
            </a:r>
            <a:r>
              <a:rPr lang="en-US" dirty="0" err="1"/>
              <a:t>gebruikersinvoer</a:t>
            </a:r>
            <a:r>
              <a:rPr lang="en-US" dirty="0"/>
              <a:t> </a:t>
            </a:r>
            <a:r>
              <a:rPr lang="en-US" dirty="0" err="1"/>
              <a:t>accepteren</a:t>
            </a:r>
            <a:r>
              <a:rPr lang="en-US" dirty="0"/>
              <a:t>.</a:t>
            </a:r>
            <a:endParaRPr lang="nl-NL"/>
          </a:p>
          <a:p>
            <a:endParaRPr lang="en-US" dirty="0">
              <a:latin typeface="Calibri"/>
              <a:ea typeface="Calibri"/>
              <a:cs typeface="Calibri"/>
            </a:endParaRPr>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2</a:t>
            </a:fld>
            <a:endParaRPr lang="nl-BE"/>
          </a:p>
        </p:txBody>
      </p:sp>
    </p:spTree>
    <p:extLst>
      <p:ext uri="{BB962C8B-B14F-4D97-AF65-F5344CB8AC3E}">
        <p14:creationId xmlns:p14="http://schemas.microsoft.com/office/powerpoint/2010/main" val="2510024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40D76-7A76-135A-1C34-F04D2D25FFD1}"/>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7A77554E-CC5D-5CD7-D9A4-8338A23EF49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87D88C6D-DF0D-089C-9C53-4CAA83FC0EC7}"/>
              </a:ext>
            </a:extLst>
          </p:cNvPr>
          <p:cNvSpPr>
            <a:spLocks noGrp="1"/>
          </p:cNvSpPr>
          <p:nvPr>
            <p:ph type="body" idx="1"/>
          </p:nvPr>
        </p:nvSpPr>
        <p:spPr/>
        <p:txBody>
          <a:bodyPr/>
          <a:lstStyle/>
          <a:p>
            <a:r>
              <a:rPr lang="en-US" dirty="0"/>
              <a:t>We </a:t>
            </a:r>
            <a:r>
              <a:rPr lang="en-US" dirty="0" err="1"/>
              <a:t>stellen</a:t>
            </a:r>
            <a:r>
              <a:rPr lang="en-US" dirty="0"/>
              <a:t> </a:t>
            </a:r>
            <a:r>
              <a:rPr lang="en-US" dirty="0" err="1"/>
              <a:t>ons</a:t>
            </a:r>
            <a:r>
              <a:rPr lang="en-US" dirty="0"/>
              <a:t> </a:t>
            </a:r>
            <a:r>
              <a:rPr lang="en-US" dirty="0" err="1"/>
              <a:t>eerst</a:t>
            </a:r>
            <a:r>
              <a:rPr lang="en-US" dirty="0"/>
              <a:t> de </a:t>
            </a:r>
            <a:r>
              <a:rPr lang="en-US" dirty="0" err="1"/>
              <a:t>vraag</a:t>
            </a:r>
            <a:r>
              <a:rPr lang="en-US" dirty="0"/>
              <a:t>: Wat is </a:t>
            </a:r>
            <a:r>
              <a:rPr lang="en-US" dirty="0" err="1"/>
              <a:t>gebruikersinvoer</a:t>
            </a:r>
            <a:r>
              <a:rPr lang="en-US" dirty="0"/>
              <a:t>? Dat is </a:t>
            </a:r>
            <a:r>
              <a:rPr lang="en-US" dirty="0" err="1"/>
              <a:t>eigenlijk</a:t>
            </a:r>
            <a:r>
              <a:rPr lang="en-US" dirty="0"/>
              <a:t> </a:t>
            </a:r>
            <a:r>
              <a:rPr lang="en-US" dirty="0" err="1"/>
              <a:t>alles</a:t>
            </a:r>
            <a:r>
              <a:rPr lang="en-US" dirty="0"/>
              <a:t> </a:t>
            </a:r>
            <a:r>
              <a:rPr lang="en-US" dirty="0" err="1"/>
              <a:t>waarop</a:t>
            </a:r>
            <a:r>
              <a:rPr lang="en-US" dirty="0"/>
              <a:t> de </a:t>
            </a:r>
            <a:r>
              <a:rPr lang="en-US" dirty="0" err="1"/>
              <a:t>eindgebruiker</a:t>
            </a:r>
            <a:r>
              <a:rPr lang="en-US" dirty="0"/>
              <a:t> </a:t>
            </a:r>
            <a:r>
              <a:rPr lang="en-US" dirty="0" err="1"/>
              <a:t>invloed</a:t>
            </a:r>
            <a:r>
              <a:rPr lang="en-US" dirty="0"/>
              <a:t> op </a:t>
            </a:r>
            <a:r>
              <a:rPr lang="en-US" dirty="0" err="1"/>
              <a:t>heeft</a:t>
            </a:r>
            <a:r>
              <a:rPr lang="en-US" dirty="0"/>
              <a:t>.</a:t>
            </a:r>
          </a:p>
          <a:p>
            <a:endParaRPr lang="en-US" dirty="0"/>
          </a:p>
          <a:p>
            <a:r>
              <a:rPr lang="en-US" dirty="0" err="1"/>
              <a:t>Bijvoorbeeld</a:t>
            </a:r>
            <a:r>
              <a:rPr lang="en-US" dirty="0"/>
              <a:t> </a:t>
            </a:r>
            <a:r>
              <a:rPr lang="en-US" dirty="0" err="1"/>
              <a:t>een</a:t>
            </a:r>
            <a:r>
              <a:rPr lang="en-US" dirty="0"/>
              <a:t> </a:t>
            </a:r>
            <a:r>
              <a:rPr lang="en-US" dirty="0" err="1"/>
              <a:t>formulier</a:t>
            </a:r>
            <a:r>
              <a:rPr lang="en-US" dirty="0"/>
              <a:t>, </a:t>
            </a:r>
            <a:r>
              <a:rPr lang="en-US" dirty="0" err="1"/>
              <a:t>een</a:t>
            </a:r>
            <a:r>
              <a:rPr lang="en-US" dirty="0"/>
              <a:t> GET parameter </a:t>
            </a:r>
            <a:r>
              <a:rPr lang="en-US" dirty="0" err="1"/>
              <a:t>zoals</a:t>
            </a:r>
            <a:r>
              <a:rPr lang="en-US" dirty="0"/>
              <a:t> ID </a:t>
            </a:r>
            <a:r>
              <a:rPr lang="en-US" dirty="0" err="1"/>
              <a:t>en</a:t>
            </a:r>
            <a:r>
              <a:rPr lang="en-US" dirty="0"/>
              <a:t> headers.</a:t>
            </a:r>
          </a:p>
          <a:p>
            <a:endParaRPr lang="en-US" dirty="0"/>
          </a:p>
          <a:p>
            <a:r>
              <a:rPr lang="en-US" dirty="0"/>
              <a:t>In H1 </a:t>
            </a:r>
            <a:r>
              <a:rPr lang="en-US" dirty="0" err="1"/>
              <a:t>werkten</a:t>
            </a:r>
            <a:r>
              <a:rPr lang="en-US" dirty="0"/>
              <a:t> we met </a:t>
            </a:r>
            <a:r>
              <a:rPr lang="en-US" dirty="0" err="1"/>
              <a:t>gegevens</a:t>
            </a:r>
            <a:r>
              <a:rPr lang="en-US" dirty="0"/>
              <a:t> die we </a:t>
            </a:r>
            <a:r>
              <a:rPr lang="en-US" dirty="0" err="1"/>
              <a:t>vooraf</a:t>
            </a:r>
            <a:r>
              <a:rPr lang="en-US" dirty="0"/>
              <a:t> </a:t>
            </a:r>
            <a:r>
              <a:rPr lang="en-US" dirty="0" err="1"/>
              <a:t>instelde</a:t>
            </a:r>
            <a:r>
              <a:rPr lang="en-US" dirty="0"/>
              <a:t>. Nu </a:t>
            </a:r>
            <a:r>
              <a:rPr lang="en-US" dirty="0" err="1"/>
              <a:t>gaan</a:t>
            </a:r>
            <a:r>
              <a:rPr lang="en-US" dirty="0"/>
              <a:t> we, met </a:t>
            </a:r>
            <a:r>
              <a:rPr lang="en-US" dirty="0" err="1"/>
              <a:t>behulp</a:t>
            </a:r>
            <a:r>
              <a:rPr lang="en-US" dirty="0"/>
              <a:t> van </a:t>
            </a:r>
            <a:r>
              <a:rPr lang="en-US" dirty="0" err="1"/>
              <a:t>formulieren</a:t>
            </a:r>
            <a:r>
              <a:rPr lang="en-US" dirty="0"/>
              <a:t> </a:t>
            </a:r>
            <a:r>
              <a:rPr lang="en-US" dirty="0" err="1"/>
              <a:t>en</a:t>
            </a:r>
            <a:r>
              <a:rPr lang="en-US" dirty="0"/>
              <a:t> </a:t>
            </a:r>
            <a:r>
              <a:rPr lang="en-US" dirty="0" err="1"/>
              <a:t>andere</a:t>
            </a:r>
            <a:r>
              <a:rPr lang="en-US" dirty="0"/>
              <a:t> parameters (</a:t>
            </a:r>
            <a:r>
              <a:rPr lang="en-US" dirty="0" err="1"/>
              <a:t>zoals</a:t>
            </a:r>
            <a:r>
              <a:rPr lang="en-US" dirty="0"/>
              <a:t> $_GET) </a:t>
            </a:r>
            <a:r>
              <a:rPr lang="en-US" dirty="0" err="1"/>
              <a:t>gebruikersinvoer</a:t>
            </a:r>
            <a:r>
              <a:rPr lang="en-US" dirty="0"/>
              <a:t> </a:t>
            </a:r>
            <a:r>
              <a:rPr lang="en-US" dirty="0" err="1"/>
              <a:t>accepteren</a:t>
            </a:r>
            <a:r>
              <a:rPr lang="en-US" dirty="0"/>
              <a:t>.</a:t>
            </a:r>
            <a:endParaRPr lang="nl-NL"/>
          </a:p>
          <a:p>
            <a:endParaRPr lang="en-US" dirty="0">
              <a:latin typeface="Aptos"/>
              <a:ea typeface="Calibri"/>
              <a:cs typeface="Calibri"/>
            </a:endParaRPr>
          </a:p>
          <a:p>
            <a:r>
              <a:rPr lang="en-US" dirty="0">
                <a:latin typeface="Aptos"/>
                <a:ea typeface="Calibri"/>
                <a:cs typeface="Calibri"/>
              </a:rPr>
              <a:t>Als </a:t>
            </a:r>
            <a:r>
              <a:rPr lang="en-US" dirty="0" err="1">
                <a:latin typeface="Aptos"/>
                <a:ea typeface="Calibri"/>
                <a:cs typeface="Calibri"/>
              </a:rPr>
              <a:t>eerst</a:t>
            </a:r>
            <a:r>
              <a:rPr lang="en-US" dirty="0">
                <a:latin typeface="Aptos"/>
                <a:ea typeface="Calibri"/>
                <a:cs typeface="Calibri"/>
              </a:rPr>
              <a:t> </a:t>
            </a:r>
            <a:r>
              <a:rPr lang="en-US" dirty="0" err="1">
                <a:latin typeface="Aptos"/>
                <a:ea typeface="Calibri"/>
                <a:cs typeface="Calibri"/>
              </a:rPr>
              <a:t>zullen</a:t>
            </a:r>
            <a:r>
              <a:rPr lang="en-US" dirty="0">
                <a:latin typeface="Aptos"/>
                <a:ea typeface="Calibri"/>
                <a:cs typeface="Calibri"/>
              </a:rPr>
              <a:t> we </a:t>
            </a:r>
            <a:r>
              <a:rPr lang="en-US" dirty="0" err="1">
                <a:latin typeface="Aptos"/>
                <a:ea typeface="Calibri"/>
                <a:cs typeface="Calibri"/>
              </a:rPr>
              <a:t>formulieren</a:t>
            </a:r>
            <a:r>
              <a:rPr lang="en-US" dirty="0">
                <a:latin typeface="Aptos"/>
                <a:ea typeface="Calibri"/>
                <a:cs typeface="Calibri"/>
              </a:rPr>
              <a:t> </a:t>
            </a:r>
            <a:r>
              <a:rPr lang="en-US" dirty="0" err="1">
                <a:latin typeface="Aptos"/>
                <a:ea typeface="Calibri"/>
                <a:cs typeface="Calibri"/>
              </a:rPr>
              <a:t>bekijken</a:t>
            </a:r>
            <a:r>
              <a:rPr lang="en-US" dirty="0">
                <a:latin typeface="Aptos"/>
                <a:ea typeface="Calibri"/>
                <a:cs typeface="Calibri"/>
              </a:rPr>
              <a:t>. Als je </a:t>
            </a:r>
            <a:r>
              <a:rPr lang="en-US" dirty="0" err="1">
                <a:latin typeface="Aptos"/>
                <a:ea typeface="Calibri"/>
                <a:cs typeface="Calibri"/>
              </a:rPr>
              <a:t>een</a:t>
            </a:r>
            <a:r>
              <a:rPr lang="en-US" dirty="0">
                <a:latin typeface="Aptos"/>
                <a:ea typeface="Calibri"/>
                <a:cs typeface="Calibri"/>
              </a:rPr>
              <a:t> Form element in HTML </a:t>
            </a:r>
            <a:r>
              <a:rPr lang="en-US" dirty="0" err="1">
                <a:latin typeface="Aptos"/>
                <a:ea typeface="Calibri"/>
                <a:cs typeface="Calibri"/>
              </a:rPr>
              <a:t>hebt</a:t>
            </a:r>
            <a:r>
              <a:rPr lang="en-US" dirty="0">
                <a:latin typeface="Aptos"/>
                <a:ea typeface="Calibri"/>
                <a:cs typeface="Calibri"/>
              </a:rPr>
              <a:t> </a:t>
            </a:r>
            <a:r>
              <a:rPr lang="en-US" dirty="0" err="1">
                <a:latin typeface="Aptos"/>
                <a:ea typeface="Calibri"/>
                <a:cs typeface="Calibri"/>
              </a:rPr>
              <a:t>mét</a:t>
            </a:r>
            <a:r>
              <a:rPr lang="en-US" dirty="0">
                <a:latin typeface="Aptos"/>
                <a:ea typeface="Calibri"/>
                <a:cs typeface="Calibri"/>
              </a:rPr>
              <a:t> de "method" attribute, dan </a:t>
            </a:r>
            <a:r>
              <a:rPr lang="en-US" dirty="0" err="1">
                <a:latin typeface="Aptos"/>
                <a:ea typeface="Calibri"/>
                <a:cs typeface="Calibri"/>
              </a:rPr>
              <a:t>zal</a:t>
            </a:r>
            <a:r>
              <a:rPr lang="en-US" dirty="0">
                <a:latin typeface="Aptos"/>
                <a:ea typeface="Calibri"/>
                <a:cs typeface="Calibri"/>
              </a:rPr>
              <a:t> de browser </a:t>
            </a:r>
            <a:r>
              <a:rPr lang="en-US" dirty="0" err="1">
                <a:latin typeface="Aptos"/>
                <a:ea typeface="Calibri"/>
                <a:cs typeface="Calibri"/>
              </a:rPr>
              <a:t>automatisch</a:t>
            </a:r>
            <a:r>
              <a:rPr lang="en-US" dirty="0">
                <a:latin typeface="Aptos"/>
                <a:ea typeface="Calibri"/>
                <a:cs typeface="Calibri"/>
              </a:rPr>
              <a:t> </a:t>
            </a:r>
            <a:r>
              <a:rPr lang="en-US" dirty="0" err="1">
                <a:latin typeface="Aptos"/>
                <a:ea typeface="Calibri"/>
                <a:cs typeface="Calibri"/>
              </a:rPr>
              <a:t>een</a:t>
            </a:r>
            <a:r>
              <a:rPr lang="en-US" dirty="0">
                <a:latin typeface="Aptos"/>
                <a:ea typeface="Calibri"/>
                <a:cs typeface="Calibri"/>
              </a:rPr>
              <a:t> HTTP request </a:t>
            </a:r>
            <a:r>
              <a:rPr lang="en-US" dirty="0" err="1">
                <a:latin typeface="Aptos"/>
                <a:ea typeface="Calibri"/>
                <a:cs typeface="Calibri"/>
              </a:rPr>
              <a:t>maken</a:t>
            </a:r>
            <a:r>
              <a:rPr lang="en-US" dirty="0">
                <a:latin typeface="Aptos"/>
                <a:ea typeface="Calibri"/>
                <a:cs typeface="Calibri"/>
              </a:rPr>
              <a:t> op basis van de </a:t>
            </a:r>
            <a:r>
              <a:rPr lang="en-US" dirty="0" err="1">
                <a:latin typeface="Aptos"/>
                <a:ea typeface="Calibri"/>
                <a:cs typeface="Calibri"/>
              </a:rPr>
              <a:t>methode</a:t>
            </a:r>
            <a:r>
              <a:rPr lang="en-US" dirty="0">
                <a:latin typeface="Aptos"/>
                <a:ea typeface="Calibri"/>
                <a:cs typeface="Calibri"/>
              </a:rPr>
              <a:t> </a:t>
            </a:r>
            <a:r>
              <a:rPr lang="en-US" dirty="0" err="1">
                <a:latin typeface="Aptos"/>
                <a:ea typeface="Calibri"/>
                <a:cs typeface="Calibri"/>
              </a:rPr>
              <a:t>inclusief</a:t>
            </a:r>
            <a:r>
              <a:rPr lang="en-US" dirty="0">
                <a:latin typeface="Aptos"/>
                <a:ea typeface="Calibri"/>
                <a:cs typeface="Calibri"/>
              </a:rPr>
              <a:t> de </a:t>
            </a:r>
            <a:r>
              <a:rPr lang="en-US" dirty="0" err="1">
                <a:latin typeface="Aptos"/>
                <a:ea typeface="Calibri"/>
                <a:cs typeface="Calibri"/>
              </a:rPr>
              <a:t>gebruikersinvoer</a:t>
            </a:r>
            <a:r>
              <a:rPr lang="en-US" dirty="0">
                <a:latin typeface="Aptos"/>
                <a:ea typeface="Calibri"/>
                <a:cs typeface="Calibri"/>
              </a:rPr>
              <a:t> in de &lt;input&gt; </a:t>
            </a:r>
            <a:r>
              <a:rPr lang="en-US" dirty="0" err="1">
                <a:latin typeface="Aptos"/>
                <a:ea typeface="Calibri"/>
                <a:cs typeface="Calibri"/>
              </a:rPr>
              <a:t>velden</a:t>
            </a:r>
            <a:r>
              <a:rPr lang="en-US" dirty="0">
                <a:latin typeface="Aptos"/>
                <a:ea typeface="Calibri"/>
                <a:cs typeface="Calibri"/>
              </a:rPr>
              <a:t>.</a:t>
            </a:r>
          </a:p>
          <a:p>
            <a:endParaRPr lang="en-US" dirty="0">
              <a:latin typeface="Aptos"/>
              <a:ea typeface="Calibri"/>
              <a:cs typeface="Calibri"/>
            </a:endParaRPr>
          </a:p>
          <a:p>
            <a:r>
              <a:rPr lang="en-US" dirty="0" err="1">
                <a:latin typeface="Aptos"/>
                <a:ea typeface="Calibri"/>
                <a:cs typeface="Calibri"/>
              </a:rPr>
              <a:t>Daarna</a:t>
            </a:r>
            <a:r>
              <a:rPr lang="en-US" dirty="0">
                <a:latin typeface="Aptos"/>
                <a:ea typeface="Calibri"/>
                <a:cs typeface="Calibri"/>
              </a:rPr>
              <a:t> is het jouw taak om de </a:t>
            </a:r>
            <a:r>
              <a:rPr lang="en-US" dirty="0" err="1">
                <a:latin typeface="Aptos"/>
                <a:ea typeface="Calibri"/>
                <a:cs typeface="Calibri"/>
              </a:rPr>
              <a:t>gegevens</a:t>
            </a:r>
            <a:r>
              <a:rPr lang="en-US" dirty="0">
                <a:latin typeface="Aptos"/>
                <a:ea typeface="Calibri"/>
                <a:cs typeface="Calibri"/>
              </a:rPr>
              <a:t> op te </a:t>
            </a:r>
            <a:r>
              <a:rPr lang="en-US" dirty="0" err="1">
                <a:latin typeface="Aptos"/>
                <a:ea typeface="Calibri"/>
                <a:cs typeface="Calibri"/>
              </a:rPr>
              <a:t>vangen</a:t>
            </a:r>
            <a:r>
              <a:rPr lang="en-US" dirty="0">
                <a:latin typeface="Aptos"/>
                <a:ea typeface="Calibri"/>
                <a:cs typeface="Calibri"/>
              </a:rPr>
              <a:t> </a:t>
            </a:r>
            <a:r>
              <a:rPr lang="en-US" dirty="0" err="1">
                <a:latin typeface="Aptos"/>
                <a:ea typeface="Calibri"/>
                <a:cs typeface="Calibri"/>
              </a:rPr>
              <a:t>en</a:t>
            </a:r>
            <a:r>
              <a:rPr lang="en-US" dirty="0">
                <a:latin typeface="Aptos"/>
                <a:ea typeface="Calibri"/>
                <a:cs typeface="Calibri"/>
              </a:rPr>
              <a:t> </a:t>
            </a:r>
            <a:r>
              <a:rPr lang="en-US" dirty="0" err="1">
                <a:latin typeface="Aptos"/>
                <a:ea typeface="Calibri"/>
                <a:cs typeface="Calibri"/>
              </a:rPr>
              <a:t>veilig</a:t>
            </a:r>
            <a:r>
              <a:rPr lang="en-US" dirty="0">
                <a:latin typeface="Aptos"/>
                <a:ea typeface="Calibri"/>
                <a:cs typeface="Calibri"/>
              </a:rPr>
              <a:t> </a:t>
            </a:r>
            <a:r>
              <a:rPr lang="en-US" dirty="0" err="1">
                <a:latin typeface="Aptos"/>
                <a:ea typeface="Calibri"/>
                <a:cs typeface="Calibri"/>
              </a:rPr>
              <a:t>te</a:t>
            </a:r>
            <a:r>
              <a:rPr lang="en-US" dirty="0">
                <a:latin typeface="Aptos"/>
                <a:ea typeface="Calibri"/>
                <a:cs typeface="Calibri"/>
              </a:rPr>
              <a:t> </a:t>
            </a:r>
            <a:r>
              <a:rPr lang="en-US" dirty="0" err="1">
                <a:latin typeface="Aptos"/>
                <a:ea typeface="Calibri"/>
                <a:cs typeface="Calibri"/>
              </a:rPr>
              <a:t>verwerken</a:t>
            </a:r>
            <a:r>
              <a:rPr lang="en-US" dirty="0">
                <a:latin typeface="Aptos"/>
                <a:ea typeface="Calibri"/>
                <a:cs typeface="Calibri"/>
              </a:rPr>
              <a:t> met PHP.</a:t>
            </a:r>
          </a:p>
          <a:p>
            <a:endParaRPr lang="en-US" dirty="0">
              <a:latin typeface="Calibri"/>
              <a:ea typeface="Calibri"/>
              <a:cs typeface="Calibri"/>
            </a:endParaRPr>
          </a:p>
        </p:txBody>
      </p:sp>
      <p:sp>
        <p:nvSpPr>
          <p:cNvPr id="4" name="Tijdelijke aanduiding voor dianummer 3">
            <a:extLst>
              <a:ext uri="{FF2B5EF4-FFF2-40B4-BE49-F238E27FC236}">
                <a16:creationId xmlns:a16="http://schemas.microsoft.com/office/drawing/2014/main" id="{2F82A66F-91E7-0FC8-7A55-18C40CED4A18}"/>
              </a:ext>
            </a:extLst>
          </p:cNvPr>
          <p:cNvSpPr>
            <a:spLocks noGrp="1"/>
          </p:cNvSpPr>
          <p:nvPr>
            <p:ph type="sldNum" sz="quarter" idx="5"/>
          </p:nvPr>
        </p:nvSpPr>
        <p:spPr/>
        <p:txBody>
          <a:bodyPr/>
          <a:lstStyle/>
          <a:p>
            <a:fld id="{39DBD449-D42A-4711-8837-53EC15580D9C}" type="slidenum">
              <a:rPr lang="nl-BE" smtClean="0"/>
              <a:t>3</a:t>
            </a:fld>
            <a:endParaRPr lang="nl-BE"/>
          </a:p>
        </p:txBody>
      </p:sp>
    </p:spTree>
    <p:extLst>
      <p:ext uri="{BB962C8B-B14F-4D97-AF65-F5344CB8AC3E}">
        <p14:creationId xmlns:p14="http://schemas.microsoft.com/office/powerpoint/2010/main" val="33166490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C1347-C79E-C778-7E0A-29A56E667E6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77F9293-2E27-60C0-F852-BFE6E0DA61F3}"/>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16598C15-63E1-B9E6-C6AD-4ED19E09B588}"/>
              </a:ext>
            </a:extLst>
          </p:cNvPr>
          <p:cNvSpPr>
            <a:spLocks noGrp="1"/>
          </p:cNvSpPr>
          <p:nvPr>
            <p:ph type="body" idx="1"/>
          </p:nvPr>
        </p:nvSpPr>
        <p:spPr/>
        <p:txBody>
          <a:bodyPr/>
          <a:lstStyle/>
          <a:p>
            <a:r>
              <a:rPr lang="en-US" dirty="0">
                <a:ea typeface="Calibri"/>
              </a:rPr>
              <a:t>We </a:t>
            </a:r>
            <a:r>
              <a:rPr lang="en-US" dirty="0" err="1">
                <a:ea typeface="Calibri"/>
              </a:rPr>
              <a:t>bekijken</a:t>
            </a:r>
            <a:r>
              <a:rPr lang="en-US" dirty="0">
                <a:ea typeface="Calibri"/>
              </a:rPr>
              <a:t> nu </a:t>
            </a:r>
            <a:r>
              <a:rPr lang="en-US" dirty="0" err="1">
                <a:ea typeface="Calibri"/>
              </a:rPr>
              <a:t>een</a:t>
            </a:r>
            <a:r>
              <a:rPr lang="en-US" dirty="0">
                <a:ea typeface="Calibri"/>
              </a:rPr>
              <a:t> </a:t>
            </a:r>
            <a:r>
              <a:rPr lang="en-US" dirty="0" err="1">
                <a:ea typeface="Calibri"/>
              </a:rPr>
              <a:t>voorbeeld</a:t>
            </a:r>
            <a:r>
              <a:rPr lang="en-US" dirty="0">
                <a:ea typeface="Calibri"/>
              </a:rPr>
              <a:t> </a:t>
            </a:r>
            <a:r>
              <a:rPr lang="en-US" dirty="0" err="1">
                <a:ea typeface="Calibri"/>
              </a:rPr>
              <a:t>dat</a:t>
            </a:r>
            <a:r>
              <a:rPr lang="en-US" dirty="0">
                <a:ea typeface="Calibri"/>
              </a:rPr>
              <a:t> </a:t>
            </a:r>
            <a:r>
              <a:rPr lang="en-US" dirty="0" err="1">
                <a:ea typeface="Calibri"/>
              </a:rPr>
              <a:t>duidelijk</a:t>
            </a:r>
            <a:r>
              <a:rPr lang="en-US" dirty="0">
                <a:ea typeface="Calibri"/>
              </a:rPr>
              <a:t> </a:t>
            </a:r>
            <a:r>
              <a:rPr lang="en-US" dirty="0" err="1">
                <a:ea typeface="Calibri"/>
              </a:rPr>
              <a:t>maakt</a:t>
            </a:r>
            <a:r>
              <a:rPr lang="en-US" dirty="0">
                <a:ea typeface="Calibri"/>
              </a:rPr>
              <a:t> hoe PHP </a:t>
            </a:r>
            <a:r>
              <a:rPr lang="en-US" dirty="0" err="1">
                <a:ea typeface="Calibri"/>
              </a:rPr>
              <a:t>en</a:t>
            </a:r>
            <a:r>
              <a:rPr lang="en-US" dirty="0">
                <a:ea typeface="Calibri"/>
              </a:rPr>
              <a:t> </a:t>
            </a:r>
            <a:r>
              <a:rPr lang="en-US" dirty="0" err="1">
                <a:ea typeface="Calibri"/>
              </a:rPr>
              <a:t>formulieren</a:t>
            </a:r>
            <a:r>
              <a:rPr lang="en-US" dirty="0">
                <a:ea typeface="Calibri"/>
              </a:rPr>
              <a:t> </a:t>
            </a:r>
            <a:r>
              <a:rPr lang="en-US" dirty="0" err="1">
                <a:ea typeface="Calibri"/>
              </a:rPr>
              <a:t>samengaan</a:t>
            </a:r>
            <a:r>
              <a:rPr lang="en-US" dirty="0">
                <a:ea typeface="Calibri"/>
              </a:rPr>
              <a:t>.</a:t>
            </a:r>
          </a:p>
          <a:p>
            <a:endParaRPr lang="en-US" dirty="0">
              <a:ea typeface="Calibri"/>
            </a:endParaRPr>
          </a:p>
          <a:p>
            <a:r>
              <a:rPr lang="en-US" dirty="0">
                <a:ea typeface="Calibri"/>
              </a:rPr>
              <a:t>Links </a:t>
            </a:r>
            <a:r>
              <a:rPr lang="en-US" dirty="0" err="1">
                <a:ea typeface="Calibri"/>
              </a:rPr>
              <a:t>zie</a:t>
            </a:r>
            <a:r>
              <a:rPr lang="en-US" dirty="0">
                <a:ea typeface="Calibri"/>
              </a:rPr>
              <a:t> je de code van de </a:t>
            </a:r>
            <a:r>
              <a:rPr lang="en-US" dirty="0" err="1">
                <a:ea typeface="Calibri"/>
              </a:rPr>
              <a:t>webpagina</a:t>
            </a:r>
            <a:r>
              <a:rPr lang="en-US" dirty="0">
                <a:ea typeface="Calibri"/>
              </a:rPr>
              <a:t>. </a:t>
            </a:r>
            <a:r>
              <a:rPr lang="en-US" dirty="0" err="1">
                <a:ea typeface="Calibri"/>
              </a:rPr>
              <a:t>Rechts</a:t>
            </a:r>
            <a:r>
              <a:rPr lang="en-US" dirty="0">
                <a:ea typeface="Calibri"/>
              </a:rPr>
              <a:t> </a:t>
            </a:r>
            <a:r>
              <a:rPr lang="en-US" dirty="0" err="1">
                <a:ea typeface="Calibri"/>
              </a:rPr>
              <a:t>zie</a:t>
            </a:r>
            <a:r>
              <a:rPr lang="en-US" dirty="0">
                <a:ea typeface="Calibri"/>
              </a:rPr>
              <a:t> je de output in de browser </a:t>
            </a:r>
            <a:r>
              <a:rPr lang="en-US" dirty="0" err="1">
                <a:ea typeface="Calibri"/>
              </a:rPr>
              <a:t>zonder</a:t>
            </a:r>
            <a:r>
              <a:rPr lang="en-US" dirty="0">
                <a:ea typeface="Calibri"/>
              </a:rPr>
              <a:t> </a:t>
            </a:r>
            <a:r>
              <a:rPr lang="en-US" dirty="0" err="1">
                <a:ea typeface="Calibri"/>
              </a:rPr>
              <a:t>interacties</a:t>
            </a:r>
            <a:r>
              <a:rPr lang="en-US" dirty="0">
                <a:ea typeface="Calibri"/>
              </a:rPr>
              <a:t>.</a:t>
            </a:r>
          </a:p>
        </p:txBody>
      </p:sp>
      <p:sp>
        <p:nvSpPr>
          <p:cNvPr id="4" name="Tijdelijke aanduiding voor dianummer 3">
            <a:extLst>
              <a:ext uri="{FF2B5EF4-FFF2-40B4-BE49-F238E27FC236}">
                <a16:creationId xmlns:a16="http://schemas.microsoft.com/office/drawing/2014/main" id="{686B7D43-C811-C73B-FBAF-5B77E25E3A6E}"/>
              </a:ext>
            </a:extLst>
          </p:cNvPr>
          <p:cNvSpPr>
            <a:spLocks noGrp="1"/>
          </p:cNvSpPr>
          <p:nvPr>
            <p:ph type="sldNum" sz="quarter" idx="5"/>
          </p:nvPr>
        </p:nvSpPr>
        <p:spPr/>
        <p:txBody>
          <a:bodyPr/>
          <a:lstStyle/>
          <a:p>
            <a:fld id="{39DBD449-D42A-4711-8837-53EC15580D9C}" type="slidenum">
              <a:rPr lang="nl-BE" smtClean="0"/>
              <a:t>4</a:t>
            </a:fld>
            <a:endParaRPr lang="nl-BE"/>
          </a:p>
        </p:txBody>
      </p:sp>
    </p:spTree>
    <p:extLst>
      <p:ext uri="{BB962C8B-B14F-4D97-AF65-F5344CB8AC3E}">
        <p14:creationId xmlns:p14="http://schemas.microsoft.com/office/powerpoint/2010/main" val="20524205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D248A-4F9A-34C3-F385-455EC9CE1205}"/>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76DCF35-A62B-E65A-0D63-5B031559A5A0}"/>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9F9C3D1A-5B4D-191F-BBC0-6F128E571F3F}"/>
              </a:ext>
            </a:extLst>
          </p:cNvPr>
          <p:cNvSpPr>
            <a:spLocks noGrp="1"/>
          </p:cNvSpPr>
          <p:nvPr>
            <p:ph type="body" idx="1"/>
          </p:nvPr>
        </p:nvSpPr>
        <p:spPr/>
        <p:txBody>
          <a:bodyPr/>
          <a:lstStyle/>
          <a:p>
            <a:endParaRPr lang="en-US" dirty="0">
              <a:ea typeface="Calibri"/>
            </a:endParaRPr>
          </a:p>
        </p:txBody>
      </p:sp>
      <p:sp>
        <p:nvSpPr>
          <p:cNvPr id="4" name="Tijdelijke aanduiding voor dianummer 3">
            <a:extLst>
              <a:ext uri="{FF2B5EF4-FFF2-40B4-BE49-F238E27FC236}">
                <a16:creationId xmlns:a16="http://schemas.microsoft.com/office/drawing/2014/main" id="{6D0FAC60-6DF2-DF4C-C57A-2F136B16356B}"/>
              </a:ext>
            </a:extLst>
          </p:cNvPr>
          <p:cNvSpPr>
            <a:spLocks noGrp="1"/>
          </p:cNvSpPr>
          <p:nvPr>
            <p:ph type="sldNum" sz="quarter" idx="5"/>
          </p:nvPr>
        </p:nvSpPr>
        <p:spPr/>
        <p:txBody>
          <a:bodyPr/>
          <a:lstStyle/>
          <a:p>
            <a:fld id="{39DBD449-D42A-4711-8837-53EC15580D9C}" type="slidenum">
              <a:rPr lang="nl-BE" smtClean="0"/>
              <a:t>5</a:t>
            </a:fld>
            <a:endParaRPr lang="nl-BE"/>
          </a:p>
        </p:txBody>
      </p:sp>
    </p:spTree>
    <p:extLst>
      <p:ext uri="{BB962C8B-B14F-4D97-AF65-F5344CB8AC3E}">
        <p14:creationId xmlns:p14="http://schemas.microsoft.com/office/powerpoint/2010/main" val="4080122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CB1EA-455C-867F-D563-64C628A50181}"/>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73BEDA19-8B9A-4800-2D7E-53918505523D}"/>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3A50E81-EC09-C3BC-6F60-842665A643E1}"/>
              </a:ext>
            </a:extLst>
          </p:cNvPr>
          <p:cNvSpPr>
            <a:spLocks noGrp="1"/>
          </p:cNvSpPr>
          <p:nvPr>
            <p:ph type="body" idx="1"/>
          </p:nvPr>
        </p:nvSpPr>
        <p:spPr/>
        <p:txBody>
          <a:bodyPr/>
          <a:lstStyle/>
          <a:p>
            <a:endParaRPr lang="en-US" dirty="0">
              <a:ea typeface="Calibri"/>
            </a:endParaRPr>
          </a:p>
        </p:txBody>
      </p:sp>
      <p:sp>
        <p:nvSpPr>
          <p:cNvPr id="4" name="Tijdelijke aanduiding voor dianummer 3">
            <a:extLst>
              <a:ext uri="{FF2B5EF4-FFF2-40B4-BE49-F238E27FC236}">
                <a16:creationId xmlns:a16="http://schemas.microsoft.com/office/drawing/2014/main" id="{DEE46730-8A0B-D5DC-5BCA-0B719D37A7EB}"/>
              </a:ext>
            </a:extLst>
          </p:cNvPr>
          <p:cNvSpPr>
            <a:spLocks noGrp="1"/>
          </p:cNvSpPr>
          <p:nvPr>
            <p:ph type="sldNum" sz="quarter" idx="5"/>
          </p:nvPr>
        </p:nvSpPr>
        <p:spPr/>
        <p:txBody>
          <a:bodyPr/>
          <a:lstStyle/>
          <a:p>
            <a:fld id="{39DBD449-D42A-4711-8837-53EC15580D9C}" type="slidenum">
              <a:rPr lang="nl-BE" smtClean="0"/>
              <a:t>6</a:t>
            </a:fld>
            <a:endParaRPr lang="nl-BE"/>
          </a:p>
        </p:txBody>
      </p:sp>
    </p:spTree>
    <p:extLst>
      <p:ext uri="{BB962C8B-B14F-4D97-AF65-F5344CB8AC3E}">
        <p14:creationId xmlns:p14="http://schemas.microsoft.com/office/powerpoint/2010/main" val="6225604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FB3AC-C23F-610E-2664-39E30056C0F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FB75DDA-C86E-77FA-1B56-18925E78D460}"/>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CEE8D3E8-986E-7AC2-8EAE-9DDE62E762A8}"/>
              </a:ext>
            </a:extLst>
          </p:cNvPr>
          <p:cNvSpPr>
            <a:spLocks noGrp="1"/>
          </p:cNvSpPr>
          <p:nvPr>
            <p:ph type="body" idx="1"/>
          </p:nvPr>
        </p:nvSpPr>
        <p:spPr/>
        <p:txBody>
          <a:bodyPr/>
          <a:lstStyle/>
          <a:p>
            <a:endParaRPr lang="en-US" dirty="0">
              <a:ea typeface="Calibri"/>
            </a:endParaRPr>
          </a:p>
        </p:txBody>
      </p:sp>
      <p:sp>
        <p:nvSpPr>
          <p:cNvPr id="4" name="Tijdelijke aanduiding voor dianummer 3">
            <a:extLst>
              <a:ext uri="{FF2B5EF4-FFF2-40B4-BE49-F238E27FC236}">
                <a16:creationId xmlns:a16="http://schemas.microsoft.com/office/drawing/2014/main" id="{2DC0397C-C8CA-1CEC-08C6-D447B2F67A6C}"/>
              </a:ext>
            </a:extLst>
          </p:cNvPr>
          <p:cNvSpPr>
            <a:spLocks noGrp="1"/>
          </p:cNvSpPr>
          <p:nvPr>
            <p:ph type="sldNum" sz="quarter" idx="5"/>
          </p:nvPr>
        </p:nvSpPr>
        <p:spPr/>
        <p:txBody>
          <a:bodyPr/>
          <a:lstStyle/>
          <a:p>
            <a:fld id="{39DBD449-D42A-4711-8837-53EC15580D9C}" type="slidenum">
              <a:rPr lang="nl-BE" smtClean="0"/>
              <a:t>7</a:t>
            </a:fld>
            <a:endParaRPr lang="nl-BE"/>
          </a:p>
        </p:txBody>
      </p:sp>
    </p:spTree>
    <p:extLst>
      <p:ext uri="{BB962C8B-B14F-4D97-AF65-F5344CB8AC3E}">
        <p14:creationId xmlns:p14="http://schemas.microsoft.com/office/powerpoint/2010/main" val="18190137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AA6A68-B049-A943-C6E5-6BF5BCE57AD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7479A1B-FCDD-BD49-C11D-E5FF42C7F9FE}"/>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0992051-A8AC-09BC-9FA3-662D7B485856}"/>
              </a:ext>
            </a:extLst>
          </p:cNvPr>
          <p:cNvSpPr>
            <a:spLocks noGrp="1"/>
          </p:cNvSpPr>
          <p:nvPr>
            <p:ph type="body" idx="1"/>
          </p:nvPr>
        </p:nvSpPr>
        <p:spPr/>
        <p:txBody>
          <a:bodyPr/>
          <a:lstStyle/>
          <a:p>
            <a:endParaRPr lang="en-US" dirty="0">
              <a:ea typeface="Calibri"/>
            </a:endParaRPr>
          </a:p>
        </p:txBody>
      </p:sp>
      <p:sp>
        <p:nvSpPr>
          <p:cNvPr id="4" name="Tijdelijke aanduiding voor dianummer 3">
            <a:extLst>
              <a:ext uri="{FF2B5EF4-FFF2-40B4-BE49-F238E27FC236}">
                <a16:creationId xmlns:a16="http://schemas.microsoft.com/office/drawing/2014/main" id="{5AE130D4-A778-D5C6-C825-C29126930ED4}"/>
              </a:ext>
            </a:extLst>
          </p:cNvPr>
          <p:cNvSpPr>
            <a:spLocks noGrp="1"/>
          </p:cNvSpPr>
          <p:nvPr>
            <p:ph type="sldNum" sz="quarter" idx="5"/>
          </p:nvPr>
        </p:nvSpPr>
        <p:spPr/>
        <p:txBody>
          <a:bodyPr/>
          <a:lstStyle/>
          <a:p>
            <a:fld id="{39DBD449-D42A-4711-8837-53EC15580D9C}" type="slidenum">
              <a:rPr lang="nl-BE" smtClean="0"/>
              <a:t>8</a:t>
            </a:fld>
            <a:endParaRPr lang="nl-BE"/>
          </a:p>
        </p:txBody>
      </p:sp>
    </p:spTree>
    <p:extLst>
      <p:ext uri="{BB962C8B-B14F-4D97-AF65-F5344CB8AC3E}">
        <p14:creationId xmlns:p14="http://schemas.microsoft.com/office/powerpoint/2010/main" val="11085039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7871B-4225-AED2-6D6F-8889E688913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A14CAEC-B367-A052-2647-80CB9E06C818}"/>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F5A9E3B5-4193-0AFF-BFB6-5C1F2B9BC9FD}"/>
              </a:ext>
            </a:extLst>
          </p:cNvPr>
          <p:cNvSpPr>
            <a:spLocks noGrp="1"/>
          </p:cNvSpPr>
          <p:nvPr>
            <p:ph type="body" idx="1"/>
          </p:nvPr>
        </p:nvSpPr>
        <p:spPr/>
        <p:txBody>
          <a:bodyPr/>
          <a:lstStyle/>
          <a:p>
            <a:endParaRPr lang="en-US" dirty="0">
              <a:ea typeface="Calibri"/>
            </a:endParaRPr>
          </a:p>
        </p:txBody>
      </p:sp>
      <p:sp>
        <p:nvSpPr>
          <p:cNvPr id="4" name="Tijdelijke aanduiding voor dianummer 3">
            <a:extLst>
              <a:ext uri="{FF2B5EF4-FFF2-40B4-BE49-F238E27FC236}">
                <a16:creationId xmlns:a16="http://schemas.microsoft.com/office/drawing/2014/main" id="{5A91F44F-B62B-4C96-BD9E-9C662DC88755}"/>
              </a:ext>
            </a:extLst>
          </p:cNvPr>
          <p:cNvSpPr>
            <a:spLocks noGrp="1"/>
          </p:cNvSpPr>
          <p:nvPr>
            <p:ph type="sldNum" sz="quarter" idx="5"/>
          </p:nvPr>
        </p:nvSpPr>
        <p:spPr/>
        <p:txBody>
          <a:bodyPr/>
          <a:lstStyle/>
          <a:p>
            <a:fld id="{39DBD449-D42A-4711-8837-53EC15580D9C}" type="slidenum">
              <a:rPr lang="nl-BE" smtClean="0"/>
              <a:t>9</a:t>
            </a:fld>
            <a:endParaRPr lang="nl-BE"/>
          </a:p>
        </p:txBody>
      </p:sp>
    </p:spTree>
    <p:extLst>
      <p:ext uri="{BB962C8B-B14F-4D97-AF65-F5344CB8AC3E}">
        <p14:creationId xmlns:p14="http://schemas.microsoft.com/office/powerpoint/2010/main" val="39804092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F2C83-3DE2-9515-936A-4CB5B17C6BA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BD64DC4-A00E-B9ED-75D3-E0643C76A1F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1C4959A1-E4E5-6889-06B5-F0CEA0B043B8}"/>
              </a:ext>
            </a:extLst>
          </p:cNvPr>
          <p:cNvSpPr>
            <a:spLocks noGrp="1"/>
          </p:cNvSpPr>
          <p:nvPr>
            <p:ph type="body" idx="1"/>
          </p:nvPr>
        </p:nvSpPr>
        <p:spPr/>
        <p:txBody>
          <a:bodyPr/>
          <a:lstStyle/>
          <a:p>
            <a:endParaRPr lang="en-US" dirty="0">
              <a:ea typeface="Calibri"/>
            </a:endParaRPr>
          </a:p>
        </p:txBody>
      </p:sp>
      <p:sp>
        <p:nvSpPr>
          <p:cNvPr id="4" name="Tijdelijke aanduiding voor dianummer 3">
            <a:extLst>
              <a:ext uri="{FF2B5EF4-FFF2-40B4-BE49-F238E27FC236}">
                <a16:creationId xmlns:a16="http://schemas.microsoft.com/office/drawing/2014/main" id="{426324B0-C571-CC87-F739-63B356EA7B10}"/>
              </a:ext>
            </a:extLst>
          </p:cNvPr>
          <p:cNvSpPr>
            <a:spLocks noGrp="1"/>
          </p:cNvSpPr>
          <p:nvPr>
            <p:ph type="sldNum" sz="quarter" idx="5"/>
          </p:nvPr>
        </p:nvSpPr>
        <p:spPr/>
        <p:txBody>
          <a:bodyPr/>
          <a:lstStyle/>
          <a:p>
            <a:fld id="{39DBD449-D42A-4711-8837-53EC15580D9C}" type="slidenum">
              <a:rPr lang="nl-BE" smtClean="0"/>
              <a:t>10</a:t>
            </a:fld>
            <a:endParaRPr lang="nl-BE"/>
          </a:p>
        </p:txBody>
      </p:sp>
    </p:spTree>
    <p:extLst>
      <p:ext uri="{BB962C8B-B14F-4D97-AF65-F5344CB8AC3E}">
        <p14:creationId xmlns:p14="http://schemas.microsoft.com/office/powerpoint/2010/main" val="39177478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57AAC-A093-FA2D-2233-54FFD71EF9F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142A8CB-BD55-EFF8-658E-2AE02D76B274}"/>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AA6C13A6-35C6-7987-F32C-AE99BDF5D8F1}"/>
              </a:ext>
            </a:extLst>
          </p:cNvPr>
          <p:cNvSpPr>
            <a:spLocks noGrp="1"/>
          </p:cNvSpPr>
          <p:nvPr>
            <p:ph type="body" idx="1"/>
          </p:nvPr>
        </p:nvSpPr>
        <p:spPr/>
        <p:txBody>
          <a:bodyPr/>
          <a:lstStyle/>
          <a:p>
            <a:r>
              <a:rPr lang="en-US" dirty="0"/>
              <a:t>We </a:t>
            </a:r>
            <a:r>
              <a:rPr lang="en-US" dirty="0" err="1"/>
              <a:t>stellen</a:t>
            </a:r>
            <a:r>
              <a:rPr lang="en-US" dirty="0"/>
              <a:t> </a:t>
            </a:r>
            <a:r>
              <a:rPr lang="en-US" dirty="0" err="1"/>
              <a:t>ons</a:t>
            </a:r>
            <a:r>
              <a:rPr lang="en-US" dirty="0"/>
              <a:t> </a:t>
            </a:r>
            <a:r>
              <a:rPr lang="en-US" dirty="0" err="1"/>
              <a:t>eerst</a:t>
            </a:r>
            <a:r>
              <a:rPr lang="en-US" dirty="0"/>
              <a:t> de </a:t>
            </a:r>
            <a:r>
              <a:rPr lang="en-US" dirty="0" err="1"/>
              <a:t>vraag</a:t>
            </a:r>
            <a:r>
              <a:rPr lang="en-US" dirty="0"/>
              <a:t>: Wat is </a:t>
            </a:r>
            <a:r>
              <a:rPr lang="en-US" dirty="0" err="1"/>
              <a:t>gebruikersinvoer</a:t>
            </a:r>
            <a:r>
              <a:rPr lang="en-US" dirty="0"/>
              <a:t>? Dat is </a:t>
            </a:r>
            <a:r>
              <a:rPr lang="en-US" dirty="0" err="1"/>
              <a:t>eigenlijk</a:t>
            </a:r>
            <a:r>
              <a:rPr lang="en-US" dirty="0"/>
              <a:t> </a:t>
            </a:r>
            <a:r>
              <a:rPr lang="en-US" dirty="0" err="1"/>
              <a:t>alles</a:t>
            </a:r>
            <a:r>
              <a:rPr lang="en-US" dirty="0"/>
              <a:t> </a:t>
            </a:r>
            <a:r>
              <a:rPr lang="en-US" dirty="0" err="1"/>
              <a:t>waarop</a:t>
            </a:r>
            <a:r>
              <a:rPr lang="en-US" dirty="0"/>
              <a:t> de </a:t>
            </a:r>
            <a:r>
              <a:rPr lang="en-US" dirty="0" err="1"/>
              <a:t>eindgebruiker</a:t>
            </a:r>
            <a:r>
              <a:rPr lang="en-US" dirty="0"/>
              <a:t> </a:t>
            </a:r>
            <a:r>
              <a:rPr lang="en-US" dirty="0" err="1"/>
              <a:t>invloed</a:t>
            </a:r>
            <a:r>
              <a:rPr lang="en-US" dirty="0"/>
              <a:t> op </a:t>
            </a:r>
            <a:r>
              <a:rPr lang="en-US" dirty="0" err="1"/>
              <a:t>heeft</a:t>
            </a:r>
            <a:r>
              <a:rPr lang="en-US" dirty="0"/>
              <a:t>.</a:t>
            </a:r>
          </a:p>
          <a:p>
            <a:endParaRPr lang="en-US" dirty="0"/>
          </a:p>
          <a:p>
            <a:r>
              <a:rPr lang="en-US" dirty="0" err="1"/>
              <a:t>Bijvoorbeeld</a:t>
            </a:r>
            <a:r>
              <a:rPr lang="en-US" dirty="0"/>
              <a:t> </a:t>
            </a:r>
            <a:r>
              <a:rPr lang="en-US" dirty="0" err="1"/>
              <a:t>een</a:t>
            </a:r>
            <a:r>
              <a:rPr lang="en-US" dirty="0"/>
              <a:t> </a:t>
            </a:r>
            <a:r>
              <a:rPr lang="en-US" dirty="0" err="1"/>
              <a:t>formulier</a:t>
            </a:r>
            <a:r>
              <a:rPr lang="en-US" dirty="0"/>
              <a:t>, </a:t>
            </a:r>
            <a:r>
              <a:rPr lang="en-US" dirty="0" err="1"/>
              <a:t>een</a:t>
            </a:r>
            <a:r>
              <a:rPr lang="en-US" dirty="0"/>
              <a:t> GET parameter </a:t>
            </a:r>
            <a:r>
              <a:rPr lang="en-US" dirty="0" err="1"/>
              <a:t>zoals</a:t>
            </a:r>
            <a:r>
              <a:rPr lang="en-US" dirty="0"/>
              <a:t> ID </a:t>
            </a:r>
            <a:r>
              <a:rPr lang="en-US" dirty="0" err="1"/>
              <a:t>en</a:t>
            </a:r>
            <a:r>
              <a:rPr lang="en-US" dirty="0"/>
              <a:t> headers.</a:t>
            </a:r>
          </a:p>
          <a:p>
            <a:endParaRPr lang="en-US" dirty="0"/>
          </a:p>
          <a:p>
            <a:r>
              <a:rPr lang="en-US" dirty="0"/>
              <a:t>In H1 </a:t>
            </a:r>
            <a:r>
              <a:rPr lang="en-US" dirty="0" err="1"/>
              <a:t>werkten</a:t>
            </a:r>
            <a:r>
              <a:rPr lang="en-US" dirty="0"/>
              <a:t> we met </a:t>
            </a:r>
            <a:r>
              <a:rPr lang="en-US" dirty="0" err="1"/>
              <a:t>gegevens</a:t>
            </a:r>
            <a:r>
              <a:rPr lang="en-US" dirty="0"/>
              <a:t> die we </a:t>
            </a:r>
            <a:r>
              <a:rPr lang="en-US" dirty="0" err="1"/>
              <a:t>vooraf</a:t>
            </a:r>
            <a:r>
              <a:rPr lang="en-US" dirty="0"/>
              <a:t> </a:t>
            </a:r>
            <a:r>
              <a:rPr lang="en-US" dirty="0" err="1"/>
              <a:t>instelde</a:t>
            </a:r>
            <a:r>
              <a:rPr lang="en-US" dirty="0"/>
              <a:t>. Nu </a:t>
            </a:r>
            <a:r>
              <a:rPr lang="en-US" dirty="0" err="1"/>
              <a:t>gaan</a:t>
            </a:r>
            <a:r>
              <a:rPr lang="en-US" dirty="0"/>
              <a:t> we, met </a:t>
            </a:r>
            <a:r>
              <a:rPr lang="en-US" dirty="0" err="1"/>
              <a:t>behulp</a:t>
            </a:r>
            <a:r>
              <a:rPr lang="en-US" dirty="0"/>
              <a:t> van </a:t>
            </a:r>
            <a:r>
              <a:rPr lang="en-US" dirty="0" err="1"/>
              <a:t>formulieren</a:t>
            </a:r>
            <a:r>
              <a:rPr lang="en-US" dirty="0"/>
              <a:t> </a:t>
            </a:r>
            <a:r>
              <a:rPr lang="en-US" dirty="0" err="1"/>
              <a:t>en</a:t>
            </a:r>
            <a:r>
              <a:rPr lang="en-US" dirty="0"/>
              <a:t> </a:t>
            </a:r>
            <a:r>
              <a:rPr lang="en-US" dirty="0" err="1"/>
              <a:t>andere</a:t>
            </a:r>
            <a:r>
              <a:rPr lang="en-US" dirty="0"/>
              <a:t> parameters (</a:t>
            </a:r>
            <a:r>
              <a:rPr lang="en-US" dirty="0" err="1"/>
              <a:t>zoals</a:t>
            </a:r>
            <a:r>
              <a:rPr lang="en-US" dirty="0"/>
              <a:t> $_GET) </a:t>
            </a:r>
            <a:r>
              <a:rPr lang="en-US" dirty="0" err="1"/>
              <a:t>gebruikersinvoer</a:t>
            </a:r>
            <a:r>
              <a:rPr lang="en-US" dirty="0"/>
              <a:t> </a:t>
            </a:r>
            <a:r>
              <a:rPr lang="en-US" dirty="0" err="1"/>
              <a:t>accepteren</a:t>
            </a:r>
            <a:r>
              <a:rPr lang="en-US" dirty="0"/>
              <a:t>.</a:t>
            </a:r>
            <a:endParaRPr lang="nl-NL"/>
          </a:p>
          <a:p>
            <a:endParaRPr lang="en-US" dirty="0">
              <a:latin typeface="Calibri"/>
              <a:ea typeface="Calibri"/>
              <a:cs typeface="Calibri"/>
            </a:endParaRPr>
          </a:p>
        </p:txBody>
      </p:sp>
      <p:sp>
        <p:nvSpPr>
          <p:cNvPr id="4" name="Tijdelijke aanduiding voor dianummer 3">
            <a:extLst>
              <a:ext uri="{FF2B5EF4-FFF2-40B4-BE49-F238E27FC236}">
                <a16:creationId xmlns:a16="http://schemas.microsoft.com/office/drawing/2014/main" id="{1E4F3468-F320-B442-62C6-06DB0A03B181}"/>
              </a:ext>
            </a:extLst>
          </p:cNvPr>
          <p:cNvSpPr>
            <a:spLocks noGrp="1"/>
          </p:cNvSpPr>
          <p:nvPr>
            <p:ph type="sldNum" sz="quarter" idx="5"/>
          </p:nvPr>
        </p:nvSpPr>
        <p:spPr/>
        <p:txBody>
          <a:bodyPr/>
          <a:lstStyle/>
          <a:p>
            <a:fld id="{39DBD449-D42A-4711-8837-53EC15580D9C}" type="slidenum">
              <a:rPr lang="nl-BE" smtClean="0"/>
              <a:t>11</a:t>
            </a:fld>
            <a:endParaRPr lang="nl-BE"/>
          </a:p>
        </p:txBody>
      </p:sp>
    </p:spTree>
    <p:extLst>
      <p:ext uri="{BB962C8B-B14F-4D97-AF65-F5344CB8AC3E}">
        <p14:creationId xmlns:p14="http://schemas.microsoft.com/office/powerpoint/2010/main" val="30728810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dirty="0"/>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12</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11/5/2025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11/5/2025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11/5/2025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11/5/2025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11/5/2025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11/5/2025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11/5/2025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11/5/2025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11/5/2025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11/5/2025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11/5/2025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11/5/2025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273217" y="1415304"/>
            <a:ext cx="4257367" cy="3189486"/>
          </a:xfrm>
        </p:spPr>
        <p:txBody>
          <a:bodyPr vert="horz" lIns="91440" tIns="45720" rIns="91440" bIns="45720" rtlCol="0" anchor="b">
            <a:noAutofit/>
          </a:bodyPr>
          <a:lstStyle/>
          <a:p>
            <a:pPr algn="l"/>
            <a:r>
              <a:rPr lang="nl-BE" sz="3600" b="0" dirty="0"/>
              <a:t>Webdesign:</a:t>
            </a:r>
            <a:r>
              <a:rPr lang="nl-BE" sz="3600" dirty="0"/>
              <a:t> </a:t>
            </a:r>
            <a:r>
              <a:rPr lang="nl-BE" sz="3600" b="0" dirty="0">
                <a:solidFill>
                  <a:schemeClr val="accent3"/>
                </a:solidFill>
              </a:rPr>
              <a:t>Dynamische Websites</a:t>
            </a:r>
            <a:br>
              <a:rPr lang="nl-BE" sz="3600" b="0" dirty="0"/>
            </a:br>
            <a:br>
              <a:rPr lang="nl-BE" sz="3600" b="0" dirty="0"/>
            </a:br>
            <a:r>
              <a:rPr lang="nl-BE" sz="3600" dirty="0">
                <a:solidFill>
                  <a:schemeClr val="accent3"/>
                </a:solidFill>
              </a:rPr>
              <a:t>H2 Gebruikersinvoer</a:t>
            </a:r>
            <a:endParaRPr lang="nl-NL" sz="3600">
              <a:solidFill>
                <a:schemeClr val="accent3"/>
              </a:solidFill>
            </a:endParaRP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dirty="0"/>
              <a:t>Met PHP</a:t>
            </a:r>
          </a:p>
          <a:p>
            <a:pPr algn="l"/>
            <a:endParaRPr lang="nl-BE" dirty="0"/>
          </a:p>
          <a:p>
            <a:pPr algn="l"/>
            <a:r>
              <a:rPr lang="nl-BE" dirty="0"/>
              <a:t>2025-2026</a:t>
            </a:r>
          </a:p>
          <a:p>
            <a:pPr algn="l"/>
            <a:r>
              <a:rPr lang="nl-BE" dirty="0"/>
              <a:t>Jarne Verlinden – 6icw</a:t>
            </a:r>
          </a:p>
          <a:p>
            <a:pPr algn="l"/>
            <a:r>
              <a:rPr lang="nl-BE" dirty="0"/>
              <a:t>(https://github.com/Jarnster)</a:t>
            </a:r>
          </a:p>
        </p:txBody>
      </p:sp>
      <p:pic>
        <p:nvPicPr>
          <p:cNvPr id="16" name="Picture 3">
            <a:extLst>
              <a:ext uri="{FF2B5EF4-FFF2-40B4-BE49-F238E27FC236}">
                <a16:creationId xmlns:a16="http://schemas.microsoft.com/office/drawing/2014/main" id="{2CFA8DA1-873D-5196-F291-EF49E01AF953}"/>
              </a:ext>
            </a:extLst>
          </p:cNvPr>
          <p:cNvPicPr>
            <a:picLocks noChangeAspect="1"/>
          </p:cNvPicPr>
          <p:nvPr/>
        </p:nvPicPr>
        <p:blipFill>
          <a:blip r:embed="rId3"/>
          <a:srcRect l="5447" r="46611"/>
          <a:stretch>
            <a:fillRect/>
          </a:stretch>
        </p:blipFill>
        <p:spPr>
          <a:xfrm>
            <a:off x="20" y="1"/>
            <a:ext cx="6575591" cy="6858000"/>
          </a:xfrm>
          <a:prstGeom prst="rect">
            <a:avLst/>
          </a:prstGeom>
        </p:spPr>
      </p:pic>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dirty="0">
                <a:solidFill>
                  <a:srgbClr val="FF0000"/>
                </a:solidFill>
                <a:ea typeface="+mn-lt"/>
                <a:cs typeface="+mn-lt"/>
              </a:rPr>
              <a:t>Disclaimer:</a:t>
            </a:r>
            <a:r>
              <a:rPr lang="nl-NL" sz="1200" i="1" dirty="0">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spTree>
    <p:extLst>
      <p:ext uri="{BB962C8B-B14F-4D97-AF65-F5344CB8AC3E}">
        <p14:creationId xmlns:p14="http://schemas.microsoft.com/office/powerpoint/2010/main" val="2297990671"/>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632136-DD05-286D-8C74-2205617EDB02}"/>
              </a:ext>
            </a:extLst>
          </p:cNvPr>
          <p:cNvSpPr>
            <a:spLocks noGrp="1"/>
          </p:cNvSpPr>
          <p:nvPr>
            <p:ph type="title"/>
          </p:nvPr>
        </p:nvSpPr>
        <p:spPr/>
        <p:txBody>
          <a:bodyPr/>
          <a:lstStyle/>
          <a:p>
            <a:r>
              <a:rPr lang="nl-NL" dirty="0"/>
              <a:t>Wat is gebruikersinvoer?</a:t>
            </a:r>
          </a:p>
        </p:txBody>
      </p:sp>
      <p:sp>
        <p:nvSpPr>
          <p:cNvPr id="3" name="Tijdelijke aanduiding voor inhoud 2">
            <a:extLst>
              <a:ext uri="{FF2B5EF4-FFF2-40B4-BE49-F238E27FC236}">
                <a16:creationId xmlns:a16="http://schemas.microsoft.com/office/drawing/2014/main" id="{1512ACFA-5762-94DA-4BD9-105EA12E3DA7}"/>
              </a:ext>
            </a:extLst>
          </p:cNvPr>
          <p:cNvSpPr>
            <a:spLocks noGrp="1"/>
          </p:cNvSpPr>
          <p:nvPr>
            <p:ph idx="1"/>
          </p:nvPr>
        </p:nvSpPr>
        <p:spPr/>
        <p:txBody>
          <a:bodyPr vert="horz" lIns="91440" tIns="45720" rIns="91440" bIns="45720" rtlCol="0" anchor="t">
            <a:normAutofit/>
          </a:bodyPr>
          <a:lstStyle/>
          <a:p>
            <a:pPr marL="0" indent="0">
              <a:buNone/>
            </a:pPr>
            <a:r>
              <a:rPr lang="nl-NL" b="1" dirty="0"/>
              <a:t>Alles waarop de eindgebruiker invloed op kan uitoefenen!</a:t>
            </a:r>
          </a:p>
          <a:p>
            <a:pPr marL="0" indent="0">
              <a:buNone/>
            </a:pPr>
            <a:r>
              <a:rPr lang="nl-NL" b="1" dirty="0"/>
              <a:t>Het beïnvloedt de werking van je website of online programma.</a:t>
            </a:r>
          </a:p>
          <a:p>
            <a:pPr>
              <a:buFont typeface="Calibri"/>
              <a:buChar char="-"/>
            </a:pPr>
            <a:r>
              <a:rPr lang="nl-NL" dirty="0"/>
              <a:t>Formulieren </a:t>
            </a:r>
            <a:r>
              <a:rPr lang="nl-NL" i="1" dirty="0"/>
              <a:t>(wordt omgezet naar de gekozen "</a:t>
            </a:r>
            <a:r>
              <a:rPr lang="nl-NL" i="1" dirty="0" err="1"/>
              <a:t>method</a:t>
            </a:r>
            <a:r>
              <a:rPr lang="nl-NL" i="1" dirty="0"/>
              <a:t>" </a:t>
            </a:r>
            <a:r>
              <a:rPr lang="nl-NL" i="1" dirty="0" err="1"/>
              <a:t>attribute</a:t>
            </a:r>
            <a:r>
              <a:rPr lang="nl-NL" i="1" dirty="0"/>
              <a:t>)</a:t>
            </a:r>
          </a:p>
          <a:p>
            <a:pPr>
              <a:buFont typeface="Calibri"/>
              <a:buChar char="-"/>
            </a:pPr>
            <a:r>
              <a:rPr lang="nl-NL" dirty="0" err="1"/>
              <a:t>Superglobals</a:t>
            </a:r>
            <a:r>
              <a:rPr lang="nl-NL" dirty="0"/>
              <a:t> zoals $_GET en $_POST</a:t>
            </a:r>
          </a:p>
          <a:p>
            <a:pPr>
              <a:buFont typeface="Calibri"/>
              <a:buChar char="-"/>
            </a:pPr>
            <a:r>
              <a:rPr lang="nl-NL" dirty="0"/>
              <a:t>Headers</a:t>
            </a:r>
          </a:p>
          <a:p>
            <a:pPr marL="0" indent="0">
              <a:buNone/>
            </a:pPr>
            <a:endParaRPr lang="nl-NL" dirty="0"/>
          </a:p>
        </p:txBody>
      </p:sp>
    </p:spTree>
    <p:extLst>
      <p:ext uri="{BB962C8B-B14F-4D97-AF65-F5344CB8AC3E}">
        <p14:creationId xmlns:p14="http://schemas.microsoft.com/office/powerpoint/2010/main" val="43070126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271DEF-3CBB-1F80-20EE-114C6C90A045}"/>
            </a:ext>
          </a:extLst>
        </p:cNvPr>
        <p:cNvGrpSpPr/>
        <p:nvPr/>
      </p:nvGrpSpPr>
      <p:grpSpPr>
        <a:xfrm>
          <a:off x="0" y="0"/>
          <a:ext cx="0" cy="0"/>
          <a:chOff x="0" y="0"/>
          <a:chExt cx="0" cy="0"/>
        </a:xfrm>
      </p:grpSpPr>
      <p:sp>
        <p:nvSpPr>
          <p:cNvPr id="22" name="Rectangle 17">
            <a:extLst>
              <a:ext uri="{FF2B5EF4-FFF2-40B4-BE49-F238E27FC236}">
                <a16:creationId xmlns:a16="http://schemas.microsoft.com/office/drawing/2014/main" id="{704A6291-4F42-21E3-23FD-6DDEDAC857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8DCC5E-C805-B341-1803-1621ED82040C}"/>
              </a:ext>
            </a:extLst>
          </p:cNvPr>
          <p:cNvSpPr>
            <a:spLocks noGrp="1"/>
          </p:cNvSpPr>
          <p:nvPr>
            <p:ph type="title"/>
          </p:nvPr>
        </p:nvSpPr>
        <p:spPr>
          <a:xfrm>
            <a:off x="-1024" y="-1331"/>
            <a:ext cx="7149863" cy="960367"/>
          </a:xfrm>
        </p:spPr>
        <p:txBody>
          <a:bodyPr vert="horz" lIns="91440" tIns="45720" rIns="91440" bIns="45720" rtlCol="0" anchor="b">
            <a:normAutofit/>
          </a:bodyPr>
          <a:lstStyle/>
          <a:p>
            <a:pPr algn="ctr"/>
            <a:r>
              <a:rPr lang="en-US" sz="4000"/>
              <a:t>HTML Forms</a:t>
            </a:r>
          </a:p>
        </p:txBody>
      </p:sp>
      <p:pic>
        <p:nvPicPr>
          <p:cNvPr id="6" name="Afbeelding 5" descr="HTML forms basics · WebPlatform Docs">
            <a:extLst>
              <a:ext uri="{FF2B5EF4-FFF2-40B4-BE49-F238E27FC236}">
                <a16:creationId xmlns:a16="http://schemas.microsoft.com/office/drawing/2014/main" id="{D5D318DD-ACF3-9960-4362-AE8B5A3F32BF}"/>
              </a:ext>
            </a:extLst>
          </p:cNvPr>
          <p:cNvPicPr>
            <a:picLocks noChangeAspect="1"/>
          </p:cNvPicPr>
          <p:nvPr/>
        </p:nvPicPr>
        <p:blipFill>
          <a:blip r:embed="rId3"/>
          <a:srcRect r="2538" b="3"/>
          <a:stretch>
            <a:fillRect/>
          </a:stretch>
        </p:blipFill>
        <p:spPr>
          <a:xfrm>
            <a:off x="99439" y="2796298"/>
            <a:ext cx="5058679" cy="3584281"/>
          </a:xfrm>
          <a:prstGeom prst="rect">
            <a:avLst/>
          </a:prstGeom>
        </p:spPr>
      </p:pic>
      <p:pic>
        <p:nvPicPr>
          <p:cNvPr id="8" name="Afbeelding 7" descr="Afbeelding met tekst, schermopname, Lettertype&#10;&#10;Door AI gegenereerde inhoud is mogelijk onjuist.">
            <a:extLst>
              <a:ext uri="{FF2B5EF4-FFF2-40B4-BE49-F238E27FC236}">
                <a16:creationId xmlns:a16="http://schemas.microsoft.com/office/drawing/2014/main" id="{FA97DF35-164B-E2DA-50C8-64AF6C589CBE}"/>
              </a:ext>
            </a:extLst>
          </p:cNvPr>
          <p:cNvPicPr>
            <a:picLocks noChangeAspect="1"/>
          </p:cNvPicPr>
          <p:nvPr/>
        </p:nvPicPr>
        <p:blipFill>
          <a:blip r:embed="rId4"/>
          <a:stretch>
            <a:fillRect/>
          </a:stretch>
        </p:blipFill>
        <p:spPr>
          <a:xfrm>
            <a:off x="4949298" y="3429177"/>
            <a:ext cx="7373409" cy="2065515"/>
          </a:xfrm>
          <a:prstGeom prst="rect">
            <a:avLst/>
          </a:prstGeom>
        </p:spPr>
      </p:pic>
      <p:sp>
        <p:nvSpPr>
          <p:cNvPr id="9" name="Tekstvak 8">
            <a:extLst>
              <a:ext uri="{FF2B5EF4-FFF2-40B4-BE49-F238E27FC236}">
                <a16:creationId xmlns:a16="http://schemas.microsoft.com/office/drawing/2014/main" id="{8C62E1AF-BB59-21BA-09E6-84505371B9A0}"/>
              </a:ext>
            </a:extLst>
          </p:cNvPr>
          <p:cNvSpPr txBox="1"/>
          <p:nvPr/>
        </p:nvSpPr>
        <p:spPr>
          <a:xfrm>
            <a:off x="304644" y="1093342"/>
            <a:ext cx="11897755"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arenR"/>
            </a:pPr>
            <a:r>
              <a:rPr lang="nl-NL" dirty="0"/>
              <a:t>"Method" </a:t>
            </a:r>
            <a:r>
              <a:rPr lang="nl-NL" dirty="0" err="1"/>
              <a:t>attribute</a:t>
            </a:r>
            <a:r>
              <a:rPr lang="nl-NL" dirty="0"/>
              <a:t> op &lt;form&gt; element</a:t>
            </a:r>
            <a:endParaRPr lang="nl-NL" dirty="0" err="1"/>
          </a:p>
          <a:p>
            <a:pPr marL="285750" indent="-285750">
              <a:buAutoNum type="arabicParenR"/>
            </a:pPr>
            <a:r>
              <a:rPr lang="nl-NL" dirty="0"/>
              <a:t>Button met als type "</a:t>
            </a:r>
            <a:r>
              <a:rPr lang="nl-NL" dirty="0" err="1"/>
              <a:t>submit</a:t>
            </a:r>
            <a:r>
              <a:rPr lang="nl-NL" dirty="0"/>
              <a:t>" aangeklikt?</a:t>
            </a:r>
          </a:p>
          <a:p>
            <a:pPr marL="285750" indent="-285750">
              <a:buAutoNum type="arabicParenR"/>
            </a:pPr>
            <a:r>
              <a:rPr lang="nl-NL" dirty="0"/>
              <a:t>Browser maakt automatisch </a:t>
            </a:r>
            <a:r>
              <a:rPr lang="nl-NL" dirty="0" err="1"/>
              <a:t>request</a:t>
            </a:r>
            <a:r>
              <a:rPr lang="nl-NL" dirty="0"/>
              <a:t> van het type: "METHOD" naar de huidige pagina inclusief alle formuliervelden (data)</a:t>
            </a:r>
            <a:endParaRPr lang="nl-NL"/>
          </a:p>
          <a:p>
            <a:pPr marL="285750" indent="-285750">
              <a:buAutoNum type="arabicParenR"/>
            </a:pPr>
            <a:r>
              <a:rPr lang="nl-NL" dirty="0"/>
              <a:t>Aan jou om de gegevens op te vangen en veilig te verwerken</a:t>
            </a:r>
          </a:p>
          <a:p>
            <a:pPr marL="285750" indent="-285750">
              <a:buAutoNum type="arabicParenR"/>
            </a:pPr>
            <a:endParaRPr lang="nl-NL" dirty="0"/>
          </a:p>
        </p:txBody>
      </p:sp>
    </p:spTree>
    <p:extLst>
      <p:ext uri="{BB962C8B-B14F-4D97-AF65-F5344CB8AC3E}">
        <p14:creationId xmlns:p14="http://schemas.microsoft.com/office/powerpoint/2010/main" val="3324132902"/>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78AC2F-1089-078A-3F7D-46C8BFD7FAC1}"/>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340A7190-01C3-EB5F-290B-2565AB617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5412C19-DBD4-A886-8F6E-0F3BC2A21C15}"/>
              </a:ext>
            </a:extLst>
          </p:cNvPr>
          <p:cNvSpPr>
            <a:spLocks noGrp="1"/>
          </p:cNvSpPr>
          <p:nvPr>
            <p:ph type="title"/>
          </p:nvPr>
        </p:nvSpPr>
        <p:spPr>
          <a:xfrm>
            <a:off x="6284931" y="1706"/>
            <a:ext cx="5044428" cy="1095875"/>
          </a:xfrm>
        </p:spPr>
        <p:txBody>
          <a:bodyPr vert="horz" lIns="91440" tIns="45720" rIns="91440" bIns="45720" rtlCol="0" anchor="b">
            <a:normAutofit/>
          </a:bodyPr>
          <a:lstStyle/>
          <a:p>
            <a:r>
              <a:rPr lang="en-US" sz="3200" dirty="0" err="1"/>
              <a:t>Visualisatie</a:t>
            </a:r>
            <a:r>
              <a:rPr lang="en-US" sz="3200" dirty="0"/>
              <a:t> in </a:t>
            </a:r>
            <a:r>
              <a:rPr lang="en-US" sz="3200" dirty="0" err="1"/>
              <a:t>stappen</a:t>
            </a:r>
            <a:endParaRPr lang="nl-NL" dirty="0" err="1"/>
          </a:p>
        </p:txBody>
      </p:sp>
      <p:pic>
        <p:nvPicPr>
          <p:cNvPr id="3" name="Afbeelding 2" descr="Afbeelding met tekst, schermopname, Lettertype&#10;&#10;Door AI gegenereerde inhoud is mogelijk onjuist.">
            <a:extLst>
              <a:ext uri="{FF2B5EF4-FFF2-40B4-BE49-F238E27FC236}">
                <a16:creationId xmlns:a16="http://schemas.microsoft.com/office/drawing/2014/main" id="{9DEBFAB1-CB87-2EC4-AF1F-01D9D01758A2}"/>
              </a:ext>
            </a:extLst>
          </p:cNvPr>
          <p:cNvPicPr>
            <a:picLocks noChangeAspect="1"/>
          </p:cNvPicPr>
          <p:nvPr/>
        </p:nvPicPr>
        <p:blipFill>
          <a:blip r:embed="rId3"/>
          <a:stretch>
            <a:fillRect/>
          </a:stretch>
        </p:blipFill>
        <p:spPr>
          <a:xfrm>
            <a:off x="206928" y="471542"/>
            <a:ext cx="5119032" cy="5917956"/>
          </a:xfrm>
          <a:prstGeom prst="rect">
            <a:avLst/>
          </a:prstGeom>
        </p:spPr>
      </p:pic>
      <p:pic>
        <p:nvPicPr>
          <p:cNvPr id="4" name="Afbeelding 3" descr="Afbeelding met tekst, schermopname, Lettertype, lijn&#10;&#10;Door AI gegenereerde inhoud is mogelijk onjuist.">
            <a:extLst>
              <a:ext uri="{FF2B5EF4-FFF2-40B4-BE49-F238E27FC236}">
                <a16:creationId xmlns:a16="http://schemas.microsoft.com/office/drawing/2014/main" id="{1CCAF98F-9A9C-2B79-7E69-65DE36E1B5A0}"/>
              </a:ext>
            </a:extLst>
          </p:cNvPr>
          <p:cNvPicPr>
            <a:picLocks noChangeAspect="1"/>
          </p:cNvPicPr>
          <p:nvPr/>
        </p:nvPicPr>
        <p:blipFill>
          <a:blip r:embed="rId4"/>
          <a:stretch>
            <a:fillRect/>
          </a:stretch>
        </p:blipFill>
        <p:spPr>
          <a:xfrm>
            <a:off x="6740524" y="1495248"/>
            <a:ext cx="4507794" cy="4437591"/>
          </a:xfrm>
          <a:prstGeom prst="rect">
            <a:avLst/>
          </a:prstGeom>
        </p:spPr>
      </p:pic>
    </p:spTree>
    <p:extLst>
      <p:ext uri="{BB962C8B-B14F-4D97-AF65-F5344CB8AC3E}">
        <p14:creationId xmlns:p14="http://schemas.microsoft.com/office/powerpoint/2010/main" val="3690104650"/>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5A8858-9DC6-0C4C-859B-887FC13798DF}"/>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5849FC11-300E-12A0-75F1-0E71691F7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E1371FF0-224A-7103-0BA0-5EF7DBFB69CA}"/>
              </a:ext>
            </a:extLst>
          </p:cNvPr>
          <p:cNvSpPr>
            <a:spLocks noGrp="1"/>
          </p:cNvSpPr>
          <p:nvPr>
            <p:ph type="title"/>
          </p:nvPr>
        </p:nvSpPr>
        <p:spPr>
          <a:xfrm>
            <a:off x="4027153" y="346017"/>
            <a:ext cx="5044428" cy="644320"/>
          </a:xfrm>
        </p:spPr>
        <p:txBody>
          <a:bodyPr vert="horz" lIns="91440" tIns="45720" rIns="91440" bIns="45720" rtlCol="0" anchor="b">
            <a:normAutofit/>
          </a:bodyPr>
          <a:lstStyle/>
          <a:p>
            <a:r>
              <a:rPr lang="en-US" sz="3200" dirty="0" err="1"/>
              <a:t>Visualisatie</a:t>
            </a:r>
            <a:r>
              <a:rPr lang="en-US" sz="3200" dirty="0"/>
              <a:t> in </a:t>
            </a:r>
            <a:r>
              <a:rPr lang="en-US" sz="3200" dirty="0" err="1"/>
              <a:t>stappen</a:t>
            </a:r>
            <a:endParaRPr lang="nl-NL" dirty="0" err="1"/>
          </a:p>
        </p:txBody>
      </p:sp>
      <p:pic>
        <p:nvPicPr>
          <p:cNvPr id="9" name="Afbeelding 8" descr="Afbeelding met tekst, schermopname, diagram, Lettertype&#10;&#10;Door AI gegenereerde inhoud is mogelijk onjuist.">
            <a:extLst>
              <a:ext uri="{FF2B5EF4-FFF2-40B4-BE49-F238E27FC236}">
                <a16:creationId xmlns:a16="http://schemas.microsoft.com/office/drawing/2014/main" id="{9BB8516C-E160-AFD7-7AC5-90947FB049EC}"/>
              </a:ext>
            </a:extLst>
          </p:cNvPr>
          <p:cNvPicPr>
            <a:picLocks noChangeAspect="1"/>
          </p:cNvPicPr>
          <p:nvPr/>
        </p:nvPicPr>
        <p:blipFill>
          <a:blip r:embed="rId3"/>
          <a:stretch>
            <a:fillRect/>
          </a:stretch>
        </p:blipFill>
        <p:spPr>
          <a:xfrm>
            <a:off x="304802" y="1817784"/>
            <a:ext cx="11576755" cy="4746430"/>
          </a:xfrm>
          <a:prstGeom prst="rect">
            <a:avLst/>
          </a:prstGeom>
        </p:spPr>
      </p:pic>
      <p:sp>
        <p:nvSpPr>
          <p:cNvPr id="10" name="Tekstvak 9">
            <a:extLst>
              <a:ext uri="{FF2B5EF4-FFF2-40B4-BE49-F238E27FC236}">
                <a16:creationId xmlns:a16="http://schemas.microsoft.com/office/drawing/2014/main" id="{1497614C-359B-8CFD-06AB-DF5F4F39BE8B}"/>
              </a:ext>
            </a:extLst>
          </p:cNvPr>
          <p:cNvSpPr txBox="1"/>
          <p:nvPr/>
        </p:nvSpPr>
        <p:spPr>
          <a:xfrm>
            <a:off x="2588810" y="1087708"/>
            <a:ext cx="7604228" cy="3872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ts val="2325"/>
              </a:lnSpc>
            </a:pPr>
            <a:r>
              <a:rPr lang="nl-NL" sz="2000" b="1" baseline="0" dirty="0">
                <a:latin typeface="Neue Haas Grotesk Text Pro"/>
                <a:ea typeface="Arial"/>
                <a:cs typeface="Arial"/>
              </a:rPr>
              <a:t>SITUATIE 1:</a:t>
            </a:r>
            <a:r>
              <a:rPr lang="en-US" sz="2000" dirty="0">
                <a:latin typeface="Neue Haas Grotesk Text Pro"/>
                <a:ea typeface="Arial"/>
                <a:cs typeface="Arial"/>
              </a:rPr>
              <a:t>​ De </a:t>
            </a:r>
            <a:r>
              <a:rPr lang="en-US" sz="2000" dirty="0" err="1">
                <a:latin typeface="Neue Haas Grotesk Text Pro"/>
                <a:ea typeface="Arial"/>
                <a:cs typeface="Arial"/>
              </a:rPr>
              <a:t>gebruiker</a:t>
            </a:r>
            <a:r>
              <a:rPr lang="en-US" sz="2000" dirty="0">
                <a:latin typeface="Neue Haas Grotesk Text Pro"/>
                <a:ea typeface="Arial"/>
                <a:cs typeface="Arial"/>
              </a:rPr>
              <a:t> </a:t>
            </a:r>
            <a:r>
              <a:rPr lang="en-US" sz="2000" dirty="0" err="1">
                <a:latin typeface="Neue Haas Grotesk Text Pro"/>
                <a:ea typeface="Arial"/>
                <a:cs typeface="Arial"/>
              </a:rPr>
              <a:t>gaat</a:t>
            </a:r>
            <a:r>
              <a:rPr lang="en-US" sz="2000" dirty="0">
                <a:latin typeface="Neue Haas Grotesk Text Pro"/>
                <a:ea typeface="Arial"/>
                <a:cs typeface="Arial"/>
              </a:rPr>
              <a:t> </a:t>
            </a:r>
            <a:r>
              <a:rPr lang="en-US" sz="2000" dirty="0" err="1">
                <a:latin typeface="Neue Haas Grotesk Text Pro"/>
                <a:ea typeface="Arial"/>
                <a:cs typeface="Arial"/>
              </a:rPr>
              <a:t>naar</a:t>
            </a:r>
            <a:r>
              <a:rPr lang="en-US" sz="2000" dirty="0">
                <a:latin typeface="Neue Haas Grotesk Text Pro"/>
                <a:ea typeface="Arial"/>
                <a:cs typeface="Arial"/>
              </a:rPr>
              <a:t> </a:t>
            </a:r>
            <a:r>
              <a:rPr lang="en-US" sz="2000" dirty="0" err="1">
                <a:latin typeface="Neue Haas Grotesk Text Pro"/>
                <a:ea typeface="Arial"/>
                <a:cs typeface="Arial"/>
              </a:rPr>
              <a:t>deze</a:t>
            </a:r>
            <a:r>
              <a:rPr lang="en-US" sz="2000" dirty="0">
                <a:latin typeface="Neue Haas Grotesk Text Pro"/>
                <a:ea typeface="Arial"/>
                <a:cs typeface="Arial"/>
              </a:rPr>
              <a:t> webpagina.</a:t>
            </a:r>
            <a:endParaRPr lang="en-US" sz="2000" dirty="0">
              <a:cs typeface="Arial"/>
            </a:endParaRPr>
          </a:p>
        </p:txBody>
      </p:sp>
    </p:spTree>
    <p:extLst>
      <p:ext uri="{BB962C8B-B14F-4D97-AF65-F5344CB8AC3E}">
        <p14:creationId xmlns:p14="http://schemas.microsoft.com/office/powerpoint/2010/main" val="186716484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439EA0-5304-BE53-8420-B733C7C79AB4}"/>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D0B20013-35F7-18DE-A9A7-38DB680D1F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CAA443F-0612-99A2-6D14-FCC7E4C54990}"/>
              </a:ext>
            </a:extLst>
          </p:cNvPr>
          <p:cNvSpPr>
            <a:spLocks noGrp="1"/>
          </p:cNvSpPr>
          <p:nvPr>
            <p:ph type="title"/>
          </p:nvPr>
        </p:nvSpPr>
        <p:spPr>
          <a:xfrm>
            <a:off x="7216264" y="-167627"/>
            <a:ext cx="5044428" cy="898320"/>
          </a:xfrm>
        </p:spPr>
        <p:txBody>
          <a:bodyPr vert="horz" lIns="91440" tIns="45720" rIns="91440" bIns="45720" rtlCol="0" anchor="b">
            <a:normAutofit/>
          </a:bodyPr>
          <a:lstStyle/>
          <a:p>
            <a:r>
              <a:rPr lang="en-US" sz="3200" dirty="0" err="1"/>
              <a:t>Visualisatie</a:t>
            </a:r>
            <a:r>
              <a:rPr lang="en-US" sz="3200" dirty="0"/>
              <a:t> in </a:t>
            </a:r>
            <a:r>
              <a:rPr lang="en-US" sz="3200" dirty="0" err="1"/>
              <a:t>stappen</a:t>
            </a:r>
            <a:endParaRPr lang="nl-NL" dirty="0" err="1"/>
          </a:p>
        </p:txBody>
      </p:sp>
      <p:pic>
        <p:nvPicPr>
          <p:cNvPr id="4" name="Afbeelding 3" descr="Afbeelding met tekst, schermopname, Lettertype, lijn&#10;&#10;Door AI gegenereerde inhoud is mogelijk onjuist.">
            <a:extLst>
              <a:ext uri="{FF2B5EF4-FFF2-40B4-BE49-F238E27FC236}">
                <a16:creationId xmlns:a16="http://schemas.microsoft.com/office/drawing/2014/main" id="{8468B878-F3E2-3401-5328-1D1AED712DFC}"/>
              </a:ext>
            </a:extLst>
          </p:cNvPr>
          <p:cNvPicPr>
            <a:picLocks noChangeAspect="1"/>
          </p:cNvPicPr>
          <p:nvPr/>
        </p:nvPicPr>
        <p:blipFill>
          <a:blip r:embed="rId3"/>
          <a:stretch>
            <a:fillRect/>
          </a:stretch>
        </p:blipFill>
        <p:spPr>
          <a:xfrm>
            <a:off x="2484613" y="2691871"/>
            <a:ext cx="1126774" cy="1395236"/>
          </a:xfrm>
          <a:prstGeom prst="rect">
            <a:avLst/>
          </a:prstGeom>
        </p:spPr>
      </p:pic>
      <p:sp>
        <p:nvSpPr>
          <p:cNvPr id="5" name="Tekstvak 4">
            <a:extLst>
              <a:ext uri="{FF2B5EF4-FFF2-40B4-BE49-F238E27FC236}">
                <a16:creationId xmlns:a16="http://schemas.microsoft.com/office/drawing/2014/main" id="{EA15A32F-C155-B7A4-0A2B-076B914ED538}"/>
              </a:ext>
            </a:extLst>
          </p:cNvPr>
          <p:cNvSpPr txBox="1"/>
          <p:nvPr/>
        </p:nvSpPr>
        <p:spPr>
          <a:xfrm>
            <a:off x="107097" y="280753"/>
            <a:ext cx="6277211"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2000" b="1" dirty="0"/>
              <a:t>SITUATIE 1:</a:t>
            </a:r>
            <a:r>
              <a:rPr lang="en-US" sz="2000" dirty="0"/>
              <a:t> De </a:t>
            </a:r>
            <a:r>
              <a:rPr lang="en-US" sz="2000" dirty="0" err="1"/>
              <a:t>gebruiker</a:t>
            </a:r>
            <a:r>
              <a:rPr lang="en-US" sz="2000" dirty="0"/>
              <a:t> </a:t>
            </a:r>
            <a:r>
              <a:rPr lang="en-US" sz="2000" dirty="0" err="1"/>
              <a:t>gaat</a:t>
            </a:r>
            <a:r>
              <a:rPr lang="en-US" sz="2000" dirty="0"/>
              <a:t> </a:t>
            </a:r>
            <a:r>
              <a:rPr lang="en-US" sz="2000" dirty="0" err="1"/>
              <a:t>naar</a:t>
            </a:r>
            <a:r>
              <a:rPr lang="en-US" sz="2000" dirty="0"/>
              <a:t> </a:t>
            </a:r>
            <a:r>
              <a:rPr lang="en-US" sz="2000" dirty="0" err="1"/>
              <a:t>deze</a:t>
            </a:r>
            <a:r>
              <a:rPr lang="en-US" sz="2000" dirty="0"/>
              <a:t> </a:t>
            </a:r>
            <a:r>
              <a:rPr lang="en-US" sz="2000" dirty="0" err="1"/>
              <a:t>webpagina</a:t>
            </a:r>
            <a:r>
              <a:rPr lang="en-US" sz="2000" dirty="0"/>
              <a:t>.</a:t>
            </a:r>
            <a:endParaRPr lang="nl-NL" sz="2000" dirty="0"/>
          </a:p>
          <a:p>
            <a:pPr marL="342900" indent="-342900">
              <a:buFont typeface="Calibri"/>
              <a:buChar char="-"/>
            </a:pPr>
            <a:endParaRPr lang="nl-NL" sz="2000" b="1" dirty="0"/>
          </a:p>
          <a:p>
            <a:r>
              <a:rPr lang="nl-NL" sz="2000" dirty="0">
                <a:solidFill>
                  <a:srgbClr val="FF0000"/>
                </a:solidFill>
              </a:rPr>
              <a:t>1° PHP Code voert uit</a:t>
            </a:r>
            <a:r>
              <a:rPr lang="nl-NL" sz="2000" dirty="0"/>
              <a:t> -&gt; Er gebeurt hier nog niets (</a:t>
            </a:r>
            <a:r>
              <a:rPr lang="nl-NL" sz="2000" dirty="0" err="1"/>
              <a:t>if</a:t>
            </a:r>
            <a:r>
              <a:rPr lang="nl-NL" sz="2000" dirty="0"/>
              <a:t> statement NIET voldaan)</a:t>
            </a:r>
          </a:p>
          <a:p>
            <a:endParaRPr lang="nl-NL" sz="2000" dirty="0"/>
          </a:p>
          <a:p>
            <a:r>
              <a:rPr lang="nl-NL" sz="2000" dirty="0">
                <a:solidFill>
                  <a:srgbClr val="00B050"/>
                </a:solidFill>
              </a:rPr>
              <a:t>2° HTML output renderen</a:t>
            </a:r>
          </a:p>
          <a:p>
            <a:endParaRPr lang="nl-NL" sz="2000" dirty="0">
              <a:solidFill>
                <a:srgbClr val="00B050"/>
              </a:solidFill>
            </a:endParaRPr>
          </a:p>
          <a:p>
            <a:r>
              <a:rPr lang="nl-NL" sz="2000" dirty="0"/>
              <a:t>Resultaat? Je ziet:</a:t>
            </a:r>
          </a:p>
        </p:txBody>
      </p:sp>
      <p:pic>
        <p:nvPicPr>
          <p:cNvPr id="7" name="Afbeelding 6" descr="Afbeelding met tekst, schermopname, scherm, Lettertype&#10;&#10;Door AI gegenereerde inhoud is mogelijk onjuist.">
            <a:extLst>
              <a:ext uri="{FF2B5EF4-FFF2-40B4-BE49-F238E27FC236}">
                <a16:creationId xmlns:a16="http://schemas.microsoft.com/office/drawing/2014/main" id="{8760ACF1-06AF-DD5C-483A-1A76E2926330}"/>
              </a:ext>
            </a:extLst>
          </p:cNvPr>
          <p:cNvPicPr>
            <a:picLocks noChangeAspect="1"/>
          </p:cNvPicPr>
          <p:nvPr/>
        </p:nvPicPr>
        <p:blipFill>
          <a:blip r:embed="rId4"/>
          <a:stretch>
            <a:fillRect/>
          </a:stretch>
        </p:blipFill>
        <p:spPr>
          <a:xfrm>
            <a:off x="7387519" y="900994"/>
            <a:ext cx="4709584" cy="5818011"/>
          </a:xfrm>
          <a:prstGeom prst="rect">
            <a:avLst/>
          </a:prstGeom>
        </p:spPr>
      </p:pic>
      <p:pic>
        <p:nvPicPr>
          <p:cNvPr id="9" name="Afbeelding 8" descr="Afbeelding met tekst, schermopname, diagram, Lettertype&#10;&#10;Door AI gegenereerde inhoud is mogelijk onjuist.">
            <a:extLst>
              <a:ext uri="{FF2B5EF4-FFF2-40B4-BE49-F238E27FC236}">
                <a16:creationId xmlns:a16="http://schemas.microsoft.com/office/drawing/2014/main" id="{A568B045-7B28-5B3A-1D5D-CDB865F9C390}"/>
              </a:ext>
            </a:extLst>
          </p:cNvPr>
          <p:cNvPicPr>
            <a:picLocks noChangeAspect="1"/>
          </p:cNvPicPr>
          <p:nvPr/>
        </p:nvPicPr>
        <p:blipFill>
          <a:blip r:embed="rId5"/>
          <a:stretch>
            <a:fillRect/>
          </a:stretch>
        </p:blipFill>
        <p:spPr>
          <a:xfrm>
            <a:off x="671690" y="4086851"/>
            <a:ext cx="6039555" cy="2494297"/>
          </a:xfrm>
          <a:prstGeom prst="rect">
            <a:avLst/>
          </a:prstGeom>
        </p:spPr>
      </p:pic>
      <p:sp>
        <p:nvSpPr>
          <p:cNvPr id="3" name="Rechthoek 2">
            <a:extLst>
              <a:ext uri="{FF2B5EF4-FFF2-40B4-BE49-F238E27FC236}">
                <a16:creationId xmlns:a16="http://schemas.microsoft.com/office/drawing/2014/main" id="{60C92AFB-7D9E-11E1-63C0-9CB9F453FA1B}"/>
              </a:ext>
            </a:extLst>
          </p:cNvPr>
          <p:cNvSpPr/>
          <p:nvPr/>
        </p:nvSpPr>
        <p:spPr>
          <a:xfrm>
            <a:off x="104399" y="1193548"/>
            <a:ext cx="2711484" cy="33712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 name="Rechthoek 5">
            <a:extLst>
              <a:ext uri="{FF2B5EF4-FFF2-40B4-BE49-F238E27FC236}">
                <a16:creationId xmlns:a16="http://schemas.microsoft.com/office/drawing/2014/main" id="{53B67711-D174-7585-30EC-B6891496F632}"/>
              </a:ext>
            </a:extLst>
          </p:cNvPr>
          <p:cNvSpPr/>
          <p:nvPr/>
        </p:nvSpPr>
        <p:spPr>
          <a:xfrm>
            <a:off x="155199" y="2113592"/>
            <a:ext cx="3213839" cy="444369"/>
          </a:xfrm>
          <a:prstGeom prst="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999306846"/>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E5B516-B842-6E1E-64CB-7F5F79E1DF87}"/>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3C3F2476-09FC-2AC5-8C93-49DAC3A4A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C142916-550C-65F9-2C38-BBA7A932AC8B}"/>
              </a:ext>
            </a:extLst>
          </p:cNvPr>
          <p:cNvSpPr>
            <a:spLocks noGrp="1"/>
          </p:cNvSpPr>
          <p:nvPr>
            <p:ph type="title"/>
          </p:nvPr>
        </p:nvSpPr>
        <p:spPr>
          <a:xfrm>
            <a:off x="6691331" y="80728"/>
            <a:ext cx="5044428" cy="1095875"/>
          </a:xfrm>
        </p:spPr>
        <p:txBody>
          <a:bodyPr vert="horz" lIns="91440" tIns="45720" rIns="91440" bIns="45720" rtlCol="0" anchor="b">
            <a:normAutofit/>
          </a:bodyPr>
          <a:lstStyle/>
          <a:p>
            <a:r>
              <a:rPr lang="en-US" sz="3200" dirty="0" err="1"/>
              <a:t>Visualisatie</a:t>
            </a:r>
            <a:r>
              <a:rPr lang="en-US" sz="3200" dirty="0"/>
              <a:t> in </a:t>
            </a:r>
            <a:r>
              <a:rPr lang="en-US" sz="3200" dirty="0" err="1"/>
              <a:t>stappen</a:t>
            </a:r>
            <a:endParaRPr lang="nl-NL" dirty="0" err="1"/>
          </a:p>
        </p:txBody>
      </p:sp>
      <p:pic>
        <p:nvPicPr>
          <p:cNvPr id="4" name="Afbeelding 3" descr="Afbeelding met tekst, schermopname, Lettertype, lijn&#10;&#10;Door AI gegenereerde inhoud is mogelijk onjuist.">
            <a:extLst>
              <a:ext uri="{FF2B5EF4-FFF2-40B4-BE49-F238E27FC236}">
                <a16:creationId xmlns:a16="http://schemas.microsoft.com/office/drawing/2014/main" id="{B3ABB3AF-2E9D-1E19-7790-CEC9C5247BDD}"/>
              </a:ext>
            </a:extLst>
          </p:cNvPr>
          <p:cNvPicPr>
            <a:picLocks noChangeAspect="1"/>
          </p:cNvPicPr>
          <p:nvPr/>
        </p:nvPicPr>
        <p:blipFill>
          <a:blip r:embed="rId3"/>
          <a:stretch>
            <a:fillRect/>
          </a:stretch>
        </p:blipFill>
        <p:spPr>
          <a:xfrm>
            <a:off x="4358568" y="4475514"/>
            <a:ext cx="2250018" cy="2224970"/>
          </a:xfrm>
          <a:prstGeom prst="rect">
            <a:avLst/>
          </a:prstGeom>
        </p:spPr>
      </p:pic>
      <p:sp>
        <p:nvSpPr>
          <p:cNvPr id="5" name="Tekstvak 4">
            <a:extLst>
              <a:ext uri="{FF2B5EF4-FFF2-40B4-BE49-F238E27FC236}">
                <a16:creationId xmlns:a16="http://schemas.microsoft.com/office/drawing/2014/main" id="{603CBB47-0383-40A0-6833-F6303ADA23BE}"/>
              </a:ext>
            </a:extLst>
          </p:cNvPr>
          <p:cNvSpPr txBox="1"/>
          <p:nvPr/>
        </p:nvSpPr>
        <p:spPr>
          <a:xfrm>
            <a:off x="33720" y="252530"/>
            <a:ext cx="6576366" cy="44012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2000" b="1" dirty="0"/>
              <a:t>SITUATIE 2:</a:t>
            </a:r>
            <a:r>
              <a:rPr lang="en-US" sz="2000" dirty="0"/>
              <a:t> De </a:t>
            </a:r>
            <a:r>
              <a:rPr lang="en-US" sz="2000" dirty="0" err="1"/>
              <a:t>gebruiker</a:t>
            </a:r>
            <a:r>
              <a:rPr lang="en-US" sz="2000" dirty="0"/>
              <a:t> </a:t>
            </a:r>
            <a:r>
              <a:rPr lang="en-US" sz="2000" dirty="0" err="1"/>
              <a:t>klikt</a:t>
            </a:r>
            <a:r>
              <a:rPr lang="en-US" sz="2000" dirty="0"/>
              <a:t> op "LOGIN" </a:t>
            </a:r>
            <a:r>
              <a:rPr lang="en-US" sz="2000" dirty="0" err="1"/>
              <a:t>zonder</a:t>
            </a:r>
            <a:r>
              <a:rPr lang="en-US" sz="2000" dirty="0"/>
              <a:t> </a:t>
            </a:r>
            <a:r>
              <a:rPr lang="en-US" sz="2000" dirty="0" err="1"/>
              <a:t>invoervelden</a:t>
            </a:r>
            <a:r>
              <a:rPr lang="en-US" sz="2000" dirty="0"/>
              <a:t> in </a:t>
            </a:r>
            <a:r>
              <a:rPr lang="en-US" sz="2000" dirty="0" err="1"/>
              <a:t>te</a:t>
            </a:r>
            <a:r>
              <a:rPr lang="en-US" sz="2000" dirty="0"/>
              <a:t> </a:t>
            </a:r>
            <a:r>
              <a:rPr lang="en-US" sz="2000" dirty="0" err="1"/>
              <a:t>vullen</a:t>
            </a:r>
            <a:r>
              <a:rPr lang="en-US" sz="2000" dirty="0"/>
              <a:t>.</a:t>
            </a:r>
            <a:endParaRPr lang="nl-NL"/>
          </a:p>
          <a:p>
            <a:pPr marL="342900" indent="-342900">
              <a:buFont typeface="Calibri"/>
              <a:buChar char="-"/>
            </a:pPr>
            <a:endParaRPr lang="nl-NL" sz="2000" b="1" dirty="0">
              <a:solidFill>
                <a:srgbClr val="000000"/>
              </a:solidFill>
            </a:endParaRPr>
          </a:p>
          <a:p>
            <a:r>
              <a:rPr lang="nl-NL" sz="2000" dirty="0">
                <a:solidFill>
                  <a:srgbClr val="000000"/>
                </a:solidFill>
              </a:rPr>
              <a:t>1° Browser maakt POST </a:t>
            </a:r>
            <a:r>
              <a:rPr lang="nl-NL" sz="2000" dirty="0" err="1">
                <a:solidFill>
                  <a:srgbClr val="000000"/>
                </a:solidFill>
              </a:rPr>
              <a:t>request</a:t>
            </a:r>
            <a:r>
              <a:rPr lang="nl-NL" sz="2000" dirty="0">
                <a:solidFill>
                  <a:srgbClr val="000000"/>
                </a:solidFill>
              </a:rPr>
              <a:t> naar huidige pagina (</a:t>
            </a:r>
            <a:r>
              <a:rPr lang="nl-NL" sz="2000" dirty="0" err="1">
                <a:solidFill>
                  <a:srgbClr val="000000"/>
                </a:solidFill>
              </a:rPr>
              <a:t>index.php</a:t>
            </a:r>
            <a:r>
              <a:rPr lang="nl-NL" sz="2000" dirty="0">
                <a:solidFill>
                  <a:srgbClr val="000000"/>
                </a:solidFill>
              </a:rPr>
              <a:t>). Je ziet de pagina </a:t>
            </a:r>
            <a:r>
              <a:rPr lang="nl-NL" sz="2000" dirty="0" err="1">
                <a:solidFill>
                  <a:srgbClr val="000000"/>
                </a:solidFill>
              </a:rPr>
              <a:t>refreshen</a:t>
            </a:r>
            <a:r>
              <a:rPr lang="nl-NL" sz="2000" dirty="0">
                <a:solidFill>
                  <a:srgbClr val="000000"/>
                </a:solidFill>
              </a:rPr>
              <a:t>.</a:t>
            </a:r>
          </a:p>
          <a:p>
            <a:endParaRPr lang="nl-NL" sz="2000" b="1" dirty="0">
              <a:solidFill>
                <a:srgbClr val="000000"/>
              </a:solidFill>
            </a:endParaRPr>
          </a:p>
          <a:p>
            <a:r>
              <a:rPr lang="nl-NL" sz="2000" dirty="0">
                <a:solidFill>
                  <a:srgbClr val="000000"/>
                </a:solidFill>
              </a:rPr>
              <a:t>2° Webserver wordt actief (</a:t>
            </a:r>
            <a:r>
              <a:rPr lang="nl-NL" sz="2000" dirty="0" err="1">
                <a:solidFill>
                  <a:srgbClr val="000000"/>
                </a:solidFill>
              </a:rPr>
              <a:t>incoming</a:t>
            </a:r>
            <a:r>
              <a:rPr lang="nl-NL" sz="2000" dirty="0">
                <a:solidFill>
                  <a:srgbClr val="000000"/>
                </a:solidFill>
              </a:rPr>
              <a:t> </a:t>
            </a:r>
            <a:r>
              <a:rPr lang="nl-NL" sz="2000" dirty="0" err="1">
                <a:solidFill>
                  <a:srgbClr val="000000"/>
                </a:solidFill>
              </a:rPr>
              <a:t>request</a:t>
            </a:r>
            <a:r>
              <a:rPr lang="nl-NL" sz="2000" dirty="0">
                <a:solidFill>
                  <a:srgbClr val="000000"/>
                </a:solidFill>
              </a:rPr>
              <a:t> signaal)</a:t>
            </a:r>
          </a:p>
          <a:p>
            <a:endParaRPr lang="nl-NL" sz="2000" dirty="0">
              <a:solidFill>
                <a:srgbClr val="000000"/>
              </a:solidFill>
            </a:endParaRPr>
          </a:p>
          <a:p>
            <a:r>
              <a:rPr lang="nl-NL" sz="2000" dirty="0">
                <a:solidFill>
                  <a:srgbClr val="FF0000"/>
                </a:solidFill>
              </a:rPr>
              <a:t>3° PHP Code voert uit</a:t>
            </a:r>
            <a:r>
              <a:rPr lang="nl-NL" sz="2000" dirty="0"/>
              <a:t> -&gt; Er gebeurt hier nog niets (</a:t>
            </a:r>
            <a:r>
              <a:rPr lang="nl-NL" sz="2000" dirty="0" err="1"/>
              <a:t>if</a:t>
            </a:r>
            <a:r>
              <a:rPr lang="nl-NL" sz="2000" dirty="0"/>
              <a:t> statement NIET voldaan)</a:t>
            </a:r>
          </a:p>
          <a:p>
            <a:endParaRPr lang="nl-NL" sz="2000" dirty="0"/>
          </a:p>
          <a:p>
            <a:r>
              <a:rPr lang="nl-NL" sz="2000" dirty="0">
                <a:solidFill>
                  <a:srgbClr val="00B050"/>
                </a:solidFill>
              </a:rPr>
              <a:t>4° Output Buffer terug naar browser</a:t>
            </a:r>
            <a:endParaRPr lang="nl-NL" dirty="0"/>
          </a:p>
          <a:p>
            <a:endParaRPr lang="nl-NL" sz="2000" dirty="0">
              <a:solidFill>
                <a:srgbClr val="00B050"/>
              </a:solidFill>
            </a:endParaRPr>
          </a:p>
          <a:p>
            <a:r>
              <a:rPr lang="nl-NL" sz="2000" dirty="0"/>
              <a:t>Resultaat? Je ziet: exact hetzelfde</a:t>
            </a:r>
          </a:p>
        </p:txBody>
      </p:sp>
      <p:pic>
        <p:nvPicPr>
          <p:cNvPr id="7" name="Afbeelding 6" descr="Afbeelding met tekst, schermopname, scherm, Lettertype&#10;&#10;Door AI gegenereerde inhoud is mogelijk onjuist.">
            <a:extLst>
              <a:ext uri="{FF2B5EF4-FFF2-40B4-BE49-F238E27FC236}">
                <a16:creationId xmlns:a16="http://schemas.microsoft.com/office/drawing/2014/main" id="{FAB228E3-BE20-7B04-26EE-8FC7835DDF45}"/>
              </a:ext>
            </a:extLst>
          </p:cNvPr>
          <p:cNvPicPr>
            <a:picLocks noChangeAspect="1"/>
          </p:cNvPicPr>
          <p:nvPr/>
        </p:nvPicPr>
        <p:blipFill>
          <a:blip r:embed="rId4"/>
          <a:stretch>
            <a:fillRect/>
          </a:stretch>
        </p:blipFill>
        <p:spPr>
          <a:xfrm>
            <a:off x="6811786" y="1098550"/>
            <a:ext cx="4709584" cy="5818011"/>
          </a:xfrm>
          <a:prstGeom prst="rect">
            <a:avLst/>
          </a:prstGeom>
        </p:spPr>
      </p:pic>
    </p:spTree>
    <p:extLst>
      <p:ext uri="{BB962C8B-B14F-4D97-AF65-F5344CB8AC3E}">
        <p14:creationId xmlns:p14="http://schemas.microsoft.com/office/powerpoint/2010/main" val="18485543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728AB5-C395-E568-770B-5BA6CDA4C320}"/>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1BCCAAC2-11C2-1248-B8EA-560513368F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9FE34B4-4815-C52F-311D-46F29CE90BD7}"/>
              </a:ext>
            </a:extLst>
          </p:cNvPr>
          <p:cNvSpPr>
            <a:spLocks noGrp="1"/>
          </p:cNvSpPr>
          <p:nvPr>
            <p:ph type="title"/>
          </p:nvPr>
        </p:nvSpPr>
        <p:spPr>
          <a:xfrm>
            <a:off x="6691331" y="80728"/>
            <a:ext cx="5044428" cy="1095875"/>
          </a:xfrm>
        </p:spPr>
        <p:txBody>
          <a:bodyPr vert="horz" lIns="91440" tIns="45720" rIns="91440" bIns="45720" rtlCol="0" anchor="b">
            <a:normAutofit/>
          </a:bodyPr>
          <a:lstStyle/>
          <a:p>
            <a:r>
              <a:rPr lang="en-US" sz="3200" dirty="0" err="1"/>
              <a:t>Visualisatie</a:t>
            </a:r>
            <a:r>
              <a:rPr lang="en-US" sz="3200" dirty="0"/>
              <a:t> in </a:t>
            </a:r>
            <a:r>
              <a:rPr lang="en-US" sz="3200" dirty="0" err="1"/>
              <a:t>stappen</a:t>
            </a:r>
            <a:endParaRPr lang="nl-NL" dirty="0" err="1"/>
          </a:p>
        </p:txBody>
      </p:sp>
      <p:sp>
        <p:nvSpPr>
          <p:cNvPr id="5" name="Tekstvak 4">
            <a:extLst>
              <a:ext uri="{FF2B5EF4-FFF2-40B4-BE49-F238E27FC236}">
                <a16:creationId xmlns:a16="http://schemas.microsoft.com/office/drawing/2014/main" id="{07565837-336F-953A-DEA0-D4E79F0A9D49}"/>
              </a:ext>
            </a:extLst>
          </p:cNvPr>
          <p:cNvSpPr txBox="1"/>
          <p:nvPr/>
        </p:nvSpPr>
        <p:spPr>
          <a:xfrm>
            <a:off x="-146" y="83197"/>
            <a:ext cx="6593299" cy="68634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2000" b="1" dirty="0"/>
              <a:t>SITUATIE 3:</a:t>
            </a:r>
            <a:r>
              <a:rPr lang="en-US" sz="2000" dirty="0"/>
              <a:t> De </a:t>
            </a:r>
            <a:r>
              <a:rPr lang="en-US" sz="2000" dirty="0" err="1"/>
              <a:t>gebruiker</a:t>
            </a:r>
            <a:r>
              <a:rPr lang="en-US" sz="2000" dirty="0"/>
              <a:t> </a:t>
            </a:r>
            <a:r>
              <a:rPr lang="en-US" sz="2000" dirty="0" err="1"/>
              <a:t>vult</a:t>
            </a:r>
            <a:r>
              <a:rPr lang="en-US" sz="2000" dirty="0"/>
              <a:t> "John Doe" in </a:t>
            </a:r>
            <a:r>
              <a:rPr lang="en-US" sz="2000" dirty="0" err="1"/>
              <a:t>en</a:t>
            </a:r>
            <a:r>
              <a:rPr lang="en-US" sz="2000" dirty="0"/>
              <a:t> </a:t>
            </a:r>
            <a:r>
              <a:rPr lang="en-US" sz="2000" dirty="0" err="1"/>
              <a:t>klikt</a:t>
            </a:r>
            <a:r>
              <a:rPr lang="en-US" sz="2000" dirty="0"/>
              <a:t> op "LOGIN".</a:t>
            </a: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r>
              <a:rPr lang="nl-NL" sz="2000" dirty="0">
                <a:solidFill>
                  <a:srgbClr val="000000"/>
                </a:solidFill>
              </a:rPr>
              <a:t>1° Browser maakt POST </a:t>
            </a:r>
            <a:r>
              <a:rPr lang="nl-NL" sz="2000" dirty="0" err="1">
                <a:solidFill>
                  <a:srgbClr val="000000"/>
                </a:solidFill>
              </a:rPr>
              <a:t>request</a:t>
            </a:r>
            <a:r>
              <a:rPr lang="nl-NL" sz="2000" dirty="0">
                <a:solidFill>
                  <a:srgbClr val="000000"/>
                </a:solidFill>
              </a:rPr>
              <a:t> naar huidige pagina (</a:t>
            </a:r>
            <a:r>
              <a:rPr lang="nl-NL" sz="2000" dirty="0" err="1">
                <a:solidFill>
                  <a:srgbClr val="000000"/>
                </a:solidFill>
              </a:rPr>
              <a:t>index.php</a:t>
            </a:r>
            <a:r>
              <a:rPr lang="nl-NL" sz="2000" dirty="0">
                <a:solidFill>
                  <a:srgbClr val="000000"/>
                </a:solidFill>
              </a:rPr>
              <a:t>). Je ziet de pagina </a:t>
            </a:r>
            <a:r>
              <a:rPr lang="nl-NL" sz="2000" dirty="0" err="1">
                <a:solidFill>
                  <a:srgbClr val="000000"/>
                </a:solidFill>
              </a:rPr>
              <a:t>refreshen</a:t>
            </a:r>
            <a:r>
              <a:rPr lang="nl-NL" sz="2000" dirty="0">
                <a:solidFill>
                  <a:srgbClr val="000000"/>
                </a:solidFill>
              </a:rPr>
              <a:t>.</a:t>
            </a:r>
          </a:p>
          <a:p>
            <a:endParaRPr lang="nl-NL" sz="2000" b="1" dirty="0">
              <a:solidFill>
                <a:srgbClr val="000000"/>
              </a:solidFill>
            </a:endParaRPr>
          </a:p>
          <a:p>
            <a:r>
              <a:rPr lang="nl-NL" sz="2000" dirty="0">
                <a:solidFill>
                  <a:srgbClr val="000000"/>
                </a:solidFill>
              </a:rPr>
              <a:t>2° Webserver wordt actief (</a:t>
            </a:r>
            <a:r>
              <a:rPr lang="nl-NL" sz="2000" dirty="0" err="1">
                <a:solidFill>
                  <a:srgbClr val="000000"/>
                </a:solidFill>
              </a:rPr>
              <a:t>incoming</a:t>
            </a:r>
            <a:r>
              <a:rPr lang="nl-NL" sz="2000" dirty="0">
                <a:solidFill>
                  <a:srgbClr val="000000"/>
                </a:solidFill>
              </a:rPr>
              <a:t> </a:t>
            </a:r>
            <a:r>
              <a:rPr lang="nl-NL" sz="2000" dirty="0" err="1">
                <a:solidFill>
                  <a:srgbClr val="000000"/>
                </a:solidFill>
              </a:rPr>
              <a:t>request</a:t>
            </a:r>
            <a:r>
              <a:rPr lang="nl-NL" sz="2000" dirty="0">
                <a:solidFill>
                  <a:srgbClr val="000000"/>
                </a:solidFill>
              </a:rPr>
              <a:t> signaal)</a:t>
            </a:r>
          </a:p>
          <a:p>
            <a:endParaRPr lang="nl-NL" sz="2000" dirty="0">
              <a:solidFill>
                <a:srgbClr val="000000"/>
              </a:solidFill>
            </a:endParaRPr>
          </a:p>
          <a:p>
            <a:r>
              <a:rPr lang="nl-NL" sz="2000" dirty="0">
                <a:solidFill>
                  <a:srgbClr val="FF0000"/>
                </a:solidFill>
              </a:rPr>
              <a:t>3° PHP Code voert uit</a:t>
            </a:r>
            <a:r>
              <a:rPr lang="nl-NL" sz="2000" dirty="0"/>
              <a:t> -&gt; $_POST['</a:t>
            </a:r>
            <a:r>
              <a:rPr lang="nl-NL" sz="2000" err="1"/>
              <a:t>fname</a:t>
            </a:r>
            <a:r>
              <a:rPr lang="nl-NL" sz="2000" dirty="0"/>
              <a:t>'] en </a:t>
            </a:r>
            <a:r>
              <a:rPr lang="nl-NL" sz="2000" err="1"/>
              <a:t>lname</a:t>
            </a:r>
            <a:r>
              <a:rPr lang="nl-NL" sz="2000" dirty="0"/>
              <a:t> zijn "set" (bevat waarde </a:t>
            </a:r>
            <a:r>
              <a:rPr lang="nl-NL" sz="2000" err="1"/>
              <a:t>ipv</a:t>
            </a:r>
            <a:r>
              <a:rPr lang="nl-NL" sz="2000" dirty="0"/>
              <a:t> leeg in sit.1 en sit.2)</a:t>
            </a:r>
          </a:p>
          <a:p>
            <a:endParaRPr lang="nl-NL" sz="2000" dirty="0">
              <a:solidFill>
                <a:srgbClr val="000000"/>
              </a:solidFill>
            </a:endParaRPr>
          </a:p>
          <a:p>
            <a:r>
              <a:rPr lang="nl-NL" sz="2000" dirty="0">
                <a:solidFill>
                  <a:srgbClr val="000000"/>
                </a:solidFill>
              </a:rPr>
              <a:t> =&gt; </a:t>
            </a:r>
            <a:r>
              <a:rPr lang="nl-NL" sz="2000" i="1" dirty="0">
                <a:solidFill>
                  <a:srgbClr val="000000"/>
                </a:solidFill>
              </a:rPr>
              <a:t>"Je hebt ingevoerd: John Doe"</a:t>
            </a:r>
            <a:r>
              <a:rPr lang="nl-NL" sz="2000" dirty="0">
                <a:solidFill>
                  <a:srgbClr val="000000"/>
                </a:solidFill>
              </a:rPr>
              <a:t> wordt </a:t>
            </a:r>
            <a:r>
              <a:rPr lang="nl-NL" sz="2000" dirty="0">
                <a:solidFill>
                  <a:srgbClr val="00B0F0"/>
                </a:solidFill>
              </a:rPr>
              <a:t>TOEGEVOEGD </a:t>
            </a:r>
            <a:r>
              <a:rPr lang="nl-NL" sz="2000" dirty="0">
                <a:solidFill>
                  <a:srgbClr val="000000"/>
                </a:solidFill>
              </a:rPr>
              <a:t>aan </a:t>
            </a:r>
            <a:r>
              <a:rPr lang="nl-NL" sz="2000" dirty="0">
                <a:solidFill>
                  <a:srgbClr val="00B050"/>
                </a:solidFill>
              </a:rPr>
              <a:t>Output Buffer.</a:t>
            </a:r>
            <a:endParaRPr lang="nl-NL">
              <a:solidFill>
                <a:srgbClr val="00B050"/>
              </a:solidFill>
            </a:endParaRPr>
          </a:p>
          <a:p>
            <a:endParaRPr lang="nl-NL" sz="2000" dirty="0">
              <a:solidFill>
                <a:srgbClr val="000000"/>
              </a:solidFill>
            </a:endParaRPr>
          </a:p>
          <a:p>
            <a:r>
              <a:rPr lang="nl-NL" sz="2000" dirty="0">
                <a:solidFill>
                  <a:srgbClr val="00B050"/>
                </a:solidFill>
              </a:rPr>
              <a:t>4° Output Buffer terug naar browser</a:t>
            </a:r>
          </a:p>
          <a:p>
            <a:endParaRPr lang="nl-NL" sz="2000" dirty="0">
              <a:solidFill>
                <a:srgbClr val="00B050"/>
              </a:solidFill>
            </a:endParaRPr>
          </a:p>
          <a:p>
            <a:r>
              <a:rPr lang="nl-NL" sz="2000" dirty="0"/>
              <a:t>Resultaat? Je ziet: "Je hebt ingevoerd...." Én het formulier</a:t>
            </a:r>
          </a:p>
        </p:txBody>
      </p:sp>
      <p:pic>
        <p:nvPicPr>
          <p:cNvPr id="7" name="Afbeelding 6" descr="Afbeelding met tekst, schermopname, scherm, Lettertype&#10;&#10;Door AI gegenereerde inhoud is mogelijk onjuist.">
            <a:extLst>
              <a:ext uri="{FF2B5EF4-FFF2-40B4-BE49-F238E27FC236}">
                <a16:creationId xmlns:a16="http://schemas.microsoft.com/office/drawing/2014/main" id="{5A502C83-585F-613D-4E90-F575093339B4}"/>
              </a:ext>
            </a:extLst>
          </p:cNvPr>
          <p:cNvPicPr>
            <a:picLocks noChangeAspect="1"/>
          </p:cNvPicPr>
          <p:nvPr/>
        </p:nvPicPr>
        <p:blipFill>
          <a:blip r:embed="rId3"/>
          <a:stretch>
            <a:fillRect/>
          </a:stretch>
        </p:blipFill>
        <p:spPr>
          <a:xfrm>
            <a:off x="6811786" y="1098550"/>
            <a:ext cx="4709584" cy="5818011"/>
          </a:xfrm>
          <a:prstGeom prst="rect">
            <a:avLst/>
          </a:prstGeom>
        </p:spPr>
      </p:pic>
      <p:pic>
        <p:nvPicPr>
          <p:cNvPr id="3" name="Afbeelding 2" descr="Afbeelding met tekst, schermopname, Lettertype, lijn&#10;&#10;Door AI gegenereerde inhoud is mogelijk onjuist.">
            <a:extLst>
              <a:ext uri="{FF2B5EF4-FFF2-40B4-BE49-F238E27FC236}">
                <a16:creationId xmlns:a16="http://schemas.microsoft.com/office/drawing/2014/main" id="{DB7BC74C-C24B-D423-B690-836BDAEDBBB0}"/>
              </a:ext>
            </a:extLst>
          </p:cNvPr>
          <p:cNvPicPr>
            <a:picLocks noChangeAspect="1"/>
          </p:cNvPicPr>
          <p:nvPr/>
        </p:nvPicPr>
        <p:blipFill>
          <a:blip r:embed="rId4"/>
          <a:stretch>
            <a:fillRect/>
          </a:stretch>
        </p:blipFill>
        <p:spPr>
          <a:xfrm>
            <a:off x="1556808" y="490890"/>
            <a:ext cx="1847851" cy="1614665"/>
          </a:xfrm>
          <a:prstGeom prst="rect">
            <a:avLst/>
          </a:prstGeom>
        </p:spPr>
      </p:pic>
    </p:spTree>
    <p:extLst>
      <p:ext uri="{BB962C8B-B14F-4D97-AF65-F5344CB8AC3E}">
        <p14:creationId xmlns:p14="http://schemas.microsoft.com/office/powerpoint/2010/main" val="2457924117"/>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3CC2B8-B278-2B94-39C9-63959CF11429}"/>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440A369-8C52-07E9-A540-F91FD2269D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B482BFF-4EAD-0138-7EBC-8E2710C317E2}"/>
              </a:ext>
            </a:extLst>
          </p:cNvPr>
          <p:cNvSpPr>
            <a:spLocks noGrp="1"/>
          </p:cNvSpPr>
          <p:nvPr>
            <p:ph type="title"/>
          </p:nvPr>
        </p:nvSpPr>
        <p:spPr>
          <a:xfrm>
            <a:off x="6691331" y="80728"/>
            <a:ext cx="5044428" cy="1095875"/>
          </a:xfrm>
        </p:spPr>
        <p:txBody>
          <a:bodyPr vert="horz" lIns="91440" tIns="45720" rIns="91440" bIns="45720" rtlCol="0" anchor="b">
            <a:normAutofit/>
          </a:bodyPr>
          <a:lstStyle/>
          <a:p>
            <a:r>
              <a:rPr lang="en-US" sz="3200" dirty="0" err="1"/>
              <a:t>Visualisatie</a:t>
            </a:r>
            <a:r>
              <a:rPr lang="en-US" sz="3200" dirty="0"/>
              <a:t> in </a:t>
            </a:r>
            <a:r>
              <a:rPr lang="en-US" sz="3200" dirty="0" err="1"/>
              <a:t>stappen</a:t>
            </a:r>
            <a:endParaRPr lang="nl-NL" dirty="0" err="1"/>
          </a:p>
        </p:txBody>
      </p:sp>
      <p:sp>
        <p:nvSpPr>
          <p:cNvPr id="5" name="Tekstvak 4">
            <a:extLst>
              <a:ext uri="{FF2B5EF4-FFF2-40B4-BE49-F238E27FC236}">
                <a16:creationId xmlns:a16="http://schemas.microsoft.com/office/drawing/2014/main" id="{F280EC35-76D2-41E3-CF5E-B9282A772BFC}"/>
              </a:ext>
            </a:extLst>
          </p:cNvPr>
          <p:cNvSpPr txBox="1"/>
          <p:nvPr/>
        </p:nvSpPr>
        <p:spPr>
          <a:xfrm>
            <a:off x="33720" y="252530"/>
            <a:ext cx="6576366"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2000" b="1" dirty="0"/>
              <a:t>SITUATIE 3:</a:t>
            </a:r>
            <a:r>
              <a:rPr lang="en-US" sz="2000" dirty="0"/>
              <a:t> De </a:t>
            </a:r>
            <a:r>
              <a:rPr lang="en-US" sz="2000" dirty="0" err="1"/>
              <a:t>gebruiker</a:t>
            </a:r>
            <a:r>
              <a:rPr lang="en-US" sz="2000" dirty="0"/>
              <a:t> </a:t>
            </a:r>
            <a:r>
              <a:rPr lang="en-US" sz="2000" dirty="0" err="1"/>
              <a:t>vult</a:t>
            </a:r>
            <a:r>
              <a:rPr lang="en-US" sz="2000" dirty="0"/>
              <a:t> "John Doe" in </a:t>
            </a:r>
            <a:r>
              <a:rPr lang="en-US" sz="2000" dirty="0" err="1"/>
              <a:t>en</a:t>
            </a:r>
            <a:r>
              <a:rPr lang="en-US" sz="2000" dirty="0"/>
              <a:t> </a:t>
            </a:r>
            <a:r>
              <a:rPr lang="en-US" sz="2000" dirty="0" err="1"/>
              <a:t>klikt</a:t>
            </a:r>
            <a:r>
              <a:rPr lang="en-US" sz="2000" dirty="0"/>
              <a:t> op "LOGIN".</a:t>
            </a: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r>
              <a:rPr lang="en-US" sz="2000" dirty="0">
                <a:solidFill>
                  <a:srgbClr val="00B0F0"/>
                </a:solidFill>
              </a:rPr>
              <a:t>Output Buffer:</a:t>
            </a: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endParaRPr lang="nl-NL" sz="2000" dirty="0"/>
          </a:p>
        </p:txBody>
      </p:sp>
      <p:pic>
        <p:nvPicPr>
          <p:cNvPr id="7" name="Afbeelding 6" descr="Afbeelding met tekst, schermopname, scherm, Lettertype&#10;&#10;Door AI gegenereerde inhoud is mogelijk onjuist.">
            <a:extLst>
              <a:ext uri="{FF2B5EF4-FFF2-40B4-BE49-F238E27FC236}">
                <a16:creationId xmlns:a16="http://schemas.microsoft.com/office/drawing/2014/main" id="{0A04CC85-9038-5362-58A1-2DEFAE493FBA}"/>
              </a:ext>
            </a:extLst>
          </p:cNvPr>
          <p:cNvPicPr>
            <a:picLocks noChangeAspect="1"/>
          </p:cNvPicPr>
          <p:nvPr/>
        </p:nvPicPr>
        <p:blipFill>
          <a:blip r:embed="rId3"/>
          <a:stretch>
            <a:fillRect/>
          </a:stretch>
        </p:blipFill>
        <p:spPr>
          <a:xfrm>
            <a:off x="6811786" y="1098550"/>
            <a:ext cx="4709584" cy="5818011"/>
          </a:xfrm>
          <a:prstGeom prst="rect">
            <a:avLst/>
          </a:prstGeom>
        </p:spPr>
      </p:pic>
      <p:pic>
        <p:nvPicPr>
          <p:cNvPr id="4" name="Afbeelding 3" descr="Afbeelding met tekst, schermopname, Lettertype, nummer&#10;&#10;Door AI gegenereerde inhoud is mogelijk onjuist.">
            <a:extLst>
              <a:ext uri="{FF2B5EF4-FFF2-40B4-BE49-F238E27FC236}">
                <a16:creationId xmlns:a16="http://schemas.microsoft.com/office/drawing/2014/main" id="{4D9C5259-9C22-D9F9-1E55-134F17A303D1}"/>
              </a:ext>
            </a:extLst>
          </p:cNvPr>
          <p:cNvPicPr>
            <a:picLocks noChangeAspect="1"/>
          </p:cNvPicPr>
          <p:nvPr/>
        </p:nvPicPr>
        <p:blipFill>
          <a:blip r:embed="rId4"/>
          <a:stretch>
            <a:fillRect/>
          </a:stretch>
        </p:blipFill>
        <p:spPr>
          <a:xfrm>
            <a:off x="239888" y="1525587"/>
            <a:ext cx="3324578" cy="3513314"/>
          </a:xfrm>
          <a:prstGeom prst="rect">
            <a:avLst/>
          </a:prstGeom>
        </p:spPr>
      </p:pic>
      <p:sp>
        <p:nvSpPr>
          <p:cNvPr id="6" name="Tekstvak 5">
            <a:extLst>
              <a:ext uri="{FF2B5EF4-FFF2-40B4-BE49-F238E27FC236}">
                <a16:creationId xmlns:a16="http://schemas.microsoft.com/office/drawing/2014/main" id="{37854EC8-8453-17CF-1B67-AE2A4D92CD4E}"/>
              </a:ext>
            </a:extLst>
          </p:cNvPr>
          <p:cNvSpPr txBox="1"/>
          <p:nvPr/>
        </p:nvSpPr>
        <p:spPr>
          <a:xfrm>
            <a:off x="158008" y="5688282"/>
            <a:ext cx="6106392"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Merk op: de formuliervelden worden leeggemaakt omdat de browser "</a:t>
            </a:r>
            <a:r>
              <a:rPr lang="nl-NL" dirty="0" err="1"/>
              <a:t>refresht</a:t>
            </a:r>
            <a:r>
              <a:rPr lang="nl-NL" dirty="0"/>
              <a:t>": vergelijk dit met OPNIEUW openen van webpagina.</a:t>
            </a:r>
          </a:p>
        </p:txBody>
      </p:sp>
    </p:spTree>
    <p:extLst>
      <p:ext uri="{BB962C8B-B14F-4D97-AF65-F5344CB8AC3E}">
        <p14:creationId xmlns:p14="http://schemas.microsoft.com/office/powerpoint/2010/main" val="81932020"/>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BFFA75-ACEC-CEA5-E2AE-5E96B97CB93E}"/>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F50CB929-38CE-2348-4D5C-E36069B5A5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CB51E91-D5EB-F97F-0036-763480D11BDF}"/>
              </a:ext>
            </a:extLst>
          </p:cNvPr>
          <p:cNvSpPr>
            <a:spLocks noGrp="1"/>
          </p:cNvSpPr>
          <p:nvPr>
            <p:ph type="title"/>
          </p:nvPr>
        </p:nvSpPr>
        <p:spPr>
          <a:xfrm>
            <a:off x="6691331" y="80728"/>
            <a:ext cx="5044428" cy="1095875"/>
          </a:xfrm>
        </p:spPr>
        <p:txBody>
          <a:bodyPr vert="horz" lIns="91440" tIns="45720" rIns="91440" bIns="45720" rtlCol="0" anchor="b">
            <a:normAutofit/>
          </a:bodyPr>
          <a:lstStyle/>
          <a:p>
            <a:r>
              <a:rPr lang="en-US" sz="3200" dirty="0" err="1"/>
              <a:t>Visualisatie</a:t>
            </a:r>
            <a:r>
              <a:rPr lang="en-US" sz="3200" dirty="0"/>
              <a:t> in </a:t>
            </a:r>
            <a:r>
              <a:rPr lang="en-US" sz="3200" dirty="0" err="1"/>
              <a:t>stappen</a:t>
            </a:r>
            <a:endParaRPr lang="nl-NL" dirty="0" err="1"/>
          </a:p>
        </p:txBody>
      </p:sp>
      <p:sp>
        <p:nvSpPr>
          <p:cNvPr id="5" name="Tekstvak 4">
            <a:extLst>
              <a:ext uri="{FF2B5EF4-FFF2-40B4-BE49-F238E27FC236}">
                <a16:creationId xmlns:a16="http://schemas.microsoft.com/office/drawing/2014/main" id="{D295F7C1-7672-334C-E8B8-FE068854DCC3}"/>
              </a:ext>
            </a:extLst>
          </p:cNvPr>
          <p:cNvSpPr txBox="1"/>
          <p:nvPr/>
        </p:nvSpPr>
        <p:spPr>
          <a:xfrm>
            <a:off x="33720" y="252530"/>
            <a:ext cx="6576366" cy="255454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2000" b="1" dirty="0"/>
              <a:t>SITUATIE 3:</a:t>
            </a:r>
            <a:r>
              <a:rPr lang="en-US" sz="2000" dirty="0"/>
              <a:t> De </a:t>
            </a:r>
            <a:r>
              <a:rPr lang="en-US" sz="2000" dirty="0" err="1"/>
              <a:t>gebruiker</a:t>
            </a:r>
            <a:r>
              <a:rPr lang="en-US" sz="2000" dirty="0"/>
              <a:t> </a:t>
            </a:r>
            <a:r>
              <a:rPr lang="en-US" sz="2000" dirty="0" err="1"/>
              <a:t>vult</a:t>
            </a:r>
            <a:r>
              <a:rPr lang="en-US" sz="2000" dirty="0"/>
              <a:t> "John Doe" in </a:t>
            </a:r>
            <a:r>
              <a:rPr lang="en-US" sz="2000" dirty="0" err="1"/>
              <a:t>en</a:t>
            </a:r>
            <a:r>
              <a:rPr lang="en-US" sz="2000" dirty="0"/>
              <a:t> </a:t>
            </a:r>
            <a:r>
              <a:rPr lang="en-US" sz="2000" dirty="0" err="1"/>
              <a:t>klikt</a:t>
            </a:r>
            <a:r>
              <a:rPr lang="en-US" sz="2000" dirty="0"/>
              <a:t> op "LOGIN".</a:t>
            </a: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r>
              <a:rPr lang="en-US" sz="2000" dirty="0">
                <a:solidFill>
                  <a:srgbClr val="00B0F0"/>
                </a:solidFill>
              </a:rPr>
              <a:t>Output Buffer:</a:t>
            </a: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pPr marL="342900" indent="-342900">
              <a:buFont typeface="Calibri"/>
              <a:buChar char="-"/>
            </a:pPr>
            <a:endParaRPr lang="en-US" sz="2000" dirty="0">
              <a:solidFill>
                <a:srgbClr val="000000"/>
              </a:solidFill>
            </a:endParaRPr>
          </a:p>
          <a:p>
            <a:endParaRPr lang="nl-NL" sz="2000" dirty="0"/>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88DB966B-86B3-9CDF-2DBD-F1EBF682A41F}"/>
              </a:ext>
            </a:extLst>
          </p:cNvPr>
          <p:cNvPicPr>
            <a:picLocks noChangeAspect="1"/>
          </p:cNvPicPr>
          <p:nvPr/>
        </p:nvPicPr>
        <p:blipFill>
          <a:blip r:embed="rId3"/>
          <a:stretch>
            <a:fillRect/>
          </a:stretch>
        </p:blipFill>
        <p:spPr>
          <a:xfrm>
            <a:off x="239888" y="1525587"/>
            <a:ext cx="3324578" cy="3513314"/>
          </a:xfrm>
          <a:prstGeom prst="rect">
            <a:avLst/>
          </a:prstGeom>
        </p:spPr>
      </p:pic>
      <p:sp>
        <p:nvSpPr>
          <p:cNvPr id="6" name="Tekstvak 5">
            <a:extLst>
              <a:ext uri="{FF2B5EF4-FFF2-40B4-BE49-F238E27FC236}">
                <a16:creationId xmlns:a16="http://schemas.microsoft.com/office/drawing/2014/main" id="{2C7C25F7-61F9-273F-09E0-D178B50A05D5}"/>
              </a:ext>
            </a:extLst>
          </p:cNvPr>
          <p:cNvSpPr txBox="1"/>
          <p:nvPr/>
        </p:nvSpPr>
        <p:spPr>
          <a:xfrm>
            <a:off x="158008" y="5688282"/>
            <a:ext cx="6106392"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dirty="0"/>
              <a:t>Merk op: de formuliervelden worden leeggemaakt omdat de browser "</a:t>
            </a:r>
            <a:r>
              <a:rPr lang="nl-NL" dirty="0" err="1"/>
              <a:t>refresht</a:t>
            </a:r>
            <a:r>
              <a:rPr lang="nl-NL" dirty="0"/>
              <a:t>": vergelijk dit met OPNIEUW openen van webpagina.</a:t>
            </a:r>
          </a:p>
        </p:txBody>
      </p:sp>
      <p:pic>
        <p:nvPicPr>
          <p:cNvPr id="3" name="Afbeelding 2">
            <a:extLst>
              <a:ext uri="{FF2B5EF4-FFF2-40B4-BE49-F238E27FC236}">
                <a16:creationId xmlns:a16="http://schemas.microsoft.com/office/drawing/2014/main" id="{DB2F1583-A20C-7997-441D-619C172A6A8F}"/>
              </a:ext>
            </a:extLst>
          </p:cNvPr>
          <p:cNvPicPr>
            <a:picLocks noChangeAspect="1"/>
          </p:cNvPicPr>
          <p:nvPr/>
        </p:nvPicPr>
        <p:blipFill>
          <a:blip r:embed="rId4"/>
          <a:stretch>
            <a:fillRect/>
          </a:stretch>
        </p:blipFill>
        <p:spPr>
          <a:xfrm>
            <a:off x="4572000" y="1265320"/>
            <a:ext cx="7162801" cy="4033850"/>
          </a:xfrm>
          <a:prstGeom prst="rect">
            <a:avLst/>
          </a:prstGeom>
        </p:spPr>
      </p:pic>
    </p:spTree>
    <p:extLst>
      <p:ext uri="{BB962C8B-B14F-4D97-AF65-F5344CB8AC3E}">
        <p14:creationId xmlns:p14="http://schemas.microsoft.com/office/powerpoint/2010/main" val="2871637672"/>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96F88-1EB0-4A73-DBE6-58CF9C0CBB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02554A7-1DDD-3438-B722-5487F469F144}"/>
              </a:ext>
            </a:extLst>
          </p:cNvPr>
          <p:cNvSpPr>
            <a:spLocks noGrp="1"/>
          </p:cNvSpPr>
          <p:nvPr>
            <p:ph type="title"/>
          </p:nvPr>
        </p:nvSpPr>
        <p:spPr/>
        <p:txBody>
          <a:bodyPr/>
          <a:lstStyle/>
          <a:p>
            <a:r>
              <a:rPr lang="nl-NL" dirty="0"/>
              <a:t>String </a:t>
            </a:r>
            <a:r>
              <a:rPr lang="nl-NL" dirty="0" err="1"/>
              <a:t>Methods</a:t>
            </a:r>
          </a:p>
        </p:txBody>
      </p:sp>
      <p:sp>
        <p:nvSpPr>
          <p:cNvPr id="3" name="Tijdelijke aanduiding voor inhoud 2">
            <a:extLst>
              <a:ext uri="{FF2B5EF4-FFF2-40B4-BE49-F238E27FC236}">
                <a16:creationId xmlns:a16="http://schemas.microsoft.com/office/drawing/2014/main" id="{614D18E0-6F68-F02C-D42B-D6954C416DC1}"/>
              </a:ext>
            </a:extLst>
          </p:cNvPr>
          <p:cNvSpPr>
            <a:spLocks noGrp="1"/>
          </p:cNvSpPr>
          <p:nvPr>
            <p:ph idx="1"/>
          </p:nvPr>
        </p:nvSpPr>
        <p:spPr/>
        <p:txBody>
          <a:bodyPr vert="horz" lIns="91440" tIns="45720" rIns="91440" bIns="45720" rtlCol="0" anchor="t">
            <a:normAutofit/>
          </a:bodyPr>
          <a:lstStyle/>
          <a:p>
            <a:pPr marL="0" indent="0">
              <a:buNone/>
            </a:pPr>
            <a:r>
              <a:rPr lang="nl-NL" b="1" dirty="0"/>
              <a:t>° </a:t>
            </a:r>
            <a:r>
              <a:rPr lang="nl-NL" b="1" dirty="0" err="1"/>
              <a:t>htmlspecialchars</a:t>
            </a:r>
            <a:r>
              <a:rPr lang="nl-NL" b="1" dirty="0"/>
              <a:t>($string)</a:t>
            </a:r>
            <a:endParaRPr lang="nl-NL"/>
          </a:p>
          <a:p>
            <a:pPr marL="0" indent="0">
              <a:buNone/>
            </a:pPr>
            <a:r>
              <a:rPr lang="nl-NL" b="1" dirty="0"/>
              <a:t> </a:t>
            </a:r>
            <a:r>
              <a:rPr lang="nl-NL" dirty="0"/>
              <a:t>=&gt; HTML/JS code "isoleren" zodat ze niet uitvoerbaar zijn</a:t>
            </a:r>
          </a:p>
          <a:p>
            <a:pPr marL="342900" indent="-342900">
              <a:buFont typeface="Calibri" panose="020B0604020202020204" pitchFamily="34" charset="0"/>
              <a:buChar char="-"/>
            </a:pPr>
            <a:r>
              <a:rPr lang="nl-NL" dirty="0"/>
              <a:t>Biedt veiligheid tegen XSS aanvallen (cross-site </a:t>
            </a:r>
            <a:r>
              <a:rPr lang="nl-NL" dirty="0" err="1"/>
              <a:t>scripting</a:t>
            </a:r>
            <a:r>
              <a:rPr lang="nl-NL" dirty="0"/>
              <a:t>) waarbij JS gebruikt wordt om code uit te voeren op een ander webadres.</a:t>
            </a:r>
          </a:p>
          <a:p>
            <a:pPr marL="0" indent="0">
              <a:buNone/>
            </a:pPr>
            <a:r>
              <a:rPr lang="nl-NL" b="1" dirty="0"/>
              <a:t>° </a:t>
            </a:r>
            <a:r>
              <a:rPr lang="nl-NL" b="1" dirty="0" err="1"/>
              <a:t>strtolower</a:t>
            </a:r>
            <a:r>
              <a:rPr lang="nl-NL" b="1" dirty="0"/>
              <a:t>($string)</a:t>
            </a:r>
          </a:p>
          <a:p>
            <a:pPr marL="342900" indent="-342900">
              <a:buFont typeface="Calibri" panose="020B0604020202020204" pitchFamily="34" charset="0"/>
              <a:buChar char="-"/>
            </a:pPr>
            <a:r>
              <a:rPr lang="nl-NL" dirty="0"/>
              <a:t>Maakt elk karakter </a:t>
            </a:r>
            <a:r>
              <a:rPr lang="nl-NL" err="1"/>
              <a:t>lowercase</a:t>
            </a:r>
            <a:r>
              <a:rPr lang="nl-NL" dirty="0"/>
              <a:t>.</a:t>
            </a:r>
          </a:p>
          <a:p>
            <a:pPr marL="0" indent="0">
              <a:buNone/>
            </a:pPr>
            <a:r>
              <a:rPr lang="nl-NL" b="1" dirty="0"/>
              <a:t>° </a:t>
            </a:r>
            <a:r>
              <a:rPr lang="nl-NL" b="1" dirty="0" err="1"/>
              <a:t>strtoupper</a:t>
            </a:r>
            <a:r>
              <a:rPr lang="nl-NL" b="1" dirty="0"/>
              <a:t>($string)</a:t>
            </a:r>
            <a:endParaRPr lang="nl-NL" dirty="0"/>
          </a:p>
          <a:p>
            <a:pPr marL="342900" indent="-342900">
              <a:buFont typeface="Calibri,Sans-Serif" panose="020B0604020202020204" pitchFamily="34" charset="0"/>
              <a:buChar char="-"/>
            </a:pPr>
            <a:r>
              <a:rPr lang="nl-NL" dirty="0"/>
              <a:t>Maakt elk karakter </a:t>
            </a:r>
            <a:r>
              <a:rPr lang="nl-NL" dirty="0" err="1"/>
              <a:t>uppercase</a:t>
            </a:r>
            <a:r>
              <a:rPr lang="nl-NL" dirty="0"/>
              <a:t>.</a:t>
            </a:r>
          </a:p>
        </p:txBody>
      </p:sp>
    </p:spTree>
    <p:extLst>
      <p:ext uri="{BB962C8B-B14F-4D97-AF65-F5344CB8AC3E}">
        <p14:creationId xmlns:p14="http://schemas.microsoft.com/office/powerpoint/2010/main" val="1323465362"/>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dirty="0">
                <a:latin typeface="+mj-lt"/>
                <a:ea typeface="+mj-ea"/>
                <a:cs typeface="+mj-cs"/>
              </a:rPr>
              <a:t>Time to exercise!</a:t>
            </a:r>
            <a:endParaRPr lang="nl-NL" dirty="0">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dirty="0"/>
              <a:t>Open in </a:t>
            </a:r>
            <a:r>
              <a:rPr lang="nl-BE" dirty="0" err="1"/>
              <a:t>VSCode</a:t>
            </a:r>
            <a:r>
              <a:rPr lang="nl-BE" dirty="0"/>
              <a:t> de folder: "C:\</a:t>
            </a:r>
            <a:r>
              <a:rPr lang="nl-BE" dirty="0" err="1"/>
              <a:t>xampp</a:t>
            </a:r>
            <a:r>
              <a:rPr lang="nl-BE" dirty="0"/>
              <a:t>\</a:t>
            </a:r>
            <a:r>
              <a:rPr lang="nl-BE" dirty="0" err="1"/>
              <a:t>htdocs</a:t>
            </a:r>
            <a:r>
              <a:rPr lang="nl-BE" dirty="0"/>
              <a:t>"</a:t>
            </a:r>
          </a:p>
          <a:p>
            <a:pPr marL="342900" indent="-342900">
              <a:buAutoNum type="arabicParenR"/>
            </a:pPr>
            <a:r>
              <a:rPr lang="nl-BE" dirty="0"/>
              <a:t>Maak in </a:t>
            </a:r>
            <a:r>
              <a:rPr lang="nl-BE" dirty="0" err="1"/>
              <a:t>htdocs</a:t>
            </a:r>
            <a:r>
              <a:rPr lang="nl-BE" dirty="0"/>
              <a:t> voor elke oefening een apart mapje aan</a:t>
            </a:r>
          </a:p>
          <a:p>
            <a:pPr marL="342900" indent="-342900">
              <a:buAutoNum type="arabicParenR"/>
            </a:pPr>
            <a:r>
              <a:rPr lang="nl-BE" dirty="0"/>
              <a:t>Ga in je browser (Chrome, </a:t>
            </a:r>
            <a:r>
              <a:rPr lang="nl-BE" dirty="0" err="1"/>
              <a:t>Edge</a:t>
            </a:r>
            <a:r>
              <a:rPr lang="nl-BE" dirty="0"/>
              <a:t>, Brave, ...) naar "</a:t>
            </a:r>
            <a:r>
              <a:rPr lang="nl-BE" dirty="0" err="1"/>
              <a:t>localhost</a:t>
            </a:r>
            <a:r>
              <a:rPr lang="nl-BE" dirty="0"/>
              <a:t>"</a:t>
            </a:r>
          </a:p>
          <a:p>
            <a:pPr marL="342900" indent="-342900">
              <a:buAutoNum type="arabicParenR"/>
            </a:pPr>
            <a:r>
              <a:rPr lang="nl-BE" dirty="0"/>
              <a:t>Maak de file: "</a:t>
            </a:r>
            <a:r>
              <a:rPr lang="nl-BE" dirty="0" err="1"/>
              <a:t>index.php</a:t>
            </a:r>
            <a:r>
              <a:rPr lang="nl-BE" dirty="0"/>
              <a:t>" aan in het mapje van de oefening</a:t>
            </a:r>
          </a:p>
          <a:p>
            <a:pPr marL="342900" indent="-342900">
              <a:buAutoNum type="arabicParenR"/>
            </a:pPr>
            <a:endParaRPr lang="nl-BE" dirty="0"/>
          </a:p>
          <a:p>
            <a:r>
              <a:rPr lang="nl-BE" dirty="0"/>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dirty="0"/>
              <a:t>Sommige oefeningen hebben extra: ➕Toevoeging of ⭐Uitdaging </a:t>
            </a:r>
            <a:r>
              <a:rPr lang="nl-BE" i="1" dirty="0"/>
              <a:t>(aantal sterren toont moeilijkheidsgraad)</a:t>
            </a:r>
            <a:endParaRPr lang="nl-NL" i="1" dirty="0"/>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TotalTime>
  <Words>877</Words>
  <Application>Microsoft Office PowerPoint</Application>
  <PresentationFormat>Breedbeeld</PresentationFormat>
  <Paragraphs>111</Paragraphs>
  <Slides>12</Slides>
  <Notes>12</Notes>
  <HiddenSlides>0</HiddenSlides>
  <MMClips>0</MMClips>
  <ScaleCrop>false</ScaleCrop>
  <HeadingPairs>
    <vt:vector size="4" baseType="variant">
      <vt:variant>
        <vt:lpstr>Thema</vt:lpstr>
      </vt:variant>
      <vt:variant>
        <vt:i4>1</vt:i4>
      </vt:variant>
      <vt:variant>
        <vt:lpstr>Diatitels</vt:lpstr>
      </vt:variant>
      <vt:variant>
        <vt:i4>12</vt:i4>
      </vt:variant>
    </vt:vector>
  </HeadingPairs>
  <TitlesOfParts>
    <vt:vector size="13" baseType="lpstr">
      <vt:lpstr>VanillaVTI</vt:lpstr>
      <vt:lpstr>Webdesign: Dynamische Websites  H2 Gebruikersinvoer</vt:lpstr>
      <vt:lpstr>Wat is gebruikersinvoer?</vt:lpstr>
      <vt:lpstr>HTML Forms</vt:lpstr>
      <vt:lpstr>Visualisatie in stappen</vt:lpstr>
      <vt:lpstr>Visualisatie in stappen</vt:lpstr>
      <vt:lpstr>Visualisatie in stappen</vt:lpstr>
      <vt:lpstr>Visualisatie in stappen</vt:lpstr>
      <vt:lpstr>Visualisatie in stappen</vt:lpstr>
      <vt:lpstr>Visualisatie in stappen</vt:lpstr>
      <vt:lpstr>Visualisatie in stappen</vt:lpstr>
      <vt:lpstr>String Methods</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lastModifiedBy>Jarne Verlinden</cp:lastModifiedBy>
  <cp:revision>1278</cp:revision>
  <dcterms:created xsi:type="dcterms:W3CDTF">2025-10-16T12:22:40Z</dcterms:created>
  <dcterms:modified xsi:type="dcterms:W3CDTF">2025-11-05T20:39:19Z</dcterms:modified>
</cp:coreProperties>
</file>