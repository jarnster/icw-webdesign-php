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6"/>
  </p:notesMasterIdLst>
  <p:sldIdLst>
    <p:sldId id="256" r:id="rId2"/>
    <p:sldId id="295"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96" r:id="rId17"/>
    <p:sldId id="286" r:id="rId18"/>
    <p:sldId id="289" r:id="rId19"/>
    <p:sldId id="287" r:id="rId20"/>
    <p:sldId id="290" r:id="rId21"/>
    <p:sldId id="297" r:id="rId22"/>
    <p:sldId id="298" r:id="rId23"/>
    <p:sldId id="291" r:id="rId24"/>
    <p:sldId id="288" r:id="rId25"/>
    <p:sldId id="292" r:id="rId26"/>
    <p:sldId id="293" r:id="rId27"/>
    <p:sldId id="294" r:id="rId28"/>
    <p:sldId id="299" r:id="rId29"/>
    <p:sldId id="300" r:id="rId30"/>
    <p:sldId id="302" r:id="rId31"/>
    <p:sldId id="303" r:id="rId32"/>
    <p:sldId id="304" r:id="rId33"/>
    <p:sldId id="301" r:id="rId34"/>
    <p:sldId id="272" r:id="rId35"/>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E12901-35B4-0AEE-2BBE-81EAEF0EFE96}" v="1110" dt="2026-04-27T12:18:23.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27/04/2026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latin typeface="Calibri"/>
                <a:ea typeface="Calibri"/>
                <a:cs typeface="Calibri"/>
              </a:rPr>
              <a:t>(2025-2026) Jarne Verlinden – 6icw</a:t>
            </a:r>
          </a:p>
          <a:p>
            <a:r>
              <a:rPr lang="en-US">
                <a:hlinkClick r:id="rId3"/>
              </a:rPr>
              <a:t>https://github.com/jarnster</a:t>
            </a:r>
            <a:endParaRPr lang="en-US"/>
          </a:p>
          <a:p>
            <a:endParaRPr lang="en-US"/>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latin typeface="Calibri"/>
                <a:ea typeface="Calibri"/>
                <a:cs typeface="Calibri"/>
              </a:rPr>
              <a:t>Je </a:t>
            </a:r>
            <a:r>
              <a:rPr lang="en-US" dirty="0" err="1">
                <a:latin typeface="Calibri"/>
                <a:ea typeface="Calibri"/>
                <a:cs typeface="Calibri"/>
              </a:rPr>
              <a:t>ziet</a:t>
            </a:r>
            <a:r>
              <a:rPr lang="en-US" dirty="0">
                <a:latin typeface="Calibri"/>
                <a:ea typeface="Calibri"/>
                <a:cs typeface="Calibri"/>
              </a:rPr>
              <a:t> de 3 </a:t>
            </a:r>
            <a:r>
              <a:rPr lang="en-US" dirty="0" err="1">
                <a:latin typeface="Calibri"/>
                <a:ea typeface="Calibri"/>
                <a:cs typeface="Calibri"/>
              </a:rPr>
              <a:t>fasen</a:t>
            </a:r>
            <a:r>
              <a:rPr lang="en-US" dirty="0">
                <a:latin typeface="Calibri"/>
                <a:ea typeface="Calibri"/>
                <a:cs typeface="Calibri"/>
              </a:rPr>
              <a:t> </a:t>
            </a:r>
            <a:r>
              <a:rPr lang="en-US" dirty="0" err="1">
                <a:latin typeface="Calibri"/>
                <a:ea typeface="Calibri"/>
                <a:cs typeface="Calibri"/>
              </a:rPr>
              <a:t>vanuit</a:t>
            </a:r>
            <a:r>
              <a:rPr lang="en-US" dirty="0">
                <a:latin typeface="Calibri"/>
                <a:ea typeface="Calibri"/>
                <a:cs typeface="Calibri"/>
              </a:rPr>
              <a:t> het concept Prepared Statements. Vierkant </a:t>
            </a:r>
            <a:r>
              <a:rPr lang="en-US" dirty="0" err="1">
                <a:latin typeface="Calibri"/>
                <a:ea typeface="Calibri"/>
                <a:cs typeface="Calibri"/>
              </a:rPr>
              <a:t>en</a:t>
            </a:r>
            <a:r>
              <a:rPr lang="en-US" dirty="0">
                <a:latin typeface="Calibri"/>
                <a:ea typeface="Calibri"/>
                <a:cs typeface="Calibri"/>
              </a:rPr>
              <a:t> </a:t>
            </a:r>
            <a:r>
              <a:rPr lang="en-US" dirty="0" err="1">
                <a:latin typeface="Calibri"/>
                <a:ea typeface="Calibri"/>
                <a:cs typeface="Calibri"/>
              </a:rPr>
              <a:t>rechthoek</a:t>
            </a:r>
            <a:r>
              <a:rPr lang="en-US" dirty="0">
                <a:latin typeface="Calibri"/>
                <a:ea typeface="Calibri"/>
                <a:cs typeface="Calibri"/>
              </a:rPr>
              <a:t> </a:t>
            </a:r>
            <a:r>
              <a:rPr lang="en-US" dirty="0" err="1">
                <a:latin typeface="Calibri"/>
                <a:ea typeface="Calibri"/>
                <a:cs typeface="Calibri"/>
              </a:rPr>
              <a:t>zijn</a:t>
            </a:r>
            <a:r>
              <a:rPr lang="en-US" dirty="0">
                <a:latin typeface="Calibri"/>
                <a:ea typeface="Calibri"/>
                <a:cs typeface="Calibri"/>
              </a:rPr>
              <a:t> </a:t>
            </a:r>
            <a:r>
              <a:rPr lang="en-US" dirty="0" err="1">
                <a:latin typeface="Calibri"/>
                <a:ea typeface="Calibri"/>
                <a:cs typeface="Calibri"/>
              </a:rPr>
              <a:t>kopieën</a:t>
            </a:r>
            <a:r>
              <a:rPr lang="en-US" dirty="0">
                <a:latin typeface="Calibri"/>
                <a:ea typeface="Calibri"/>
                <a:cs typeface="Calibri"/>
              </a:rPr>
              <a:t> van data.</a:t>
            </a:r>
          </a:p>
          <a:p>
            <a:br>
              <a:rPr lang="en-US" dirty="0">
                <a:latin typeface="Calibri"/>
                <a:ea typeface="Calibri"/>
                <a:cs typeface="Calibri"/>
              </a:rPr>
            </a:br>
            <a:r>
              <a:rPr lang="en-US" dirty="0">
                <a:latin typeface="Calibri"/>
                <a:ea typeface="Calibri"/>
                <a:cs typeface="Calibri"/>
              </a:rPr>
              <a:t>Denk </a:t>
            </a:r>
            <a:r>
              <a:rPr lang="en-US" dirty="0" err="1">
                <a:latin typeface="Calibri"/>
                <a:ea typeface="Calibri"/>
                <a:cs typeface="Calibri"/>
              </a:rPr>
              <a:t>hierbij</a:t>
            </a:r>
            <a:r>
              <a:rPr lang="en-US" dirty="0">
                <a:latin typeface="Calibri"/>
                <a:ea typeface="Calibri"/>
                <a:cs typeface="Calibri"/>
              </a:rPr>
              <a:t> </a:t>
            </a:r>
            <a:r>
              <a:rPr lang="en-US" dirty="0" err="1">
                <a:latin typeface="Calibri"/>
                <a:ea typeface="Calibri"/>
                <a:cs typeface="Calibri"/>
              </a:rPr>
              <a:t>aan</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simpele</a:t>
            </a:r>
            <a:r>
              <a:rPr lang="en-US" dirty="0">
                <a:latin typeface="Calibri"/>
                <a:ea typeface="Calibri"/>
                <a:cs typeface="Calibri"/>
              </a:rPr>
              <a:t> compare </a:t>
            </a:r>
            <a:r>
              <a:rPr lang="en-US" dirty="0" err="1">
                <a:latin typeface="Calibri"/>
                <a:ea typeface="Calibri"/>
                <a:cs typeface="Calibri"/>
              </a:rPr>
              <a:t>functie</a:t>
            </a:r>
            <a:r>
              <a:rPr lang="en-US" dirty="0">
                <a:latin typeface="Calibri"/>
                <a:ea typeface="Calibri"/>
                <a:cs typeface="Calibri"/>
              </a:rPr>
              <a:t> in C met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datastructuur</a:t>
            </a:r>
            <a:r>
              <a:rPr lang="en-US" dirty="0">
                <a:latin typeface="Calibri"/>
                <a:ea typeface="Calibri"/>
                <a:cs typeface="Calibri"/>
              </a:rPr>
              <a:t> met </a:t>
            </a:r>
            <a:r>
              <a:rPr lang="en-US" dirty="0" err="1">
                <a:latin typeface="Calibri"/>
                <a:ea typeface="Calibri"/>
                <a:cs typeface="Calibri"/>
              </a:rPr>
              <a:t>verwijzingen</a:t>
            </a:r>
            <a:r>
              <a:rPr lang="en-US" dirty="0">
                <a:latin typeface="Calibri"/>
                <a:ea typeface="Calibri"/>
                <a:cs typeface="Calibri"/>
              </a:rPr>
              <a:t> in het </a:t>
            </a:r>
            <a:r>
              <a:rPr lang="en-US" dirty="0" err="1">
                <a:latin typeface="Calibri"/>
                <a:ea typeface="Calibri"/>
                <a:cs typeface="Calibri"/>
              </a:rPr>
              <a:t>geheugen</a:t>
            </a:r>
            <a:r>
              <a:rPr lang="en-US" dirty="0">
                <a:latin typeface="Calibri"/>
                <a:ea typeface="Calibri"/>
                <a:cs typeface="Calibri"/>
              </a:rPr>
              <a:t>!</a:t>
            </a:r>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16</a:t>
            </a:fld>
            <a:endParaRPr lang="nl-BE"/>
          </a:p>
        </p:txBody>
      </p:sp>
    </p:spTree>
    <p:extLst>
      <p:ext uri="{BB962C8B-B14F-4D97-AF65-F5344CB8AC3E}">
        <p14:creationId xmlns:p14="http://schemas.microsoft.com/office/powerpoint/2010/main" val="865593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28</a:t>
            </a:fld>
            <a:endParaRPr lang="nl-BE"/>
          </a:p>
        </p:txBody>
      </p:sp>
    </p:spTree>
    <p:extLst>
      <p:ext uri="{BB962C8B-B14F-4D97-AF65-F5344CB8AC3E}">
        <p14:creationId xmlns:p14="http://schemas.microsoft.com/office/powerpoint/2010/main" val="158665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4/27/2026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4/27/2026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4/27/2026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4/27/2026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4/27/2026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4/27/2026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4/27/2026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4/27/2026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4/27/2026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4/27/2026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4/27/2026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4/27/2026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invicti.com/learn/blind-sql-injec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129554"/>
            <a:ext cx="4465597" cy="3613782"/>
          </a:xfrm>
        </p:spPr>
        <p:txBody>
          <a:bodyPr vert="horz" lIns="91440" tIns="45720" rIns="91440" bIns="45720" rtlCol="0" anchor="b">
            <a:noAutofit/>
          </a:bodyPr>
          <a:lstStyle/>
          <a:p>
            <a:pPr algn="l"/>
            <a:r>
              <a:rPr lang="nl-BE" b="0"/>
              <a:t>Webdesign:</a:t>
            </a:r>
            <a:r>
              <a:rPr lang="nl-BE"/>
              <a:t> </a:t>
            </a:r>
            <a:r>
              <a:rPr lang="nl-BE" b="0">
                <a:solidFill>
                  <a:schemeClr val="accent3"/>
                </a:solidFill>
              </a:rPr>
              <a:t>Dynamische Websites</a:t>
            </a:r>
            <a:br>
              <a:rPr lang="nl-BE" b="0"/>
            </a:br>
            <a:br>
              <a:rPr lang="nl-BE" b="0"/>
            </a:br>
            <a:r>
              <a:rPr lang="nl-BE">
                <a:solidFill>
                  <a:schemeClr val="accent3"/>
                </a:solidFill>
              </a:rPr>
              <a:t>H3 Databases en Beveiliging</a:t>
            </a: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a:t>Met PHP</a:t>
            </a:r>
          </a:p>
          <a:p>
            <a:pPr algn="l"/>
            <a:endParaRPr lang="nl-BE"/>
          </a:p>
          <a:p>
            <a:pPr algn="l"/>
            <a:r>
              <a:rPr lang="nl-BE"/>
              <a:t>2025-2026</a:t>
            </a:r>
          </a:p>
          <a:p>
            <a:pPr algn="l"/>
            <a:r>
              <a:rPr lang="nl-BE"/>
              <a:t>Jarne Verlinden – 6icw</a:t>
            </a:r>
          </a:p>
          <a:p>
            <a:pPr algn="l"/>
            <a:r>
              <a:rPr lang="nl-BE"/>
              <a:t>(https://github.com/Jarnster)</a:t>
            </a:r>
          </a:p>
        </p:txBody>
      </p:sp>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a:solidFill>
                  <a:srgbClr val="FF0000"/>
                </a:solidFill>
                <a:ea typeface="+mn-lt"/>
                <a:cs typeface="+mn-lt"/>
              </a:rPr>
              <a:t>Disclaimer:</a:t>
            </a:r>
            <a:r>
              <a:rPr lang="nl-NL" sz="1200" i="1">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pic>
        <p:nvPicPr>
          <p:cNvPr id="6" name="Afbeelding 5" descr="Database - Overview, Roles and Components, DBMS">
            <a:extLst>
              <a:ext uri="{FF2B5EF4-FFF2-40B4-BE49-F238E27FC236}">
                <a16:creationId xmlns:a16="http://schemas.microsoft.com/office/drawing/2014/main" id="{00E33693-A3BD-A5DB-9617-7C34F7DDD589}"/>
              </a:ext>
            </a:extLst>
          </p:cNvPr>
          <p:cNvPicPr>
            <a:picLocks noChangeAspect="1"/>
          </p:cNvPicPr>
          <p:nvPr/>
        </p:nvPicPr>
        <p:blipFill>
          <a:blip r:embed="rId3"/>
          <a:srcRect l="8324" r="17815" b="-1"/>
          <a:stretch>
            <a:fillRect/>
          </a:stretch>
        </p:blipFill>
        <p:spPr>
          <a:xfrm>
            <a:off x="-1752" y="1"/>
            <a:ext cx="6723681" cy="6858000"/>
          </a:xfrm>
          <a:prstGeom prst="rect">
            <a:avLst/>
          </a:prstGeom>
        </p:spPr>
      </p:pic>
    </p:spTree>
    <p:extLst>
      <p:ext uri="{BB962C8B-B14F-4D97-AF65-F5344CB8AC3E}">
        <p14:creationId xmlns:p14="http://schemas.microsoft.com/office/powerpoint/2010/main" val="229799067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2C37D9-25D7-80C1-D1D2-BAAF73157DCF}"/>
              </a:ext>
            </a:extLst>
          </p:cNvPr>
          <p:cNvSpPr>
            <a:spLocks noGrp="1"/>
          </p:cNvSpPr>
          <p:nvPr>
            <p:ph type="title"/>
          </p:nvPr>
        </p:nvSpPr>
        <p:spPr/>
        <p:txBody>
          <a:bodyPr/>
          <a:lstStyle/>
          <a:p>
            <a:r>
              <a:rPr lang="nl-NL"/>
              <a:t>Overzicht</a:t>
            </a:r>
          </a:p>
        </p:txBody>
      </p:sp>
      <p:pic>
        <p:nvPicPr>
          <p:cNvPr id="3" name="Afbeelding 2" descr="Client-Server Architecture | EN.601.421: Object-Oriented Software  Engineering (OOSE)">
            <a:extLst>
              <a:ext uri="{FF2B5EF4-FFF2-40B4-BE49-F238E27FC236}">
                <a16:creationId xmlns:a16="http://schemas.microsoft.com/office/drawing/2014/main" id="{D5D76B4E-88AC-CAC6-27A9-85E752F31FB6}"/>
              </a:ext>
            </a:extLst>
          </p:cNvPr>
          <p:cNvPicPr>
            <a:picLocks noChangeAspect="1"/>
          </p:cNvPicPr>
          <p:nvPr/>
        </p:nvPicPr>
        <p:blipFill>
          <a:blip r:embed="rId2"/>
          <a:stretch>
            <a:fillRect/>
          </a:stretch>
        </p:blipFill>
        <p:spPr>
          <a:xfrm>
            <a:off x="1990725" y="1762125"/>
            <a:ext cx="8210550" cy="3333750"/>
          </a:xfrm>
          <a:prstGeom prst="rect">
            <a:avLst/>
          </a:prstGeom>
        </p:spPr>
      </p:pic>
      <p:pic>
        <p:nvPicPr>
          <p:cNvPr id="4" name="Afbeelding 3" descr="Free Setting Database Icon - Download SVG, PNG for Seo &amp; Web | IconScout">
            <a:extLst>
              <a:ext uri="{FF2B5EF4-FFF2-40B4-BE49-F238E27FC236}">
                <a16:creationId xmlns:a16="http://schemas.microsoft.com/office/drawing/2014/main" id="{71ED6C40-0B3F-FC6D-C0EB-195BDB0F615F}"/>
              </a:ext>
            </a:extLst>
          </p:cNvPr>
          <p:cNvPicPr>
            <a:picLocks noChangeAspect="1"/>
          </p:cNvPicPr>
          <p:nvPr/>
        </p:nvPicPr>
        <p:blipFill>
          <a:blip r:embed="rId3"/>
          <a:stretch>
            <a:fillRect/>
          </a:stretch>
        </p:blipFill>
        <p:spPr>
          <a:xfrm>
            <a:off x="8930821" y="357370"/>
            <a:ext cx="938894" cy="899976"/>
          </a:xfrm>
          <a:prstGeom prst="rect">
            <a:avLst/>
          </a:prstGeom>
        </p:spPr>
      </p:pic>
      <p:cxnSp>
        <p:nvCxnSpPr>
          <p:cNvPr id="5" name="Rechte verbindingslijn met pijl 4">
            <a:extLst>
              <a:ext uri="{FF2B5EF4-FFF2-40B4-BE49-F238E27FC236}">
                <a16:creationId xmlns:a16="http://schemas.microsoft.com/office/drawing/2014/main" id="{319B8C7F-7C1B-6170-932F-2EFE6E4F61D1}"/>
              </a:ext>
            </a:extLst>
          </p:cNvPr>
          <p:cNvCxnSpPr/>
          <p:nvPr/>
        </p:nvCxnSpPr>
        <p:spPr>
          <a:xfrm>
            <a:off x="9369135" y="1359477"/>
            <a:ext cx="8659" cy="320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19910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BA19FEF-677B-9CCD-3A5A-C2AB3F8C9420}"/>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Wat is een database? </a:t>
            </a:r>
          </a:p>
        </p:txBody>
      </p:sp>
      <p:sp>
        <p:nvSpPr>
          <p:cNvPr id="5" name="Tekstvak 4">
            <a:extLst>
              <a:ext uri="{FF2B5EF4-FFF2-40B4-BE49-F238E27FC236}">
                <a16:creationId xmlns:a16="http://schemas.microsoft.com/office/drawing/2014/main" id="{A88AF0A4-C457-8D7A-4DA8-D65DD99D937D}"/>
              </a:ext>
            </a:extLst>
          </p:cNvPr>
          <p:cNvSpPr txBox="1"/>
          <p:nvPr/>
        </p:nvSpPr>
        <p:spPr>
          <a:xfrm>
            <a:off x="510074" y="4003563"/>
            <a:ext cx="3348297" cy="118458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110000"/>
              </a:lnSpc>
              <a:spcBef>
                <a:spcPts val="1000"/>
              </a:spcBef>
            </a:pPr>
            <a:r>
              <a:rPr lang="en-US" sz="1500" b="1"/>
              <a:t>Gegevens op gestructureerde wijze opslaan om ze op een later moment te bewerken en te raadplegen.</a:t>
            </a:r>
          </a:p>
        </p:txBody>
      </p:sp>
      <p:pic>
        <p:nvPicPr>
          <p:cNvPr id="6" name="Afbeelding 5" descr="Database schema design 101 for relational databases — PlanetScale">
            <a:extLst>
              <a:ext uri="{FF2B5EF4-FFF2-40B4-BE49-F238E27FC236}">
                <a16:creationId xmlns:a16="http://schemas.microsoft.com/office/drawing/2014/main" id="{6866F84F-C5CE-18FA-D341-90A73C6DA8E4}"/>
              </a:ext>
            </a:extLst>
          </p:cNvPr>
          <p:cNvPicPr>
            <a:picLocks noChangeAspect="1"/>
          </p:cNvPicPr>
          <p:nvPr/>
        </p:nvPicPr>
        <p:blipFill>
          <a:blip r:embed="rId2"/>
          <a:stretch>
            <a:fillRect/>
          </a:stretch>
        </p:blipFill>
        <p:spPr>
          <a:xfrm>
            <a:off x="4344099" y="441433"/>
            <a:ext cx="7390808" cy="5968076"/>
          </a:xfrm>
          <a:prstGeom prst="rect">
            <a:avLst/>
          </a:prstGeom>
        </p:spPr>
      </p:pic>
    </p:spTree>
    <p:extLst>
      <p:ext uri="{BB962C8B-B14F-4D97-AF65-F5344CB8AC3E}">
        <p14:creationId xmlns:p14="http://schemas.microsoft.com/office/powerpoint/2010/main" val="253835808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3D7D2-51B9-E266-8647-9C60159FC21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05A723-57A2-4D2A-06E9-E87B1B3DF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0E4430B-F00D-EACC-1971-3FF50A78890B}"/>
              </a:ext>
            </a:extLst>
          </p:cNvPr>
          <p:cNvSpPr>
            <a:spLocks noGrp="1"/>
          </p:cNvSpPr>
          <p:nvPr>
            <p:ph type="title"/>
          </p:nvPr>
        </p:nvSpPr>
        <p:spPr>
          <a:xfrm>
            <a:off x="352030" y="421704"/>
            <a:ext cx="8100919" cy="898378"/>
          </a:xfrm>
        </p:spPr>
        <p:txBody>
          <a:bodyPr vert="horz" lIns="91440" tIns="45720" rIns="91440" bIns="45720" rtlCol="0" anchor="b">
            <a:normAutofit/>
          </a:bodyPr>
          <a:lstStyle/>
          <a:p>
            <a:r>
              <a:rPr lang="en-US" sz="4000"/>
              <a:t>MySQL/MariaDB</a:t>
            </a:r>
            <a:endParaRPr lang="nl-NL"/>
          </a:p>
        </p:txBody>
      </p:sp>
      <p:sp>
        <p:nvSpPr>
          <p:cNvPr id="5" name="Tekstvak 4">
            <a:extLst>
              <a:ext uri="{FF2B5EF4-FFF2-40B4-BE49-F238E27FC236}">
                <a16:creationId xmlns:a16="http://schemas.microsoft.com/office/drawing/2014/main" id="{0DE699CA-0174-B644-BE7C-00FC52DF6156}"/>
              </a:ext>
            </a:extLst>
          </p:cNvPr>
          <p:cNvSpPr txBox="1"/>
          <p:nvPr/>
        </p:nvSpPr>
        <p:spPr>
          <a:xfrm>
            <a:off x="352030" y="1418407"/>
            <a:ext cx="9523319" cy="299080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85750">
              <a:lnSpc>
                <a:spcPct val="110000"/>
              </a:lnSpc>
              <a:spcBef>
                <a:spcPts val="1000"/>
              </a:spcBef>
              <a:buAutoNum type="arabicParenR"/>
            </a:pPr>
            <a:r>
              <a:rPr lang="en-US" sz="1500" b="1"/>
              <a:t>Vaak </a:t>
            </a:r>
            <a:r>
              <a:rPr lang="en-US" sz="1500" b="1" err="1"/>
              <a:t>gebruikt</a:t>
            </a:r>
            <a:r>
              <a:rPr lang="en-US" sz="1500" b="1"/>
              <a:t> in </a:t>
            </a:r>
            <a:r>
              <a:rPr lang="en-US" sz="1500" b="1" err="1"/>
              <a:t>combinatie</a:t>
            </a:r>
            <a:r>
              <a:rPr lang="en-US" sz="1500" b="1"/>
              <a:t> met PHP</a:t>
            </a:r>
            <a:endParaRPr lang="nl-NL"/>
          </a:p>
          <a:p>
            <a:pPr marL="285750" indent="-285750">
              <a:lnSpc>
                <a:spcPct val="110000"/>
              </a:lnSpc>
              <a:spcBef>
                <a:spcPts val="1000"/>
              </a:spcBef>
              <a:buAutoNum type="arabicParenR"/>
            </a:pPr>
            <a:r>
              <a:rPr lang="en-US" sz="1500" b="1"/>
              <a:t>SQL</a:t>
            </a:r>
          </a:p>
          <a:p>
            <a:pPr>
              <a:lnSpc>
                <a:spcPct val="110000"/>
              </a:lnSpc>
              <a:spcBef>
                <a:spcPts val="1000"/>
              </a:spcBef>
            </a:pPr>
            <a:endParaRPr lang="en-US" sz="1500" b="1"/>
          </a:p>
          <a:p>
            <a:pPr>
              <a:lnSpc>
                <a:spcPct val="110000"/>
              </a:lnSpc>
              <a:spcBef>
                <a:spcPts val="1000"/>
              </a:spcBef>
            </a:pPr>
            <a:r>
              <a:rPr lang="en-US" sz="1500"/>
              <a:t>Voorbeelden van SQL Queries:</a:t>
            </a:r>
          </a:p>
          <a:p>
            <a:pPr marL="342900" indent="-342900">
              <a:lnSpc>
                <a:spcPct val="110000"/>
              </a:lnSpc>
              <a:spcBef>
                <a:spcPts val="1000"/>
              </a:spcBef>
              <a:buAutoNum type="arabicParenR"/>
            </a:pPr>
            <a:r>
              <a:rPr lang="en-US" sz="1500"/>
              <a:t>SELECT </a:t>
            </a:r>
            <a:r>
              <a:rPr lang="en-US" sz="1500" err="1"/>
              <a:t>firstname</a:t>
            </a:r>
            <a:r>
              <a:rPr lang="en-US" sz="1500"/>
              <a:t>, </a:t>
            </a:r>
            <a:r>
              <a:rPr lang="en-US" sz="1500" err="1"/>
              <a:t>lastname</a:t>
            </a:r>
            <a:r>
              <a:rPr lang="en-US" sz="1500"/>
              <a:t> FROM `users`;</a:t>
            </a:r>
          </a:p>
          <a:p>
            <a:pPr marL="342900" indent="-342900">
              <a:lnSpc>
                <a:spcPct val="110000"/>
              </a:lnSpc>
              <a:spcBef>
                <a:spcPts val="1000"/>
              </a:spcBef>
              <a:buAutoNum type="arabicParenR"/>
            </a:pPr>
            <a:r>
              <a:rPr lang="en-US" sz="1500"/>
              <a:t>UPDATE `users` SET </a:t>
            </a:r>
            <a:r>
              <a:rPr lang="en-US" sz="1500" err="1"/>
              <a:t>password_remember_token</a:t>
            </a:r>
            <a:r>
              <a:rPr lang="en-US" sz="1500"/>
              <a:t> = ? WHERE id = ?;</a:t>
            </a:r>
          </a:p>
          <a:p>
            <a:pPr marL="342900" indent="-342900">
              <a:lnSpc>
                <a:spcPct val="110000"/>
              </a:lnSpc>
              <a:spcBef>
                <a:spcPts val="1000"/>
              </a:spcBef>
              <a:buAutoNum type="arabicParenR"/>
            </a:pPr>
            <a:r>
              <a:rPr lang="en-US" sz="1500"/>
              <a:t>SELECT * FROM `pupils` WHERE </a:t>
            </a:r>
            <a:r>
              <a:rPr lang="en-US" sz="1500" err="1"/>
              <a:t>school_org</a:t>
            </a:r>
            <a:r>
              <a:rPr lang="en-US" sz="1500"/>
              <a:t> = '</a:t>
            </a:r>
            <a:r>
              <a:rPr lang="en-US" sz="1500" err="1"/>
              <a:t>Sjabi</a:t>
            </a:r>
            <a:r>
              <a:rPr lang="en-US" sz="1500"/>
              <a:t>';</a:t>
            </a:r>
          </a:p>
        </p:txBody>
      </p:sp>
      <p:pic>
        <p:nvPicPr>
          <p:cNvPr id="3" name="Afbeelding 2" descr="MySQL vs. MariaDB: What Are the Main Differences Between Them">
            <a:extLst>
              <a:ext uri="{FF2B5EF4-FFF2-40B4-BE49-F238E27FC236}">
                <a16:creationId xmlns:a16="http://schemas.microsoft.com/office/drawing/2014/main" id="{A02F9063-CA9A-F806-A7C3-6AF88FF31C14}"/>
              </a:ext>
            </a:extLst>
          </p:cNvPr>
          <p:cNvPicPr>
            <a:picLocks noChangeAspect="1"/>
          </p:cNvPicPr>
          <p:nvPr/>
        </p:nvPicPr>
        <p:blipFill>
          <a:blip r:embed="rId2"/>
          <a:stretch>
            <a:fillRect/>
          </a:stretch>
        </p:blipFill>
        <p:spPr>
          <a:xfrm>
            <a:off x="6525491" y="86096"/>
            <a:ext cx="4915394" cy="2465119"/>
          </a:xfrm>
          <a:prstGeom prst="rect">
            <a:avLst/>
          </a:prstGeom>
        </p:spPr>
      </p:pic>
    </p:spTree>
    <p:extLst>
      <p:ext uri="{BB962C8B-B14F-4D97-AF65-F5344CB8AC3E}">
        <p14:creationId xmlns:p14="http://schemas.microsoft.com/office/powerpoint/2010/main" val="971032140"/>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AED4D5-D0DC-1C48-DF0D-B84AAD47B5D3}"/>
            </a:ext>
          </a:extLst>
        </p:cNvPr>
        <p:cNvGrpSpPr/>
        <p:nvPr/>
      </p:nvGrpSpPr>
      <p:grpSpPr>
        <a:xfrm>
          <a:off x="0" y="0"/>
          <a:ext cx="0" cy="0"/>
          <a:chOff x="0" y="0"/>
          <a:chExt cx="0" cy="0"/>
        </a:xfrm>
      </p:grpSpPr>
      <p:sp useBgFill="1">
        <p:nvSpPr>
          <p:cNvPr id="27" name="Rectangle 18">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F90985E-7BD5-9E6D-F300-29A2F6A21EEC}"/>
              </a:ext>
            </a:extLst>
          </p:cNvPr>
          <p:cNvSpPr>
            <a:spLocks noGrp="1"/>
          </p:cNvSpPr>
          <p:nvPr>
            <p:ph type="title"/>
          </p:nvPr>
        </p:nvSpPr>
        <p:spPr>
          <a:xfrm>
            <a:off x="614677" y="603504"/>
            <a:ext cx="10872216" cy="1527048"/>
          </a:xfrm>
        </p:spPr>
        <p:txBody>
          <a:bodyPr vert="horz" lIns="91440" tIns="45720" rIns="91440" bIns="45720" rtlCol="0" anchor="b">
            <a:normAutofit/>
          </a:bodyPr>
          <a:lstStyle/>
          <a:p>
            <a:r>
              <a:rPr lang="en-US" b="1" kern="1200">
                <a:solidFill>
                  <a:schemeClr val="tx1"/>
                </a:solidFill>
                <a:latin typeface="+mj-lt"/>
                <a:ea typeface="+mj-ea"/>
                <a:cs typeface="+mj-cs"/>
              </a:rPr>
              <a:t>PhpMyAdmin (PMA)</a:t>
            </a:r>
          </a:p>
        </p:txBody>
      </p:sp>
      <p:pic>
        <p:nvPicPr>
          <p:cNvPr id="3" name="Afbeelding 2" descr="phpMyAdmin">
            <a:extLst>
              <a:ext uri="{FF2B5EF4-FFF2-40B4-BE49-F238E27FC236}">
                <a16:creationId xmlns:a16="http://schemas.microsoft.com/office/drawing/2014/main" id="{16DE8FFD-7D47-826D-CB3F-6CCD58F0B1BA}"/>
              </a:ext>
            </a:extLst>
          </p:cNvPr>
          <p:cNvPicPr>
            <a:picLocks noChangeAspect="1"/>
          </p:cNvPicPr>
          <p:nvPr/>
        </p:nvPicPr>
        <p:blipFill>
          <a:blip r:embed="rId2"/>
          <a:stretch>
            <a:fillRect/>
          </a:stretch>
        </p:blipFill>
        <p:spPr>
          <a:xfrm>
            <a:off x="614678" y="2441274"/>
            <a:ext cx="5173647" cy="3233529"/>
          </a:xfrm>
          <a:prstGeom prst="rect">
            <a:avLst/>
          </a:prstGeom>
        </p:spPr>
      </p:pic>
      <p:sp>
        <p:nvSpPr>
          <p:cNvPr id="5" name="Tekstvak 4">
            <a:extLst>
              <a:ext uri="{FF2B5EF4-FFF2-40B4-BE49-F238E27FC236}">
                <a16:creationId xmlns:a16="http://schemas.microsoft.com/office/drawing/2014/main" id="{5B447A70-E1B3-A439-0AD6-B048055D65C4}"/>
              </a:ext>
            </a:extLst>
          </p:cNvPr>
          <p:cNvSpPr txBox="1"/>
          <p:nvPr/>
        </p:nvSpPr>
        <p:spPr>
          <a:xfrm>
            <a:off x="6096000" y="2441273"/>
            <a:ext cx="5385816" cy="381794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120000"/>
              </a:lnSpc>
              <a:spcBef>
                <a:spcPts val="1000"/>
              </a:spcBef>
              <a:buFont typeface="Arial" panose="020B0604020202020204" pitchFamily="34" charset="0"/>
              <a:buChar char="•"/>
            </a:pPr>
            <a:r>
              <a:rPr lang="en-US" b="1"/>
              <a:t>Handig programma om MySQL/MariaDB databases te beheren</a:t>
            </a:r>
          </a:p>
          <a:p>
            <a:pPr marL="285750" indent="-228600">
              <a:lnSpc>
                <a:spcPct val="120000"/>
              </a:lnSpc>
              <a:spcBef>
                <a:spcPts val="1000"/>
              </a:spcBef>
              <a:buFont typeface="Arial" panose="020B0604020202020204" pitchFamily="34" charset="0"/>
              <a:buChar char="•"/>
            </a:pPr>
            <a:r>
              <a:rPr lang="en-US" b="1"/>
              <a:t>Ingebouwd in XAMPP</a:t>
            </a:r>
          </a:p>
          <a:p>
            <a:pPr marL="285750" indent="-228600">
              <a:lnSpc>
                <a:spcPct val="120000"/>
              </a:lnSpc>
              <a:spcBef>
                <a:spcPts val="1000"/>
              </a:spcBef>
              <a:buFont typeface="Arial" panose="020B0604020202020204" pitchFamily="34" charset="0"/>
              <a:buChar char="•"/>
            </a:pPr>
            <a:r>
              <a:rPr lang="en-US" b="1"/>
              <a:t>Openen via: "localhost:8000/phpmyadmin"</a:t>
            </a:r>
          </a:p>
        </p:txBody>
      </p:sp>
    </p:spTree>
    <p:extLst>
      <p:ext uri="{BB962C8B-B14F-4D97-AF65-F5344CB8AC3E}">
        <p14:creationId xmlns:p14="http://schemas.microsoft.com/office/powerpoint/2010/main" val="3947084573"/>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A257EA-5259-9835-6FC2-AA30A5BB8D00}"/>
            </a:ext>
          </a:extLst>
        </p:cNvPr>
        <p:cNvGrpSpPr/>
        <p:nvPr/>
      </p:nvGrpSpPr>
      <p:grpSpPr>
        <a:xfrm>
          <a:off x="0" y="0"/>
          <a:ext cx="0" cy="0"/>
          <a:chOff x="0" y="0"/>
          <a:chExt cx="0" cy="0"/>
        </a:xfrm>
      </p:grpSpPr>
      <p:sp useBgFill="1">
        <p:nvSpPr>
          <p:cNvPr id="27" name="Rectangle 18">
            <a:extLst>
              <a:ext uri="{FF2B5EF4-FFF2-40B4-BE49-F238E27FC236}">
                <a16:creationId xmlns:a16="http://schemas.microsoft.com/office/drawing/2014/main" id="{B4FB899D-4EBD-4586-DF67-C512E3019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6475FD5-D9EE-AAC3-A596-395E165CB6FC}"/>
              </a:ext>
            </a:extLst>
          </p:cNvPr>
          <p:cNvSpPr>
            <a:spLocks noGrp="1"/>
          </p:cNvSpPr>
          <p:nvPr>
            <p:ph type="title"/>
          </p:nvPr>
        </p:nvSpPr>
        <p:spPr>
          <a:xfrm>
            <a:off x="614677" y="603504"/>
            <a:ext cx="10866572" cy="855360"/>
          </a:xfrm>
        </p:spPr>
        <p:txBody>
          <a:bodyPr vert="horz" lIns="91440" tIns="45720" rIns="91440" bIns="45720" rtlCol="0" anchor="b">
            <a:normAutofit fontScale="90000"/>
          </a:bodyPr>
          <a:lstStyle/>
          <a:p>
            <a:r>
              <a:rPr lang="en-US"/>
              <a:t>Prepared Statements met Prepared Data Objects (PDO)</a:t>
            </a:r>
            <a:endParaRPr lang="nl-NL">
              <a:ea typeface="+mj-ea"/>
              <a:cs typeface="+mj-cs"/>
            </a:endParaRPr>
          </a:p>
        </p:txBody>
      </p:sp>
      <p:sp>
        <p:nvSpPr>
          <p:cNvPr id="3" name="Tekstvak 2">
            <a:extLst>
              <a:ext uri="{FF2B5EF4-FFF2-40B4-BE49-F238E27FC236}">
                <a16:creationId xmlns:a16="http://schemas.microsoft.com/office/drawing/2014/main" id="{C90867B4-78A5-491D-5085-13D206A73C8E}"/>
              </a:ext>
            </a:extLst>
          </p:cNvPr>
          <p:cNvSpPr txBox="1"/>
          <p:nvPr/>
        </p:nvSpPr>
        <p:spPr>
          <a:xfrm>
            <a:off x="474024" y="1609705"/>
            <a:ext cx="933402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a:t>Manier om te communiceren met dé echte database server (=driver):</a:t>
            </a:r>
          </a:p>
          <a:p>
            <a:pPr marL="285750" indent="-285750">
              <a:buFont typeface="Calibri"/>
              <a:buChar char="-"/>
            </a:pPr>
            <a:r>
              <a:rPr lang="nl-NL"/>
              <a:t>  ° Data opvragen</a:t>
            </a:r>
          </a:p>
          <a:p>
            <a:pPr marL="285750" indent="-285750">
              <a:buFont typeface="Calibri"/>
              <a:buChar char="-"/>
            </a:pPr>
            <a:r>
              <a:rPr lang="nl-NL"/>
              <a:t>  ° Data updaten</a:t>
            </a:r>
          </a:p>
          <a:p>
            <a:pPr marL="285750" indent="-285750">
              <a:buFont typeface="Calibri"/>
              <a:buChar char="-"/>
            </a:pPr>
            <a:r>
              <a:rPr lang="nl-NL"/>
              <a:t>  ° Batch update/delete (grote hoeveelheid in één keer)</a:t>
            </a:r>
          </a:p>
          <a:p>
            <a:pPr marL="285750" indent="-285750">
              <a:buFont typeface="Calibri"/>
              <a:buChar char="-"/>
            </a:pPr>
            <a:endParaRPr lang="nl-NL"/>
          </a:p>
          <a:p>
            <a:pPr marL="285750" indent="-285750">
              <a:buFont typeface="Calibri"/>
              <a:buChar char="-"/>
            </a:pPr>
            <a:r>
              <a:rPr lang="nl-NL"/>
              <a:t>Veel voordelen: o.a. betere efficiëntie van de query, veilige parameter-binding, sneller herhaaldelijk uitvoeren, minder overhead op database server</a:t>
            </a:r>
          </a:p>
        </p:txBody>
      </p:sp>
      <p:sp>
        <p:nvSpPr>
          <p:cNvPr id="4" name="Tekstvak 3">
            <a:extLst>
              <a:ext uri="{FF2B5EF4-FFF2-40B4-BE49-F238E27FC236}">
                <a16:creationId xmlns:a16="http://schemas.microsoft.com/office/drawing/2014/main" id="{0A92A93F-75D0-1B63-692F-48F517A28967}"/>
              </a:ext>
            </a:extLst>
          </p:cNvPr>
          <p:cNvSpPr txBox="1"/>
          <p:nvPr/>
        </p:nvSpPr>
        <p:spPr>
          <a:xfrm>
            <a:off x="736022" y="4043795"/>
            <a:ext cx="472786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PDO doorloopt stapsgewijs:</a:t>
            </a:r>
          </a:p>
          <a:p>
            <a:pPr marL="285750" indent="-285750">
              <a:buFont typeface="Calibri"/>
              <a:buChar char="-"/>
            </a:pPr>
            <a:r>
              <a:rPr lang="nl-NL" err="1"/>
              <a:t>Prepare</a:t>
            </a:r>
          </a:p>
          <a:p>
            <a:pPr marL="285750" indent="-285750">
              <a:buFont typeface="Calibri"/>
              <a:buChar char="-"/>
            </a:pPr>
            <a:r>
              <a:rPr lang="nl-NL"/>
              <a:t>Bind</a:t>
            </a:r>
          </a:p>
          <a:p>
            <a:pPr marL="285750" indent="-285750">
              <a:buFont typeface="Calibri"/>
              <a:buChar char="-"/>
            </a:pPr>
            <a:r>
              <a:rPr lang="nl-NL" err="1"/>
              <a:t>Execute</a:t>
            </a:r>
          </a:p>
          <a:p>
            <a:pPr marL="285750" indent="-285750">
              <a:buFont typeface="Calibri"/>
              <a:buChar char="-"/>
            </a:pPr>
            <a:r>
              <a:rPr lang="nl-NL"/>
              <a:t>Optioneel: </a:t>
            </a:r>
            <a:r>
              <a:rPr lang="nl-NL" err="1"/>
              <a:t>Fetch</a:t>
            </a:r>
            <a:r>
              <a:rPr lang="nl-NL"/>
              <a:t> / </a:t>
            </a:r>
            <a:r>
              <a:rPr lang="nl-NL" err="1"/>
              <a:t>FetchAll</a:t>
            </a:r>
          </a:p>
        </p:txBody>
      </p:sp>
    </p:spTree>
    <p:extLst>
      <p:ext uri="{BB962C8B-B14F-4D97-AF65-F5344CB8AC3E}">
        <p14:creationId xmlns:p14="http://schemas.microsoft.com/office/powerpoint/2010/main" val="147003781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24516-A969-3E76-2382-FA65B5363A0D}"/>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3A039E1-ED08-C9FA-BDC4-4793D8D0031A}"/>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PDO: Ophalen van één rij</a:t>
            </a:r>
          </a:p>
        </p:txBody>
      </p:sp>
      <p:pic>
        <p:nvPicPr>
          <p:cNvPr id="4" name="Afbeelding 3" descr="Afbeelding met tekst, schermopname, Lettertype, nummer&#10;&#10;Door AI gegenereerde inhoud is mogelijk onjuist.">
            <a:extLst>
              <a:ext uri="{FF2B5EF4-FFF2-40B4-BE49-F238E27FC236}">
                <a16:creationId xmlns:a16="http://schemas.microsoft.com/office/drawing/2014/main" id="{3BF1E549-2032-42E7-457E-D7FA680009B6}"/>
              </a:ext>
            </a:extLst>
          </p:cNvPr>
          <p:cNvPicPr>
            <a:picLocks noChangeAspect="1"/>
          </p:cNvPicPr>
          <p:nvPr/>
        </p:nvPicPr>
        <p:blipFill>
          <a:blip r:embed="rId2"/>
          <a:stretch>
            <a:fillRect/>
          </a:stretch>
        </p:blipFill>
        <p:spPr>
          <a:xfrm>
            <a:off x="3999788" y="1911416"/>
            <a:ext cx="8192318" cy="3039398"/>
          </a:xfrm>
          <a:prstGeom prst="rect">
            <a:avLst/>
          </a:prstGeom>
        </p:spPr>
      </p:pic>
    </p:spTree>
    <p:extLst>
      <p:ext uri="{BB962C8B-B14F-4D97-AF65-F5344CB8AC3E}">
        <p14:creationId xmlns:p14="http://schemas.microsoft.com/office/powerpoint/2010/main" val="911768835"/>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55E2B6-0216-5011-892A-498A27B422B9}"/>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AB5C7EE-A919-646B-4F86-BACCBC52D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712D4B0-C8AC-8990-32AD-FE82E681566E}"/>
              </a:ext>
            </a:extLst>
          </p:cNvPr>
          <p:cNvSpPr>
            <a:spLocks noGrp="1"/>
          </p:cNvSpPr>
          <p:nvPr>
            <p:ph type="title"/>
          </p:nvPr>
        </p:nvSpPr>
        <p:spPr>
          <a:xfrm>
            <a:off x="8388642" y="1104181"/>
            <a:ext cx="3406543" cy="2779731"/>
          </a:xfrm>
        </p:spPr>
        <p:txBody>
          <a:bodyPr vert="horz" lIns="91440" tIns="45720" rIns="91440" bIns="45720" rtlCol="0" anchor="b">
            <a:normAutofit/>
          </a:bodyPr>
          <a:lstStyle/>
          <a:p>
            <a:pPr algn="ctr"/>
            <a:r>
              <a:rPr lang="en-US"/>
              <a:t>PDO: </a:t>
            </a:r>
            <a:r>
              <a:rPr lang="en-US" err="1"/>
              <a:t>Ophalen</a:t>
            </a:r>
            <a:r>
              <a:rPr lang="en-US"/>
              <a:t> van </a:t>
            </a:r>
            <a:r>
              <a:rPr lang="en-US" err="1"/>
              <a:t>meerdere</a:t>
            </a:r>
            <a:r>
              <a:rPr lang="en-US"/>
              <a:t> </a:t>
            </a:r>
            <a:r>
              <a:rPr lang="en-US" err="1"/>
              <a:t>rijen</a:t>
            </a:r>
          </a:p>
        </p:txBody>
      </p:sp>
      <p:pic>
        <p:nvPicPr>
          <p:cNvPr id="3" name="Afbeelding 2" descr="Afbeelding met tekst, schermopname, Lettertype&#10;&#10;Door AI gegenereerde inhoud is mogelijk onjuist.">
            <a:extLst>
              <a:ext uri="{FF2B5EF4-FFF2-40B4-BE49-F238E27FC236}">
                <a16:creationId xmlns:a16="http://schemas.microsoft.com/office/drawing/2014/main" id="{B8F642D3-5B7C-253E-4D8D-C56A5ED04FB7}"/>
              </a:ext>
            </a:extLst>
          </p:cNvPr>
          <p:cNvPicPr>
            <a:picLocks noChangeAspect="1"/>
          </p:cNvPicPr>
          <p:nvPr/>
        </p:nvPicPr>
        <p:blipFill>
          <a:blip r:embed="rId2"/>
          <a:stretch>
            <a:fillRect/>
          </a:stretch>
        </p:blipFill>
        <p:spPr>
          <a:xfrm>
            <a:off x="396814" y="662314"/>
            <a:ext cx="7712015" cy="5533371"/>
          </a:xfrm>
          <a:prstGeom prst="rect">
            <a:avLst/>
          </a:prstGeom>
        </p:spPr>
      </p:pic>
    </p:spTree>
    <p:extLst>
      <p:ext uri="{BB962C8B-B14F-4D97-AF65-F5344CB8AC3E}">
        <p14:creationId xmlns:p14="http://schemas.microsoft.com/office/powerpoint/2010/main" val="252358584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65CCC2-A275-11AA-64E5-9AC68694C422}"/>
            </a:ext>
          </a:extLst>
        </p:cNvPr>
        <p:cNvGrpSpPr/>
        <p:nvPr/>
      </p:nvGrpSpPr>
      <p:grpSpPr>
        <a:xfrm>
          <a:off x="0" y="0"/>
          <a:ext cx="0" cy="0"/>
          <a:chOff x="0" y="0"/>
          <a:chExt cx="0" cy="0"/>
        </a:xfrm>
      </p:grpSpPr>
      <p:sp useBgFill="1">
        <p:nvSpPr>
          <p:cNvPr id="51" name="Rectangle 46">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AEB27F5-03F9-3D8D-F12F-181A3BF460B0}"/>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3400"/>
              <a:t>CRUD</a:t>
            </a:r>
            <a:br>
              <a:rPr lang="en-US" sz="3400"/>
            </a:br>
            <a:br>
              <a:rPr lang="en-US" sz="3400"/>
            </a:br>
            <a:r>
              <a:rPr lang="en-US" sz="3400"/>
              <a:t>Create, Read, Update, Delete</a:t>
            </a:r>
          </a:p>
        </p:txBody>
      </p:sp>
      <p:sp>
        <p:nvSpPr>
          <p:cNvPr id="4" name="Tekstvak 3">
            <a:extLst>
              <a:ext uri="{FF2B5EF4-FFF2-40B4-BE49-F238E27FC236}">
                <a16:creationId xmlns:a16="http://schemas.microsoft.com/office/drawing/2014/main" id="{AE0B9C7B-E610-6AD1-8F19-80F478FDDD51}"/>
              </a:ext>
            </a:extLst>
          </p:cNvPr>
          <p:cNvSpPr txBox="1"/>
          <p:nvPr/>
        </p:nvSpPr>
        <p:spPr>
          <a:xfrm>
            <a:off x="510074" y="4003563"/>
            <a:ext cx="3348297" cy="118458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120000"/>
              </a:lnSpc>
              <a:spcBef>
                <a:spcPts val="1000"/>
              </a:spcBef>
            </a:pPr>
            <a:r>
              <a:rPr lang="en-US"/>
              <a:t>Concept van de 4 fundamentele bewerkingen op datastructuren.</a:t>
            </a:r>
          </a:p>
        </p:txBody>
      </p:sp>
      <p:pic>
        <p:nvPicPr>
          <p:cNvPr id="5" name="Afbeelding 4" descr="Afbeelding met tekst, schermopname, Lettertype, software&#10;&#10;Door AI gegenereerde inhoud is mogelijk onjuist.">
            <a:extLst>
              <a:ext uri="{FF2B5EF4-FFF2-40B4-BE49-F238E27FC236}">
                <a16:creationId xmlns:a16="http://schemas.microsoft.com/office/drawing/2014/main" id="{5089DA5B-B9F4-EB8F-285B-D7FF64311258}"/>
              </a:ext>
            </a:extLst>
          </p:cNvPr>
          <p:cNvPicPr>
            <a:picLocks noChangeAspect="1"/>
          </p:cNvPicPr>
          <p:nvPr/>
        </p:nvPicPr>
        <p:blipFill>
          <a:blip r:embed="rId2"/>
          <a:stretch>
            <a:fillRect/>
          </a:stretch>
        </p:blipFill>
        <p:spPr>
          <a:xfrm>
            <a:off x="4344099" y="1781016"/>
            <a:ext cx="7390808" cy="3288910"/>
          </a:xfrm>
          <a:prstGeom prst="rect">
            <a:avLst/>
          </a:prstGeom>
        </p:spPr>
      </p:pic>
    </p:spTree>
    <p:extLst>
      <p:ext uri="{BB962C8B-B14F-4D97-AF65-F5344CB8AC3E}">
        <p14:creationId xmlns:p14="http://schemas.microsoft.com/office/powerpoint/2010/main" val="152132827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A5A999-D668-D122-5CF9-38D4413010EA}"/>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D3AAE6F-D3B0-27F7-FA33-879DE876EFD9}"/>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b="1" kern="1200">
                <a:latin typeface="+mj-lt"/>
                <a:ea typeface="+mj-ea"/>
                <a:cs typeface="+mj-cs"/>
              </a:rPr>
              <a:t>Security: SQL </a:t>
            </a:r>
            <a:r>
              <a:rPr lang="en-US"/>
              <a:t>Injections</a:t>
            </a:r>
            <a:endParaRPr lang="en-US" b="1" kern="1200">
              <a:solidFill>
                <a:schemeClr val="tx1"/>
              </a:solidFill>
              <a:latin typeface="+mj-lt"/>
              <a:ea typeface="+mj-ea"/>
              <a:cs typeface="+mj-cs"/>
            </a:endParaRPr>
          </a:p>
        </p:txBody>
      </p:sp>
      <p:pic>
        <p:nvPicPr>
          <p:cNvPr id="6" name="Afbeelding 5" descr="SQL Injection Attacks — Web-based App Security, Part 4 | Spanning">
            <a:extLst>
              <a:ext uri="{FF2B5EF4-FFF2-40B4-BE49-F238E27FC236}">
                <a16:creationId xmlns:a16="http://schemas.microsoft.com/office/drawing/2014/main" id="{7B16DF80-FFD3-1FC4-A667-0E2145A55D31}"/>
              </a:ext>
            </a:extLst>
          </p:cNvPr>
          <p:cNvPicPr>
            <a:picLocks noChangeAspect="1"/>
          </p:cNvPicPr>
          <p:nvPr/>
        </p:nvPicPr>
        <p:blipFill>
          <a:blip r:embed="rId2"/>
          <a:stretch>
            <a:fillRect/>
          </a:stretch>
        </p:blipFill>
        <p:spPr>
          <a:xfrm>
            <a:off x="827735" y="1792223"/>
            <a:ext cx="5921495" cy="4539813"/>
          </a:xfrm>
          <a:prstGeom prst="rect">
            <a:avLst/>
          </a:prstGeom>
        </p:spPr>
      </p:pic>
      <p:sp>
        <p:nvSpPr>
          <p:cNvPr id="4" name="Tekstvak 3">
            <a:extLst>
              <a:ext uri="{FF2B5EF4-FFF2-40B4-BE49-F238E27FC236}">
                <a16:creationId xmlns:a16="http://schemas.microsoft.com/office/drawing/2014/main" id="{878FE41B-9CC3-6EEF-2A40-11A20FDC9D73}"/>
              </a:ext>
            </a:extLst>
          </p:cNvPr>
          <p:cNvSpPr txBox="1"/>
          <p:nvPr/>
        </p:nvSpPr>
        <p:spPr>
          <a:xfrm>
            <a:off x="7177176" y="1792224"/>
            <a:ext cx="4307527" cy="451713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120000"/>
              </a:lnSpc>
              <a:spcBef>
                <a:spcPts val="1000"/>
              </a:spcBef>
              <a:buFont typeface="Arial" panose="020B0604020202020204" pitchFamily="34" charset="0"/>
              <a:buChar char="•"/>
            </a:pPr>
            <a:r>
              <a:rPr lang="en-US"/>
              <a:t>⚠️ </a:t>
            </a:r>
            <a:r>
              <a:rPr lang="en-US" err="1"/>
              <a:t>Gevaarlijke</a:t>
            </a:r>
            <a:r>
              <a:rPr lang="en-US"/>
              <a:t> </a:t>
            </a:r>
            <a:r>
              <a:rPr lang="en-US" err="1"/>
              <a:t>kwetsbaarheid</a:t>
            </a:r>
            <a:r>
              <a:rPr lang="en-US"/>
              <a:t> (vulnerability) </a:t>
            </a:r>
            <a:r>
              <a:rPr lang="en-US" err="1"/>
              <a:t>bij</a:t>
            </a:r>
            <a:r>
              <a:rPr lang="en-US"/>
              <a:t> </a:t>
            </a:r>
            <a:r>
              <a:rPr lang="en-US" err="1"/>
              <a:t>webapplicaties</a:t>
            </a:r>
            <a:endParaRPr lang="en-US"/>
          </a:p>
          <a:p>
            <a:pPr marL="285750" indent="-228600">
              <a:lnSpc>
                <a:spcPct val="120000"/>
              </a:lnSpc>
              <a:spcBef>
                <a:spcPts val="1000"/>
              </a:spcBef>
              <a:buFont typeface="Arial" panose="020B0604020202020204" pitchFamily="34" charset="0"/>
              <a:buChar char="•"/>
            </a:pPr>
            <a:r>
              <a:rPr lang="en-US"/>
              <a:t>Bij </a:t>
            </a:r>
            <a:r>
              <a:rPr lang="en-US" err="1"/>
              <a:t>kwetsbaarheid</a:t>
            </a:r>
            <a:r>
              <a:rPr lang="en-US"/>
              <a:t> </a:t>
            </a:r>
            <a:r>
              <a:rPr lang="en-US" err="1"/>
              <a:t>kan</a:t>
            </a:r>
            <a:r>
              <a:rPr lang="en-US"/>
              <a:t> </a:t>
            </a:r>
            <a:r>
              <a:rPr lang="en-US" err="1"/>
              <a:t>een</a:t>
            </a:r>
            <a:r>
              <a:rPr lang="en-US"/>
              <a:t> </a:t>
            </a:r>
            <a:r>
              <a:rPr lang="en-US" err="1"/>
              <a:t>aanvaller</a:t>
            </a:r>
            <a:r>
              <a:rPr lang="en-US"/>
              <a:t>/hacker </a:t>
            </a:r>
            <a:r>
              <a:rPr lang="en-US" err="1"/>
              <a:t>zich</a:t>
            </a:r>
            <a:r>
              <a:rPr lang="en-US"/>
              <a:t> </a:t>
            </a:r>
            <a:r>
              <a:rPr lang="en-US" err="1"/>
              <a:t>bemoeien</a:t>
            </a:r>
            <a:r>
              <a:rPr lang="en-US"/>
              <a:t> met SQL queries </a:t>
            </a:r>
            <a:r>
              <a:rPr lang="en-US" b="1"/>
              <a:t>VIA de </a:t>
            </a:r>
            <a:r>
              <a:rPr lang="en-US" b="1" err="1"/>
              <a:t>applicatie</a:t>
            </a:r>
            <a:r>
              <a:rPr lang="en-US" b="1"/>
              <a:t> </a:t>
            </a:r>
            <a:r>
              <a:rPr lang="en-US" b="1" err="1"/>
              <a:t>zelf</a:t>
            </a:r>
            <a:endParaRPr lang="en-US" b="1"/>
          </a:p>
          <a:p>
            <a:pPr marL="285750" indent="-228600">
              <a:lnSpc>
                <a:spcPct val="120000"/>
              </a:lnSpc>
              <a:spcBef>
                <a:spcPts val="1000"/>
              </a:spcBef>
              <a:buFont typeface="Arial" panose="020B0604020202020204" pitchFamily="34" charset="0"/>
              <a:buChar char="•"/>
            </a:pPr>
            <a:r>
              <a:rPr lang="en-US"/>
              <a:t>SQL Injection ≠ SQL Server Vulnerability (</a:t>
            </a:r>
            <a:r>
              <a:rPr lang="en-US" err="1"/>
              <a:t>opgenomen</a:t>
            </a:r>
            <a:r>
              <a:rPr lang="en-US"/>
              <a:t> in CVE </a:t>
            </a:r>
            <a:r>
              <a:rPr lang="en-US" err="1"/>
              <a:t>lijsten</a:t>
            </a:r>
            <a:r>
              <a:rPr lang="en-US"/>
              <a:t>)</a:t>
            </a:r>
          </a:p>
        </p:txBody>
      </p:sp>
    </p:spTree>
    <p:extLst>
      <p:ext uri="{BB962C8B-B14F-4D97-AF65-F5344CB8AC3E}">
        <p14:creationId xmlns:p14="http://schemas.microsoft.com/office/powerpoint/2010/main" val="133623967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3503CF-7B12-CBBA-68B3-1AF1F5B952BE}"/>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FB61192C-349D-2053-D31B-E251C82B9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6FF7AD7-98F7-CB2A-7208-F340D1DCD34E}"/>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a:t>Hoe </a:t>
            </a:r>
            <a:r>
              <a:rPr lang="en-US" err="1"/>
              <a:t>wordt</a:t>
            </a:r>
            <a:r>
              <a:rPr lang="en-US"/>
              <a:t> SQLi </a:t>
            </a:r>
            <a:r>
              <a:rPr lang="en-US" err="1"/>
              <a:t>uitgevoerd</a:t>
            </a:r>
            <a:r>
              <a:rPr lang="en-US"/>
              <a:t>?</a:t>
            </a:r>
          </a:p>
        </p:txBody>
      </p:sp>
      <p:sp>
        <p:nvSpPr>
          <p:cNvPr id="5" name="Tekstvak 4">
            <a:extLst>
              <a:ext uri="{FF2B5EF4-FFF2-40B4-BE49-F238E27FC236}">
                <a16:creationId xmlns:a16="http://schemas.microsoft.com/office/drawing/2014/main" id="{DB7C3D45-F3A6-5F64-A162-9A1DE0DC9DFA}"/>
              </a:ext>
            </a:extLst>
          </p:cNvPr>
          <p:cNvSpPr txBox="1"/>
          <p:nvPr/>
        </p:nvSpPr>
        <p:spPr>
          <a:xfrm>
            <a:off x="543152" y="1313440"/>
            <a:ext cx="1120068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a:ea typeface="+mn-lt"/>
                <a:cs typeface="+mn-lt"/>
              </a:rPr>
              <a:t>Slecht beveiligde website accepteert ongefilterde invoer (=kwetsbaar voor </a:t>
            </a:r>
            <a:r>
              <a:rPr lang="nl-NL" err="1">
                <a:ea typeface="+mn-lt"/>
                <a:cs typeface="+mn-lt"/>
              </a:rPr>
              <a:t>SQLi</a:t>
            </a:r>
            <a:r>
              <a:rPr lang="nl-NL">
                <a:ea typeface="+mn-lt"/>
                <a:cs typeface="+mn-lt"/>
              </a:rPr>
              <a:t>)</a:t>
            </a:r>
          </a:p>
          <a:p>
            <a:pPr marL="285750" indent="-285750">
              <a:buFont typeface="Calibri"/>
              <a:buChar char="-"/>
            </a:pPr>
            <a:endParaRPr lang="nl-NL">
              <a:ea typeface="+mn-lt"/>
              <a:cs typeface="+mn-lt"/>
            </a:endParaRPr>
          </a:p>
          <a:p>
            <a:pPr marL="285750" indent="-285750">
              <a:buFont typeface="Calibri"/>
              <a:buChar char="-"/>
            </a:pPr>
            <a:r>
              <a:rPr lang="nl-NL">
                <a:ea typeface="+mn-lt"/>
                <a:cs typeface="+mn-lt"/>
              </a:rPr>
              <a:t>Een aanvaller/hacker maakt een zorgvuldig samengesteld stuk tekst (input) in gebruikersinvoer </a:t>
            </a:r>
          </a:p>
          <a:p>
            <a:pPr marL="285750" indent="-285750">
              <a:buFont typeface="Calibri"/>
              <a:buChar char="-"/>
            </a:pPr>
            <a:endParaRPr lang="nl-NL">
              <a:ea typeface="+mn-lt"/>
              <a:cs typeface="+mn-lt"/>
            </a:endParaRPr>
          </a:p>
          <a:p>
            <a:pPr marL="285750" indent="-285750">
              <a:buFont typeface="Calibri"/>
              <a:buChar char="-"/>
            </a:pPr>
            <a:r>
              <a:rPr lang="nl-NL">
                <a:ea typeface="+mn-lt"/>
                <a:cs typeface="+mn-lt"/>
              </a:rPr>
              <a:t>Die tekst breekt de bestaande SQL-query en voegt een kwaadaardige opdracht toe</a:t>
            </a:r>
            <a:endParaRPr lang="nl-NL"/>
          </a:p>
          <a:p>
            <a:endParaRPr lang="nl-NL"/>
          </a:p>
          <a:p>
            <a:pPr marL="285750" indent="-285750">
              <a:buFont typeface="Calibri"/>
              <a:buChar char="-"/>
            </a:pPr>
            <a:r>
              <a:rPr lang="nl-NL"/>
              <a:t>Resultaat: ongewenste toegang tot gegevens (data-lekken), manipulatie of volledige controle over de database</a:t>
            </a:r>
          </a:p>
          <a:p>
            <a:endParaRPr lang="nl-NL"/>
          </a:p>
          <a:p>
            <a:pPr marL="285750" indent="-285750">
              <a:buFont typeface="Calibri"/>
              <a:buChar char="-"/>
            </a:pPr>
            <a:r>
              <a:rPr lang="nl-NL">
                <a:solidFill>
                  <a:srgbClr val="00B0F0"/>
                </a:solidFill>
              </a:rPr>
              <a:t>Kort samengevat: Je misleidt de website door gebruik van kwaadaardige User Input om eigen commando's uit te voeren</a:t>
            </a:r>
          </a:p>
        </p:txBody>
      </p:sp>
    </p:spTree>
    <p:extLst>
      <p:ext uri="{BB962C8B-B14F-4D97-AF65-F5344CB8AC3E}">
        <p14:creationId xmlns:p14="http://schemas.microsoft.com/office/powerpoint/2010/main" val="299292901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5DB250-1E77-9EC1-437D-2854E137AB48}"/>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D82F82BC-5306-C083-95B5-851C34F41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40CA3D0-5B2C-887C-CEB3-AB7FC2B5AD74}"/>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a:t>Types van SQLi: #1 In-Band</a:t>
            </a:r>
            <a:endParaRPr lang="nl-NL">
              <a:ea typeface="+mj-ea"/>
              <a:cs typeface="+mj-cs"/>
            </a:endParaRPr>
          </a:p>
        </p:txBody>
      </p:sp>
      <p:sp>
        <p:nvSpPr>
          <p:cNvPr id="4" name="Tekstvak 3">
            <a:extLst>
              <a:ext uri="{FF2B5EF4-FFF2-40B4-BE49-F238E27FC236}">
                <a16:creationId xmlns:a16="http://schemas.microsoft.com/office/drawing/2014/main" id="{2285CE14-6953-7964-4F5B-7573B78CD3C2}"/>
              </a:ext>
            </a:extLst>
          </p:cNvPr>
          <p:cNvSpPr txBox="1"/>
          <p:nvPr/>
        </p:nvSpPr>
        <p:spPr>
          <a:xfrm>
            <a:off x="522376" y="1577735"/>
            <a:ext cx="10849438" cy="86518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a:lnSpc>
                <a:spcPct val="120000"/>
              </a:lnSpc>
              <a:spcBef>
                <a:spcPts val="1000"/>
              </a:spcBef>
            </a:pPr>
            <a:r>
              <a:rPr lang="en-US" b="1"/>
              <a:t>In-band</a:t>
            </a:r>
            <a:r>
              <a:rPr lang="en-US"/>
              <a:t>: De </a:t>
            </a:r>
            <a:r>
              <a:rPr lang="en-US" err="1"/>
              <a:t>aanvaller</a:t>
            </a:r>
            <a:r>
              <a:rPr lang="en-US"/>
              <a:t> </a:t>
            </a:r>
            <a:r>
              <a:rPr lang="en-US" err="1"/>
              <a:t>krijgt</a:t>
            </a:r>
            <a:r>
              <a:rPr lang="en-US"/>
              <a:t> direct feedback van </a:t>
            </a:r>
            <a:r>
              <a:rPr lang="en-US" err="1"/>
              <a:t>pogingen</a:t>
            </a:r>
            <a:r>
              <a:rPr lang="en-US"/>
              <a:t> (</a:t>
            </a:r>
            <a:r>
              <a:rPr lang="en-US" err="1"/>
              <a:t>bv</a:t>
            </a:r>
            <a:r>
              <a:rPr lang="en-US"/>
              <a:t>: </a:t>
            </a:r>
            <a:r>
              <a:rPr lang="en-US" err="1"/>
              <a:t>loginpagina</a:t>
            </a:r>
            <a:r>
              <a:rPr lang="en-US"/>
              <a:t> met </a:t>
            </a:r>
            <a:r>
              <a:rPr lang="en-US" err="1"/>
              <a:t>foutmeldingen</a:t>
            </a:r>
            <a:r>
              <a:rPr lang="en-US"/>
              <a:t>)</a:t>
            </a:r>
            <a:endParaRPr lang="nl-NL"/>
          </a:p>
          <a:p>
            <a:pPr marL="342900" indent="-285750">
              <a:lnSpc>
                <a:spcPct val="120000"/>
              </a:lnSpc>
              <a:spcBef>
                <a:spcPts val="1000"/>
              </a:spcBef>
              <a:buFont typeface="Calibri"/>
              <a:buChar char="-"/>
            </a:pPr>
            <a:r>
              <a:rPr lang="en-US"/>
              <a:t>Als </a:t>
            </a:r>
            <a:r>
              <a:rPr lang="en-US" err="1"/>
              <a:t>foutmeldingen</a:t>
            </a:r>
            <a:r>
              <a:rPr lang="en-US"/>
              <a:t> </a:t>
            </a:r>
            <a:r>
              <a:rPr lang="en-US" err="1"/>
              <a:t>aanstaan</a:t>
            </a:r>
            <a:r>
              <a:rPr lang="en-US"/>
              <a:t>: </a:t>
            </a:r>
            <a:r>
              <a:rPr lang="en-US" err="1"/>
              <a:t>meer</a:t>
            </a:r>
            <a:r>
              <a:rPr lang="en-US"/>
              <a:t> </a:t>
            </a:r>
            <a:r>
              <a:rPr lang="en-US" err="1"/>
              <a:t>munitie</a:t>
            </a:r>
            <a:r>
              <a:rPr lang="en-US"/>
              <a:t> </a:t>
            </a:r>
            <a:r>
              <a:rPr lang="en-US" err="1"/>
              <a:t>voor</a:t>
            </a:r>
            <a:r>
              <a:rPr lang="en-US"/>
              <a:t> hackers/</a:t>
            </a:r>
            <a:r>
              <a:rPr lang="en-US" err="1"/>
              <a:t>aanvallers</a:t>
            </a:r>
            <a:endParaRPr lang="en-US"/>
          </a:p>
        </p:txBody>
      </p:sp>
      <p:pic>
        <p:nvPicPr>
          <p:cNvPr id="3" name="Afbeelding 2" descr="Afbeelding met tekst, Lettertype, schermopname, lijn&#10;&#10;Door AI gegenereerde inhoud is mogelijk onjuist.">
            <a:extLst>
              <a:ext uri="{FF2B5EF4-FFF2-40B4-BE49-F238E27FC236}">
                <a16:creationId xmlns:a16="http://schemas.microsoft.com/office/drawing/2014/main" id="{369E8104-381E-3551-13C4-54FBABB69390}"/>
              </a:ext>
            </a:extLst>
          </p:cNvPr>
          <p:cNvPicPr>
            <a:picLocks noChangeAspect="1"/>
          </p:cNvPicPr>
          <p:nvPr/>
        </p:nvPicPr>
        <p:blipFill>
          <a:blip r:embed="rId2"/>
          <a:stretch>
            <a:fillRect/>
          </a:stretch>
        </p:blipFill>
        <p:spPr>
          <a:xfrm>
            <a:off x="257175" y="2796469"/>
            <a:ext cx="11677650" cy="1885950"/>
          </a:xfrm>
          <a:prstGeom prst="rect">
            <a:avLst/>
          </a:prstGeom>
        </p:spPr>
      </p:pic>
    </p:spTree>
    <p:extLst>
      <p:ext uri="{BB962C8B-B14F-4D97-AF65-F5344CB8AC3E}">
        <p14:creationId xmlns:p14="http://schemas.microsoft.com/office/powerpoint/2010/main" val="584798802"/>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C07761-28E2-D288-5104-796851CDF246}"/>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66D8999-29AD-221D-0C55-18FC072B0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750E6A0-BE93-658D-25D5-2FABA01C35D4}"/>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a:t>Types van SQLi: #2 Inferential/Blind</a:t>
            </a:r>
            <a:endParaRPr lang="nl-NL">
              <a:ea typeface="+mj-ea"/>
              <a:cs typeface="+mj-cs"/>
            </a:endParaRPr>
          </a:p>
        </p:txBody>
      </p:sp>
      <p:sp>
        <p:nvSpPr>
          <p:cNvPr id="4" name="Tekstvak 3">
            <a:extLst>
              <a:ext uri="{FF2B5EF4-FFF2-40B4-BE49-F238E27FC236}">
                <a16:creationId xmlns:a16="http://schemas.microsoft.com/office/drawing/2014/main" id="{DD43FDF0-2E5A-0C14-7CF3-643B7225CE65}"/>
              </a:ext>
            </a:extLst>
          </p:cNvPr>
          <p:cNvSpPr txBox="1"/>
          <p:nvPr/>
        </p:nvSpPr>
        <p:spPr>
          <a:xfrm>
            <a:off x="522376" y="1577735"/>
            <a:ext cx="10849438" cy="483886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marL="57150">
              <a:lnSpc>
                <a:spcPct val="120000"/>
              </a:lnSpc>
              <a:spcBef>
                <a:spcPts val="1000"/>
              </a:spcBef>
            </a:pPr>
            <a:r>
              <a:rPr lang="en-US" b="1"/>
              <a:t>Inferential/blind</a:t>
            </a:r>
            <a:r>
              <a:rPr lang="en-US"/>
              <a:t>: De </a:t>
            </a:r>
            <a:r>
              <a:rPr lang="en-US" err="1"/>
              <a:t>aanvaller</a:t>
            </a:r>
            <a:r>
              <a:rPr lang="en-US"/>
              <a:t> </a:t>
            </a:r>
            <a:r>
              <a:rPr lang="en-US" err="1"/>
              <a:t>ziet</a:t>
            </a:r>
            <a:r>
              <a:rPr lang="en-US"/>
              <a:t> </a:t>
            </a:r>
            <a:r>
              <a:rPr lang="en-US" err="1"/>
              <a:t>geen</a:t>
            </a:r>
            <a:r>
              <a:rPr lang="en-US"/>
              <a:t> </a:t>
            </a:r>
            <a:r>
              <a:rPr lang="en-US" err="1"/>
              <a:t>foutmeldingen</a:t>
            </a:r>
            <a:r>
              <a:rPr lang="en-US"/>
              <a:t> of </a:t>
            </a:r>
            <a:r>
              <a:rPr lang="en-US" err="1"/>
              <a:t>veranderingen</a:t>
            </a:r>
            <a:r>
              <a:rPr lang="en-US"/>
              <a:t> in </a:t>
            </a:r>
            <a:r>
              <a:rPr lang="en-US" err="1"/>
              <a:t>getoonde</a:t>
            </a:r>
            <a:r>
              <a:rPr lang="en-US"/>
              <a:t> </a:t>
            </a:r>
            <a:r>
              <a:rPr lang="en-US" err="1"/>
              <a:t>gegevens</a:t>
            </a:r>
            <a:r>
              <a:rPr lang="en-US"/>
              <a:t> (</a:t>
            </a:r>
            <a:r>
              <a:rPr lang="en-US" err="1"/>
              <a:t>bv</a:t>
            </a:r>
            <a:r>
              <a:rPr lang="en-US"/>
              <a:t>: </a:t>
            </a:r>
            <a:r>
              <a:rPr lang="en-US" err="1"/>
              <a:t>filterconstructie</a:t>
            </a:r>
            <a:r>
              <a:rPr lang="en-US"/>
              <a:t> met GET parameter)</a:t>
            </a:r>
            <a:endParaRPr lang="nl-NL"/>
          </a:p>
          <a:p>
            <a:pPr marL="342900" indent="-285750">
              <a:lnSpc>
                <a:spcPct val="120000"/>
              </a:lnSpc>
              <a:spcBef>
                <a:spcPts val="1000"/>
              </a:spcBef>
              <a:buFont typeface="Calibri"/>
              <a:buChar char="-"/>
            </a:pPr>
            <a:r>
              <a:rPr lang="en-US" err="1"/>
              <a:t>Gebruik</a:t>
            </a:r>
            <a:r>
              <a:rPr lang="en-US"/>
              <a:t> </a:t>
            </a:r>
            <a:r>
              <a:rPr lang="en-US" err="1"/>
              <a:t>maken</a:t>
            </a:r>
            <a:r>
              <a:rPr lang="en-US"/>
              <a:t> van meta-</a:t>
            </a:r>
            <a:r>
              <a:rPr lang="en-US" err="1"/>
              <a:t>informatie</a:t>
            </a:r>
            <a:r>
              <a:rPr lang="en-US"/>
              <a:t> </a:t>
            </a:r>
            <a:r>
              <a:rPr lang="en-US" err="1"/>
              <a:t>als</a:t>
            </a:r>
            <a:r>
              <a:rPr lang="en-US"/>
              <a:t> </a:t>
            </a:r>
            <a:r>
              <a:rPr lang="en-US" err="1"/>
              <a:t>laadtijden</a:t>
            </a:r>
            <a:r>
              <a:rPr lang="en-US"/>
              <a:t> </a:t>
            </a:r>
            <a:r>
              <a:rPr lang="en-US" err="1"/>
              <a:t>en</a:t>
            </a:r>
            <a:r>
              <a:rPr lang="en-US"/>
              <a:t> </a:t>
            </a:r>
            <a:r>
              <a:rPr lang="en-US" err="1"/>
              <a:t>indirecte</a:t>
            </a:r>
            <a:r>
              <a:rPr lang="en-US"/>
              <a:t> </a:t>
            </a:r>
            <a:r>
              <a:rPr lang="en-US" err="1"/>
              <a:t>resultaten</a:t>
            </a:r>
            <a:r>
              <a:rPr lang="en-US"/>
              <a:t> (*)</a:t>
            </a:r>
          </a:p>
          <a:p>
            <a:pPr marL="342900" indent="-285750">
              <a:lnSpc>
                <a:spcPct val="120000"/>
              </a:lnSpc>
              <a:spcBef>
                <a:spcPts val="1000"/>
              </a:spcBef>
              <a:buFont typeface="Calibri"/>
              <a:buChar char="-"/>
            </a:pPr>
            <a:endParaRPr lang="en-US"/>
          </a:p>
          <a:p>
            <a:pPr marL="342900" indent="-285750">
              <a:lnSpc>
                <a:spcPct val="120000"/>
              </a:lnSpc>
              <a:spcBef>
                <a:spcPts val="1000"/>
              </a:spcBef>
              <a:buFont typeface="Calibri"/>
              <a:buChar char="-"/>
            </a:pPr>
            <a:r>
              <a:rPr lang="en-US" b="1" err="1"/>
              <a:t>Indirecte</a:t>
            </a:r>
            <a:r>
              <a:rPr lang="en-US" b="1"/>
              <a:t> </a:t>
            </a:r>
            <a:r>
              <a:rPr lang="en-US" b="1" err="1"/>
              <a:t>resultaten</a:t>
            </a:r>
            <a:r>
              <a:rPr lang="en-US" b="1"/>
              <a:t> </a:t>
            </a:r>
            <a:r>
              <a:rPr lang="en-US" b="1" err="1"/>
              <a:t>verkrijgen</a:t>
            </a:r>
            <a:r>
              <a:rPr lang="en-US" b="1"/>
              <a:t>:</a:t>
            </a:r>
          </a:p>
          <a:p>
            <a:pPr marL="57150">
              <a:lnSpc>
                <a:spcPct val="120000"/>
              </a:lnSpc>
              <a:spcBef>
                <a:spcPts val="1000"/>
              </a:spcBef>
            </a:pPr>
            <a:r>
              <a:rPr lang="en-US"/>
              <a:t> - (1) Boolean based</a:t>
            </a:r>
          </a:p>
          <a:p>
            <a:pPr marL="57150">
              <a:lnSpc>
                <a:spcPct val="120000"/>
              </a:lnSpc>
              <a:spcBef>
                <a:spcPts val="1000"/>
              </a:spcBef>
            </a:pPr>
            <a:r>
              <a:rPr lang="en-US"/>
              <a:t> - (2) Time based: </a:t>
            </a:r>
            <a:r>
              <a:rPr lang="en-US" err="1"/>
              <a:t>productID</a:t>
            </a:r>
            <a:r>
              <a:rPr lang="en-US"/>
              <a:t> </a:t>
            </a:r>
            <a:r>
              <a:rPr lang="en-US" err="1"/>
              <a:t>invoer</a:t>
            </a:r>
            <a:r>
              <a:rPr lang="en-US"/>
              <a:t>: 42; IF(EXISTS(SELECT DATABASE LIKE `a_%`)); WAITFOR DELAY '0:0:10'</a:t>
            </a:r>
          </a:p>
          <a:p>
            <a:pPr marL="57150">
              <a:lnSpc>
                <a:spcPct val="120000"/>
              </a:lnSpc>
              <a:spcBef>
                <a:spcPts val="1000"/>
              </a:spcBef>
            </a:pPr>
            <a:endParaRPr lang="en-US"/>
          </a:p>
          <a:p>
            <a:pPr marL="57150">
              <a:lnSpc>
                <a:spcPct val="120000"/>
              </a:lnSpc>
              <a:spcBef>
                <a:spcPts val="1000"/>
              </a:spcBef>
            </a:pPr>
            <a:r>
              <a:rPr lang="en-US"/>
              <a:t>(2) </a:t>
            </a:r>
            <a:r>
              <a:rPr lang="en-US" err="1"/>
              <a:t>als</a:t>
            </a:r>
            <a:r>
              <a:rPr lang="en-US"/>
              <a:t> het 10sec+ </a:t>
            </a:r>
            <a:r>
              <a:rPr lang="en-US" err="1"/>
              <a:t>duurt</a:t>
            </a:r>
            <a:r>
              <a:rPr lang="en-US"/>
              <a:t> om </a:t>
            </a:r>
            <a:r>
              <a:rPr lang="en-US" err="1"/>
              <a:t>resultaten</a:t>
            </a:r>
            <a:r>
              <a:rPr lang="en-US"/>
              <a:t> </a:t>
            </a:r>
            <a:r>
              <a:rPr lang="en-US" err="1"/>
              <a:t>te</a:t>
            </a:r>
            <a:r>
              <a:rPr lang="en-US"/>
              <a:t> </a:t>
            </a:r>
            <a:r>
              <a:rPr lang="en-US" err="1"/>
              <a:t>zien</a:t>
            </a:r>
            <a:r>
              <a:rPr lang="en-US"/>
              <a:t> of </a:t>
            </a:r>
            <a:r>
              <a:rPr lang="en-US" err="1"/>
              <a:t>pagina</a:t>
            </a:r>
            <a:r>
              <a:rPr lang="en-US"/>
              <a:t> </a:t>
            </a:r>
            <a:r>
              <a:rPr lang="en-US" err="1"/>
              <a:t>laadt</a:t>
            </a:r>
            <a:r>
              <a:rPr lang="en-US"/>
              <a:t>: dan is het IF statement TRUE, </a:t>
            </a:r>
            <a:r>
              <a:rPr lang="en-US" err="1"/>
              <a:t>en</a:t>
            </a:r>
            <a:r>
              <a:rPr lang="en-US"/>
              <a:t> dan </a:t>
            </a:r>
            <a:r>
              <a:rPr lang="en-US" err="1"/>
              <a:t>bestaat</a:t>
            </a:r>
            <a:r>
              <a:rPr lang="en-US"/>
              <a:t> er </a:t>
            </a:r>
            <a:r>
              <a:rPr lang="en-US" err="1"/>
              <a:t>een</a:t>
            </a:r>
            <a:r>
              <a:rPr lang="en-US"/>
              <a:t> database die start met de letter A.</a:t>
            </a:r>
          </a:p>
          <a:p>
            <a:pPr marL="57150">
              <a:lnSpc>
                <a:spcPct val="120000"/>
              </a:lnSpc>
              <a:spcBef>
                <a:spcPts val="1000"/>
              </a:spcBef>
            </a:pPr>
            <a:r>
              <a:rPr lang="en-US" err="1"/>
              <a:t>Kijk</a:t>
            </a:r>
            <a:r>
              <a:rPr lang="en-US"/>
              <a:t> op: </a:t>
            </a:r>
            <a:r>
              <a:rPr lang="en-US">
                <a:ea typeface="+mn-lt"/>
                <a:cs typeface="+mn-lt"/>
                <a:hlinkClick r:id="rId2"/>
              </a:rPr>
              <a:t>https://www.invicti.com/learn/blind-sql-injection</a:t>
            </a:r>
            <a:r>
              <a:rPr lang="en-US">
                <a:ea typeface="+mn-lt"/>
                <a:cs typeface="+mn-lt"/>
              </a:rPr>
              <a:t> </a:t>
            </a:r>
            <a:endParaRPr lang="en-US"/>
          </a:p>
        </p:txBody>
      </p:sp>
    </p:spTree>
    <p:extLst>
      <p:ext uri="{BB962C8B-B14F-4D97-AF65-F5344CB8AC3E}">
        <p14:creationId xmlns:p14="http://schemas.microsoft.com/office/powerpoint/2010/main" val="174763874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097454-5800-17B3-DF05-31C1AD3140C0}"/>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B0F61EA4-0E5D-01DA-931D-9CAD10F65D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C7CDB14-6810-97BB-561A-16E7173AEB33}"/>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a:t>Types van SQLi: #3 Out-of-band</a:t>
            </a:r>
            <a:endParaRPr lang="nl-NL">
              <a:ea typeface="+mj-ea"/>
              <a:cs typeface="+mj-cs"/>
            </a:endParaRPr>
          </a:p>
        </p:txBody>
      </p:sp>
      <p:sp>
        <p:nvSpPr>
          <p:cNvPr id="4" name="Tekstvak 3">
            <a:extLst>
              <a:ext uri="{FF2B5EF4-FFF2-40B4-BE49-F238E27FC236}">
                <a16:creationId xmlns:a16="http://schemas.microsoft.com/office/drawing/2014/main" id="{1E559969-B1E4-BBB9-C9F7-4C43C5DDD083}"/>
              </a:ext>
            </a:extLst>
          </p:cNvPr>
          <p:cNvSpPr txBox="1"/>
          <p:nvPr/>
        </p:nvSpPr>
        <p:spPr>
          <a:xfrm>
            <a:off x="522376" y="1577735"/>
            <a:ext cx="10849438" cy="483886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a:lnSpc>
                <a:spcPct val="120000"/>
              </a:lnSpc>
              <a:spcBef>
                <a:spcPts val="1000"/>
              </a:spcBef>
            </a:pPr>
            <a:r>
              <a:rPr lang="en-US" b="1" dirty="0"/>
              <a:t>Out-of-band: door </a:t>
            </a:r>
            <a:r>
              <a:rPr lang="en-US" b="1" dirty="0" err="1"/>
              <a:t>gebruik</a:t>
            </a:r>
            <a:r>
              <a:rPr lang="en-US" b="1" dirty="0"/>
              <a:t> van </a:t>
            </a:r>
            <a:r>
              <a:rPr lang="en-US" b="1" dirty="0" err="1"/>
              <a:t>een</a:t>
            </a:r>
            <a:r>
              <a:rPr lang="en-US" b="1" dirty="0"/>
              <a:t> medium (e-mail, DNS) </a:t>
            </a:r>
            <a:r>
              <a:rPr lang="en-US" b="1" dirty="0" err="1"/>
              <a:t>verschillend</a:t>
            </a:r>
            <a:r>
              <a:rPr lang="en-US" b="1" dirty="0"/>
              <a:t> van HTTP</a:t>
            </a:r>
            <a:endParaRPr lang="nl-NL" dirty="0"/>
          </a:p>
          <a:p>
            <a:pPr marL="342900" indent="-285750">
              <a:lnSpc>
                <a:spcPct val="120000"/>
              </a:lnSpc>
              <a:spcBef>
                <a:spcPts val="1000"/>
              </a:spcBef>
              <a:buFont typeface="Calibri"/>
              <a:buChar char="-"/>
            </a:pPr>
            <a:endParaRPr lang="en-US"/>
          </a:p>
          <a:p>
            <a:pPr marL="342900" indent="-285750">
              <a:lnSpc>
                <a:spcPct val="120000"/>
              </a:lnSpc>
              <a:spcBef>
                <a:spcPts val="1000"/>
              </a:spcBef>
              <a:buFont typeface="Calibri"/>
              <a:buChar char="-"/>
            </a:pPr>
            <a:r>
              <a:rPr lang="en-US" dirty="0" err="1"/>
              <a:t>Voorbeeld</a:t>
            </a:r>
            <a:r>
              <a:rPr lang="en-US" dirty="0"/>
              <a:t>: School  DNS / </a:t>
            </a:r>
            <a:r>
              <a:rPr lang="en-US" dirty="0" err="1"/>
              <a:t>Classroom.Cloud</a:t>
            </a:r>
            <a:r>
              <a:rPr lang="en-US" dirty="0"/>
              <a:t> op alle </a:t>
            </a:r>
            <a:r>
              <a:rPr lang="en-US" dirty="0" err="1"/>
              <a:t>schoollaptops</a:t>
            </a:r>
            <a:r>
              <a:rPr lang="en-US" dirty="0"/>
              <a:t> </a:t>
            </a:r>
            <a:r>
              <a:rPr lang="en-US" dirty="0" err="1"/>
              <a:t>bewaren</a:t>
            </a:r>
            <a:r>
              <a:rPr lang="en-US" dirty="0"/>
              <a:t> alle </a:t>
            </a:r>
            <a:r>
              <a:rPr lang="en-US" dirty="0" err="1"/>
              <a:t>bezochte</a:t>
            </a:r>
            <a:r>
              <a:rPr lang="en-US" dirty="0"/>
              <a:t> websites in </a:t>
            </a:r>
            <a:r>
              <a:rPr lang="en-US" dirty="0" err="1"/>
              <a:t>een</a:t>
            </a:r>
            <a:r>
              <a:rPr lang="en-US" dirty="0"/>
              <a:t> Database.</a:t>
            </a:r>
          </a:p>
          <a:p>
            <a:pPr marL="342900" indent="-285750">
              <a:lnSpc>
                <a:spcPct val="120000"/>
              </a:lnSpc>
              <a:spcBef>
                <a:spcPts val="1000"/>
              </a:spcBef>
              <a:buFont typeface="Calibri"/>
              <a:buChar char="-"/>
            </a:pPr>
            <a:r>
              <a:rPr lang="en-US" dirty="0"/>
              <a:t>Als </a:t>
            </a:r>
            <a:r>
              <a:rPr lang="en-US" dirty="0" err="1"/>
              <a:t>een</a:t>
            </a:r>
            <a:r>
              <a:rPr lang="en-US" dirty="0"/>
              <a:t> </a:t>
            </a:r>
            <a:r>
              <a:rPr lang="en-US" dirty="0" err="1"/>
              <a:t>leerling</a:t>
            </a:r>
            <a:r>
              <a:rPr lang="en-US" dirty="0"/>
              <a:t> </a:t>
            </a:r>
            <a:r>
              <a:rPr lang="en-US" dirty="0" err="1"/>
              <a:t>een</a:t>
            </a:r>
            <a:r>
              <a:rPr lang="en-US" dirty="0"/>
              <a:t> DNS </a:t>
            </a:r>
            <a:r>
              <a:rPr lang="en-US" dirty="0" err="1"/>
              <a:t>verzoek</a:t>
            </a:r>
            <a:r>
              <a:rPr lang="en-US" dirty="0"/>
              <a:t> </a:t>
            </a:r>
            <a:r>
              <a:rPr lang="en-US" dirty="0" err="1"/>
              <a:t>stuurt</a:t>
            </a:r>
            <a:r>
              <a:rPr lang="en-US" dirty="0"/>
              <a:t> met Python in </a:t>
            </a:r>
            <a:r>
              <a:rPr lang="en-US" dirty="0" err="1"/>
              <a:t>een</a:t>
            </a:r>
            <a:r>
              <a:rPr lang="en-US" dirty="0"/>
              <a:t> loop </a:t>
            </a:r>
            <a:r>
              <a:rPr lang="en-US" dirty="0" err="1"/>
              <a:t>rechtstreeks</a:t>
            </a:r>
            <a:r>
              <a:rPr lang="en-US" dirty="0"/>
              <a:t> </a:t>
            </a:r>
            <a:r>
              <a:rPr lang="en-US" dirty="0" err="1"/>
              <a:t>naar</a:t>
            </a:r>
            <a:r>
              <a:rPr lang="en-US" dirty="0"/>
              <a:t> DNS server met </a:t>
            </a:r>
            <a:r>
              <a:rPr lang="en-US" dirty="0" err="1"/>
              <a:t>als</a:t>
            </a:r>
            <a:r>
              <a:rPr lang="en-US" dirty="0"/>
              <a:t> </a:t>
            </a:r>
            <a:r>
              <a:rPr lang="en-US" dirty="0" err="1"/>
              <a:t>invoer</a:t>
            </a:r>
            <a:r>
              <a:rPr lang="en-US"/>
              <a:t>: "school_name.smartschool.be; DROP DATABASE *"</a:t>
            </a:r>
          </a:p>
          <a:p>
            <a:pPr marL="342900" indent="-285750">
              <a:lnSpc>
                <a:spcPct val="120000"/>
              </a:lnSpc>
              <a:spcBef>
                <a:spcPts val="1000"/>
              </a:spcBef>
              <a:buFont typeface="Calibri"/>
              <a:buChar char="-"/>
            </a:pPr>
            <a:r>
              <a:rPr lang="en-US" dirty="0">
                <a:solidFill>
                  <a:srgbClr val="FF0000"/>
                </a:solidFill>
              </a:rPr>
              <a:t>=&gt; Data </a:t>
            </a:r>
            <a:r>
              <a:rPr lang="en-US" dirty="0" err="1">
                <a:solidFill>
                  <a:srgbClr val="FF0000"/>
                </a:solidFill>
              </a:rPr>
              <a:t>kwijt</a:t>
            </a:r>
            <a:r>
              <a:rPr lang="en-US" dirty="0">
                <a:solidFill>
                  <a:srgbClr val="FF0000"/>
                </a:solidFill>
              </a:rPr>
              <a:t> </a:t>
            </a:r>
            <a:r>
              <a:rPr lang="en-US" dirty="0" err="1">
                <a:solidFill>
                  <a:srgbClr val="FF0000"/>
                </a:solidFill>
              </a:rPr>
              <a:t>en</a:t>
            </a:r>
            <a:r>
              <a:rPr lang="en-US" dirty="0">
                <a:solidFill>
                  <a:srgbClr val="FF0000"/>
                </a:solidFill>
              </a:rPr>
              <a:t> </a:t>
            </a:r>
            <a:r>
              <a:rPr lang="en-US" dirty="0" err="1">
                <a:solidFill>
                  <a:srgbClr val="FF0000"/>
                </a:solidFill>
              </a:rPr>
              <a:t>blijft</a:t>
            </a:r>
            <a:r>
              <a:rPr lang="en-US" dirty="0">
                <a:solidFill>
                  <a:srgbClr val="FF0000"/>
                </a:solidFill>
              </a:rPr>
              <a:t> </a:t>
            </a:r>
            <a:r>
              <a:rPr lang="en-US" dirty="0" err="1">
                <a:solidFill>
                  <a:srgbClr val="FF0000"/>
                </a:solidFill>
              </a:rPr>
              <a:t>gewist</a:t>
            </a:r>
            <a:r>
              <a:rPr lang="en-US" dirty="0">
                <a:solidFill>
                  <a:srgbClr val="FF0000"/>
                </a:solidFill>
              </a:rPr>
              <a:t> </a:t>
            </a:r>
            <a:r>
              <a:rPr lang="en-US" dirty="0" err="1">
                <a:solidFill>
                  <a:srgbClr val="FF0000"/>
                </a:solidFill>
              </a:rPr>
              <a:t>zolang</a:t>
            </a:r>
            <a:r>
              <a:rPr lang="en-US" dirty="0">
                <a:solidFill>
                  <a:srgbClr val="FF0000"/>
                </a:solidFill>
              </a:rPr>
              <a:t> de </a:t>
            </a:r>
            <a:r>
              <a:rPr lang="en-US" dirty="0" err="1">
                <a:solidFill>
                  <a:srgbClr val="FF0000"/>
                </a:solidFill>
              </a:rPr>
              <a:t>kwetsbaarheid</a:t>
            </a:r>
            <a:r>
              <a:rPr lang="en-US" dirty="0">
                <a:solidFill>
                  <a:srgbClr val="FF0000"/>
                </a:solidFill>
              </a:rPr>
              <a:t> </a:t>
            </a:r>
            <a:r>
              <a:rPr lang="en-US" dirty="0" err="1">
                <a:solidFill>
                  <a:srgbClr val="FF0000"/>
                </a:solidFill>
              </a:rPr>
              <a:t>bestaat</a:t>
            </a:r>
            <a:endParaRPr lang="en-US" dirty="0">
              <a:solidFill>
                <a:srgbClr val="FF0000"/>
              </a:solidFill>
            </a:endParaRPr>
          </a:p>
        </p:txBody>
      </p:sp>
    </p:spTree>
    <p:extLst>
      <p:ext uri="{BB962C8B-B14F-4D97-AF65-F5344CB8AC3E}">
        <p14:creationId xmlns:p14="http://schemas.microsoft.com/office/powerpoint/2010/main" val="67897407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ED6B05-844F-D4C7-DFB5-9D9E361C8D8B}"/>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67E893C8-B0FD-C464-E1E8-0704B3F33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32B42B4-9D02-5CFC-0DA6-D6775CEBAC5B}"/>
              </a:ext>
            </a:extLst>
          </p:cNvPr>
          <p:cNvSpPr>
            <a:spLocks noGrp="1"/>
          </p:cNvSpPr>
          <p:nvPr>
            <p:ph type="title"/>
          </p:nvPr>
        </p:nvSpPr>
        <p:spPr>
          <a:xfrm>
            <a:off x="614678" y="548640"/>
            <a:ext cx="10872216" cy="1133856"/>
          </a:xfrm>
        </p:spPr>
        <p:txBody>
          <a:bodyPr vert="horz" lIns="91440" tIns="45720" rIns="91440" bIns="45720" rtlCol="0" anchor="t">
            <a:normAutofit/>
          </a:bodyPr>
          <a:lstStyle/>
          <a:p>
            <a:r>
              <a:rPr lang="en-US"/>
              <a:t>Hoe </a:t>
            </a:r>
            <a:r>
              <a:rPr lang="en-US" err="1"/>
              <a:t>kwetsbaarheid</a:t>
            </a:r>
            <a:r>
              <a:rPr lang="en-US"/>
              <a:t> </a:t>
            </a:r>
            <a:r>
              <a:rPr lang="en-US" err="1"/>
              <a:t>tegen</a:t>
            </a:r>
            <a:r>
              <a:rPr lang="en-US"/>
              <a:t> SQLi </a:t>
            </a:r>
            <a:r>
              <a:rPr lang="en-US" err="1"/>
              <a:t>voorkomen</a:t>
            </a:r>
            <a:r>
              <a:rPr lang="en-US"/>
              <a:t>?</a:t>
            </a:r>
          </a:p>
        </p:txBody>
      </p:sp>
      <p:sp>
        <p:nvSpPr>
          <p:cNvPr id="4" name="Tekstvak 3">
            <a:extLst>
              <a:ext uri="{FF2B5EF4-FFF2-40B4-BE49-F238E27FC236}">
                <a16:creationId xmlns:a16="http://schemas.microsoft.com/office/drawing/2014/main" id="{A8C7FF3F-6174-4D0B-113C-F4C7FFDF2E88}"/>
              </a:ext>
            </a:extLst>
          </p:cNvPr>
          <p:cNvSpPr txBox="1"/>
          <p:nvPr/>
        </p:nvSpPr>
        <p:spPr>
          <a:xfrm>
            <a:off x="522376" y="1577735"/>
            <a:ext cx="10849438" cy="483886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a:lnSpc>
                <a:spcPct val="120000"/>
              </a:lnSpc>
              <a:spcBef>
                <a:spcPts val="1000"/>
              </a:spcBef>
            </a:pPr>
            <a:r>
              <a:rPr lang="en-US" sz="3200" b="1" err="1">
                <a:solidFill>
                  <a:srgbClr val="FFC800"/>
                </a:solidFill>
              </a:rPr>
              <a:t>Gouden</a:t>
            </a:r>
            <a:r>
              <a:rPr lang="en-US" sz="3200" b="1">
                <a:solidFill>
                  <a:srgbClr val="FFC800"/>
                </a:solidFill>
              </a:rPr>
              <a:t> regel: "NEVER trust User Input"</a:t>
            </a:r>
          </a:p>
          <a:p>
            <a:pPr marL="57150">
              <a:lnSpc>
                <a:spcPct val="120000"/>
              </a:lnSpc>
              <a:spcBef>
                <a:spcPts val="1000"/>
              </a:spcBef>
            </a:pPr>
            <a:r>
              <a:rPr lang="en-US" sz="3200" b="1">
                <a:solidFill>
                  <a:srgbClr val="FFC800"/>
                </a:solidFill>
              </a:rPr>
              <a:t>"</a:t>
            </a:r>
            <a:r>
              <a:rPr lang="en-US" sz="3200" b="1" err="1">
                <a:solidFill>
                  <a:srgbClr val="FFC800"/>
                </a:solidFill>
              </a:rPr>
              <a:t>Vertrouw</a:t>
            </a:r>
            <a:r>
              <a:rPr lang="en-US" sz="3200" b="1">
                <a:solidFill>
                  <a:srgbClr val="FFC800"/>
                </a:solidFill>
              </a:rPr>
              <a:t> </a:t>
            </a:r>
            <a:r>
              <a:rPr lang="en-US" sz="3200" b="1" err="1">
                <a:solidFill>
                  <a:srgbClr val="FFC800"/>
                </a:solidFill>
              </a:rPr>
              <a:t>geen</a:t>
            </a:r>
            <a:r>
              <a:rPr lang="en-US" sz="3200" b="1">
                <a:solidFill>
                  <a:srgbClr val="FFC800"/>
                </a:solidFill>
              </a:rPr>
              <a:t> </a:t>
            </a:r>
            <a:r>
              <a:rPr lang="en-US" sz="3200" b="1" err="1">
                <a:solidFill>
                  <a:srgbClr val="FFC800"/>
                </a:solidFill>
              </a:rPr>
              <a:t>enkele</a:t>
            </a:r>
            <a:r>
              <a:rPr lang="en-US" sz="3200" b="1">
                <a:solidFill>
                  <a:srgbClr val="FFC800"/>
                </a:solidFill>
              </a:rPr>
              <a:t> </a:t>
            </a:r>
            <a:r>
              <a:rPr lang="en-US" sz="3200" b="1" err="1">
                <a:solidFill>
                  <a:srgbClr val="FFC800"/>
                </a:solidFill>
              </a:rPr>
              <a:t>Gebruikersinvoer</a:t>
            </a:r>
            <a:r>
              <a:rPr lang="en-US" sz="3200" b="1">
                <a:solidFill>
                  <a:srgbClr val="FFC800"/>
                </a:solidFill>
              </a:rPr>
              <a:t>"</a:t>
            </a:r>
          </a:p>
          <a:p>
            <a:pPr marL="57150">
              <a:lnSpc>
                <a:spcPct val="120000"/>
              </a:lnSpc>
              <a:spcBef>
                <a:spcPts val="1000"/>
              </a:spcBef>
            </a:pPr>
            <a:endParaRPr lang="en-US" sz="2000" b="1">
              <a:solidFill>
                <a:srgbClr val="FFC800"/>
              </a:solidFill>
            </a:endParaRPr>
          </a:p>
          <a:p>
            <a:pPr marL="57150">
              <a:lnSpc>
                <a:spcPct val="120000"/>
              </a:lnSpc>
              <a:spcBef>
                <a:spcPts val="1000"/>
              </a:spcBef>
            </a:pPr>
            <a:r>
              <a:rPr lang="en-US" sz="2000" b="1">
                <a:solidFill>
                  <a:schemeClr val="accent3"/>
                </a:solidFill>
              </a:rPr>
              <a:t>Ga er van </a:t>
            </a:r>
            <a:r>
              <a:rPr lang="en-US" sz="2000" b="1" err="1">
                <a:solidFill>
                  <a:schemeClr val="accent3"/>
                </a:solidFill>
              </a:rPr>
              <a:t>uit</a:t>
            </a:r>
            <a:r>
              <a:rPr lang="en-US" sz="2000" b="1">
                <a:solidFill>
                  <a:schemeClr val="accent3"/>
                </a:solidFill>
              </a:rPr>
              <a:t> </a:t>
            </a:r>
            <a:r>
              <a:rPr lang="en-US" sz="2000" b="1" err="1">
                <a:solidFill>
                  <a:schemeClr val="accent3"/>
                </a:solidFill>
              </a:rPr>
              <a:t>dat</a:t>
            </a:r>
            <a:r>
              <a:rPr lang="en-US" sz="2000" b="1">
                <a:solidFill>
                  <a:schemeClr val="accent3"/>
                </a:solidFill>
              </a:rPr>
              <a:t> ELKE input </a:t>
            </a:r>
            <a:r>
              <a:rPr lang="en-US" sz="2000" b="1" err="1">
                <a:solidFill>
                  <a:schemeClr val="accent3"/>
                </a:solidFill>
              </a:rPr>
              <a:t>meerdere</a:t>
            </a:r>
            <a:r>
              <a:rPr lang="en-US" sz="2000" b="1">
                <a:solidFill>
                  <a:schemeClr val="accent3"/>
                </a:solidFill>
              </a:rPr>
              <a:t> </a:t>
            </a:r>
            <a:r>
              <a:rPr lang="en-US" sz="2000" b="1" err="1">
                <a:solidFill>
                  <a:schemeClr val="accent3"/>
                </a:solidFill>
              </a:rPr>
              <a:t>pogingen</a:t>
            </a:r>
            <a:r>
              <a:rPr lang="en-US" sz="2000" b="1">
                <a:solidFill>
                  <a:schemeClr val="accent3"/>
                </a:solidFill>
              </a:rPr>
              <a:t> </a:t>
            </a:r>
            <a:r>
              <a:rPr lang="en-US" sz="2000" b="1" err="1">
                <a:solidFill>
                  <a:schemeClr val="accent3"/>
                </a:solidFill>
              </a:rPr>
              <a:t>bevat</a:t>
            </a:r>
            <a:r>
              <a:rPr lang="en-US" sz="2000" b="1">
                <a:solidFill>
                  <a:schemeClr val="accent3"/>
                </a:solidFill>
              </a:rPr>
              <a:t> </a:t>
            </a:r>
            <a:r>
              <a:rPr lang="en-US" sz="2000" b="1" err="1">
                <a:solidFill>
                  <a:schemeClr val="accent3"/>
                </a:solidFill>
              </a:rPr>
              <a:t>uit</a:t>
            </a:r>
            <a:r>
              <a:rPr lang="en-US" sz="2000" b="1">
                <a:solidFill>
                  <a:schemeClr val="accent3"/>
                </a:solidFill>
              </a:rPr>
              <a:t> </a:t>
            </a:r>
            <a:r>
              <a:rPr lang="en-US" sz="2000" b="1" err="1">
                <a:solidFill>
                  <a:schemeClr val="accent3"/>
                </a:solidFill>
              </a:rPr>
              <a:t>voorgaande</a:t>
            </a:r>
            <a:r>
              <a:rPr lang="en-US" sz="2000" b="1">
                <a:solidFill>
                  <a:schemeClr val="accent3"/>
                </a:solidFill>
              </a:rPr>
              <a:t> </a:t>
            </a:r>
            <a:r>
              <a:rPr lang="en-US" sz="2000" b="1" err="1">
                <a:solidFill>
                  <a:schemeClr val="accent3"/>
                </a:solidFill>
              </a:rPr>
              <a:t>voorbeelden</a:t>
            </a:r>
            <a:r>
              <a:rPr lang="en-US" sz="2000" b="1">
                <a:solidFill>
                  <a:schemeClr val="accent3"/>
                </a:solidFill>
              </a:rPr>
              <a:t>.</a:t>
            </a:r>
          </a:p>
          <a:p>
            <a:pPr marL="57150">
              <a:lnSpc>
                <a:spcPct val="120000"/>
              </a:lnSpc>
              <a:spcBef>
                <a:spcPts val="1000"/>
              </a:spcBef>
            </a:pPr>
            <a:r>
              <a:rPr lang="en-US" sz="2000" b="1" err="1"/>
              <a:t>Specifiek</a:t>
            </a:r>
            <a:r>
              <a:rPr lang="en-US" sz="2000" b="1"/>
              <a:t>:</a:t>
            </a:r>
          </a:p>
          <a:p>
            <a:pPr marL="400050" indent="-342900">
              <a:lnSpc>
                <a:spcPct val="120000"/>
              </a:lnSpc>
              <a:spcBef>
                <a:spcPts val="1000"/>
              </a:spcBef>
              <a:buFont typeface="Calibri"/>
              <a:buChar char="-"/>
            </a:pPr>
            <a:r>
              <a:rPr lang="en-US" sz="2000" b="1"/>
              <a:t>PHP </a:t>
            </a:r>
            <a:r>
              <a:rPr lang="en-US" sz="2000" b="1" err="1"/>
              <a:t>invoer</a:t>
            </a:r>
            <a:r>
              <a:rPr lang="en-US" sz="2000" b="1"/>
              <a:t> </a:t>
            </a:r>
            <a:r>
              <a:rPr lang="en-US" sz="2000" b="1" err="1"/>
              <a:t>filteren</a:t>
            </a:r>
            <a:r>
              <a:rPr lang="en-US" sz="2000" b="1"/>
              <a:t> (</a:t>
            </a:r>
            <a:r>
              <a:rPr lang="en-US" sz="2000" b="1" err="1"/>
              <a:t>htmlspecialchars</a:t>
            </a:r>
            <a:r>
              <a:rPr lang="en-US" sz="2000" b="1"/>
              <a:t> op POST </a:t>
            </a:r>
            <a:r>
              <a:rPr lang="en-US" sz="2000" b="1" err="1"/>
              <a:t>en</a:t>
            </a:r>
            <a:r>
              <a:rPr lang="en-US" sz="2000" b="1"/>
              <a:t> GET)</a:t>
            </a:r>
          </a:p>
          <a:p>
            <a:pPr marL="400050" indent="-342900">
              <a:lnSpc>
                <a:spcPct val="120000"/>
              </a:lnSpc>
              <a:spcBef>
                <a:spcPts val="1000"/>
              </a:spcBef>
              <a:buFont typeface="Calibri"/>
              <a:buChar char="-"/>
            </a:pPr>
            <a:r>
              <a:rPr lang="en-US" sz="2000" b="1"/>
              <a:t>PDO </a:t>
            </a:r>
            <a:r>
              <a:rPr lang="en-US" sz="2000" b="1" err="1"/>
              <a:t>gebruiken</a:t>
            </a:r>
            <a:r>
              <a:rPr lang="en-US" sz="2000" b="1"/>
              <a:t> (</a:t>
            </a:r>
            <a:r>
              <a:rPr lang="en-US" sz="2000" b="1" err="1"/>
              <a:t>striktere</a:t>
            </a:r>
            <a:r>
              <a:rPr lang="en-US" sz="2000" b="1"/>
              <a:t> </a:t>
            </a:r>
            <a:r>
              <a:rPr lang="en-US" sz="2000" b="1" err="1"/>
              <a:t>controle</a:t>
            </a:r>
            <a:r>
              <a:rPr lang="en-US" sz="2000" b="1"/>
              <a:t> op datatype van </a:t>
            </a:r>
            <a:r>
              <a:rPr lang="en-US" sz="2000" b="1" err="1"/>
              <a:t>gegeven</a:t>
            </a:r>
            <a:r>
              <a:rPr lang="en-US" sz="2000" b="1"/>
              <a:t> parameters </a:t>
            </a:r>
            <a:r>
              <a:rPr lang="en-US" sz="2000" b="1" err="1"/>
              <a:t>t.o.v</a:t>
            </a:r>
            <a:r>
              <a:rPr lang="en-US" sz="2000" b="1"/>
              <a:t>. </a:t>
            </a:r>
            <a:r>
              <a:rPr lang="en-US" sz="2000" b="1" err="1"/>
              <a:t>db</a:t>
            </a:r>
            <a:r>
              <a:rPr lang="en-US" sz="2000" b="1"/>
              <a:t>)</a:t>
            </a:r>
          </a:p>
          <a:p>
            <a:pPr marL="400050" indent="-342900">
              <a:lnSpc>
                <a:spcPct val="120000"/>
              </a:lnSpc>
              <a:spcBef>
                <a:spcPts val="1000"/>
              </a:spcBef>
              <a:buFont typeface="Calibri"/>
              <a:buChar char="-"/>
            </a:pPr>
            <a:r>
              <a:rPr lang="en-US" sz="2000" b="1"/>
              <a:t>Lengte van datatypes </a:t>
            </a:r>
            <a:r>
              <a:rPr lang="en-US" sz="2000" b="1" err="1"/>
              <a:t>beperken</a:t>
            </a:r>
            <a:r>
              <a:rPr lang="en-US" sz="2000" b="1"/>
              <a:t>: naam, </a:t>
            </a:r>
            <a:r>
              <a:rPr lang="en-US" sz="2000" b="1" err="1"/>
              <a:t>adressen</a:t>
            </a:r>
            <a:r>
              <a:rPr lang="en-US" sz="2000" b="1"/>
              <a:t>, </a:t>
            </a:r>
            <a:r>
              <a:rPr lang="en-US" sz="2000" b="1" err="1"/>
              <a:t>passwoorden</a:t>
            </a:r>
            <a:r>
              <a:rPr lang="en-US" sz="2000" b="1"/>
              <a:t>, </a:t>
            </a:r>
            <a:r>
              <a:rPr lang="en-US" sz="2000" b="1" err="1"/>
              <a:t>tel.nrs</a:t>
            </a:r>
            <a:endParaRPr lang="en-US" sz="2000" b="1"/>
          </a:p>
          <a:p>
            <a:pPr marL="57150">
              <a:lnSpc>
                <a:spcPct val="120000"/>
              </a:lnSpc>
              <a:spcBef>
                <a:spcPts val="1000"/>
              </a:spcBef>
            </a:pPr>
            <a:r>
              <a:rPr lang="en-US" sz="2000" b="1">
                <a:solidFill>
                  <a:srgbClr val="00B0F0"/>
                </a:solidFill>
              </a:rPr>
              <a:t>       =&gt;  </a:t>
            </a:r>
            <a:r>
              <a:rPr lang="en-US" sz="2000" b="1" err="1">
                <a:solidFill>
                  <a:srgbClr val="00B0F0"/>
                </a:solidFill>
              </a:rPr>
              <a:t>moeten</a:t>
            </a:r>
            <a:r>
              <a:rPr lang="en-US" sz="2000" b="1">
                <a:solidFill>
                  <a:srgbClr val="00B0F0"/>
                </a:solidFill>
              </a:rPr>
              <a:t> </a:t>
            </a:r>
            <a:r>
              <a:rPr lang="en-US" sz="2000" b="1" err="1">
                <a:solidFill>
                  <a:srgbClr val="00B0F0"/>
                </a:solidFill>
              </a:rPr>
              <a:t>toch</a:t>
            </a:r>
            <a:r>
              <a:rPr lang="en-US" sz="2000" b="1">
                <a:solidFill>
                  <a:srgbClr val="00B0F0"/>
                </a:solidFill>
              </a:rPr>
              <a:t> nooit &gt;200 </a:t>
            </a:r>
            <a:r>
              <a:rPr lang="en-US" sz="2000" b="1" err="1">
                <a:solidFill>
                  <a:srgbClr val="00B0F0"/>
                </a:solidFill>
              </a:rPr>
              <a:t>karakters</a:t>
            </a:r>
            <a:r>
              <a:rPr lang="en-US" sz="2000" b="1">
                <a:solidFill>
                  <a:srgbClr val="00B0F0"/>
                </a:solidFill>
              </a:rPr>
              <a:t> </a:t>
            </a:r>
            <a:r>
              <a:rPr lang="en-US" sz="2000" b="1" err="1">
                <a:solidFill>
                  <a:srgbClr val="00B0F0"/>
                </a:solidFill>
              </a:rPr>
              <a:t>bevatten</a:t>
            </a:r>
            <a:r>
              <a:rPr lang="en-US" sz="2000" b="1">
                <a:solidFill>
                  <a:srgbClr val="00B0F0"/>
                </a:solidFill>
              </a:rPr>
              <a:t>?</a:t>
            </a:r>
            <a:endParaRPr lang="en-US">
              <a:solidFill>
                <a:srgbClr val="00B0F0"/>
              </a:solidFill>
            </a:endParaRPr>
          </a:p>
        </p:txBody>
      </p:sp>
    </p:spTree>
    <p:extLst>
      <p:ext uri="{BB962C8B-B14F-4D97-AF65-F5344CB8AC3E}">
        <p14:creationId xmlns:p14="http://schemas.microsoft.com/office/powerpoint/2010/main" val="1648990135"/>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3D98A8-1D04-7D87-31E4-9BCD6CF8B11D}"/>
            </a:ext>
          </a:extLst>
        </p:cNvPr>
        <p:cNvGrpSpPr/>
        <p:nvPr/>
      </p:nvGrpSpPr>
      <p:grpSpPr>
        <a:xfrm>
          <a:off x="0" y="0"/>
          <a:ext cx="0" cy="0"/>
          <a:chOff x="0" y="0"/>
          <a:chExt cx="0" cy="0"/>
        </a:xfrm>
      </p:grpSpPr>
      <p:sp useBgFill="1">
        <p:nvSpPr>
          <p:cNvPr id="27" name="Rectangle 18">
            <a:extLst>
              <a:ext uri="{FF2B5EF4-FFF2-40B4-BE49-F238E27FC236}">
                <a16:creationId xmlns:a16="http://schemas.microsoft.com/office/drawing/2014/main" id="{2E162526-2C87-D11A-7C61-2426CD1E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8558FD5-87F1-66DA-091B-77492C316735}"/>
              </a:ext>
            </a:extLst>
          </p:cNvPr>
          <p:cNvSpPr>
            <a:spLocks noGrp="1"/>
          </p:cNvSpPr>
          <p:nvPr>
            <p:ph type="title"/>
          </p:nvPr>
        </p:nvSpPr>
        <p:spPr>
          <a:xfrm>
            <a:off x="614677" y="603504"/>
            <a:ext cx="10866572" cy="632698"/>
          </a:xfrm>
        </p:spPr>
        <p:txBody>
          <a:bodyPr vert="horz" lIns="91440" tIns="45720" rIns="91440" bIns="45720" rtlCol="0" anchor="b">
            <a:normAutofit/>
          </a:bodyPr>
          <a:lstStyle/>
          <a:p>
            <a:r>
              <a:rPr lang="en-US" dirty="0" err="1"/>
              <a:t>Visueel</a:t>
            </a:r>
            <a:r>
              <a:rPr lang="en-US" dirty="0"/>
              <a:t>: Hoe PDO SQL </a:t>
            </a:r>
            <a:r>
              <a:rPr lang="en-US" dirty="0" err="1"/>
              <a:t>injecties</a:t>
            </a:r>
            <a:r>
              <a:rPr lang="en-US" dirty="0"/>
              <a:t> </a:t>
            </a:r>
            <a:r>
              <a:rPr lang="en-US" dirty="0" err="1"/>
              <a:t>voorkomt</a:t>
            </a:r>
            <a:endParaRPr lang="nl-NL" dirty="0" err="1">
              <a:ea typeface="+mj-ea"/>
              <a:cs typeface="+mj-cs"/>
            </a:endParaRPr>
          </a:p>
        </p:txBody>
      </p:sp>
      <p:pic>
        <p:nvPicPr>
          <p:cNvPr id="5" name="Afbeelding 4" descr="Afbeelding met tekst, handschrift, schoolbord, krijt&#10;&#10;Door AI gegenereerde inhoud is mogelijk onjuist.">
            <a:extLst>
              <a:ext uri="{FF2B5EF4-FFF2-40B4-BE49-F238E27FC236}">
                <a16:creationId xmlns:a16="http://schemas.microsoft.com/office/drawing/2014/main" id="{5A2FA0D7-9303-129D-7AE1-04E6D7F8C971}"/>
              </a:ext>
            </a:extLst>
          </p:cNvPr>
          <p:cNvPicPr>
            <a:picLocks noChangeAspect="1"/>
          </p:cNvPicPr>
          <p:nvPr/>
        </p:nvPicPr>
        <p:blipFill>
          <a:blip r:embed="rId3"/>
          <a:stretch>
            <a:fillRect/>
          </a:stretch>
        </p:blipFill>
        <p:spPr>
          <a:xfrm>
            <a:off x="131645" y="1356832"/>
            <a:ext cx="12058403" cy="5930718"/>
          </a:xfrm>
          <a:prstGeom prst="rect">
            <a:avLst/>
          </a:prstGeom>
        </p:spPr>
      </p:pic>
    </p:spTree>
    <p:extLst>
      <p:ext uri="{BB962C8B-B14F-4D97-AF65-F5344CB8AC3E}">
        <p14:creationId xmlns:p14="http://schemas.microsoft.com/office/powerpoint/2010/main" val="237312014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BD9EF4-FCDE-3F1A-9071-DCD0D64B68B2}"/>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54E54DC-1740-D3A2-FB8E-A83B546FD1D2}"/>
              </a:ext>
            </a:extLst>
          </p:cNvPr>
          <p:cNvSpPr>
            <a:spLocks noGrp="1"/>
          </p:cNvSpPr>
          <p:nvPr>
            <p:ph type="title"/>
          </p:nvPr>
        </p:nvSpPr>
        <p:spPr>
          <a:xfrm>
            <a:off x="1994140" y="5137536"/>
            <a:ext cx="8203720" cy="732129"/>
          </a:xfrm>
        </p:spPr>
        <p:txBody>
          <a:bodyPr vert="horz" lIns="91440" tIns="45720" rIns="91440" bIns="45720" rtlCol="0" anchor="b">
            <a:normAutofit/>
          </a:bodyPr>
          <a:lstStyle/>
          <a:p>
            <a:pPr algn="ctr"/>
            <a:r>
              <a:rPr lang="en-US"/>
              <a:t>🔐Password Hashing🔑</a:t>
            </a:r>
          </a:p>
        </p:txBody>
      </p:sp>
      <p:pic>
        <p:nvPicPr>
          <p:cNvPr id="3" name="Afbeelding 2" descr="What is password hashing?">
            <a:extLst>
              <a:ext uri="{FF2B5EF4-FFF2-40B4-BE49-F238E27FC236}">
                <a16:creationId xmlns:a16="http://schemas.microsoft.com/office/drawing/2014/main" id="{41FF9EBE-3FA9-78C9-8143-55612E3D69AB}"/>
              </a:ext>
            </a:extLst>
          </p:cNvPr>
          <p:cNvPicPr>
            <a:picLocks noChangeAspect="1"/>
          </p:cNvPicPr>
          <p:nvPr/>
        </p:nvPicPr>
        <p:blipFill>
          <a:blip r:embed="rId2"/>
          <a:stretch>
            <a:fillRect/>
          </a:stretch>
        </p:blipFill>
        <p:spPr>
          <a:xfrm>
            <a:off x="1994140" y="994550"/>
            <a:ext cx="8202169" cy="3414153"/>
          </a:xfrm>
          <a:prstGeom prst="rect">
            <a:avLst/>
          </a:prstGeom>
        </p:spPr>
      </p:pic>
    </p:spTree>
    <p:extLst>
      <p:ext uri="{BB962C8B-B14F-4D97-AF65-F5344CB8AC3E}">
        <p14:creationId xmlns:p14="http://schemas.microsoft.com/office/powerpoint/2010/main" val="3988672840"/>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E8B3AD-AE17-3A73-D2EF-98E067250907}"/>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8D8B2BAA-6E2E-AF52-3419-95BDF8F3D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A15F5DC-A0D5-9752-3250-D9055350D227}"/>
              </a:ext>
            </a:extLst>
          </p:cNvPr>
          <p:cNvSpPr>
            <a:spLocks noGrp="1"/>
          </p:cNvSpPr>
          <p:nvPr>
            <p:ph type="title"/>
          </p:nvPr>
        </p:nvSpPr>
        <p:spPr>
          <a:xfrm>
            <a:off x="176629" y="198647"/>
            <a:ext cx="8203720" cy="732129"/>
          </a:xfrm>
        </p:spPr>
        <p:txBody>
          <a:bodyPr vert="horz" lIns="91440" tIns="45720" rIns="91440" bIns="45720" rtlCol="0" anchor="b">
            <a:normAutofit/>
          </a:bodyPr>
          <a:lstStyle/>
          <a:p>
            <a:pPr algn="ctr"/>
            <a:r>
              <a:rPr lang="en-US"/>
              <a:t>🔐</a:t>
            </a:r>
            <a:r>
              <a:rPr lang="en-US" err="1"/>
              <a:t>Waarom</a:t>
            </a:r>
            <a:r>
              <a:rPr lang="en-US"/>
              <a:t> Password Hashing?🔑</a:t>
            </a:r>
          </a:p>
        </p:txBody>
      </p:sp>
      <p:sp>
        <p:nvSpPr>
          <p:cNvPr id="4" name="Tekstvak 3">
            <a:extLst>
              <a:ext uri="{FF2B5EF4-FFF2-40B4-BE49-F238E27FC236}">
                <a16:creationId xmlns:a16="http://schemas.microsoft.com/office/drawing/2014/main" id="{0D472EF7-88A2-4EA7-F455-96C2F7588D15}"/>
              </a:ext>
            </a:extLst>
          </p:cNvPr>
          <p:cNvSpPr txBox="1"/>
          <p:nvPr/>
        </p:nvSpPr>
        <p:spPr>
          <a:xfrm>
            <a:off x="277771" y="1000251"/>
            <a:ext cx="1190761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a:t>Wachtwoord: privé, geheim</a:t>
            </a:r>
          </a:p>
          <a:p>
            <a:pPr marL="285750" indent="-285750">
              <a:buFont typeface="Calibri"/>
              <a:buChar char="-"/>
            </a:pPr>
            <a:endParaRPr lang="nl-NL"/>
          </a:p>
          <a:p>
            <a:pPr marL="285750" indent="-285750">
              <a:buFont typeface="Calibri"/>
              <a:buChar char="-"/>
            </a:pPr>
            <a:r>
              <a:rPr lang="nl-NL"/>
              <a:t>Maar - Tekst in database: leesbaar, indien toegang</a:t>
            </a:r>
          </a:p>
          <a:p>
            <a:pPr marL="285750" indent="-285750">
              <a:buFont typeface="Calibri"/>
              <a:buChar char="-"/>
            </a:pPr>
            <a:endParaRPr lang="nl-NL"/>
          </a:p>
          <a:p>
            <a:pPr marL="285750" indent="-285750">
              <a:buFont typeface="Calibri"/>
              <a:buChar char="-"/>
            </a:pPr>
            <a:r>
              <a:rPr lang="nl-NL"/>
              <a:t>Bij </a:t>
            </a:r>
            <a:r>
              <a:rPr lang="nl-NL" err="1"/>
              <a:t>SQLi</a:t>
            </a:r>
            <a:r>
              <a:rPr lang="nl-NL"/>
              <a:t> aanvallen: datalekken komen vaak voor, ook bij grote bedrijven (checken op </a:t>
            </a:r>
            <a:r>
              <a:rPr lang="nl-NL" err="1"/>
              <a:t>HaveIBeenPwned</a:t>
            </a:r>
            <a:r>
              <a:rPr lang="nl-NL"/>
              <a:t>)</a:t>
            </a:r>
          </a:p>
          <a:p>
            <a:pPr marL="285750" indent="-285750">
              <a:buFont typeface="Calibri"/>
              <a:buChar char="-"/>
            </a:pPr>
            <a:endParaRPr lang="nl-NL"/>
          </a:p>
          <a:p>
            <a:pPr marL="285750" indent="-285750">
              <a:buFont typeface="Calibri"/>
              <a:buChar char="-"/>
            </a:pPr>
            <a:r>
              <a:rPr lang="nl-NL" err="1"/>
              <a:t>Leaks</a:t>
            </a:r>
            <a:r>
              <a:rPr lang="nl-NL"/>
              <a:t> resulteren vaak op het </a:t>
            </a:r>
            <a:r>
              <a:rPr lang="nl-NL" err="1"/>
              <a:t>darkweb</a:t>
            </a:r>
            <a:r>
              <a:rPr lang="nl-NL"/>
              <a:t> (toegankelijk voor iedereen)</a:t>
            </a:r>
          </a:p>
          <a:p>
            <a:endParaRPr lang="nl-NL"/>
          </a:p>
          <a:p>
            <a:r>
              <a:rPr lang="nl-NL"/>
              <a:t>=&gt; We willen schade beperken bij datalekken</a:t>
            </a:r>
          </a:p>
          <a:p>
            <a:r>
              <a:rPr lang="nl-NL"/>
              <a:t>Veel mensen gebruiken hetzelfde wachtwoord herhaaldelijk. Als userdata van Google gelekt wordt, dan is de toegang tot veel andere diensten OOK GECOMPROMITTEERD</a:t>
            </a:r>
          </a:p>
          <a:p>
            <a:endParaRPr lang="nl-NL"/>
          </a:p>
          <a:p>
            <a:r>
              <a:rPr lang="nl-NL"/>
              <a:t>"Oplossing" (geen echte oplossing): Wachtwoorden opslaan als </a:t>
            </a:r>
            <a:r>
              <a:rPr lang="nl-NL" err="1"/>
              <a:t>hash</a:t>
            </a:r>
            <a:endParaRPr lang="nl-NL"/>
          </a:p>
          <a:p>
            <a:endParaRPr lang="nl-NL"/>
          </a:p>
          <a:p>
            <a:r>
              <a:rPr lang="nl-NL"/>
              <a:t>Een </a:t>
            </a:r>
            <a:r>
              <a:rPr lang="nl-NL" err="1"/>
              <a:t>hash</a:t>
            </a:r>
            <a:r>
              <a:rPr lang="nl-NL"/>
              <a:t> is ONLEEBSAAR voor buitenstaanders: je kan het wachtwoord niet afleiden</a:t>
            </a:r>
          </a:p>
          <a:p>
            <a:endParaRPr lang="nl-NL"/>
          </a:p>
        </p:txBody>
      </p:sp>
      <p:pic>
        <p:nvPicPr>
          <p:cNvPr id="3" name="Afbeelding 2" descr="Top 10 Cybersecurity Memes">
            <a:extLst>
              <a:ext uri="{FF2B5EF4-FFF2-40B4-BE49-F238E27FC236}">
                <a16:creationId xmlns:a16="http://schemas.microsoft.com/office/drawing/2014/main" id="{5B4290EE-1A7F-FA4B-B565-3EE2BE311C4E}"/>
              </a:ext>
            </a:extLst>
          </p:cNvPr>
          <p:cNvPicPr>
            <a:picLocks noChangeAspect="1"/>
          </p:cNvPicPr>
          <p:nvPr/>
        </p:nvPicPr>
        <p:blipFill>
          <a:blip r:embed="rId2"/>
          <a:stretch>
            <a:fillRect/>
          </a:stretch>
        </p:blipFill>
        <p:spPr>
          <a:xfrm>
            <a:off x="10175256" y="99374"/>
            <a:ext cx="1634507" cy="1654712"/>
          </a:xfrm>
          <a:prstGeom prst="rect">
            <a:avLst/>
          </a:prstGeom>
        </p:spPr>
      </p:pic>
    </p:spTree>
    <p:extLst>
      <p:ext uri="{BB962C8B-B14F-4D97-AF65-F5344CB8AC3E}">
        <p14:creationId xmlns:p14="http://schemas.microsoft.com/office/powerpoint/2010/main" val="137590088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2C7C18-FBE2-F580-813E-24F5DF42A246}"/>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F0E93119-60E6-21CC-6C36-7D06336DB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2C66CAD-39D1-E085-9E8F-B287A1E13635}"/>
              </a:ext>
            </a:extLst>
          </p:cNvPr>
          <p:cNvSpPr>
            <a:spLocks noGrp="1"/>
          </p:cNvSpPr>
          <p:nvPr>
            <p:ph type="title"/>
          </p:nvPr>
        </p:nvSpPr>
        <p:spPr>
          <a:xfrm>
            <a:off x="1994140" y="142203"/>
            <a:ext cx="8203720" cy="732129"/>
          </a:xfrm>
        </p:spPr>
        <p:txBody>
          <a:bodyPr vert="horz" lIns="91440" tIns="45720" rIns="91440" bIns="45720" rtlCol="0" anchor="b">
            <a:normAutofit/>
          </a:bodyPr>
          <a:lstStyle/>
          <a:p>
            <a:pPr algn="ctr"/>
            <a:r>
              <a:rPr lang="en-US"/>
              <a:t>Hashing </a:t>
            </a:r>
            <a:r>
              <a:rPr lang="en-US" err="1"/>
              <a:t>Algoritmes</a:t>
            </a:r>
          </a:p>
        </p:txBody>
      </p:sp>
      <p:pic>
        <p:nvPicPr>
          <p:cNvPr id="3" name="Afbeelding 2" descr="What is password hashing?">
            <a:extLst>
              <a:ext uri="{FF2B5EF4-FFF2-40B4-BE49-F238E27FC236}">
                <a16:creationId xmlns:a16="http://schemas.microsoft.com/office/drawing/2014/main" id="{42249334-5403-2111-9099-9A92690574EC}"/>
              </a:ext>
            </a:extLst>
          </p:cNvPr>
          <p:cNvPicPr>
            <a:picLocks noChangeAspect="1"/>
          </p:cNvPicPr>
          <p:nvPr/>
        </p:nvPicPr>
        <p:blipFill>
          <a:blip r:embed="rId2"/>
          <a:stretch>
            <a:fillRect/>
          </a:stretch>
        </p:blipFill>
        <p:spPr>
          <a:xfrm>
            <a:off x="6295207" y="1017128"/>
            <a:ext cx="5334792" cy="2217531"/>
          </a:xfrm>
          <a:prstGeom prst="rect">
            <a:avLst/>
          </a:prstGeom>
        </p:spPr>
      </p:pic>
      <p:sp>
        <p:nvSpPr>
          <p:cNvPr id="4" name="Tekstvak 3">
            <a:extLst>
              <a:ext uri="{FF2B5EF4-FFF2-40B4-BE49-F238E27FC236}">
                <a16:creationId xmlns:a16="http://schemas.microsoft.com/office/drawing/2014/main" id="{41EAE565-0C67-220B-7455-6135377AA966}"/>
              </a:ext>
            </a:extLst>
          </p:cNvPr>
          <p:cNvSpPr txBox="1"/>
          <p:nvPr/>
        </p:nvSpPr>
        <p:spPr>
          <a:xfrm>
            <a:off x="121269" y="873237"/>
            <a:ext cx="6046974"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a:t>Frequent gebruikt:</a:t>
            </a:r>
          </a:p>
          <a:p>
            <a:endParaRPr lang="nl-NL"/>
          </a:p>
          <a:p>
            <a:pPr marL="285750" indent="-285750">
              <a:buFont typeface="Calibri"/>
              <a:buChar char="-"/>
            </a:pPr>
            <a:r>
              <a:rPr lang="nl-NL" err="1"/>
              <a:t>Bcrypt</a:t>
            </a:r>
            <a:endParaRPr lang="nl-NL"/>
          </a:p>
          <a:p>
            <a:pPr marL="285750" indent="-285750">
              <a:buFont typeface="Calibri"/>
              <a:buChar char="-"/>
            </a:pPr>
            <a:endParaRPr lang="nl-NL"/>
          </a:p>
          <a:p>
            <a:pPr marL="285750" indent="-285750">
              <a:buFont typeface="Calibri"/>
              <a:buChar char="-"/>
            </a:pPr>
            <a:r>
              <a:rPr lang="nl-NL"/>
              <a:t>SHA-128/256/512 (fix voor verouderde </a:t>
            </a:r>
            <a:r>
              <a:rPr lang="nl-NL" err="1"/>
              <a:t>algos</a:t>
            </a:r>
            <a:r>
              <a:rPr lang="nl-NL"/>
              <a:t>, niet inherent beter)</a:t>
            </a:r>
          </a:p>
          <a:p>
            <a:pPr marL="285750" indent="-285750">
              <a:buFont typeface="Calibri"/>
              <a:buChar char="-"/>
            </a:pPr>
            <a:endParaRPr lang="nl-NL"/>
          </a:p>
          <a:p>
            <a:pPr marL="285750" indent="-285750">
              <a:buFont typeface="Calibri"/>
              <a:buChar char="-"/>
            </a:pPr>
            <a:r>
              <a:rPr lang="nl-NL"/>
              <a:t>Argon2 (GPU </a:t>
            </a:r>
            <a:r>
              <a:rPr lang="nl-NL" err="1"/>
              <a:t>bruteforce</a:t>
            </a:r>
            <a:r>
              <a:rPr lang="nl-NL"/>
              <a:t> resistent)</a:t>
            </a:r>
          </a:p>
          <a:p>
            <a:pPr marL="285750" indent="-285750">
              <a:buFont typeface="Calibri"/>
              <a:buChar char="-"/>
            </a:pPr>
            <a:endParaRPr lang="nl-NL"/>
          </a:p>
          <a:p>
            <a:pPr marL="285750" indent="-285750">
              <a:buFont typeface="Calibri"/>
              <a:buChar char="-"/>
            </a:pPr>
            <a:r>
              <a:rPr lang="nl-NL" err="1"/>
              <a:t>Scrypt</a:t>
            </a:r>
            <a:r>
              <a:rPr lang="nl-NL"/>
              <a:t> (*) (</a:t>
            </a:r>
            <a:r>
              <a:rPr lang="nl-NL" err="1"/>
              <a:t>specialized</a:t>
            </a:r>
            <a:r>
              <a:rPr lang="nl-NL"/>
              <a:t> hardware resistent)</a:t>
            </a:r>
          </a:p>
          <a:p>
            <a:pPr marL="285750" indent="-285750">
              <a:buFont typeface="Calibri"/>
              <a:buChar char="-"/>
            </a:pPr>
            <a:endParaRPr lang="nl-NL"/>
          </a:p>
          <a:p>
            <a:endParaRPr lang="nl-NL"/>
          </a:p>
          <a:p>
            <a:pPr>
              <a:buFont typeface="Calibri"/>
            </a:pPr>
            <a:r>
              <a:rPr lang="nl-NL" b="1" err="1"/>
              <a:t>Cost</a:t>
            </a:r>
            <a:r>
              <a:rPr lang="nl-NL" b="1"/>
              <a:t> Factor:</a:t>
            </a:r>
            <a:r>
              <a:rPr lang="nl-NL"/>
              <a:t> een keuze die je maakt als compromis tussen performance (hoge factor + moeilijk </a:t>
            </a:r>
            <a:r>
              <a:rPr lang="nl-NL" err="1"/>
              <a:t>algo</a:t>
            </a:r>
            <a:r>
              <a:rPr lang="nl-NL"/>
              <a:t>: lang wachten bij account aanmaken) en veiligheid (hoge factor: lastiger te kraken)</a:t>
            </a:r>
          </a:p>
          <a:p>
            <a:pPr>
              <a:buFont typeface="Calibri"/>
            </a:pPr>
            <a:endParaRPr lang="nl-NL"/>
          </a:p>
          <a:p>
            <a:pPr>
              <a:buFont typeface="Calibri"/>
            </a:pPr>
            <a:r>
              <a:rPr lang="nl-NL"/>
              <a:t>Er zijn 2 methodes om wachtwoorden te kraken:</a:t>
            </a:r>
          </a:p>
          <a:p>
            <a:pPr marL="285750" indent="-285750">
              <a:buFont typeface="Calibri"/>
              <a:buChar char="-"/>
            </a:pPr>
            <a:r>
              <a:rPr lang="nl-NL"/>
              <a:t>Brute force: alle mogelijke opties proberen (kan lang duren in slechtste geval)</a:t>
            </a:r>
          </a:p>
          <a:p>
            <a:pPr marL="285750" indent="-285750">
              <a:buFont typeface="Calibri"/>
              <a:buChar char="-"/>
            </a:pPr>
            <a:r>
              <a:rPr lang="nl-NL" err="1"/>
              <a:t>Wordlists</a:t>
            </a:r>
            <a:r>
              <a:rPr lang="nl-NL"/>
              <a:t>: vaak gebruikte wachtwoorden </a:t>
            </a:r>
          </a:p>
        </p:txBody>
      </p:sp>
    </p:spTree>
    <p:extLst>
      <p:ext uri="{BB962C8B-B14F-4D97-AF65-F5344CB8AC3E}">
        <p14:creationId xmlns:p14="http://schemas.microsoft.com/office/powerpoint/2010/main" val="176450210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7A9903-03C6-2A98-D677-365C1411F891}"/>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76D08A6-0482-DC13-D2A6-17F8DC196E8D}"/>
              </a:ext>
            </a:extLst>
          </p:cNvPr>
          <p:cNvSpPr>
            <a:spLocks noGrp="1"/>
          </p:cNvSpPr>
          <p:nvPr>
            <p:ph type="title"/>
          </p:nvPr>
        </p:nvSpPr>
        <p:spPr>
          <a:xfrm>
            <a:off x="202633" y="72926"/>
            <a:ext cx="10872216" cy="844071"/>
          </a:xfrm>
        </p:spPr>
        <p:txBody>
          <a:bodyPr vert="horz" lIns="91440" tIns="45720" rIns="91440" bIns="45720" rtlCol="0" anchor="b">
            <a:normAutofit/>
          </a:bodyPr>
          <a:lstStyle/>
          <a:p>
            <a:r>
              <a:rPr lang="en-US" b="1" kern="1200">
                <a:solidFill>
                  <a:schemeClr val="tx1"/>
                </a:solidFill>
                <a:latin typeface="+mj-lt"/>
                <a:ea typeface="+mj-ea"/>
                <a:cs typeface="+mj-cs"/>
              </a:rPr>
              <a:t>Wachtwoorden "kraken"</a:t>
            </a:r>
          </a:p>
        </p:txBody>
      </p:sp>
      <p:pic>
        <p:nvPicPr>
          <p:cNvPr id="5" name="Afbeelding 4" descr="The 2025 Hive Systems Password Table Is Here - Passwords Are Easier to  Crack Than Ever">
            <a:extLst>
              <a:ext uri="{FF2B5EF4-FFF2-40B4-BE49-F238E27FC236}">
                <a16:creationId xmlns:a16="http://schemas.microsoft.com/office/drawing/2014/main" id="{096540FB-CAFE-5FCC-3264-5F922A4EDB19}"/>
              </a:ext>
            </a:extLst>
          </p:cNvPr>
          <p:cNvPicPr>
            <a:picLocks noChangeAspect="1"/>
          </p:cNvPicPr>
          <p:nvPr/>
        </p:nvPicPr>
        <p:blipFill>
          <a:blip r:embed="rId2"/>
          <a:stretch>
            <a:fillRect/>
          </a:stretch>
        </p:blipFill>
        <p:spPr>
          <a:xfrm>
            <a:off x="202634" y="1255941"/>
            <a:ext cx="3817941" cy="3817941"/>
          </a:xfrm>
          <a:prstGeom prst="rect">
            <a:avLst/>
          </a:prstGeom>
        </p:spPr>
      </p:pic>
      <p:sp>
        <p:nvSpPr>
          <p:cNvPr id="4" name="Tekstvak 3">
            <a:extLst>
              <a:ext uri="{FF2B5EF4-FFF2-40B4-BE49-F238E27FC236}">
                <a16:creationId xmlns:a16="http://schemas.microsoft.com/office/drawing/2014/main" id="{69C2D0BD-34F2-5EF6-6EFB-7E5F8505E7D1}"/>
              </a:ext>
            </a:extLst>
          </p:cNvPr>
          <p:cNvSpPr txBox="1"/>
          <p:nvPr/>
        </p:nvSpPr>
        <p:spPr>
          <a:xfrm>
            <a:off x="4126089" y="911629"/>
            <a:ext cx="7875016" cy="586687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120000"/>
              </a:lnSpc>
              <a:spcAft>
                <a:spcPts val="600"/>
              </a:spcAft>
              <a:buFont typeface="Arial"/>
              <a:buChar char="•"/>
            </a:pPr>
            <a:endParaRPr lang="en-US" b="1"/>
          </a:p>
          <a:p>
            <a:pPr indent="-228600">
              <a:lnSpc>
                <a:spcPct val="120000"/>
              </a:lnSpc>
              <a:spcAft>
                <a:spcPts val="600"/>
              </a:spcAft>
              <a:buFont typeface="Arial"/>
              <a:buChar char="•"/>
            </a:pPr>
            <a:r>
              <a:rPr lang="en-US"/>
              <a:t>Er </a:t>
            </a:r>
            <a:r>
              <a:rPr lang="en-US" err="1"/>
              <a:t>zijn</a:t>
            </a:r>
            <a:r>
              <a:rPr lang="en-US"/>
              <a:t> 2 </a:t>
            </a:r>
            <a:r>
              <a:rPr lang="en-US" err="1"/>
              <a:t>methodes</a:t>
            </a:r>
            <a:r>
              <a:rPr lang="en-US"/>
              <a:t> om </a:t>
            </a:r>
            <a:r>
              <a:rPr lang="en-US" err="1"/>
              <a:t>wachtwoorden</a:t>
            </a:r>
            <a:r>
              <a:rPr lang="en-US"/>
              <a:t> </a:t>
            </a:r>
            <a:r>
              <a:rPr lang="en-US" err="1"/>
              <a:t>te</a:t>
            </a:r>
            <a:r>
              <a:rPr lang="en-US"/>
              <a:t> kraken:</a:t>
            </a:r>
          </a:p>
          <a:p>
            <a:pPr marL="285750" indent="-228600">
              <a:lnSpc>
                <a:spcPct val="120000"/>
              </a:lnSpc>
              <a:spcAft>
                <a:spcPts val="600"/>
              </a:spcAft>
              <a:buFont typeface="Arial" panose="020B0604020202020204" pitchFamily="34" charset="0"/>
              <a:buChar char="•"/>
            </a:pPr>
            <a:r>
              <a:rPr lang="en-US"/>
              <a:t>1) </a:t>
            </a:r>
            <a:r>
              <a:rPr lang="en-US" b="1"/>
              <a:t>Brute force</a:t>
            </a:r>
            <a:r>
              <a:rPr lang="en-US"/>
              <a:t>: alle </a:t>
            </a:r>
            <a:r>
              <a:rPr lang="en-US" err="1"/>
              <a:t>mogelijke</a:t>
            </a:r>
            <a:r>
              <a:rPr lang="en-US"/>
              <a:t> </a:t>
            </a:r>
            <a:r>
              <a:rPr lang="en-US" err="1"/>
              <a:t>opties</a:t>
            </a:r>
            <a:r>
              <a:rPr lang="en-US"/>
              <a:t> </a:t>
            </a:r>
            <a:r>
              <a:rPr lang="en-US" err="1"/>
              <a:t>proberen</a:t>
            </a:r>
            <a:r>
              <a:rPr lang="en-US"/>
              <a:t> (</a:t>
            </a:r>
            <a:r>
              <a:rPr lang="en-US" err="1"/>
              <a:t>kan</a:t>
            </a:r>
            <a:r>
              <a:rPr lang="en-US"/>
              <a:t> lang </a:t>
            </a:r>
            <a:r>
              <a:rPr lang="en-US" err="1"/>
              <a:t>duren</a:t>
            </a:r>
            <a:r>
              <a:rPr lang="en-US"/>
              <a:t> in </a:t>
            </a:r>
            <a:r>
              <a:rPr lang="en-US" err="1"/>
              <a:t>slechtste</a:t>
            </a:r>
            <a:r>
              <a:rPr lang="en-US"/>
              <a:t> </a:t>
            </a:r>
            <a:r>
              <a:rPr lang="en-US" err="1"/>
              <a:t>geval</a:t>
            </a:r>
            <a:r>
              <a:rPr lang="en-US"/>
              <a:t>)</a:t>
            </a:r>
          </a:p>
          <a:p>
            <a:pPr marL="285750" indent="-228600">
              <a:lnSpc>
                <a:spcPct val="120000"/>
              </a:lnSpc>
              <a:spcAft>
                <a:spcPts val="600"/>
              </a:spcAft>
              <a:buFont typeface="Arial"/>
              <a:buChar char="•"/>
            </a:pPr>
            <a:endParaRPr lang="en-US"/>
          </a:p>
          <a:p>
            <a:pPr marL="285750" indent="-228600">
              <a:lnSpc>
                <a:spcPct val="120000"/>
              </a:lnSpc>
              <a:spcAft>
                <a:spcPts val="600"/>
              </a:spcAft>
              <a:buFont typeface="Arial"/>
              <a:buChar char="•"/>
            </a:pPr>
            <a:r>
              <a:rPr lang="en-US"/>
              <a:t>2) </a:t>
            </a:r>
            <a:r>
              <a:rPr lang="en-US" b="1"/>
              <a:t>Wordlists</a:t>
            </a:r>
            <a:r>
              <a:rPr lang="en-US"/>
              <a:t>: </a:t>
            </a:r>
            <a:r>
              <a:rPr lang="en-US" err="1"/>
              <a:t>vaak</a:t>
            </a:r>
            <a:r>
              <a:rPr lang="en-US"/>
              <a:t> </a:t>
            </a:r>
            <a:r>
              <a:rPr lang="en-US" err="1"/>
              <a:t>gebruikte</a:t>
            </a:r>
            <a:r>
              <a:rPr lang="en-US"/>
              <a:t> </a:t>
            </a:r>
            <a:r>
              <a:rPr lang="en-US" err="1"/>
              <a:t>wachtwoorden</a:t>
            </a:r>
            <a:r>
              <a:rPr lang="en-US"/>
              <a:t> </a:t>
            </a:r>
            <a:r>
              <a:rPr lang="en-US" err="1"/>
              <a:t>proberen</a:t>
            </a:r>
            <a:r>
              <a:rPr lang="en-US"/>
              <a:t> (kang heel </a:t>
            </a:r>
            <a:r>
              <a:rPr lang="en-US" err="1"/>
              <a:t>snel</a:t>
            </a:r>
            <a:r>
              <a:rPr lang="en-US"/>
              <a:t> in het </a:t>
            </a:r>
            <a:r>
              <a:rPr lang="en-US" err="1"/>
              <a:t>beste</a:t>
            </a:r>
            <a:r>
              <a:rPr lang="en-US"/>
              <a:t> </a:t>
            </a:r>
            <a:r>
              <a:rPr lang="en-US" err="1"/>
              <a:t>geval</a:t>
            </a:r>
            <a:r>
              <a:rPr lang="en-US"/>
              <a:t>)</a:t>
            </a:r>
          </a:p>
          <a:p>
            <a:pPr marL="285750" indent="-228600">
              <a:lnSpc>
                <a:spcPct val="120000"/>
              </a:lnSpc>
              <a:spcAft>
                <a:spcPts val="600"/>
              </a:spcAft>
              <a:buFont typeface="Arial"/>
              <a:buChar char="•"/>
            </a:pPr>
            <a:endParaRPr lang="en-US"/>
          </a:p>
          <a:p>
            <a:pPr marL="285750" indent="-285750">
              <a:buFont typeface="Arial"/>
              <a:buChar char="•"/>
            </a:pPr>
            <a:r>
              <a:rPr lang="nl-NL"/>
              <a:t>Er zijn wél verschillen in de sterkte van elk </a:t>
            </a:r>
            <a:r>
              <a:rPr lang="nl-NL" err="1"/>
              <a:t>hashing</a:t>
            </a:r>
            <a:r>
              <a:rPr lang="nl-NL"/>
              <a:t> algoritme. </a:t>
            </a:r>
            <a:endParaRPr lang="en-US"/>
          </a:p>
          <a:p>
            <a:pPr marL="285750" indent="-285750">
              <a:buFont typeface="Arial"/>
              <a:buChar char="•"/>
            </a:pPr>
            <a:endParaRPr lang="nl-NL"/>
          </a:p>
          <a:p>
            <a:pPr marL="285750" indent="-285750">
              <a:buFont typeface="Arial"/>
              <a:buChar char="•"/>
            </a:pPr>
            <a:r>
              <a:rPr lang="nl-NL"/>
              <a:t>Te zwak? Je kan de </a:t>
            </a:r>
            <a:r>
              <a:rPr lang="nl-NL" err="1"/>
              <a:t>hash</a:t>
            </a:r>
            <a:r>
              <a:rPr lang="nl-NL"/>
              <a:t> zelfs kraken met consumentenapparatuur (</a:t>
            </a:r>
            <a:r>
              <a:rPr lang="nl-NL" err="1"/>
              <a:t>bvb</a:t>
            </a:r>
            <a:r>
              <a:rPr lang="nl-NL"/>
              <a:t> met NVIDIA </a:t>
            </a:r>
            <a:r>
              <a:rPr lang="nl-NL" err="1"/>
              <a:t>GPUs</a:t>
            </a:r>
            <a:r>
              <a:rPr lang="nl-NL"/>
              <a:t>, die veel CUDA </a:t>
            </a:r>
            <a:r>
              <a:rPr lang="nl-NL" err="1"/>
              <a:t>Cores</a:t>
            </a:r>
            <a:r>
              <a:rPr lang="nl-NL"/>
              <a:t> hebben).</a:t>
            </a:r>
            <a:endParaRPr lang="en-US"/>
          </a:p>
          <a:p>
            <a:pPr marL="285750" indent="-285750">
              <a:buFont typeface="Arial"/>
              <a:buChar char="•"/>
            </a:pPr>
            <a:endParaRPr lang="nl-NL"/>
          </a:p>
          <a:p>
            <a:pPr marL="285750" indent="-285750">
              <a:buFont typeface="Calibri,Sans-Serif"/>
              <a:buChar char="-"/>
            </a:pPr>
            <a:r>
              <a:rPr lang="nl-NL"/>
              <a:t>Wachtwoorden moeten ook lang genoeg zijn. </a:t>
            </a:r>
            <a:endParaRPr lang="en-US"/>
          </a:p>
          <a:p>
            <a:pPr marL="285750" indent="-285750">
              <a:buFont typeface="Calibri,Sans-Serif"/>
              <a:buChar char="-"/>
            </a:pPr>
            <a:r>
              <a:rPr lang="nl-NL"/>
              <a:t>&lt;=8 karakters (zwak) MD5 (zwak) kraken met </a:t>
            </a:r>
            <a:r>
              <a:rPr lang="nl-NL" err="1"/>
              <a:t>bvb</a:t>
            </a:r>
            <a:r>
              <a:rPr lang="nl-NL"/>
              <a:t> RTX xx80/xx90 (10.2K+ CUDA): binnen enkele minuten (bruteforce!)</a:t>
            </a:r>
            <a:endParaRPr lang="en-US"/>
          </a:p>
          <a:p>
            <a:pPr marL="285750" indent="-228600">
              <a:lnSpc>
                <a:spcPct val="120000"/>
              </a:lnSpc>
              <a:spcAft>
                <a:spcPts val="600"/>
              </a:spcAft>
              <a:buFont typeface="Arial"/>
              <a:buChar char="•"/>
            </a:pPr>
            <a:endParaRPr lang="en-US"/>
          </a:p>
        </p:txBody>
      </p:sp>
    </p:spTree>
    <p:extLst>
      <p:ext uri="{BB962C8B-B14F-4D97-AF65-F5344CB8AC3E}">
        <p14:creationId xmlns:p14="http://schemas.microsoft.com/office/powerpoint/2010/main" val="99612878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CA4BE2-D486-E891-CD23-1F3972D840E3}"/>
            </a:ext>
          </a:extLst>
        </p:cNvPr>
        <p:cNvGrpSpPr/>
        <p:nvPr/>
      </p:nvGrpSpPr>
      <p:grpSpPr>
        <a:xfrm>
          <a:off x="0" y="0"/>
          <a:ext cx="0" cy="0"/>
          <a:chOff x="0" y="0"/>
          <a:chExt cx="0" cy="0"/>
        </a:xfrm>
      </p:grpSpPr>
      <p:sp>
        <p:nvSpPr>
          <p:cNvPr id="81" name="Rectangle 80">
            <a:extLst>
              <a:ext uri="{FF2B5EF4-FFF2-40B4-BE49-F238E27FC236}">
                <a16:creationId xmlns:a16="http://schemas.microsoft.com/office/drawing/2014/main" id="{F32DA861-71EB-E1B1-AA66-7E2BF61F2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E9B64E8-9189-80E6-9866-02BC40EB8064}"/>
              </a:ext>
            </a:extLst>
          </p:cNvPr>
          <p:cNvSpPr>
            <a:spLocks noGrp="1"/>
          </p:cNvSpPr>
          <p:nvPr>
            <p:ph type="title"/>
          </p:nvPr>
        </p:nvSpPr>
        <p:spPr>
          <a:xfrm>
            <a:off x="124914" y="194335"/>
            <a:ext cx="6140462" cy="1129140"/>
          </a:xfrm>
        </p:spPr>
        <p:txBody>
          <a:bodyPr vert="horz" lIns="91440" tIns="45720" rIns="91440" bIns="45720" rtlCol="0" anchor="b">
            <a:normAutofit/>
          </a:bodyPr>
          <a:lstStyle/>
          <a:p>
            <a:r>
              <a:rPr lang="en-US" b="1" kern="1200">
                <a:solidFill>
                  <a:schemeClr val="tx1"/>
                </a:solidFill>
                <a:latin typeface="+mj-lt"/>
                <a:ea typeface="+mj-ea"/>
                <a:cs typeface="+mj-cs"/>
              </a:rPr>
              <a:t>Wachtwoorden "kraken": In de praktijk</a:t>
            </a:r>
          </a:p>
        </p:txBody>
      </p:sp>
      <p:sp>
        <p:nvSpPr>
          <p:cNvPr id="3" name="Tekstvak 2">
            <a:extLst>
              <a:ext uri="{FF2B5EF4-FFF2-40B4-BE49-F238E27FC236}">
                <a16:creationId xmlns:a16="http://schemas.microsoft.com/office/drawing/2014/main" id="{D59647FB-B20E-B6F7-96FC-4FBABB50F2F4}"/>
              </a:ext>
            </a:extLst>
          </p:cNvPr>
          <p:cNvSpPr txBox="1"/>
          <p:nvPr/>
        </p:nvSpPr>
        <p:spPr>
          <a:xfrm>
            <a:off x="278305" y="1515173"/>
            <a:ext cx="6140462" cy="40965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120000"/>
              </a:lnSpc>
              <a:spcAft>
                <a:spcPts val="600"/>
              </a:spcAft>
            </a:pPr>
            <a:r>
              <a:rPr lang="en-US" dirty="0"/>
              <a:t>Tools </a:t>
            </a:r>
            <a:r>
              <a:rPr lang="en-US" err="1"/>
              <a:t>zoals</a:t>
            </a:r>
            <a:r>
              <a:rPr lang="en-US" dirty="0"/>
              <a:t>:</a:t>
            </a:r>
            <a:endParaRPr lang="en-US"/>
          </a:p>
          <a:p>
            <a:pPr marL="285750" indent="-228600">
              <a:lnSpc>
                <a:spcPct val="120000"/>
              </a:lnSpc>
              <a:spcAft>
                <a:spcPts val="600"/>
              </a:spcAft>
              <a:buFont typeface="Arial" panose="020B0604020202020204" pitchFamily="34" charset="0"/>
              <a:buChar char="•"/>
            </a:pPr>
            <a:r>
              <a:rPr lang="en-US" b="1" dirty="0" err="1"/>
              <a:t>Fitcrack</a:t>
            </a:r>
            <a:r>
              <a:rPr lang="en-US" b="1" dirty="0"/>
              <a:t> </a:t>
            </a:r>
            <a:r>
              <a:rPr lang="en-US" dirty="0"/>
              <a:t>(BOINC distributed computing + management layer)</a:t>
            </a:r>
          </a:p>
          <a:p>
            <a:pPr marL="285750" indent="-228600">
              <a:lnSpc>
                <a:spcPct val="120000"/>
              </a:lnSpc>
              <a:spcAft>
                <a:spcPts val="600"/>
              </a:spcAft>
              <a:buFont typeface="Arial" panose="020B0604020202020204" pitchFamily="34" charset="0"/>
              <a:buChar char="•"/>
            </a:pPr>
            <a:r>
              <a:rPr lang="en-US" b="1" dirty="0" err="1"/>
              <a:t>Hashtopolis</a:t>
            </a:r>
            <a:endParaRPr lang="en-US" b="1" dirty="0"/>
          </a:p>
        </p:txBody>
      </p:sp>
      <p:pic>
        <p:nvPicPr>
          <p:cNvPr id="7" name="Afbeelding 6" descr="Afbeelding met tekst, schermopname, diagram, Perceel&#10;&#10;Door AI gegenereerde inhoud is mogelijk onjuist.">
            <a:extLst>
              <a:ext uri="{FF2B5EF4-FFF2-40B4-BE49-F238E27FC236}">
                <a16:creationId xmlns:a16="http://schemas.microsoft.com/office/drawing/2014/main" id="{54365FF2-D675-BFE9-8F26-1CE0F7F0778D}"/>
              </a:ext>
            </a:extLst>
          </p:cNvPr>
          <p:cNvPicPr>
            <a:picLocks noChangeAspect="1"/>
          </p:cNvPicPr>
          <p:nvPr/>
        </p:nvPicPr>
        <p:blipFill>
          <a:blip r:embed="rId2"/>
          <a:stretch>
            <a:fillRect/>
          </a:stretch>
        </p:blipFill>
        <p:spPr>
          <a:xfrm>
            <a:off x="5554931" y="1463912"/>
            <a:ext cx="6637050" cy="4194201"/>
          </a:xfrm>
          <a:prstGeom prst="rect">
            <a:avLst/>
          </a:prstGeom>
        </p:spPr>
      </p:pic>
    </p:spTree>
    <p:extLst>
      <p:ext uri="{BB962C8B-B14F-4D97-AF65-F5344CB8AC3E}">
        <p14:creationId xmlns:p14="http://schemas.microsoft.com/office/powerpoint/2010/main" val="17659453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8E3B8E-1A67-5EB4-685F-51C80CE3E60B}"/>
            </a:ext>
          </a:extLst>
        </p:cNvPr>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204A0C6-D32A-D499-936E-BA6B2A3B814F}"/>
              </a:ext>
            </a:extLst>
          </p:cNvPr>
          <p:cNvSpPr>
            <a:spLocks noGrp="1"/>
          </p:cNvSpPr>
          <p:nvPr>
            <p:ph type="title"/>
          </p:nvPr>
        </p:nvSpPr>
        <p:spPr>
          <a:xfrm>
            <a:off x="2809809" y="193661"/>
            <a:ext cx="6572382" cy="1233390"/>
          </a:xfrm>
        </p:spPr>
        <p:txBody>
          <a:bodyPr vert="horz" lIns="91440" tIns="45720" rIns="91440" bIns="45720" rtlCol="0" anchor="b">
            <a:normAutofit fontScale="90000"/>
          </a:bodyPr>
          <a:lstStyle/>
          <a:p>
            <a:pPr algn="ctr"/>
            <a:r>
              <a:rPr lang="en-US" sz="3100" b="0" dirty="0" err="1"/>
              <a:t>Wachtwoorden</a:t>
            </a:r>
            <a:r>
              <a:rPr lang="en-US" sz="3100" b="0" dirty="0"/>
              <a:t> "kraken": In de </a:t>
            </a:r>
            <a:r>
              <a:rPr lang="en-US" sz="3100" b="0" dirty="0" err="1"/>
              <a:t>praktijk</a:t>
            </a:r>
            <a:br>
              <a:rPr lang="en-US" sz="3100" b="0" dirty="0"/>
            </a:br>
            <a:r>
              <a:rPr lang="en-US" sz="3100" b="0" dirty="0" err="1"/>
              <a:t>Overzicht</a:t>
            </a:r>
            <a:r>
              <a:rPr lang="en-US" sz="3100" b="0" dirty="0"/>
              <a:t> </a:t>
            </a:r>
            <a:r>
              <a:rPr lang="en-US" sz="3100" b="0" dirty="0" err="1"/>
              <a:t>architectuur</a:t>
            </a:r>
            <a:r>
              <a:rPr lang="en-US" sz="3100" b="0" dirty="0"/>
              <a:t> </a:t>
            </a:r>
            <a:r>
              <a:rPr lang="en-US" sz="3100" b="0" dirty="0" err="1"/>
              <a:t>Fitcrack</a:t>
            </a:r>
            <a:endParaRPr lang="en-US" sz="3100" b="0" dirty="0"/>
          </a:p>
        </p:txBody>
      </p:sp>
      <p:pic>
        <p:nvPicPr>
          <p:cNvPr id="4" name="Afbeelding 3" descr="Afbeelding met tekst, schermopname, diagram&#10;&#10;Door AI gegenereerde inhoud is mogelijk onjuist.">
            <a:extLst>
              <a:ext uri="{FF2B5EF4-FFF2-40B4-BE49-F238E27FC236}">
                <a16:creationId xmlns:a16="http://schemas.microsoft.com/office/drawing/2014/main" id="{D4EAC6A4-B28E-4D11-2EDC-ADC253733D4D}"/>
              </a:ext>
            </a:extLst>
          </p:cNvPr>
          <p:cNvPicPr>
            <a:picLocks noChangeAspect="1"/>
          </p:cNvPicPr>
          <p:nvPr/>
        </p:nvPicPr>
        <p:blipFill>
          <a:blip r:embed="rId2"/>
          <a:stretch>
            <a:fillRect/>
          </a:stretch>
        </p:blipFill>
        <p:spPr>
          <a:xfrm>
            <a:off x="5084704" y="1716933"/>
            <a:ext cx="6885834" cy="4764801"/>
          </a:xfrm>
          <a:prstGeom prst="rect">
            <a:avLst/>
          </a:prstGeom>
        </p:spPr>
      </p:pic>
      <p:pic>
        <p:nvPicPr>
          <p:cNvPr id="5" name="Afbeelding 4" descr="Afbeelding met tekst, schermopname, diagram, ontwerp&#10;&#10;Door AI gegenereerde inhoud is mogelijk onjuist.">
            <a:extLst>
              <a:ext uri="{FF2B5EF4-FFF2-40B4-BE49-F238E27FC236}">
                <a16:creationId xmlns:a16="http://schemas.microsoft.com/office/drawing/2014/main" id="{CFB36DD7-8BE8-4D43-9A05-4BCE30F7A010}"/>
              </a:ext>
            </a:extLst>
          </p:cNvPr>
          <p:cNvPicPr>
            <a:picLocks noChangeAspect="1"/>
          </p:cNvPicPr>
          <p:nvPr/>
        </p:nvPicPr>
        <p:blipFill>
          <a:blip r:embed="rId3"/>
          <a:stretch>
            <a:fillRect/>
          </a:stretch>
        </p:blipFill>
        <p:spPr>
          <a:xfrm>
            <a:off x="492023" y="2322120"/>
            <a:ext cx="3617644" cy="3886199"/>
          </a:xfrm>
          <a:prstGeom prst="rect">
            <a:avLst/>
          </a:prstGeom>
        </p:spPr>
      </p:pic>
    </p:spTree>
    <p:extLst>
      <p:ext uri="{BB962C8B-B14F-4D97-AF65-F5344CB8AC3E}">
        <p14:creationId xmlns:p14="http://schemas.microsoft.com/office/powerpoint/2010/main" val="4167157373"/>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AFC54E-C9AC-7DBF-E85C-C8F9364720C1}"/>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1C1472C-095D-AA18-B9B1-483D7A497593}"/>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2 methoden samengevat</a:t>
            </a:r>
          </a:p>
        </p:txBody>
      </p:sp>
      <p:pic>
        <p:nvPicPr>
          <p:cNvPr id="3" name="Afbeelding 2" descr="Brute Force vs. Dictionary Attack: What's the Difference? - Rublon">
            <a:extLst>
              <a:ext uri="{FF2B5EF4-FFF2-40B4-BE49-F238E27FC236}">
                <a16:creationId xmlns:a16="http://schemas.microsoft.com/office/drawing/2014/main" id="{0E830A67-3C02-E6D2-20DB-2AA40A4CD78C}"/>
              </a:ext>
            </a:extLst>
          </p:cNvPr>
          <p:cNvPicPr>
            <a:picLocks noChangeAspect="1"/>
          </p:cNvPicPr>
          <p:nvPr/>
        </p:nvPicPr>
        <p:blipFill>
          <a:blip r:embed="rId2"/>
          <a:stretch>
            <a:fillRect/>
          </a:stretch>
        </p:blipFill>
        <p:spPr>
          <a:xfrm>
            <a:off x="4354436" y="394504"/>
            <a:ext cx="7370133" cy="6061934"/>
          </a:xfrm>
          <a:prstGeom prst="rect">
            <a:avLst/>
          </a:prstGeom>
        </p:spPr>
      </p:pic>
    </p:spTree>
    <p:extLst>
      <p:ext uri="{BB962C8B-B14F-4D97-AF65-F5344CB8AC3E}">
        <p14:creationId xmlns:p14="http://schemas.microsoft.com/office/powerpoint/2010/main" val="401205380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DC0427-D264-CC15-8833-52404AF2AEC0}"/>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29E5BB62-039B-BF6C-E6A9-E2C6D4A08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5B46734-523C-7274-CC65-1CED9990F7FC}"/>
              </a:ext>
            </a:extLst>
          </p:cNvPr>
          <p:cNvSpPr>
            <a:spLocks noGrp="1"/>
          </p:cNvSpPr>
          <p:nvPr>
            <p:ph type="title"/>
          </p:nvPr>
        </p:nvSpPr>
        <p:spPr>
          <a:xfrm>
            <a:off x="1994140" y="142203"/>
            <a:ext cx="8203720" cy="732129"/>
          </a:xfrm>
        </p:spPr>
        <p:txBody>
          <a:bodyPr vert="horz" lIns="91440" tIns="45720" rIns="91440" bIns="45720" rtlCol="0" anchor="b">
            <a:normAutofit/>
          </a:bodyPr>
          <a:lstStyle/>
          <a:p>
            <a:pPr algn="ctr"/>
            <a:r>
              <a:rPr lang="en-US"/>
              <a:t>Let op </a:t>
            </a:r>
            <a:r>
              <a:rPr lang="en-US" err="1"/>
              <a:t>bij</a:t>
            </a:r>
            <a:r>
              <a:rPr lang="en-US"/>
              <a:t> Password Hashing</a:t>
            </a:r>
          </a:p>
        </p:txBody>
      </p:sp>
      <p:sp>
        <p:nvSpPr>
          <p:cNvPr id="4" name="Tekstvak 3">
            <a:extLst>
              <a:ext uri="{FF2B5EF4-FFF2-40B4-BE49-F238E27FC236}">
                <a16:creationId xmlns:a16="http://schemas.microsoft.com/office/drawing/2014/main" id="{9B530BFF-6D93-1C96-601A-332047108CB8}"/>
              </a:ext>
            </a:extLst>
          </p:cNvPr>
          <p:cNvSpPr txBox="1"/>
          <p:nvPr/>
        </p:nvSpPr>
        <p:spPr>
          <a:xfrm>
            <a:off x="121269" y="873237"/>
            <a:ext cx="1194541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Het kan uitzonderlijk zeldzaam voorkomen dat meerdere, totaal verschillende wachtwoorden DEZELFDE </a:t>
            </a:r>
            <a:r>
              <a:rPr lang="nl-NL" err="1"/>
              <a:t>hash</a:t>
            </a:r>
            <a:r>
              <a:rPr lang="nl-NL"/>
              <a:t> geven als resultaat</a:t>
            </a:r>
          </a:p>
          <a:p>
            <a:endParaRPr lang="nl-NL"/>
          </a:p>
          <a:p>
            <a:r>
              <a:rPr lang="nl-NL"/>
              <a:t>Oplossing: gebruik een algoritme waar dit bijna niet voorkomt</a:t>
            </a:r>
          </a:p>
          <a:p>
            <a:endParaRPr lang="nl-NL"/>
          </a:p>
          <a:p>
            <a:endParaRPr lang="nl-NL"/>
          </a:p>
        </p:txBody>
      </p:sp>
    </p:spTree>
    <p:extLst>
      <p:ext uri="{BB962C8B-B14F-4D97-AF65-F5344CB8AC3E}">
        <p14:creationId xmlns:p14="http://schemas.microsoft.com/office/powerpoint/2010/main" val="2153389902"/>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E52853-AD2C-9407-BFDB-C11561B9467A}"/>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B61E84A-FB17-CFA3-6E26-4378F4B9FFEC}"/>
              </a:ext>
            </a:extLst>
          </p:cNvPr>
          <p:cNvSpPr>
            <a:spLocks noGrp="1"/>
          </p:cNvSpPr>
          <p:nvPr>
            <p:ph type="title"/>
          </p:nvPr>
        </p:nvSpPr>
        <p:spPr>
          <a:xfrm>
            <a:off x="612648" y="352923"/>
            <a:ext cx="4621553" cy="1360728"/>
          </a:xfrm>
        </p:spPr>
        <p:txBody>
          <a:bodyPr vert="horz" lIns="91440" tIns="45720" rIns="91440" bIns="45720" rtlCol="0" anchor="b">
            <a:normAutofit/>
          </a:bodyPr>
          <a:lstStyle/>
          <a:p>
            <a:r>
              <a:rPr lang="en-US" b="1" kern="1200" err="1">
                <a:latin typeface="+mj-lt"/>
                <a:ea typeface="+mj-ea"/>
                <a:cs typeface="+mj-cs"/>
              </a:rPr>
              <a:t>Sessies</a:t>
            </a:r>
            <a:r>
              <a:rPr lang="en-US"/>
              <a:t> </a:t>
            </a:r>
            <a:r>
              <a:rPr lang="en-US" err="1"/>
              <a:t>uitgebreid</a:t>
            </a:r>
            <a:endParaRPr lang="en-US" b="1" kern="1200" err="1">
              <a:latin typeface="+mj-lt"/>
            </a:endParaRPr>
          </a:p>
        </p:txBody>
      </p:sp>
      <p:sp>
        <p:nvSpPr>
          <p:cNvPr id="5" name="Tekstvak 4">
            <a:extLst>
              <a:ext uri="{FF2B5EF4-FFF2-40B4-BE49-F238E27FC236}">
                <a16:creationId xmlns:a16="http://schemas.microsoft.com/office/drawing/2014/main" id="{69035122-C1DC-84CC-9F0E-3FEFE87C4245}"/>
              </a:ext>
            </a:extLst>
          </p:cNvPr>
          <p:cNvSpPr txBox="1"/>
          <p:nvPr/>
        </p:nvSpPr>
        <p:spPr>
          <a:xfrm>
            <a:off x="672025" y="1970500"/>
            <a:ext cx="4621553" cy="315901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120000"/>
              </a:lnSpc>
              <a:spcAft>
                <a:spcPts val="600"/>
              </a:spcAft>
              <a:buFont typeface="Arial" panose="020B0604020202020204" pitchFamily="34" charset="0"/>
              <a:buChar char="•"/>
            </a:pPr>
            <a:r>
              <a:rPr lang="en-US" i="1"/>
              <a:t>"When you work with an application, you open it, do some changes, and then you close it. This is much like a Session. The computer knows who you are. It knows when you start the application and when you end. But on the internet there is one problem: the web server does not know who you are or what you do, because the HTTP address doesn't maintain state."</a:t>
            </a:r>
          </a:p>
        </p:txBody>
      </p:sp>
      <p:pic>
        <p:nvPicPr>
          <p:cNvPr id="8" name="Afbeelding 7" descr="Session vs Token Based Authentication - GeeksforGeeks">
            <a:extLst>
              <a:ext uri="{FF2B5EF4-FFF2-40B4-BE49-F238E27FC236}">
                <a16:creationId xmlns:a16="http://schemas.microsoft.com/office/drawing/2014/main" id="{9F4BF6A5-2310-8724-ABBC-154AC13F7291}"/>
              </a:ext>
            </a:extLst>
          </p:cNvPr>
          <p:cNvPicPr>
            <a:picLocks noChangeAspect="1"/>
          </p:cNvPicPr>
          <p:nvPr/>
        </p:nvPicPr>
        <p:blipFill>
          <a:blip r:embed="rId2"/>
          <a:stretch>
            <a:fillRect/>
          </a:stretch>
        </p:blipFill>
        <p:spPr>
          <a:xfrm>
            <a:off x="5691261" y="1969554"/>
            <a:ext cx="5837780" cy="2918890"/>
          </a:xfrm>
          <a:prstGeom prst="rect">
            <a:avLst/>
          </a:prstGeom>
        </p:spPr>
      </p:pic>
    </p:spTree>
    <p:extLst>
      <p:ext uri="{BB962C8B-B14F-4D97-AF65-F5344CB8AC3E}">
        <p14:creationId xmlns:p14="http://schemas.microsoft.com/office/powerpoint/2010/main" val="4060284972"/>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6466AB-17BD-EDDC-59D9-2DEFBD350296}"/>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79EC0A7-7295-F54E-B013-52388D9E0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D7A0247-8637-A3DB-7EA0-3DC83EBF5B87}"/>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a:t>Sessions vs Storage</a:t>
            </a:r>
            <a:endParaRPr lang="nl-NL">
              <a:ea typeface="+mj-ea"/>
              <a:cs typeface="+mj-cs"/>
            </a:endParaRPr>
          </a:p>
        </p:txBody>
      </p:sp>
      <p:sp>
        <p:nvSpPr>
          <p:cNvPr id="3" name="Tekstvak 2">
            <a:extLst>
              <a:ext uri="{FF2B5EF4-FFF2-40B4-BE49-F238E27FC236}">
                <a16:creationId xmlns:a16="http://schemas.microsoft.com/office/drawing/2014/main" id="{109B93C2-9EF9-2213-A3EC-FD608267F501}"/>
              </a:ext>
            </a:extLst>
          </p:cNvPr>
          <p:cNvSpPr txBox="1"/>
          <p:nvPr/>
        </p:nvSpPr>
        <p:spPr>
          <a:xfrm>
            <a:off x="608610" y="2582882"/>
            <a:ext cx="972168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t>Sessions ≠ </a:t>
            </a:r>
            <a:r>
              <a:rPr lang="en-US" err="1"/>
              <a:t>permanente</a:t>
            </a:r>
            <a:r>
              <a:rPr lang="en-US"/>
              <a:t> </a:t>
            </a:r>
            <a:r>
              <a:rPr lang="en-US" err="1"/>
              <a:t>opslag</a:t>
            </a:r>
            <a:r>
              <a:rPr lang="en-US"/>
              <a:t> (DB)</a:t>
            </a:r>
          </a:p>
          <a:p>
            <a:pPr marL="285750" indent="-285750">
              <a:buFont typeface="Calibri"/>
              <a:buChar char="-"/>
            </a:pPr>
            <a:r>
              <a:rPr lang="en-US"/>
              <a:t>Cookie (PHPSESSID) replicated </a:t>
            </a:r>
            <a:r>
              <a:rPr lang="en-US" err="1"/>
              <a:t>naar</a:t>
            </a:r>
            <a:r>
              <a:rPr lang="en-US"/>
              <a:t> Client</a:t>
            </a:r>
          </a:p>
          <a:p>
            <a:pPr marL="285750" indent="-285750">
              <a:buFont typeface="Calibri"/>
              <a:buChar char="-"/>
            </a:pPr>
            <a:r>
              <a:rPr lang="en-US"/>
              <a:t>PHPSESSID is </a:t>
            </a:r>
            <a:r>
              <a:rPr lang="en-US" err="1"/>
              <a:t>zoals</a:t>
            </a:r>
            <a:r>
              <a:rPr lang="en-US"/>
              <a:t> </a:t>
            </a:r>
            <a:r>
              <a:rPr lang="en-US" err="1"/>
              <a:t>een</a:t>
            </a:r>
            <a:r>
              <a:rPr lang="en-US"/>
              <a:t> </a:t>
            </a:r>
            <a:r>
              <a:rPr lang="en-US" err="1"/>
              <a:t>elektronische</a:t>
            </a:r>
            <a:r>
              <a:rPr lang="en-US"/>
              <a:t> badge </a:t>
            </a:r>
            <a:r>
              <a:rPr lang="en-US" err="1"/>
              <a:t>voor</a:t>
            </a:r>
            <a:r>
              <a:rPr lang="en-US"/>
              <a:t> </a:t>
            </a:r>
            <a:r>
              <a:rPr lang="en-US" err="1"/>
              <a:t>openen</a:t>
            </a:r>
            <a:r>
              <a:rPr lang="en-US"/>
              <a:t> </a:t>
            </a:r>
            <a:r>
              <a:rPr lang="en-US" err="1"/>
              <a:t>deur</a:t>
            </a:r>
          </a:p>
          <a:p>
            <a:pPr marL="285750" indent="-285750">
              <a:buFont typeface="Calibri"/>
              <a:buChar char="-"/>
            </a:pPr>
            <a:r>
              <a:rPr lang="en-US"/>
              <a:t>Vaak </a:t>
            </a:r>
            <a:r>
              <a:rPr lang="en-US" err="1"/>
              <a:t>gebruikt</a:t>
            </a:r>
            <a:r>
              <a:rPr lang="en-US"/>
              <a:t> </a:t>
            </a:r>
            <a:r>
              <a:rPr lang="en-US" err="1"/>
              <a:t>voor</a:t>
            </a:r>
            <a:r>
              <a:rPr lang="en-US"/>
              <a:t> </a:t>
            </a:r>
            <a:r>
              <a:rPr lang="en-US" err="1"/>
              <a:t>Authenticatie</a:t>
            </a:r>
            <a:r>
              <a:rPr lang="en-US"/>
              <a:t>: </a:t>
            </a:r>
            <a:r>
              <a:rPr lang="en-US" err="1"/>
              <a:t>inloggen</a:t>
            </a:r>
            <a:r>
              <a:rPr lang="en-US"/>
              <a:t>, </a:t>
            </a:r>
            <a:r>
              <a:rPr lang="en-US" err="1"/>
              <a:t>registreren</a:t>
            </a:r>
            <a:r>
              <a:rPr lang="en-US"/>
              <a:t>, </a:t>
            </a:r>
            <a:r>
              <a:rPr lang="en-US" err="1"/>
              <a:t>uitloggen</a:t>
            </a:r>
            <a:r>
              <a:rPr lang="en-US"/>
              <a:t>, </a:t>
            </a:r>
            <a:r>
              <a:rPr lang="en-US" err="1"/>
              <a:t>beschermde</a:t>
            </a:r>
            <a:r>
              <a:rPr lang="en-US"/>
              <a:t> </a:t>
            </a:r>
            <a:r>
              <a:rPr lang="en-US" err="1"/>
              <a:t>pagina's</a:t>
            </a:r>
            <a:endParaRPr lang="en-US"/>
          </a:p>
          <a:p>
            <a:pPr marL="285750" indent="-285750">
              <a:buFont typeface="Calibri"/>
              <a:buChar char="-"/>
            </a:pPr>
            <a:endParaRPr lang="en-US"/>
          </a:p>
        </p:txBody>
      </p:sp>
      <p:pic>
        <p:nvPicPr>
          <p:cNvPr id="4" name="Afbeelding 3" descr="PHP - Sessions">
            <a:extLst>
              <a:ext uri="{FF2B5EF4-FFF2-40B4-BE49-F238E27FC236}">
                <a16:creationId xmlns:a16="http://schemas.microsoft.com/office/drawing/2014/main" id="{2C27CCC2-CE83-676A-C642-149FA999E5C6}"/>
              </a:ext>
            </a:extLst>
          </p:cNvPr>
          <p:cNvPicPr>
            <a:picLocks noChangeAspect="1"/>
          </p:cNvPicPr>
          <p:nvPr/>
        </p:nvPicPr>
        <p:blipFill>
          <a:blip r:embed="rId2"/>
          <a:stretch>
            <a:fillRect/>
          </a:stretch>
        </p:blipFill>
        <p:spPr>
          <a:xfrm>
            <a:off x="2517569" y="4344390"/>
            <a:ext cx="6612577" cy="1835728"/>
          </a:xfrm>
          <a:prstGeom prst="rect">
            <a:avLst/>
          </a:prstGeom>
        </p:spPr>
      </p:pic>
      <p:pic>
        <p:nvPicPr>
          <p:cNvPr id="6" name="Afbeelding 5" descr="How Session works in PHP - scmGalaxy">
            <a:extLst>
              <a:ext uri="{FF2B5EF4-FFF2-40B4-BE49-F238E27FC236}">
                <a16:creationId xmlns:a16="http://schemas.microsoft.com/office/drawing/2014/main" id="{65CB5012-3A11-F296-A566-F7841F4792FA}"/>
              </a:ext>
            </a:extLst>
          </p:cNvPr>
          <p:cNvPicPr>
            <a:picLocks noChangeAspect="1"/>
          </p:cNvPicPr>
          <p:nvPr/>
        </p:nvPicPr>
        <p:blipFill>
          <a:blip r:embed="rId3"/>
          <a:stretch>
            <a:fillRect/>
          </a:stretch>
        </p:blipFill>
        <p:spPr>
          <a:xfrm>
            <a:off x="6337465" y="60646"/>
            <a:ext cx="5123214" cy="2649616"/>
          </a:xfrm>
          <a:prstGeom prst="rect">
            <a:avLst/>
          </a:prstGeom>
        </p:spPr>
      </p:pic>
      <p:sp>
        <p:nvSpPr>
          <p:cNvPr id="7" name="Tekstvak 6">
            <a:extLst>
              <a:ext uri="{FF2B5EF4-FFF2-40B4-BE49-F238E27FC236}">
                <a16:creationId xmlns:a16="http://schemas.microsoft.com/office/drawing/2014/main" id="{4D82F3DA-79F2-0137-C25C-922FF12A90C7}"/>
              </a:ext>
            </a:extLst>
          </p:cNvPr>
          <p:cNvSpPr txBox="1"/>
          <p:nvPr/>
        </p:nvSpPr>
        <p:spPr>
          <a:xfrm>
            <a:off x="2519794" y="6244440"/>
            <a:ext cx="43468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i="1"/>
              <a:t>*PHPSESSID op client (in browser)</a:t>
            </a:r>
          </a:p>
        </p:txBody>
      </p:sp>
    </p:spTree>
    <p:extLst>
      <p:ext uri="{BB962C8B-B14F-4D97-AF65-F5344CB8AC3E}">
        <p14:creationId xmlns:p14="http://schemas.microsoft.com/office/powerpoint/2010/main" val="94733756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FEFB0A-79F8-FFC2-6D35-7371831F927E}"/>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06BE688-13D6-0507-21D7-C6BCA5F38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C4C1AB5-4AE6-9C77-A3DB-21AB7E1C3A8D}"/>
              </a:ext>
            </a:extLst>
          </p:cNvPr>
          <p:cNvSpPr>
            <a:spLocks noGrp="1"/>
          </p:cNvSpPr>
          <p:nvPr>
            <p:ph type="title"/>
          </p:nvPr>
        </p:nvSpPr>
        <p:spPr>
          <a:xfrm>
            <a:off x="251440" y="125313"/>
            <a:ext cx="4621553" cy="737274"/>
          </a:xfrm>
        </p:spPr>
        <p:txBody>
          <a:bodyPr vert="horz" lIns="91440" tIns="45720" rIns="91440" bIns="45720" rtlCol="0" anchor="b">
            <a:normAutofit/>
          </a:bodyPr>
          <a:lstStyle/>
          <a:p>
            <a:r>
              <a:rPr lang="en-US"/>
              <a:t>Syntax: Sessions</a:t>
            </a:r>
          </a:p>
        </p:txBody>
      </p:sp>
      <p:sp>
        <p:nvSpPr>
          <p:cNvPr id="5" name="Tekstvak 4">
            <a:extLst>
              <a:ext uri="{FF2B5EF4-FFF2-40B4-BE49-F238E27FC236}">
                <a16:creationId xmlns:a16="http://schemas.microsoft.com/office/drawing/2014/main" id="{87B24AF7-AE0D-F0AE-07D9-1D9918ABA788}"/>
              </a:ext>
            </a:extLst>
          </p:cNvPr>
          <p:cNvSpPr txBox="1"/>
          <p:nvPr/>
        </p:nvSpPr>
        <p:spPr>
          <a:xfrm>
            <a:off x="252350" y="860961"/>
            <a:ext cx="746289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 </a:t>
            </a:r>
            <a:r>
              <a:rPr lang="nl-NL" err="1"/>
              <a:t>session_start</a:t>
            </a:r>
            <a:r>
              <a:rPr lang="nl-NL"/>
              <a:t>()</a:t>
            </a:r>
          </a:p>
          <a:p>
            <a:r>
              <a:rPr lang="nl-NL"/>
              <a:t>Altijd gebruiken VOOR (eerste lijn code!) dat je sessies inleest of manipuleert</a:t>
            </a:r>
          </a:p>
          <a:p>
            <a:r>
              <a:rPr lang="nl-NL">
                <a:solidFill>
                  <a:srgbClr val="00B0F0"/>
                </a:solidFill>
              </a:rPr>
              <a:t>Indien niet eerst gebruikt?</a:t>
            </a:r>
            <a:r>
              <a:rPr lang="nl-NL"/>
              <a:t> </a:t>
            </a:r>
            <a:r>
              <a:rPr lang="nl-NL">
                <a:solidFill>
                  <a:schemeClr val="accent3"/>
                </a:solidFill>
              </a:rPr>
              <a:t>Start alvast de </a:t>
            </a:r>
            <a:r>
              <a:rPr lang="nl-NL" err="1">
                <a:solidFill>
                  <a:schemeClr val="accent3"/>
                </a:solidFill>
              </a:rPr>
              <a:t>Coffin</a:t>
            </a:r>
            <a:r>
              <a:rPr lang="nl-NL">
                <a:solidFill>
                  <a:schemeClr val="accent3"/>
                </a:solidFill>
              </a:rPr>
              <a:t> Dance ⚰️</a:t>
            </a:r>
          </a:p>
          <a:p>
            <a:pPr marL="285750" indent="-285750">
              <a:buFont typeface="Calibri"/>
              <a:buChar char="-"/>
            </a:pPr>
            <a:r>
              <a:rPr lang="nl-NL">
                <a:solidFill>
                  <a:schemeClr val="accent3"/>
                </a:solidFill>
              </a:rPr>
              <a:t>Error, dan slaapt de mooie website in de kist.</a:t>
            </a:r>
          </a:p>
          <a:p>
            <a:endParaRPr lang="nl-NL"/>
          </a:p>
          <a:p>
            <a:r>
              <a:rPr lang="nl-NL"/>
              <a:t>2) </a:t>
            </a:r>
            <a:r>
              <a:rPr lang="nl-NL" err="1"/>
              <a:t>session_unset</a:t>
            </a:r>
            <a:r>
              <a:rPr lang="nl-NL"/>
              <a:t>()</a:t>
            </a:r>
            <a:endParaRPr lang="en-US"/>
          </a:p>
          <a:p>
            <a:r>
              <a:rPr lang="nl-NL"/>
              <a:t>Bij het afmelden/uitloggen, dan wordt de sessie van de user leeggemaakt.</a:t>
            </a:r>
          </a:p>
          <a:p>
            <a:endParaRPr lang="nl-NL"/>
          </a:p>
          <a:p>
            <a:r>
              <a:rPr lang="nl-NL"/>
              <a:t>3) </a:t>
            </a:r>
            <a:r>
              <a:rPr lang="nl-NL" err="1"/>
              <a:t>session_destroy</a:t>
            </a:r>
            <a:r>
              <a:rPr lang="nl-NL"/>
              <a:t>()</a:t>
            </a:r>
          </a:p>
          <a:p>
            <a:r>
              <a:rPr lang="nl-NL"/>
              <a:t>De meta-info ook verwijderen (uiteraard belangrijk) want dit omvat geheime info.</a:t>
            </a:r>
          </a:p>
          <a:p>
            <a:endParaRPr lang="nl-NL"/>
          </a:p>
          <a:p>
            <a:r>
              <a:rPr lang="nl-NL"/>
              <a:t>4) $_SESSION </a:t>
            </a:r>
            <a:r>
              <a:rPr lang="nl-NL" err="1"/>
              <a:t>superglobal</a:t>
            </a:r>
            <a:endParaRPr lang="nl-NL"/>
          </a:p>
          <a:p>
            <a:r>
              <a:rPr lang="nl-NL"/>
              <a:t>Dit is de </a:t>
            </a:r>
            <a:r>
              <a:rPr lang="nl-NL" err="1"/>
              <a:t>getter</a:t>
            </a:r>
            <a:r>
              <a:rPr lang="nl-NL"/>
              <a:t> en setter.</a:t>
            </a:r>
          </a:p>
          <a:p>
            <a:endParaRPr lang="nl-NL"/>
          </a:p>
          <a:p>
            <a:r>
              <a:rPr lang="nl-NL" err="1"/>
              <a:t>Getter</a:t>
            </a:r>
            <a:r>
              <a:rPr lang="nl-NL"/>
              <a:t> </a:t>
            </a:r>
            <a:r>
              <a:rPr lang="nl-NL" err="1"/>
              <a:t>vb</a:t>
            </a:r>
            <a:r>
              <a:rPr lang="nl-NL"/>
              <a:t>: &lt;?</a:t>
            </a:r>
            <a:r>
              <a:rPr lang="nl-NL" err="1"/>
              <a:t>php</a:t>
            </a:r>
            <a:r>
              <a:rPr lang="nl-NL"/>
              <a:t> </a:t>
            </a:r>
            <a:r>
              <a:rPr lang="nl-NL" err="1"/>
              <a:t>session_start</a:t>
            </a:r>
            <a:r>
              <a:rPr lang="nl-NL"/>
              <a:t>(); echo $_SESSION['user']['name']; ?&gt;</a:t>
            </a:r>
          </a:p>
          <a:p>
            <a:endParaRPr lang="nl-NL"/>
          </a:p>
          <a:p>
            <a:r>
              <a:rPr lang="nl-NL"/>
              <a:t>Setter </a:t>
            </a:r>
            <a:r>
              <a:rPr lang="nl-NL" err="1"/>
              <a:t>vb</a:t>
            </a:r>
            <a:r>
              <a:rPr lang="nl-NL"/>
              <a:t>: &lt;?</a:t>
            </a:r>
            <a:r>
              <a:rPr lang="nl-NL" err="1"/>
              <a:t>php</a:t>
            </a:r>
            <a:r>
              <a:rPr lang="nl-NL"/>
              <a:t> </a:t>
            </a:r>
            <a:r>
              <a:rPr lang="nl-NL" err="1"/>
              <a:t>session_start</a:t>
            </a:r>
            <a:r>
              <a:rPr lang="nl-NL"/>
              <a:t>(); $_SESSION['user']['name'] = "Mr. Bonjour"; ?&gt;</a:t>
            </a:r>
          </a:p>
        </p:txBody>
      </p:sp>
      <p:pic>
        <p:nvPicPr>
          <p:cNvPr id="6" name="Afbeelding 5" descr="Afbeelding met tekst, schermopname, Lettertype, ontwerp&#10;&#10;Door AI gegenereerde inhoud is mogelijk onjuist.">
            <a:extLst>
              <a:ext uri="{FF2B5EF4-FFF2-40B4-BE49-F238E27FC236}">
                <a16:creationId xmlns:a16="http://schemas.microsoft.com/office/drawing/2014/main" id="{B61A8472-844F-24E2-7F39-1AA6CA6AD022}"/>
              </a:ext>
            </a:extLst>
          </p:cNvPr>
          <p:cNvPicPr>
            <a:picLocks noChangeAspect="1"/>
          </p:cNvPicPr>
          <p:nvPr/>
        </p:nvPicPr>
        <p:blipFill>
          <a:blip r:embed="rId2"/>
          <a:stretch>
            <a:fillRect/>
          </a:stretch>
        </p:blipFill>
        <p:spPr>
          <a:xfrm>
            <a:off x="8834005" y="2199657"/>
            <a:ext cx="2995056" cy="4145973"/>
          </a:xfrm>
          <a:prstGeom prst="rect">
            <a:avLst/>
          </a:prstGeom>
        </p:spPr>
      </p:pic>
      <p:pic>
        <p:nvPicPr>
          <p:cNvPr id="8" name="Afbeelding 7" descr="Coffin GIFs | Tenor">
            <a:extLst>
              <a:ext uri="{FF2B5EF4-FFF2-40B4-BE49-F238E27FC236}">
                <a16:creationId xmlns:a16="http://schemas.microsoft.com/office/drawing/2014/main" id="{C8E4B67C-2088-4F22-0606-7751A14C968E}"/>
              </a:ext>
            </a:extLst>
          </p:cNvPr>
          <p:cNvPicPr>
            <a:picLocks noChangeAspect="1"/>
          </p:cNvPicPr>
          <p:nvPr/>
        </p:nvPicPr>
        <p:blipFill>
          <a:blip r:embed="rId3"/>
          <a:stretch>
            <a:fillRect/>
          </a:stretch>
        </p:blipFill>
        <p:spPr>
          <a:xfrm>
            <a:off x="7420411" y="-1472"/>
            <a:ext cx="1565069" cy="2176646"/>
          </a:xfrm>
          <a:prstGeom prst="rect">
            <a:avLst/>
          </a:prstGeom>
        </p:spPr>
      </p:pic>
      <p:sp>
        <p:nvSpPr>
          <p:cNvPr id="9" name="Tekstvak 8">
            <a:extLst>
              <a:ext uri="{FF2B5EF4-FFF2-40B4-BE49-F238E27FC236}">
                <a16:creationId xmlns:a16="http://schemas.microsoft.com/office/drawing/2014/main" id="{920CC238-FCB5-0CCF-0C10-24BF23F4656F}"/>
              </a:ext>
            </a:extLst>
          </p:cNvPr>
          <p:cNvSpPr txBox="1"/>
          <p:nvPr/>
        </p:nvSpPr>
        <p:spPr>
          <a:xfrm>
            <a:off x="9238012" y="124938"/>
            <a:ext cx="2806781" cy="1477328"/>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PHP sessies zijn pesterij wanneer je ze pas later aanroept: </a:t>
            </a:r>
            <a:r>
              <a:rPr lang="nl-NL" err="1"/>
              <a:t>sessions</a:t>
            </a:r>
            <a:r>
              <a:rPr lang="nl-NL"/>
              <a:t> kunnen vastlopen als je ze niet eerst </a:t>
            </a:r>
            <a:r>
              <a:rPr lang="nl-NL" err="1"/>
              <a:t>initialiseert</a:t>
            </a:r>
            <a:r>
              <a:rPr lang="nl-NL"/>
              <a:t> </a:t>
            </a:r>
          </a:p>
        </p:txBody>
      </p:sp>
    </p:spTree>
    <p:extLst>
      <p:ext uri="{BB962C8B-B14F-4D97-AF65-F5344CB8AC3E}">
        <p14:creationId xmlns:p14="http://schemas.microsoft.com/office/powerpoint/2010/main" val="218189706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descr="Afbeelding met tekst, schermopname, software, Besturingssysteem&#10;&#10;Door AI gegenereerde inhoud is mogelijk onjuist.">
            <a:extLst>
              <a:ext uri="{FF2B5EF4-FFF2-40B4-BE49-F238E27FC236}">
                <a16:creationId xmlns:a16="http://schemas.microsoft.com/office/drawing/2014/main" id="{C77E0DEE-A6F3-259C-1CCE-E364FAAA7830}"/>
              </a:ext>
            </a:extLst>
          </p:cNvPr>
          <p:cNvPicPr>
            <a:picLocks noChangeAspect="1"/>
          </p:cNvPicPr>
          <p:nvPr/>
        </p:nvPicPr>
        <p:blipFill>
          <a:blip r:embed="rId2"/>
          <a:stretch>
            <a:fillRect/>
          </a:stretch>
        </p:blipFill>
        <p:spPr>
          <a:xfrm>
            <a:off x="5207" y="-3061"/>
            <a:ext cx="7620331" cy="7022716"/>
          </a:xfrm>
          <a:prstGeom prst="rect">
            <a:avLst/>
          </a:prstGeom>
        </p:spPr>
      </p:pic>
      <p:sp>
        <p:nvSpPr>
          <p:cNvPr id="7" name="Tekstvak 6">
            <a:extLst>
              <a:ext uri="{FF2B5EF4-FFF2-40B4-BE49-F238E27FC236}">
                <a16:creationId xmlns:a16="http://schemas.microsoft.com/office/drawing/2014/main" id="{958FCB8B-AB43-48BD-8DBE-88BEDE8F4C50}"/>
              </a:ext>
            </a:extLst>
          </p:cNvPr>
          <p:cNvSpPr txBox="1"/>
          <p:nvPr/>
        </p:nvSpPr>
        <p:spPr>
          <a:xfrm>
            <a:off x="7973785" y="353785"/>
            <a:ext cx="26670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800" b="1"/>
              <a:t>Loginproces</a:t>
            </a:r>
          </a:p>
          <a:p>
            <a:r>
              <a:rPr lang="nl-NL" sz="2800"/>
              <a:t>Voorgesteld met een scenario</a:t>
            </a:r>
            <a:endParaRPr lang="nl-NL" sz="2800" dirty="0"/>
          </a:p>
        </p:txBody>
      </p:sp>
    </p:spTree>
    <p:extLst>
      <p:ext uri="{BB962C8B-B14F-4D97-AF65-F5344CB8AC3E}">
        <p14:creationId xmlns:p14="http://schemas.microsoft.com/office/powerpoint/2010/main" val="80072088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6DAC6B-8F6F-41E5-8A52-955F4FC1481E}"/>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8" name="Afbeelding 7" descr="Een dubbele kluis in een verlaten bank. Nog nooit zoiets in het echt  gezien. : r/AbandonedPorn">
            <a:extLst>
              <a:ext uri="{FF2B5EF4-FFF2-40B4-BE49-F238E27FC236}">
                <a16:creationId xmlns:a16="http://schemas.microsoft.com/office/drawing/2014/main" id="{5886F30D-E2B5-43DE-B48F-364D2D1FAD8C}"/>
              </a:ext>
            </a:extLst>
          </p:cNvPr>
          <p:cNvPicPr>
            <a:picLocks noChangeAspect="1"/>
          </p:cNvPicPr>
          <p:nvPr/>
        </p:nvPicPr>
        <p:blipFill>
          <a:blip r:embed="rId2"/>
          <a:srcRect l="553" r="10758" b="-2"/>
          <a:stretch>
            <a:fillRect/>
          </a:stretch>
        </p:blipFill>
        <p:spPr>
          <a:xfrm>
            <a:off x="489877" y="511639"/>
            <a:ext cx="6482422" cy="5758533"/>
          </a:xfrm>
          <a:prstGeom prst="rect">
            <a:avLst/>
          </a:prstGeom>
        </p:spPr>
      </p:pic>
      <p:sp>
        <p:nvSpPr>
          <p:cNvPr id="3" name="Tekstvak 2">
            <a:extLst>
              <a:ext uri="{FF2B5EF4-FFF2-40B4-BE49-F238E27FC236}">
                <a16:creationId xmlns:a16="http://schemas.microsoft.com/office/drawing/2014/main" id="{01FC132B-75C4-0718-DF0C-A478BCFA3518}"/>
              </a:ext>
            </a:extLst>
          </p:cNvPr>
          <p:cNvSpPr txBox="1"/>
          <p:nvPr/>
        </p:nvSpPr>
        <p:spPr>
          <a:xfrm>
            <a:off x="7136989" y="504533"/>
            <a:ext cx="5053504" cy="594797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7150" indent="-228600">
              <a:lnSpc>
                <a:spcPct val="110000"/>
              </a:lnSpc>
              <a:spcAft>
                <a:spcPts val="600"/>
              </a:spcAft>
              <a:buFont typeface="Arial" panose="020B0604020202020204" pitchFamily="34" charset="0"/>
              <a:buChar char="•"/>
            </a:pPr>
            <a:r>
              <a:rPr lang="en-US" sz="1900"/>
              <a:t>Scenario: </a:t>
            </a:r>
            <a:endParaRPr lang="en-US" sz="1900" dirty="0"/>
          </a:p>
          <a:p>
            <a:pPr>
              <a:lnSpc>
                <a:spcPct val="110000"/>
              </a:lnSpc>
              <a:spcAft>
                <a:spcPts val="600"/>
              </a:spcAft>
            </a:pPr>
            <a:r>
              <a:rPr lang="en-US" sz="1900" dirty="0"/>
              <a:t>In de </a:t>
            </a:r>
            <a:r>
              <a:rPr lang="en-US" sz="1900" dirty="0" err="1"/>
              <a:t>middeleeuwen</a:t>
            </a:r>
            <a:r>
              <a:rPr lang="en-US" sz="1900" dirty="0"/>
              <a:t>: Een </a:t>
            </a:r>
            <a:r>
              <a:rPr lang="en-US" sz="1900" dirty="0" err="1"/>
              <a:t>klant</a:t>
            </a:r>
            <a:r>
              <a:rPr lang="en-US" sz="1900" dirty="0"/>
              <a:t> </a:t>
            </a:r>
            <a:r>
              <a:rPr lang="en-US" sz="1900" dirty="0" err="1"/>
              <a:t>wil</a:t>
            </a:r>
            <a:r>
              <a:rPr lang="en-US" sz="1900" dirty="0"/>
              <a:t> </a:t>
            </a:r>
            <a:r>
              <a:rPr lang="en-US" sz="1900" dirty="0" err="1"/>
              <a:t>toegang</a:t>
            </a:r>
            <a:r>
              <a:rPr lang="en-US" sz="1900" dirty="0"/>
              <a:t> </a:t>
            </a:r>
            <a:r>
              <a:rPr lang="en-US" sz="1900" dirty="0" err="1"/>
              <a:t>krijgen</a:t>
            </a:r>
            <a:r>
              <a:rPr lang="en-US" sz="1900" dirty="0"/>
              <a:t> tot </a:t>
            </a:r>
            <a:r>
              <a:rPr lang="en-US" sz="1900" dirty="0" err="1"/>
              <a:t>zijn</a:t>
            </a:r>
            <a:r>
              <a:rPr lang="en-US" sz="1900" dirty="0"/>
              <a:t> </a:t>
            </a:r>
            <a:r>
              <a:rPr lang="en-US" sz="1900" dirty="0" err="1"/>
              <a:t>kluis</a:t>
            </a:r>
            <a:r>
              <a:rPr lang="en-US" sz="1900" dirty="0"/>
              <a:t> </a:t>
            </a:r>
            <a:r>
              <a:rPr lang="en-US" sz="1900" dirty="0" err="1"/>
              <a:t>bij</a:t>
            </a:r>
            <a:r>
              <a:rPr lang="en-US" sz="1900" dirty="0"/>
              <a:t> de bank.</a:t>
            </a:r>
          </a:p>
          <a:p>
            <a:pPr marL="57150" indent="-228600">
              <a:lnSpc>
                <a:spcPct val="110000"/>
              </a:lnSpc>
              <a:spcAft>
                <a:spcPts val="600"/>
              </a:spcAft>
              <a:buFont typeface="Arial" panose="020B0604020202020204" pitchFamily="34" charset="0"/>
              <a:buChar char="•"/>
            </a:pPr>
            <a:endParaRPr lang="en-US" sz="1900" dirty="0"/>
          </a:p>
          <a:p>
            <a:pPr marL="285750" indent="-228600">
              <a:lnSpc>
                <a:spcPct val="110000"/>
              </a:lnSpc>
              <a:spcAft>
                <a:spcPts val="600"/>
              </a:spcAft>
              <a:buFont typeface="Arial" panose="020B0604020202020204" pitchFamily="34" charset="0"/>
              <a:buChar char="•"/>
            </a:pPr>
            <a:r>
              <a:rPr lang="en-US" sz="1900" dirty="0" err="1"/>
              <a:t>Klant</a:t>
            </a:r>
          </a:p>
          <a:p>
            <a:pPr marL="285750" indent="-228600">
              <a:lnSpc>
                <a:spcPct val="110000"/>
              </a:lnSpc>
              <a:spcAft>
                <a:spcPts val="600"/>
              </a:spcAft>
              <a:buFont typeface="Arial" panose="020B0604020202020204" pitchFamily="34" charset="0"/>
              <a:buChar char="•"/>
            </a:pPr>
            <a:r>
              <a:rPr lang="en-US" sz="1900" dirty="0"/>
              <a:t>Portier </a:t>
            </a:r>
            <a:r>
              <a:rPr lang="en-US" sz="1900" b="1" dirty="0" err="1"/>
              <a:t>aan</a:t>
            </a:r>
            <a:r>
              <a:rPr lang="en-US" sz="1900" dirty="0"/>
              <a:t> de </a:t>
            </a:r>
            <a:r>
              <a:rPr lang="en-US" sz="1900" dirty="0" err="1"/>
              <a:t>kluis</a:t>
            </a:r>
          </a:p>
          <a:p>
            <a:pPr marL="285750" indent="-228600">
              <a:lnSpc>
                <a:spcPct val="110000"/>
              </a:lnSpc>
              <a:spcAft>
                <a:spcPts val="600"/>
              </a:spcAft>
              <a:buFont typeface="Arial" panose="020B0604020202020204" pitchFamily="34" charset="0"/>
              <a:buChar char="•"/>
            </a:pPr>
            <a:r>
              <a:rPr lang="en-US" sz="1900" dirty="0"/>
              <a:t>Operator </a:t>
            </a:r>
            <a:r>
              <a:rPr lang="en-US" sz="1900" b="1" dirty="0"/>
              <a:t>in</a:t>
            </a:r>
            <a:r>
              <a:rPr lang="en-US" sz="1900" dirty="0"/>
              <a:t> de </a:t>
            </a:r>
            <a:r>
              <a:rPr lang="en-US" sz="1900" dirty="0" err="1"/>
              <a:t>kluis</a:t>
            </a:r>
            <a:endParaRPr lang="en-US" sz="1900" dirty="0"/>
          </a:p>
          <a:p>
            <a:pPr marL="285750" indent="-228600">
              <a:lnSpc>
                <a:spcPct val="110000"/>
              </a:lnSpc>
              <a:spcAft>
                <a:spcPts val="600"/>
              </a:spcAft>
              <a:buFont typeface="Arial" panose="020B0604020202020204" pitchFamily="34" charset="0"/>
              <a:buChar char="•"/>
            </a:pPr>
            <a:endParaRPr lang="en-US" sz="1900" dirty="0"/>
          </a:p>
          <a:p>
            <a:pPr marL="285750" indent="-228600">
              <a:lnSpc>
                <a:spcPct val="110000"/>
              </a:lnSpc>
              <a:spcAft>
                <a:spcPts val="600"/>
              </a:spcAft>
              <a:buFont typeface="Arial" panose="020B0604020202020204" pitchFamily="34" charset="0"/>
              <a:buChar char="•"/>
            </a:pPr>
            <a:r>
              <a:rPr lang="en-US" sz="1900" dirty="0"/>
              <a:t>Merk op: </a:t>
            </a:r>
            <a:r>
              <a:rPr lang="en-US" sz="1900" dirty="0" err="1"/>
              <a:t>elke</a:t>
            </a:r>
            <a:r>
              <a:rPr lang="en-US" sz="1900" dirty="0"/>
              <a:t> </a:t>
            </a:r>
            <a:r>
              <a:rPr lang="en-US" sz="1900" dirty="0" err="1"/>
              <a:t>persoon</a:t>
            </a:r>
            <a:r>
              <a:rPr lang="en-US" sz="1900" dirty="0"/>
              <a:t> </a:t>
            </a:r>
            <a:r>
              <a:rPr lang="en-US" sz="1900" dirty="0" err="1"/>
              <a:t>heeft</a:t>
            </a:r>
            <a:r>
              <a:rPr lang="en-US" sz="1900" dirty="0"/>
              <a:t> </a:t>
            </a:r>
            <a:r>
              <a:rPr lang="en-US" sz="1900" dirty="0" err="1"/>
              <a:t>zijn</a:t>
            </a:r>
            <a:r>
              <a:rPr lang="en-US" sz="1900" dirty="0"/>
              <a:t> eigen </a:t>
            </a:r>
            <a:r>
              <a:rPr lang="en-US" sz="1900" dirty="0" err="1"/>
              <a:t>bevoegdheid</a:t>
            </a:r>
            <a:r>
              <a:rPr lang="en-US" sz="1900" dirty="0"/>
              <a:t> ; ze </a:t>
            </a:r>
            <a:r>
              <a:rPr lang="en-US" sz="1900" dirty="0" err="1"/>
              <a:t>mogen</a:t>
            </a:r>
            <a:r>
              <a:rPr lang="en-US" sz="1900" dirty="0"/>
              <a:t> </a:t>
            </a:r>
            <a:r>
              <a:rPr lang="en-US" sz="1900" dirty="0" err="1"/>
              <a:t>zich</a:t>
            </a:r>
            <a:r>
              <a:rPr lang="en-US" sz="1900" dirty="0"/>
              <a:t> </a:t>
            </a:r>
            <a:r>
              <a:rPr lang="en-US" sz="1900" dirty="0" err="1"/>
              <a:t>niet</a:t>
            </a:r>
            <a:r>
              <a:rPr lang="en-US" sz="1900" dirty="0"/>
              <a:t> </a:t>
            </a:r>
            <a:r>
              <a:rPr lang="en-US" sz="1900" dirty="0" err="1"/>
              <a:t>bemoeien</a:t>
            </a:r>
            <a:r>
              <a:rPr lang="en-US" sz="1900" dirty="0"/>
              <a:t> met </a:t>
            </a:r>
            <a:r>
              <a:rPr lang="en-US" sz="1900" dirty="0" err="1"/>
              <a:t>elkaar</a:t>
            </a:r>
            <a:r>
              <a:rPr lang="en-US" sz="1900" dirty="0"/>
              <a:t>.</a:t>
            </a:r>
          </a:p>
          <a:p>
            <a:pPr marL="285750" indent="-228600">
              <a:lnSpc>
                <a:spcPct val="110000"/>
              </a:lnSpc>
              <a:spcAft>
                <a:spcPts val="600"/>
              </a:spcAft>
              <a:buFont typeface="Arial" panose="020B0604020202020204" pitchFamily="34" charset="0"/>
              <a:buChar char="•"/>
            </a:pPr>
            <a:r>
              <a:rPr lang="en-US" sz="1900" dirty="0"/>
              <a:t>Zo </a:t>
            </a:r>
            <a:r>
              <a:rPr lang="en-US" sz="1900" dirty="0" err="1"/>
              <a:t>mogen</a:t>
            </a:r>
            <a:r>
              <a:rPr lang="en-US" sz="1900" dirty="0"/>
              <a:t> de </a:t>
            </a:r>
            <a:r>
              <a:rPr lang="en-US" sz="1900" dirty="0" err="1"/>
              <a:t>klant</a:t>
            </a:r>
            <a:r>
              <a:rPr lang="en-US" sz="1900" dirty="0"/>
              <a:t> </a:t>
            </a:r>
            <a:r>
              <a:rPr lang="en-US" sz="1900" dirty="0" err="1"/>
              <a:t>en</a:t>
            </a:r>
            <a:r>
              <a:rPr lang="en-US" sz="1900" dirty="0"/>
              <a:t> de portier </a:t>
            </a:r>
            <a:r>
              <a:rPr lang="en-US" sz="1900" b="1" dirty="0"/>
              <a:t>nooit</a:t>
            </a:r>
            <a:r>
              <a:rPr lang="en-US" sz="1900" dirty="0"/>
              <a:t> in de </a:t>
            </a:r>
            <a:r>
              <a:rPr lang="en-US" sz="1900" dirty="0" err="1"/>
              <a:t>kluis</a:t>
            </a:r>
            <a:r>
              <a:rPr lang="en-US" sz="1900" dirty="0"/>
              <a:t>, </a:t>
            </a:r>
            <a:r>
              <a:rPr lang="en-US" sz="1900" dirty="0" err="1"/>
              <a:t>enkel</a:t>
            </a:r>
            <a:r>
              <a:rPr lang="en-US" sz="1900" dirty="0"/>
              <a:t> de operator</a:t>
            </a:r>
          </a:p>
          <a:p>
            <a:pPr marL="285750" indent="-228600">
              <a:lnSpc>
                <a:spcPct val="110000"/>
              </a:lnSpc>
              <a:spcAft>
                <a:spcPts val="600"/>
              </a:spcAft>
              <a:buFont typeface="Arial" panose="020B0604020202020204" pitchFamily="34" charset="0"/>
              <a:buChar char="•"/>
            </a:pPr>
            <a:endParaRPr lang="en-US" sz="1900" dirty="0"/>
          </a:p>
        </p:txBody>
      </p:sp>
    </p:spTree>
    <p:extLst>
      <p:ext uri="{BB962C8B-B14F-4D97-AF65-F5344CB8AC3E}">
        <p14:creationId xmlns:p14="http://schemas.microsoft.com/office/powerpoint/2010/main" val="2167972378"/>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ECB193-81A3-6A0B-76D0-6201F66E08B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0393A1C-5EA3-2D0F-9654-85F56C6A7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kstvak 2">
            <a:extLst>
              <a:ext uri="{FF2B5EF4-FFF2-40B4-BE49-F238E27FC236}">
                <a16:creationId xmlns:a16="http://schemas.microsoft.com/office/drawing/2014/main" id="{DF6427D3-21B7-9350-281D-1D9ECD91823F}"/>
              </a:ext>
            </a:extLst>
          </p:cNvPr>
          <p:cNvSpPr txBox="1"/>
          <p:nvPr/>
        </p:nvSpPr>
        <p:spPr>
          <a:xfrm>
            <a:off x="612648" y="261667"/>
            <a:ext cx="9192212" cy="607360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14350" indent="-457200">
              <a:lnSpc>
                <a:spcPct val="120000"/>
              </a:lnSpc>
              <a:spcAft>
                <a:spcPts val="600"/>
              </a:spcAft>
              <a:buAutoNum type="arabicParenR"/>
            </a:pPr>
            <a:r>
              <a:rPr lang="en-US" sz="2200" dirty="0" err="1"/>
              <a:t>Klant</a:t>
            </a:r>
            <a:r>
              <a:rPr lang="en-US" sz="2200" dirty="0"/>
              <a:t> </a:t>
            </a:r>
            <a:r>
              <a:rPr lang="en-US" sz="2200" dirty="0" err="1"/>
              <a:t>meldt</a:t>
            </a:r>
            <a:r>
              <a:rPr lang="en-US" sz="2200" dirty="0"/>
              <a:t> </a:t>
            </a:r>
            <a:r>
              <a:rPr lang="en-US" sz="2200" dirty="0" err="1"/>
              <a:t>zich</a:t>
            </a:r>
            <a:r>
              <a:rPr lang="en-US" sz="2200" dirty="0"/>
              <a:t> </a:t>
            </a:r>
            <a:r>
              <a:rPr lang="en-US" sz="2200" dirty="0" err="1"/>
              <a:t>aan</a:t>
            </a:r>
            <a:r>
              <a:rPr lang="en-US" sz="2200" dirty="0"/>
              <a:t> </a:t>
            </a:r>
            <a:r>
              <a:rPr lang="en-US" sz="2200" dirty="0" err="1"/>
              <a:t>bij</a:t>
            </a:r>
            <a:r>
              <a:rPr lang="en-US" sz="2200" dirty="0"/>
              <a:t> de portier</a:t>
            </a:r>
            <a:endParaRPr lang="nl-NL" dirty="0"/>
          </a:p>
          <a:p>
            <a:pPr marL="57150">
              <a:lnSpc>
                <a:spcPct val="120000"/>
              </a:lnSpc>
              <a:spcAft>
                <a:spcPts val="600"/>
              </a:spcAft>
            </a:pPr>
            <a:r>
              <a:rPr lang="en-US" sz="2200" dirty="0" err="1"/>
              <a:t>Klant</a:t>
            </a:r>
            <a:r>
              <a:rPr lang="en-US" sz="2200" dirty="0"/>
              <a:t>: </a:t>
            </a:r>
            <a:r>
              <a:rPr lang="en-US" sz="2200" dirty="0" err="1"/>
              <a:t>bezoeker</a:t>
            </a:r>
            <a:r>
              <a:rPr lang="en-US" sz="2200" dirty="0"/>
              <a:t> van de website die het </a:t>
            </a:r>
            <a:r>
              <a:rPr lang="en-US" sz="2200" dirty="0" err="1"/>
              <a:t>formulier</a:t>
            </a:r>
            <a:r>
              <a:rPr lang="en-US" sz="2200" dirty="0"/>
              <a:t> </a:t>
            </a:r>
            <a:r>
              <a:rPr lang="en-US" sz="2200" dirty="0" err="1"/>
              <a:t>invult</a:t>
            </a:r>
          </a:p>
          <a:p>
            <a:pPr marL="57150">
              <a:lnSpc>
                <a:spcPct val="120000"/>
              </a:lnSpc>
              <a:spcAft>
                <a:spcPts val="600"/>
              </a:spcAft>
            </a:pPr>
            <a:endParaRPr lang="en-US" sz="2200" dirty="0"/>
          </a:p>
          <a:p>
            <a:pPr marL="57150">
              <a:lnSpc>
                <a:spcPct val="120000"/>
              </a:lnSpc>
              <a:spcAft>
                <a:spcPts val="600"/>
              </a:spcAft>
            </a:pPr>
            <a:r>
              <a:rPr lang="en-US" sz="1600" dirty="0" err="1"/>
              <a:t>Definitie</a:t>
            </a:r>
            <a:r>
              <a:rPr lang="en-US" sz="1600" dirty="0"/>
              <a:t> </a:t>
            </a:r>
            <a:r>
              <a:rPr lang="en-US" sz="1600" dirty="0" err="1"/>
              <a:t>klant</a:t>
            </a:r>
            <a:r>
              <a:rPr lang="en-US" sz="1600" dirty="0"/>
              <a:t>:</a:t>
            </a:r>
          </a:p>
          <a:p>
            <a:pPr marL="57150">
              <a:lnSpc>
                <a:spcPct val="120000"/>
              </a:lnSpc>
              <a:spcAft>
                <a:spcPts val="600"/>
              </a:spcAft>
            </a:pPr>
            <a:r>
              <a:rPr lang="en-US" sz="1600" dirty="0" err="1"/>
              <a:t>Iemand</a:t>
            </a:r>
            <a:r>
              <a:rPr lang="en-US" sz="1600" dirty="0"/>
              <a:t> die </a:t>
            </a:r>
            <a:r>
              <a:rPr lang="en-US" sz="1600" dirty="0" err="1"/>
              <a:t>beweert</a:t>
            </a:r>
            <a:r>
              <a:rPr lang="en-US" sz="1600" dirty="0"/>
              <a:t> </a:t>
            </a:r>
            <a:r>
              <a:rPr lang="en-US" sz="1600" dirty="0" err="1"/>
              <a:t>bepaalde</a:t>
            </a:r>
            <a:r>
              <a:rPr lang="en-US" sz="1600" dirty="0"/>
              <a:t> </a:t>
            </a:r>
            <a:r>
              <a:rPr lang="en-US" sz="1600" dirty="0" err="1"/>
              <a:t>eigenschappen</a:t>
            </a:r>
            <a:r>
              <a:rPr lang="en-US" sz="1600" dirty="0"/>
              <a:t> </a:t>
            </a:r>
            <a:r>
              <a:rPr lang="en-US" sz="1600" dirty="0" err="1"/>
              <a:t>te</a:t>
            </a:r>
            <a:r>
              <a:rPr lang="en-US" sz="1600" dirty="0"/>
              <a:t> </a:t>
            </a:r>
            <a:r>
              <a:rPr lang="en-US" sz="1600" dirty="0" err="1"/>
              <a:t>hebben</a:t>
            </a:r>
            <a:r>
              <a:rPr lang="en-US" sz="1600" dirty="0"/>
              <a:t>:</a:t>
            </a:r>
          </a:p>
          <a:p>
            <a:pPr marL="57150">
              <a:lnSpc>
                <a:spcPct val="120000"/>
              </a:lnSpc>
              <a:spcAft>
                <a:spcPts val="600"/>
              </a:spcAft>
            </a:pPr>
            <a:r>
              <a:rPr lang="en-US" sz="1600" dirty="0" err="1"/>
              <a:t>Waaronder</a:t>
            </a:r>
            <a:r>
              <a:rPr lang="en-US" sz="1600" dirty="0"/>
              <a:t> </a:t>
            </a:r>
            <a:r>
              <a:rPr lang="en-US" sz="1600" dirty="0" err="1"/>
              <a:t>gebruikersnaam</a:t>
            </a:r>
            <a:r>
              <a:rPr lang="en-US" sz="1600" dirty="0"/>
              <a:t> </a:t>
            </a:r>
            <a:r>
              <a:rPr lang="en-US" sz="1600" dirty="0" err="1"/>
              <a:t>en</a:t>
            </a:r>
            <a:r>
              <a:rPr lang="en-US" sz="1600" dirty="0"/>
              <a:t> </a:t>
            </a:r>
            <a:r>
              <a:rPr lang="en-US" sz="1600" dirty="0" err="1"/>
              <a:t>wachtwoord</a:t>
            </a:r>
            <a:endParaRPr lang="en-US" sz="1600" dirty="0"/>
          </a:p>
          <a:p>
            <a:pPr marL="57150">
              <a:lnSpc>
                <a:spcPct val="120000"/>
              </a:lnSpc>
              <a:spcAft>
                <a:spcPts val="600"/>
              </a:spcAft>
            </a:pPr>
            <a:r>
              <a:rPr lang="en-US" sz="1600" dirty="0"/>
              <a:t>Kan </a:t>
            </a:r>
            <a:r>
              <a:rPr lang="en-US" sz="1600" dirty="0" err="1"/>
              <a:t>ook</a:t>
            </a:r>
            <a:r>
              <a:rPr lang="en-US" sz="1600" dirty="0"/>
              <a:t> </a:t>
            </a:r>
            <a:r>
              <a:rPr lang="en-US" sz="1600" dirty="0" err="1"/>
              <a:t>iemand</a:t>
            </a:r>
            <a:r>
              <a:rPr lang="en-US" sz="1600" dirty="0"/>
              <a:t> </a:t>
            </a:r>
            <a:r>
              <a:rPr lang="en-US" sz="1600" dirty="0" err="1"/>
              <a:t>zijn</a:t>
            </a:r>
            <a:r>
              <a:rPr lang="en-US" sz="1600" dirty="0"/>
              <a:t> die valse </a:t>
            </a:r>
            <a:r>
              <a:rPr lang="en-US" sz="1600" dirty="0" err="1"/>
              <a:t>informatie</a:t>
            </a:r>
            <a:r>
              <a:rPr lang="en-US" sz="1600" dirty="0"/>
              <a:t> </a:t>
            </a:r>
            <a:r>
              <a:rPr lang="en-US" sz="1600" dirty="0" err="1"/>
              <a:t>opgeeft</a:t>
            </a:r>
            <a:r>
              <a:rPr lang="en-US" sz="1600" dirty="0"/>
              <a:t> om </a:t>
            </a:r>
            <a:r>
              <a:rPr lang="en-US" sz="1600" dirty="0" err="1"/>
              <a:t>aan</a:t>
            </a:r>
            <a:r>
              <a:rPr lang="en-US" sz="1600" dirty="0"/>
              <a:t> de </a:t>
            </a:r>
            <a:r>
              <a:rPr lang="en-US" sz="1600" dirty="0" err="1"/>
              <a:t>kluisinhoud</a:t>
            </a:r>
            <a:r>
              <a:rPr lang="en-US" sz="1600" dirty="0"/>
              <a:t> </a:t>
            </a:r>
            <a:r>
              <a:rPr lang="en-US" sz="1600" dirty="0" err="1"/>
              <a:t>te</a:t>
            </a:r>
            <a:r>
              <a:rPr lang="en-US" sz="1600" dirty="0"/>
              <a:t> </a:t>
            </a:r>
            <a:r>
              <a:rPr lang="en-US" sz="1600" dirty="0" err="1"/>
              <a:t>geraken</a:t>
            </a:r>
            <a:r>
              <a:rPr lang="en-US" sz="1600" dirty="0"/>
              <a:t> van </a:t>
            </a:r>
            <a:r>
              <a:rPr lang="en-US" sz="1600" dirty="0" err="1"/>
              <a:t>iemand</a:t>
            </a:r>
            <a:r>
              <a:rPr lang="en-US" sz="1600" dirty="0"/>
              <a:t> </a:t>
            </a:r>
            <a:r>
              <a:rPr lang="en-US" sz="1600" dirty="0" err="1"/>
              <a:t>anders</a:t>
            </a:r>
            <a:r>
              <a:rPr lang="en-US" sz="1600" dirty="0"/>
              <a:t> (</a:t>
            </a:r>
            <a:r>
              <a:rPr lang="en-US" sz="1600" dirty="0" err="1"/>
              <a:t>ongewenst</a:t>
            </a:r>
            <a:r>
              <a:rPr lang="en-US" sz="1600" dirty="0"/>
              <a:t>)</a:t>
            </a:r>
          </a:p>
        </p:txBody>
      </p:sp>
      <p:pic>
        <p:nvPicPr>
          <p:cNvPr id="2" name="Afbeelding 1" descr="Gangster cat pfp Photos - Download Free High-Quality Pictures | Freepik">
            <a:extLst>
              <a:ext uri="{FF2B5EF4-FFF2-40B4-BE49-F238E27FC236}">
                <a16:creationId xmlns:a16="http://schemas.microsoft.com/office/drawing/2014/main" id="{B15BED5C-EC3E-6268-0B9C-16B925AF108D}"/>
              </a:ext>
            </a:extLst>
          </p:cNvPr>
          <p:cNvPicPr>
            <a:picLocks noChangeAspect="1"/>
          </p:cNvPicPr>
          <p:nvPr/>
        </p:nvPicPr>
        <p:blipFill>
          <a:blip r:embed="rId2"/>
          <a:stretch>
            <a:fillRect/>
          </a:stretch>
        </p:blipFill>
        <p:spPr>
          <a:xfrm>
            <a:off x="7750628" y="2975154"/>
            <a:ext cx="4441371" cy="3356977"/>
          </a:xfrm>
          <a:prstGeom prst="rect">
            <a:avLst/>
          </a:prstGeom>
        </p:spPr>
      </p:pic>
    </p:spTree>
    <p:extLst>
      <p:ext uri="{BB962C8B-B14F-4D97-AF65-F5344CB8AC3E}">
        <p14:creationId xmlns:p14="http://schemas.microsoft.com/office/powerpoint/2010/main" val="555141006"/>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D1D73F-08DE-5A4B-889A-E9F639C86DC6}"/>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84127E5-EFBA-53AC-5C5C-1DF95C7BC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kstvak 2">
            <a:extLst>
              <a:ext uri="{FF2B5EF4-FFF2-40B4-BE49-F238E27FC236}">
                <a16:creationId xmlns:a16="http://schemas.microsoft.com/office/drawing/2014/main" id="{8D5F21D7-0EE2-2D65-D71F-DE6DC1D323BD}"/>
              </a:ext>
            </a:extLst>
          </p:cNvPr>
          <p:cNvSpPr txBox="1"/>
          <p:nvPr/>
        </p:nvSpPr>
        <p:spPr>
          <a:xfrm>
            <a:off x="612648" y="261667"/>
            <a:ext cx="9192212" cy="607360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a:lnSpc>
                <a:spcPct val="120000"/>
              </a:lnSpc>
              <a:spcAft>
                <a:spcPts val="600"/>
              </a:spcAft>
            </a:pPr>
            <a:r>
              <a:rPr lang="en-US" sz="2200" dirty="0"/>
              <a:t>2) Operator </a:t>
            </a:r>
            <a:r>
              <a:rPr lang="en-US" sz="2200" dirty="0" err="1"/>
              <a:t>krijgt</a:t>
            </a:r>
            <a:r>
              <a:rPr lang="en-US" sz="2200" dirty="0"/>
              <a:t> </a:t>
            </a:r>
            <a:r>
              <a:rPr lang="en-US" sz="2200" dirty="0" err="1"/>
              <a:t>opdracht</a:t>
            </a:r>
            <a:r>
              <a:rPr lang="en-US" sz="2200" dirty="0"/>
              <a:t> van portier</a:t>
            </a:r>
          </a:p>
          <a:p>
            <a:pPr marL="57150">
              <a:lnSpc>
                <a:spcPct val="120000"/>
              </a:lnSpc>
              <a:spcAft>
                <a:spcPts val="600"/>
              </a:spcAft>
            </a:pPr>
            <a:r>
              <a:rPr lang="en-US" sz="2200" dirty="0"/>
              <a:t>Operator (</a:t>
            </a:r>
            <a:r>
              <a:rPr lang="en-US" sz="2200" dirty="0" err="1"/>
              <a:t>vergelijk</a:t>
            </a:r>
            <a:r>
              <a:rPr lang="en-US" sz="2200" dirty="0"/>
              <a:t> met: query in database)</a:t>
            </a:r>
          </a:p>
          <a:p>
            <a:pPr marL="57150">
              <a:lnSpc>
                <a:spcPct val="120000"/>
              </a:lnSpc>
              <a:spcAft>
                <a:spcPts val="600"/>
              </a:spcAft>
            </a:pPr>
            <a:endParaRPr lang="en-US" sz="2200" dirty="0"/>
          </a:p>
          <a:p>
            <a:pPr marL="57150">
              <a:lnSpc>
                <a:spcPct val="120000"/>
              </a:lnSpc>
              <a:spcAft>
                <a:spcPts val="600"/>
              </a:spcAft>
            </a:pPr>
            <a:r>
              <a:rPr lang="en-US" dirty="0" err="1"/>
              <a:t>Loopt</a:t>
            </a:r>
            <a:r>
              <a:rPr lang="en-US" dirty="0"/>
              <a:t> in de </a:t>
            </a:r>
            <a:r>
              <a:rPr lang="en-US" dirty="0" err="1"/>
              <a:t>kluis</a:t>
            </a:r>
            <a:r>
              <a:rPr lang="en-US" dirty="0"/>
              <a:t> </a:t>
            </a:r>
            <a:r>
              <a:rPr lang="en-US" dirty="0" err="1"/>
              <a:t>rond</a:t>
            </a:r>
            <a:r>
              <a:rPr lang="en-US" dirty="0"/>
              <a:t>, </a:t>
            </a:r>
            <a:r>
              <a:rPr lang="en-US" dirty="0" err="1"/>
              <a:t>zoekt</a:t>
            </a:r>
            <a:r>
              <a:rPr lang="en-US" dirty="0"/>
              <a:t> </a:t>
            </a:r>
            <a:r>
              <a:rPr lang="en-US" dirty="0" err="1"/>
              <a:t>naar</a:t>
            </a:r>
            <a:r>
              <a:rPr lang="en-US" dirty="0"/>
              <a:t> username </a:t>
            </a:r>
            <a:r>
              <a:rPr lang="en-US" dirty="0" err="1"/>
              <a:t>en</a:t>
            </a:r>
            <a:r>
              <a:rPr lang="en-US" dirty="0"/>
              <a:t> password.</a:t>
            </a:r>
          </a:p>
          <a:p>
            <a:pPr marL="57150">
              <a:lnSpc>
                <a:spcPct val="120000"/>
              </a:lnSpc>
              <a:spcAft>
                <a:spcPts val="600"/>
              </a:spcAft>
            </a:pPr>
            <a:endParaRPr lang="en-US" dirty="0"/>
          </a:p>
          <a:p>
            <a:pPr marL="57150">
              <a:lnSpc>
                <a:spcPct val="120000"/>
              </a:lnSpc>
              <a:spcAft>
                <a:spcPts val="600"/>
              </a:spcAft>
            </a:pPr>
            <a:r>
              <a:rPr lang="en-US" dirty="0" err="1"/>
              <a:t>Geeft</a:t>
            </a:r>
            <a:r>
              <a:rPr lang="en-US" dirty="0"/>
              <a:t> info </a:t>
            </a:r>
            <a:r>
              <a:rPr lang="en-US" dirty="0" err="1"/>
              <a:t>terug</a:t>
            </a:r>
            <a:r>
              <a:rPr lang="en-US" dirty="0"/>
              <a:t> door </a:t>
            </a:r>
            <a:r>
              <a:rPr lang="en-US" dirty="0" err="1"/>
              <a:t>aan</a:t>
            </a:r>
            <a:r>
              <a:rPr lang="en-US" dirty="0"/>
              <a:t> de portier.</a:t>
            </a:r>
          </a:p>
        </p:txBody>
      </p:sp>
      <p:pic>
        <p:nvPicPr>
          <p:cNvPr id="4" name="Afbeelding 3" descr="Bank Employee PNG Transparent Images Free Download | Vector Files | Pngtree">
            <a:extLst>
              <a:ext uri="{FF2B5EF4-FFF2-40B4-BE49-F238E27FC236}">
                <a16:creationId xmlns:a16="http://schemas.microsoft.com/office/drawing/2014/main" id="{83B39FFF-26D2-A8AE-5AA1-133DD7591FC7}"/>
              </a:ext>
            </a:extLst>
          </p:cNvPr>
          <p:cNvPicPr>
            <a:picLocks noChangeAspect="1"/>
          </p:cNvPicPr>
          <p:nvPr/>
        </p:nvPicPr>
        <p:blipFill>
          <a:blip r:embed="rId2"/>
          <a:stretch>
            <a:fillRect/>
          </a:stretch>
        </p:blipFill>
        <p:spPr>
          <a:xfrm>
            <a:off x="6458802" y="0"/>
            <a:ext cx="7678168" cy="6858000"/>
          </a:xfrm>
          <a:prstGeom prst="rect">
            <a:avLst/>
          </a:prstGeom>
        </p:spPr>
      </p:pic>
    </p:spTree>
    <p:extLst>
      <p:ext uri="{BB962C8B-B14F-4D97-AF65-F5344CB8AC3E}">
        <p14:creationId xmlns:p14="http://schemas.microsoft.com/office/powerpoint/2010/main" val="2597909037"/>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786161-15CB-26C8-8F59-632D7BB8C8CC}"/>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39560F5-E925-3193-DF9A-A53775F17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kstvak 2">
            <a:extLst>
              <a:ext uri="{FF2B5EF4-FFF2-40B4-BE49-F238E27FC236}">
                <a16:creationId xmlns:a16="http://schemas.microsoft.com/office/drawing/2014/main" id="{99DB4338-1D14-0125-B88C-45AEA5B45EB8}"/>
              </a:ext>
            </a:extLst>
          </p:cNvPr>
          <p:cNvSpPr txBox="1"/>
          <p:nvPr/>
        </p:nvSpPr>
        <p:spPr>
          <a:xfrm>
            <a:off x="612648" y="261667"/>
            <a:ext cx="9192212" cy="607360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a:lnSpc>
                <a:spcPct val="120000"/>
              </a:lnSpc>
              <a:spcAft>
                <a:spcPts val="600"/>
              </a:spcAft>
            </a:pPr>
            <a:r>
              <a:rPr lang="en-US" sz="2200" dirty="0"/>
              <a:t>3) Portier </a:t>
            </a:r>
            <a:r>
              <a:rPr lang="en-US" sz="2200" dirty="0" err="1"/>
              <a:t>kondigt</a:t>
            </a:r>
            <a:r>
              <a:rPr lang="en-US" sz="2200" dirty="0"/>
              <a:t> </a:t>
            </a:r>
            <a:r>
              <a:rPr lang="en-US" sz="2200" dirty="0" err="1"/>
              <a:t>actie</a:t>
            </a:r>
            <a:r>
              <a:rPr lang="en-US" sz="2200" dirty="0"/>
              <a:t> </a:t>
            </a:r>
            <a:r>
              <a:rPr lang="en-US" sz="2200" dirty="0" err="1"/>
              <a:t>aan</a:t>
            </a:r>
            <a:r>
              <a:rPr lang="en-US" sz="2200" dirty="0"/>
              <a:t> </a:t>
            </a:r>
            <a:r>
              <a:rPr lang="en-US" sz="2200" dirty="0" err="1"/>
              <a:t>tegen</a:t>
            </a:r>
            <a:r>
              <a:rPr lang="en-US" sz="2200" dirty="0"/>
              <a:t> </a:t>
            </a:r>
            <a:r>
              <a:rPr lang="en-US" sz="2200" dirty="0" err="1"/>
              <a:t>kla</a:t>
            </a:r>
            <a:r>
              <a:rPr lang="en-US" sz="2200" dirty="0"/>
              <a:t>nt</a:t>
            </a:r>
          </a:p>
          <a:p>
            <a:pPr marL="57150">
              <a:lnSpc>
                <a:spcPct val="120000"/>
              </a:lnSpc>
              <a:spcAft>
                <a:spcPts val="600"/>
              </a:spcAft>
            </a:pPr>
            <a:r>
              <a:rPr lang="en-US" sz="2200" dirty="0"/>
              <a:t>Portier (</a:t>
            </a:r>
            <a:r>
              <a:rPr lang="en-US" sz="2200" dirty="0" err="1"/>
              <a:t>vergelijkbaar</a:t>
            </a:r>
            <a:r>
              <a:rPr lang="en-US" sz="2200" dirty="0"/>
              <a:t> met "echo </a:t>
            </a:r>
            <a:r>
              <a:rPr lang="en-US" sz="2200" dirty="0" err="1"/>
              <a:t>en</a:t>
            </a:r>
            <a:r>
              <a:rPr lang="en-US" sz="2200" dirty="0"/>
              <a:t> if statements")</a:t>
            </a:r>
            <a:endParaRPr lang="en-US" dirty="0"/>
          </a:p>
          <a:p>
            <a:pPr marL="57150">
              <a:lnSpc>
                <a:spcPct val="120000"/>
              </a:lnSpc>
              <a:spcAft>
                <a:spcPts val="600"/>
              </a:spcAft>
            </a:pPr>
            <a:endParaRPr lang="en-US" sz="2200" dirty="0"/>
          </a:p>
          <a:p>
            <a:pPr marL="57150">
              <a:lnSpc>
                <a:spcPct val="120000"/>
              </a:lnSpc>
              <a:spcAft>
                <a:spcPts val="600"/>
              </a:spcAft>
            </a:pPr>
            <a:r>
              <a:rPr lang="en-US" sz="2200" dirty="0"/>
              <a:t>Als de operator het record </a:t>
            </a:r>
            <a:r>
              <a:rPr lang="en-US" sz="2200" dirty="0" err="1"/>
              <a:t>kan</a:t>
            </a:r>
            <a:r>
              <a:rPr lang="en-US" sz="2200" dirty="0"/>
              <a:t> </a:t>
            </a:r>
            <a:r>
              <a:rPr lang="en-US" sz="2200" dirty="0" err="1"/>
              <a:t>vinden</a:t>
            </a:r>
            <a:r>
              <a:rPr lang="en-US" sz="2200" dirty="0"/>
              <a:t>: portier </a:t>
            </a:r>
            <a:r>
              <a:rPr lang="en-US" sz="2200" dirty="0" err="1"/>
              <a:t>geeft</a:t>
            </a:r>
            <a:endParaRPr lang="en-US" sz="2200" dirty="0"/>
          </a:p>
          <a:p>
            <a:pPr marL="57150">
              <a:lnSpc>
                <a:spcPct val="120000"/>
              </a:lnSpc>
              <a:spcAft>
                <a:spcPts val="600"/>
              </a:spcAft>
            </a:pPr>
            <a:r>
              <a:rPr lang="en-US" sz="2200" dirty="0" err="1"/>
              <a:t>sessiemap</a:t>
            </a:r>
            <a:r>
              <a:rPr lang="en-US" sz="2200" dirty="0"/>
              <a:t> mee </a:t>
            </a:r>
            <a:r>
              <a:rPr lang="en-US" sz="2200" dirty="0" err="1"/>
              <a:t>aan</a:t>
            </a:r>
            <a:r>
              <a:rPr lang="en-US" sz="2200" dirty="0"/>
              <a:t> </a:t>
            </a:r>
            <a:r>
              <a:rPr lang="en-US" sz="2200" dirty="0" err="1"/>
              <a:t>klant</a:t>
            </a:r>
            <a:endParaRPr lang="en-US" sz="2200" dirty="0"/>
          </a:p>
          <a:p>
            <a:pPr marL="57150">
              <a:lnSpc>
                <a:spcPct val="120000"/>
              </a:lnSpc>
              <a:spcAft>
                <a:spcPts val="600"/>
              </a:spcAft>
            </a:pPr>
            <a:endParaRPr lang="en-US" sz="2200" dirty="0"/>
          </a:p>
          <a:p>
            <a:pPr marL="57150">
              <a:lnSpc>
                <a:spcPct val="120000"/>
              </a:lnSpc>
              <a:spcAft>
                <a:spcPts val="600"/>
              </a:spcAft>
            </a:pPr>
            <a:r>
              <a:rPr lang="en-US" sz="2200" dirty="0" err="1"/>
              <a:t>Indien</a:t>
            </a:r>
            <a:r>
              <a:rPr lang="en-US" sz="2200" dirty="0"/>
              <a:t> </a:t>
            </a:r>
            <a:r>
              <a:rPr lang="en-US" sz="2200" dirty="0" err="1"/>
              <a:t>enkel</a:t>
            </a:r>
            <a:r>
              <a:rPr lang="en-US" sz="2200" dirty="0"/>
              <a:t> de </a:t>
            </a:r>
            <a:r>
              <a:rPr lang="en-US" sz="2200" dirty="0" err="1"/>
              <a:t>gebruikersnaam</a:t>
            </a:r>
            <a:r>
              <a:rPr lang="en-US" sz="2200" dirty="0"/>
              <a:t> </a:t>
            </a:r>
            <a:r>
              <a:rPr lang="en-US" sz="2200" dirty="0" err="1"/>
              <a:t>overeenkomt</a:t>
            </a:r>
            <a:r>
              <a:rPr lang="en-US" sz="2200" dirty="0"/>
              <a:t>: </a:t>
            </a:r>
          </a:p>
          <a:p>
            <a:pPr marL="57150">
              <a:lnSpc>
                <a:spcPct val="120000"/>
              </a:lnSpc>
              <a:spcAft>
                <a:spcPts val="600"/>
              </a:spcAft>
            </a:pPr>
            <a:r>
              <a:rPr lang="en-US" sz="2200" dirty="0"/>
              <a:t>Portier </a:t>
            </a:r>
            <a:r>
              <a:rPr lang="en-US" sz="2200" dirty="0" err="1"/>
              <a:t>meldt</a:t>
            </a:r>
            <a:r>
              <a:rPr lang="en-US" sz="2200" dirty="0"/>
              <a:t> </a:t>
            </a:r>
            <a:r>
              <a:rPr lang="en-US" sz="2200" dirty="0" err="1"/>
              <a:t>dat</a:t>
            </a:r>
            <a:r>
              <a:rPr lang="en-US" sz="2200" dirty="0"/>
              <a:t> </a:t>
            </a:r>
            <a:r>
              <a:rPr lang="en-US" sz="2200" dirty="0" err="1"/>
              <a:t>wachtwoord</a:t>
            </a:r>
            <a:r>
              <a:rPr lang="en-US" sz="2200" dirty="0"/>
              <a:t> </a:t>
            </a:r>
            <a:r>
              <a:rPr lang="en-US" sz="2200" dirty="0" err="1"/>
              <a:t>niet</a:t>
            </a:r>
            <a:r>
              <a:rPr lang="en-US" sz="2200" dirty="0"/>
              <a:t> </a:t>
            </a:r>
            <a:r>
              <a:rPr lang="en-US" sz="2200" dirty="0" err="1"/>
              <a:t>klopt</a:t>
            </a:r>
            <a:r>
              <a:rPr lang="en-US" sz="2200" dirty="0"/>
              <a:t>.</a:t>
            </a:r>
          </a:p>
          <a:p>
            <a:pPr marL="57150">
              <a:lnSpc>
                <a:spcPct val="120000"/>
              </a:lnSpc>
              <a:spcAft>
                <a:spcPts val="600"/>
              </a:spcAft>
            </a:pPr>
            <a:endParaRPr lang="en-US" sz="2200" dirty="0"/>
          </a:p>
          <a:p>
            <a:pPr marL="57150">
              <a:lnSpc>
                <a:spcPct val="120000"/>
              </a:lnSpc>
              <a:spcAft>
                <a:spcPts val="600"/>
              </a:spcAft>
            </a:pPr>
            <a:r>
              <a:rPr lang="en-US" sz="2200" dirty="0" err="1"/>
              <a:t>Indien</a:t>
            </a:r>
            <a:r>
              <a:rPr lang="en-US" sz="2200" dirty="0"/>
              <a:t> </a:t>
            </a:r>
            <a:r>
              <a:rPr lang="en-US" sz="2200" dirty="0" err="1"/>
              <a:t>niet</a:t>
            </a:r>
            <a:r>
              <a:rPr lang="en-US" sz="2200" dirty="0"/>
              <a:t> </a:t>
            </a:r>
            <a:r>
              <a:rPr lang="en-US" sz="2200" dirty="0" err="1"/>
              <a:t>gevonden</a:t>
            </a:r>
            <a:r>
              <a:rPr lang="en-US" sz="2200" dirty="0"/>
              <a:t>: Portier </a:t>
            </a:r>
            <a:r>
              <a:rPr lang="en-US" sz="2200" dirty="0" err="1"/>
              <a:t>weigert</a:t>
            </a:r>
            <a:r>
              <a:rPr lang="en-US" sz="2200" dirty="0"/>
              <a:t> alle </a:t>
            </a:r>
            <a:r>
              <a:rPr lang="en-US" sz="2200" dirty="0" err="1"/>
              <a:t>toegang</a:t>
            </a:r>
            <a:r>
              <a:rPr lang="en-US" sz="2200" dirty="0"/>
              <a:t> </a:t>
            </a:r>
            <a:r>
              <a:rPr lang="en-US" sz="2200" dirty="0" err="1"/>
              <a:t>en</a:t>
            </a:r>
            <a:r>
              <a:rPr lang="en-US" sz="2200" dirty="0"/>
              <a:t> </a:t>
            </a:r>
          </a:p>
          <a:p>
            <a:pPr marL="57150">
              <a:lnSpc>
                <a:spcPct val="120000"/>
              </a:lnSpc>
              <a:spcAft>
                <a:spcPts val="600"/>
              </a:spcAft>
            </a:pPr>
            <a:r>
              <a:rPr lang="en-US" sz="2200" dirty="0" err="1"/>
              <a:t>Noemt</a:t>
            </a:r>
            <a:r>
              <a:rPr lang="en-US" sz="2200" dirty="0"/>
              <a:t> de </a:t>
            </a:r>
            <a:r>
              <a:rPr lang="en-US" sz="2200" dirty="0" err="1"/>
              <a:t>klant</a:t>
            </a:r>
            <a:r>
              <a:rPr lang="en-US" sz="2200" dirty="0"/>
              <a:t> </a:t>
            </a:r>
            <a:r>
              <a:rPr lang="en-US" sz="2200" dirty="0" err="1"/>
              <a:t>een</a:t>
            </a:r>
            <a:r>
              <a:rPr lang="en-US" sz="2200" dirty="0"/>
              <a:t> "leugenaar".</a:t>
            </a:r>
          </a:p>
        </p:txBody>
      </p:sp>
      <p:pic>
        <p:nvPicPr>
          <p:cNvPr id="4" name="Afbeelding 3" descr="Bank Employee PNG Transparent Images Free Download | Vector Files | Pngtree">
            <a:extLst>
              <a:ext uri="{FF2B5EF4-FFF2-40B4-BE49-F238E27FC236}">
                <a16:creationId xmlns:a16="http://schemas.microsoft.com/office/drawing/2014/main" id="{488317F7-080E-91FE-FC26-0DBB0ABB25C9}"/>
              </a:ext>
            </a:extLst>
          </p:cNvPr>
          <p:cNvPicPr>
            <a:picLocks noChangeAspect="1"/>
          </p:cNvPicPr>
          <p:nvPr/>
        </p:nvPicPr>
        <p:blipFill>
          <a:blip r:embed="rId2"/>
          <a:stretch>
            <a:fillRect/>
          </a:stretch>
        </p:blipFill>
        <p:spPr>
          <a:xfrm>
            <a:off x="6458802" y="0"/>
            <a:ext cx="7678168" cy="6858000"/>
          </a:xfrm>
          <a:prstGeom prst="rect">
            <a:avLst/>
          </a:prstGeom>
        </p:spPr>
      </p:pic>
    </p:spTree>
    <p:extLst>
      <p:ext uri="{BB962C8B-B14F-4D97-AF65-F5344CB8AC3E}">
        <p14:creationId xmlns:p14="http://schemas.microsoft.com/office/powerpoint/2010/main" val="1409164143"/>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844524-415F-D674-47AD-72F890BE1E1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965340-B6F1-4CD8-87A4-315B55800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kstvak 2">
            <a:extLst>
              <a:ext uri="{FF2B5EF4-FFF2-40B4-BE49-F238E27FC236}">
                <a16:creationId xmlns:a16="http://schemas.microsoft.com/office/drawing/2014/main" id="{9850E99F-325A-6541-82DF-47696E30BA20}"/>
              </a:ext>
            </a:extLst>
          </p:cNvPr>
          <p:cNvSpPr txBox="1"/>
          <p:nvPr/>
        </p:nvSpPr>
        <p:spPr>
          <a:xfrm>
            <a:off x="612648" y="261667"/>
            <a:ext cx="3553412" cy="607360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10000"/>
          </a:bodyPr>
          <a:lstStyle/>
          <a:p>
            <a:pPr marL="57150">
              <a:lnSpc>
                <a:spcPct val="120000"/>
              </a:lnSpc>
              <a:spcAft>
                <a:spcPts val="600"/>
              </a:spcAft>
            </a:pPr>
            <a:r>
              <a:rPr lang="en-US"/>
              <a:t>Scenario: </a:t>
            </a:r>
            <a:endParaRPr lang="en-US" dirty="0"/>
          </a:p>
          <a:p>
            <a:pPr marL="57150">
              <a:lnSpc>
                <a:spcPct val="120000"/>
              </a:lnSpc>
              <a:spcAft>
                <a:spcPts val="600"/>
              </a:spcAft>
            </a:pPr>
            <a:r>
              <a:rPr lang="en-US" dirty="0"/>
              <a:t>In de </a:t>
            </a:r>
            <a:r>
              <a:rPr lang="en-US" dirty="0" err="1"/>
              <a:t>middeleeuwen</a:t>
            </a:r>
            <a:r>
              <a:rPr lang="en-US" dirty="0"/>
              <a:t>: Een </a:t>
            </a:r>
            <a:r>
              <a:rPr lang="en-US" dirty="0" err="1"/>
              <a:t>klant</a:t>
            </a:r>
            <a:r>
              <a:rPr lang="en-US" dirty="0"/>
              <a:t> </a:t>
            </a:r>
            <a:r>
              <a:rPr lang="en-US" dirty="0" err="1"/>
              <a:t>wil</a:t>
            </a:r>
            <a:r>
              <a:rPr lang="en-US" dirty="0"/>
              <a:t> </a:t>
            </a:r>
            <a:r>
              <a:rPr lang="en-US" dirty="0" err="1"/>
              <a:t>toegang</a:t>
            </a:r>
            <a:r>
              <a:rPr lang="en-US" dirty="0"/>
              <a:t> </a:t>
            </a:r>
            <a:r>
              <a:rPr lang="en-US" dirty="0" err="1"/>
              <a:t>krijgen</a:t>
            </a:r>
            <a:r>
              <a:rPr lang="en-US" dirty="0"/>
              <a:t> tot </a:t>
            </a:r>
            <a:r>
              <a:rPr lang="en-US" dirty="0" err="1"/>
              <a:t>zijn</a:t>
            </a:r>
            <a:r>
              <a:rPr lang="en-US" dirty="0"/>
              <a:t> </a:t>
            </a:r>
            <a:r>
              <a:rPr lang="en-US" dirty="0" err="1"/>
              <a:t>kluis</a:t>
            </a:r>
            <a:r>
              <a:rPr lang="en-US" dirty="0"/>
              <a:t> </a:t>
            </a:r>
            <a:r>
              <a:rPr lang="en-US" dirty="0" err="1"/>
              <a:t>bij</a:t>
            </a:r>
            <a:r>
              <a:rPr lang="en-US" dirty="0"/>
              <a:t> de bank.</a:t>
            </a:r>
          </a:p>
          <a:p>
            <a:pPr marL="57150">
              <a:lnSpc>
                <a:spcPct val="120000"/>
              </a:lnSpc>
              <a:spcAft>
                <a:spcPts val="600"/>
              </a:spcAft>
            </a:pPr>
            <a:endParaRPr lang="en-US" dirty="0"/>
          </a:p>
          <a:p>
            <a:pPr marL="285750" indent="-228600">
              <a:lnSpc>
                <a:spcPct val="120000"/>
              </a:lnSpc>
              <a:spcAft>
                <a:spcPts val="600"/>
              </a:spcAft>
              <a:buFont typeface="Arial" panose="020B0604020202020204" pitchFamily="34" charset="0"/>
              <a:buChar char="•"/>
            </a:pPr>
            <a:r>
              <a:rPr lang="en-US" dirty="0" err="1"/>
              <a:t>Klant</a:t>
            </a:r>
            <a:r>
              <a:rPr lang="en-US" dirty="0"/>
              <a:t> (</a:t>
            </a:r>
            <a:r>
              <a:rPr lang="en-US" dirty="0" err="1"/>
              <a:t>blauw</a:t>
            </a:r>
            <a:r>
              <a:rPr lang="en-US" dirty="0"/>
              <a:t>)</a:t>
            </a:r>
          </a:p>
          <a:p>
            <a:pPr marL="285750" indent="-228600">
              <a:lnSpc>
                <a:spcPct val="120000"/>
              </a:lnSpc>
              <a:spcAft>
                <a:spcPts val="600"/>
              </a:spcAft>
              <a:buFont typeface="Arial" panose="020B0604020202020204" pitchFamily="34" charset="0"/>
              <a:buChar char="•"/>
            </a:pPr>
            <a:r>
              <a:rPr lang="en-US" dirty="0"/>
              <a:t>Portier </a:t>
            </a:r>
            <a:r>
              <a:rPr lang="en-US" b="1" dirty="0" err="1"/>
              <a:t>aan</a:t>
            </a:r>
            <a:r>
              <a:rPr lang="en-US" dirty="0"/>
              <a:t> de </a:t>
            </a:r>
            <a:r>
              <a:rPr lang="en-US" dirty="0" err="1"/>
              <a:t>kluis</a:t>
            </a:r>
            <a:r>
              <a:rPr lang="en-US" dirty="0"/>
              <a:t> (rood)</a:t>
            </a:r>
          </a:p>
          <a:p>
            <a:pPr marL="285750" indent="-228600">
              <a:lnSpc>
                <a:spcPct val="120000"/>
              </a:lnSpc>
              <a:spcAft>
                <a:spcPts val="600"/>
              </a:spcAft>
              <a:buFont typeface="Arial" panose="020B0604020202020204" pitchFamily="34" charset="0"/>
              <a:buChar char="•"/>
            </a:pPr>
            <a:r>
              <a:rPr lang="en-US" dirty="0"/>
              <a:t>Operator </a:t>
            </a:r>
            <a:r>
              <a:rPr lang="en-US" b="1" dirty="0"/>
              <a:t>in</a:t>
            </a:r>
            <a:r>
              <a:rPr lang="en-US" dirty="0"/>
              <a:t> de </a:t>
            </a:r>
            <a:r>
              <a:rPr lang="en-US" dirty="0" err="1"/>
              <a:t>kluis</a:t>
            </a:r>
            <a:r>
              <a:rPr lang="en-US" dirty="0"/>
              <a:t> (</a:t>
            </a:r>
            <a:r>
              <a:rPr lang="en-US" dirty="0" err="1"/>
              <a:t>groen</a:t>
            </a:r>
            <a:r>
              <a:rPr lang="en-US" dirty="0"/>
              <a:t>)</a:t>
            </a:r>
          </a:p>
          <a:p>
            <a:pPr marL="285750" indent="-228600">
              <a:lnSpc>
                <a:spcPct val="120000"/>
              </a:lnSpc>
              <a:spcAft>
                <a:spcPts val="600"/>
              </a:spcAft>
              <a:buFont typeface="Arial" panose="020B0604020202020204" pitchFamily="34" charset="0"/>
              <a:buChar char="•"/>
            </a:pPr>
            <a:endParaRPr lang="en-US"/>
          </a:p>
          <a:p>
            <a:pPr marL="285750" indent="-228600">
              <a:lnSpc>
                <a:spcPct val="120000"/>
              </a:lnSpc>
              <a:spcAft>
                <a:spcPts val="600"/>
              </a:spcAft>
              <a:buFont typeface="Arial" panose="020B0604020202020204" pitchFamily="34" charset="0"/>
              <a:buChar char="•"/>
            </a:pPr>
            <a:r>
              <a:rPr lang="en-US" dirty="0"/>
              <a:t>Merk op: </a:t>
            </a:r>
            <a:r>
              <a:rPr lang="en-US" err="1"/>
              <a:t>elke</a:t>
            </a:r>
            <a:r>
              <a:rPr lang="en-US" dirty="0"/>
              <a:t> </a:t>
            </a:r>
            <a:r>
              <a:rPr lang="en-US" err="1"/>
              <a:t>persoon</a:t>
            </a:r>
            <a:r>
              <a:rPr lang="en-US" dirty="0"/>
              <a:t> </a:t>
            </a:r>
            <a:r>
              <a:rPr lang="en-US" err="1"/>
              <a:t>heeft</a:t>
            </a:r>
            <a:r>
              <a:rPr lang="en-US" dirty="0"/>
              <a:t> </a:t>
            </a:r>
            <a:r>
              <a:rPr lang="en-US" err="1"/>
              <a:t>zijn</a:t>
            </a:r>
            <a:r>
              <a:rPr lang="en-US" dirty="0"/>
              <a:t> eigen </a:t>
            </a:r>
            <a:r>
              <a:rPr lang="en-US" err="1"/>
              <a:t>bevoegdheid</a:t>
            </a:r>
            <a:r>
              <a:rPr lang="en-US" dirty="0"/>
              <a:t> ; ze </a:t>
            </a:r>
            <a:r>
              <a:rPr lang="en-US" err="1"/>
              <a:t>mogen</a:t>
            </a:r>
            <a:r>
              <a:rPr lang="en-US" dirty="0"/>
              <a:t> </a:t>
            </a:r>
            <a:r>
              <a:rPr lang="en-US" err="1"/>
              <a:t>zich</a:t>
            </a:r>
            <a:r>
              <a:rPr lang="en-US" dirty="0"/>
              <a:t> </a:t>
            </a:r>
            <a:r>
              <a:rPr lang="en-US" err="1"/>
              <a:t>niet</a:t>
            </a:r>
            <a:r>
              <a:rPr lang="en-US" dirty="0"/>
              <a:t> </a:t>
            </a:r>
            <a:r>
              <a:rPr lang="en-US" err="1"/>
              <a:t>bemoeien</a:t>
            </a:r>
            <a:r>
              <a:rPr lang="en-US" dirty="0"/>
              <a:t> met </a:t>
            </a:r>
            <a:r>
              <a:rPr lang="en-US" err="1"/>
              <a:t>elkaar</a:t>
            </a:r>
            <a:endParaRPr lang="en-US" dirty="0" err="1"/>
          </a:p>
          <a:p>
            <a:pPr marL="285750" indent="-228600">
              <a:lnSpc>
                <a:spcPct val="120000"/>
              </a:lnSpc>
              <a:spcAft>
                <a:spcPts val="600"/>
              </a:spcAft>
              <a:buFont typeface="Arial" panose="020B0604020202020204" pitchFamily="34" charset="0"/>
              <a:buChar char="•"/>
            </a:pPr>
            <a:r>
              <a:rPr lang="en-US" dirty="0"/>
              <a:t>Zo </a:t>
            </a:r>
            <a:r>
              <a:rPr lang="en-US" dirty="0" err="1"/>
              <a:t>mogen</a:t>
            </a:r>
            <a:r>
              <a:rPr lang="en-US" dirty="0"/>
              <a:t> de </a:t>
            </a:r>
            <a:r>
              <a:rPr lang="en-US" dirty="0" err="1"/>
              <a:t>klant</a:t>
            </a:r>
            <a:r>
              <a:rPr lang="en-US" dirty="0"/>
              <a:t> </a:t>
            </a:r>
            <a:r>
              <a:rPr lang="en-US" dirty="0" err="1"/>
              <a:t>en</a:t>
            </a:r>
            <a:r>
              <a:rPr lang="en-US" dirty="0"/>
              <a:t> de portier </a:t>
            </a:r>
            <a:r>
              <a:rPr lang="en-US" b="1" dirty="0"/>
              <a:t>nooit</a:t>
            </a:r>
            <a:r>
              <a:rPr lang="en-US" dirty="0"/>
              <a:t> in de </a:t>
            </a:r>
            <a:r>
              <a:rPr lang="en-US" dirty="0" err="1"/>
              <a:t>kluis</a:t>
            </a:r>
            <a:r>
              <a:rPr lang="en-US" dirty="0"/>
              <a:t>, </a:t>
            </a:r>
            <a:r>
              <a:rPr lang="en-US" dirty="0" err="1"/>
              <a:t>enkel</a:t>
            </a:r>
            <a:r>
              <a:rPr lang="en-US" dirty="0"/>
              <a:t> de operator</a:t>
            </a:r>
          </a:p>
          <a:p>
            <a:pPr marL="57150">
              <a:lnSpc>
                <a:spcPct val="120000"/>
              </a:lnSpc>
              <a:spcAft>
                <a:spcPts val="600"/>
              </a:spcAft>
            </a:pPr>
            <a:r>
              <a:rPr lang="en-US" dirty="0"/>
              <a:t>Principe: </a:t>
            </a:r>
            <a:r>
              <a:rPr lang="en-US" b="1" dirty="0"/>
              <a:t>Scheiding van </a:t>
            </a:r>
            <a:r>
              <a:rPr lang="en-US" b="1" dirty="0" err="1"/>
              <a:t>verantwoordelijkheden</a:t>
            </a:r>
            <a:endParaRPr lang="en-US" b="1" dirty="0"/>
          </a:p>
          <a:p>
            <a:pPr marL="285750" indent="-228600">
              <a:lnSpc>
                <a:spcPct val="120000"/>
              </a:lnSpc>
              <a:spcAft>
                <a:spcPts val="600"/>
              </a:spcAft>
              <a:buFont typeface="Arial" panose="020B0604020202020204" pitchFamily="34" charset="0"/>
              <a:buChar char="•"/>
            </a:pPr>
            <a:endParaRPr lang="en-US"/>
          </a:p>
        </p:txBody>
      </p:sp>
      <p:pic>
        <p:nvPicPr>
          <p:cNvPr id="6" name="Afbeelding 5" descr="Afbeelding met tekst, schermopname, software, Lettertype&#10;&#10;Door AI gegenereerde inhoud is mogelijk onjuist.">
            <a:extLst>
              <a:ext uri="{FF2B5EF4-FFF2-40B4-BE49-F238E27FC236}">
                <a16:creationId xmlns:a16="http://schemas.microsoft.com/office/drawing/2014/main" id="{F6801ACB-2232-6FA4-4F3C-59B289A02B48}"/>
              </a:ext>
            </a:extLst>
          </p:cNvPr>
          <p:cNvPicPr>
            <a:picLocks noChangeAspect="1"/>
          </p:cNvPicPr>
          <p:nvPr/>
        </p:nvPicPr>
        <p:blipFill>
          <a:blip r:embed="rId2"/>
          <a:srcRect r="3183"/>
          <a:stretch>
            <a:fillRect/>
          </a:stretch>
        </p:blipFill>
        <p:spPr>
          <a:xfrm>
            <a:off x="4752550" y="10"/>
            <a:ext cx="7439450" cy="6857990"/>
          </a:xfrm>
          <a:prstGeom prst="rect">
            <a:avLst/>
          </a:prstGeom>
        </p:spPr>
      </p:pic>
    </p:spTree>
    <p:extLst>
      <p:ext uri="{BB962C8B-B14F-4D97-AF65-F5344CB8AC3E}">
        <p14:creationId xmlns:p14="http://schemas.microsoft.com/office/powerpoint/2010/main" val="1821624159"/>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DE4C4D99-DB5B-CDFE-4CF6-70A59E686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a:latin typeface="+mj-lt"/>
                <a:ea typeface="+mj-ea"/>
                <a:cs typeface="+mj-cs"/>
              </a:rPr>
              <a:t>Time to exercise!</a:t>
            </a:r>
            <a:endParaRPr lang="nl-NL">
              <a:ea typeface="+mj-ea"/>
              <a:cs typeface="+mj-cs"/>
            </a:endParaRPr>
          </a:p>
        </p:txBody>
      </p:sp>
      <p:sp>
        <p:nvSpPr>
          <p:cNvPr id="2" name="Tekstvak 1">
            <a:extLst>
              <a:ext uri="{FF2B5EF4-FFF2-40B4-BE49-F238E27FC236}">
                <a16:creationId xmlns:a16="http://schemas.microsoft.com/office/drawing/2014/main" id="{92D4698D-422D-6048-19B5-EEBCE41B5B8C}"/>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a:t>Open in </a:t>
            </a:r>
            <a:r>
              <a:rPr lang="nl-BE" err="1"/>
              <a:t>VSCode</a:t>
            </a:r>
            <a:r>
              <a:rPr lang="nl-BE"/>
              <a:t> de folder: "C:\</a:t>
            </a:r>
            <a:r>
              <a:rPr lang="nl-BE" err="1"/>
              <a:t>xampp</a:t>
            </a:r>
            <a:r>
              <a:rPr lang="nl-BE"/>
              <a:t>\</a:t>
            </a:r>
            <a:r>
              <a:rPr lang="nl-BE" err="1"/>
              <a:t>htdocs</a:t>
            </a:r>
            <a:r>
              <a:rPr lang="nl-BE"/>
              <a:t>"</a:t>
            </a:r>
          </a:p>
          <a:p>
            <a:pPr marL="342900" indent="-342900">
              <a:buAutoNum type="arabicParenR"/>
            </a:pPr>
            <a:r>
              <a:rPr lang="nl-BE"/>
              <a:t>Maak in </a:t>
            </a:r>
            <a:r>
              <a:rPr lang="nl-BE" err="1"/>
              <a:t>htdocs</a:t>
            </a:r>
            <a:r>
              <a:rPr lang="nl-BE"/>
              <a:t> voor elke oefening een apart mapje aan</a:t>
            </a:r>
          </a:p>
          <a:p>
            <a:pPr marL="342900" indent="-342900">
              <a:buAutoNum type="arabicParenR"/>
            </a:pPr>
            <a:r>
              <a:rPr lang="nl-BE"/>
              <a:t>Ga in je browser (Chrome, </a:t>
            </a:r>
            <a:r>
              <a:rPr lang="nl-BE" err="1"/>
              <a:t>Edge</a:t>
            </a:r>
            <a:r>
              <a:rPr lang="nl-BE"/>
              <a:t>, Brave, ...) naar "</a:t>
            </a:r>
            <a:r>
              <a:rPr lang="nl-BE" err="1"/>
              <a:t>localhost</a:t>
            </a:r>
            <a:r>
              <a:rPr lang="nl-BE"/>
              <a:t>"</a:t>
            </a:r>
          </a:p>
          <a:p>
            <a:pPr marL="342900" indent="-342900">
              <a:buAutoNum type="arabicParenR"/>
            </a:pPr>
            <a:r>
              <a:rPr lang="nl-BE"/>
              <a:t>Maak de file: "</a:t>
            </a:r>
            <a:r>
              <a:rPr lang="nl-BE" err="1"/>
              <a:t>index.php</a:t>
            </a:r>
            <a:r>
              <a:rPr lang="nl-BE"/>
              <a:t>" aan in het mapje van de oefening</a:t>
            </a:r>
          </a:p>
          <a:p>
            <a:pPr marL="342900" indent="-342900">
              <a:buAutoNum type="arabicParenR"/>
            </a:pPr>
            <a:endParaRPr lang="nl-BE"/>
          </a:p>
          <a:p>
            <a:r>
              <a:rPr lang="nl-BE"/>
              <a:t>💡Tip over werkwijze! Begin gewoon met je HTML code te schrijven en voeg PHP pas toe als het nodig is.</a:t>
            </a:r>
          </a:p>
        </p:txBody>
      </p:sp>
      <p:sp>
        <p:nvSpPr>
          <p:cNvPr id="4" name="Tekstvak 3">
            <a:extLst>
              <a:ext uri="{FF2B5EF4-FFF2-40B4-BE49-F238E27FC236}">
                <a16:creationId xmlns:a16="http://schemas.microsoft.com/office/drawing/2014/main" id="{56E0308D-B4D2-E795-9BD0-B5BFC4D4D357}"/>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a:t>Sommige oefeningen hebben extra: ➕Toevoeging of ⭐Uitdaging </a:t>
            </a:r>
            <a:r>
              <a:rPr lang="nl-BE" i="1"/>
              <a:t>(aantal sterren toont moeilijkheidsgraad)</a:t>
            </a:r>
            <a:endParaRPr lang="nl-NL" i="1"/>
          </a:p>
        </p:txBody>
      </p:sp>
    </p:spTree>
    <p:extLst>
      <p:ext uri="{BB962C8B-B14F-4D97-AF65-F5344CB8AC3E}">
        <p14:creationId xmlns:p14="http://schemas.microsoft.com/office/powerpoint/2010/main" val="74452290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Breedbeeld</PresentationFormat>
  <Slides>34</Slides>
  <Notes>3</Notes>
  <HiddenSlides>0</HiddenSlides>
  <ScaleCrop>false</ScaleCrop>
  <HeadingPairs>
    <vt:vector size="4" baseType="variant">
      <vt:variant>
        <vt:lpstr>Thema</vt:lpstr>
      </vt:variant>
      <vt:variant>
        <vt:i4>1</vt:i4>
      </vt:variant>
      <vt:variant>
        <vt:lpstr>Diatitels</vt:lpstr>
      </vt:variant>
      <vt:variant>
        <vt:i4>34</vt:i4>
      </vt:variant>
    </vt:vector>
  </HeadingPairs>
  <TitlesOfParts>
    <vt:vector size="35" baseType="lpstr">
      <vt:lpstr>VanillaVTI</vt:lpstr>
      <vt:lpstr>Webdesign: Dynamische Websites  H3 Databases en Beveiliging</vt:lpstr>
      <vt:lpstr>Overzicht</vt:lpstr>
      <vt:lpstr>Wat is een database? </vt:lpstr>
      <vt:lpstr>MySQL/MariaDB</vt:lpstr>
      <vt:lpstr>PhpMyAdmin (PMA)</vt:lpstr>
      <vt:lpstr>Prepared Statements met Prepared Data Objects (PDO)</vt:lpstr>
      <vt:lpstr>PDO: Ophalen van één rij</vt:lpstr>
      <vt:lpstr>PDO: Ophalen van meerdere rijen</vt:lpstr>
      <vt:lpstr>CRUD  Create, Read, Update, Delete</vt:lpstr>
      <vt:lpstr>Security: SQL Injections</vt:lpstr>
      <vt:lpstr>Hoe wordt SQLi uitgevoerd?</vt:lpstr>
      <vt:lpstr>Types van SQLi: #1 In-Band</vt:lpstr>
      <vt:lpstr>Types van SQLi: #2 Inferential/Blind</vt:lpstr>
      <vt:lpstr>Types van SQLi: #3 Out-of-band</vt:lpstr>
      <vt:lpstr>Hoe kwetsbaarheid tegen SQLi voorkomen?</vt:lpstr>
      <vt:lpstr>Visueel: Hoe PDO SQL injecties voorkomt</vt:lpstr>
      <vt:lpstr>🔐Password Hashing🔑</vt:lpstr>
      <vt:lpstr>🔐Waarom Password Hashing?🔑</vt:lpstr>
      <vt:lpstr>Hashing Algoritmes</vt:lpstr>
      <vt:lpstr>Wachtwoorden "kraken"</vt:lpstr>
      <vt:lpstr>Wachtwoorden "kraken": In de praktijk</vt:lpstr>
      <vt:lpstr>Wachtwoorden "kraken": In de praktijk Overzicht architectuur Fitcrack</vt:lpstr>
      <vt:lpstr>2 methoden samengevat</vt:lpstr>
      <vt:lpstr>Let op bij Password Hashing</vt:lpstr>
      <vt:lpstr>Sessies uitgebreid</vt:lpstr>
      <vt:lpstr>Sessions vs Storage</vt:lpstr>
      <vt:lpstr>Syntax: Sessions</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revision>215</cp:revision>
  <dcterms:created xsi:type="dcterms:W3CDTF">2025-10-16T12:22:40Z</dcterms:created>
  <dcterms:modified xsi:type="dcterms:W3CDTF">2026-04-27T12:18:32Z</dcterms:modified>
</cp:coreProperties>
</file>