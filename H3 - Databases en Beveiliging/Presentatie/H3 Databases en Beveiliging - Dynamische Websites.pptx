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6"/>
  </p:notesMasterIdLst>
  <p:sldIdLst>
    <p:sldId id="256" r:id="rId2"/>
    <p:sldId id="273" r:id="rId3"/>
    <p:sldId id="274" r:id="rId4"/>
    <p:sldId id="275" r:id="rId5"/>
    <p:sldId id="276" r:id="rId6"/>
    <p:sldId id="277" r:id="rId7"/>
    <p:sldId id="278" r:id="rId8"/>
    <p:sldId id="279" r:id="rId9"/>
    <p:sldId id="280" r:id="rId10"/>
    <p:sldId id="281" r:id="rId11"/>
    <p:sldId id="282" r:id="rId12"/>
    <p:sldId id="283" r:id="rId13"/>
    <p:sldId id="284" r:id="rId14"/>
    <p:sldId id="285" r:id="rId15"/>
    <p:sldId id="286" r:id="rId16"/>
    <p:sldId id="289" r:id="rId17"/>
    <p:sldId id="287" r:id="rId18"/>
    <p:sldId id="290" r:id="rId19"/>
    <p:sldId id="291" r:id="rId20"/>
    <p:sldId id="288" r:id="rId21"/>
    <p:sldId id="292" r:id="rId22"/>
    <p:sldId id="293" r:id="rId23"/>
    <p:sldId id="294" r:id="rId24"/>
    <p:sldId id="272" r:id="rId25"/>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E7D8E5-334B-6BED-3A15-C50C85D7133C}" v="2733" dt="2025-11-05T14:12:54.596"/>
    <p1510:client id="{E5F3F909-AD2C-F04E-F173-6FF068CB45DB}" v="54" dt="2025-11-05T20:45:33.113"/>
    <p1510:client id="{E9627F19-914F-3B8E-9AE0-EB1A5D63F7B9}" v="7401" dt="2025-11-05T20:29:13.6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6/11/2025</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24</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11/6/2025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11/6/2025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11/6/2025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11/6/2025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11/6/2025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11/6/2025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11/6/2025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11/6/2025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11/6/2025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11/6/2025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11/6/2025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11/6/2025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dirty="0"/>
              <a:t>Webdesign:</a:t>
            </a:r>
            <a:r>
              <a:rPr lang="nl-BE" dirty="0"/>
              <a:t> </a:t>
            </a:r>
            <a:r>
              <a:rPr lang="nl-BE" b="0" dirty="0">
                <a:solidFill>
                  <a:schemeClr val="accent3"/>
                </a:solidFill>
              </a:rPr>
              <a:t>Dynamische Websites</a:t>
            </a:r>
            <a:br>
              <a:rPr lang="nl-BE" b="0" dirty="0"/>
            </a:br>
            <a:br>
              <a:rPr lang="nl-BE" b="0" dirty="0"/>
            </a:br>
            <a:r>
              <a:rPr lang="nl-BE" dirty="0">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a:bodyPr>
          <a:lstStyle/>
          <a:p>
            <a:r>
              <a:rPr lang="en-US" sz="4000"/>
              <a:t>MySQL/MariaDB</a:t>
            </a:r>
            <a:endParaRPr lang="nl-NL"/>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a:t>Vaak </a:t>
            </a:r>
            <a:r>
              <a:rPr lang="en-US" sz="1500" b="1" err="1"/>
              <a:t>gebruikt</a:t>
            </a:r>
            <a:r>
              <a:rPr lang="en-US" sz="1500" b="1"/>
              <a:t> in </a:t>
            </a:r>
            <a:r>
              <a:rPr lang="en-US" sz="1500" b="1" err="1"/>
              <a:t>combinatie</a:t>
            </a:r>
            <a:r>
              <a:rPr lang="en-US" sz="1500" b="1"/>
              <a:t> met PHP</a:t>
            </a:r>
            <a:endParaRPr lang="nl-NL"/>
          </a:p>
          <a:p>
            <a:pPr marL="285750" indent="-285750">
              <a:lnSpc>
                <a:spcPct val="110000"/>
              </a:lnSpc>
              <a:spcBef>
                <a:spcPts val="1000"/>
              </a:spcBef>
              <a:buAutoNum type="arabicParenR"/>
            </a:pPr>
            <a:r>
              <a:rPr lang="en-US" sz="1500" b="1"/>
              <a:t>SQL</a:t>
            </a:r>
          </a:p>
          <a:p>
            <a:pPr>
              <a:lnSpc>
                <a:spcPct val="110000"/>
              </a:lnSpc>
              <a:spcBef>
                <a:spcPts val="1000"/>
              </a:spcBef>
            </a:pPr>
            <a:endParaRPr lang="en-US" sz="1500" b="1"/>
          </a:p>
          <a:p>
            <a:pPr>
              <a:lnSpc>
                <a:spcPct val="110000"/>
              </a:lnSpc>
              <a:spcBef>
                <a:spcPts val="1000"/>
              </a:spcBef>
            </a:pPr>
            <a:r>
              <a:rPr lang="en-US" sz="1500"/>
              <a:t>Voorbeelden van SQL Queries:</a:t>
            </a:r>
          </a:p>
          <a:p>
            <a:pPr marL="342900" indent="-342900">
              <a:lnSpc>
                <a:spcPct val="110000"/>
              </a:lnSpc>
              <a:spcBef>
                <a:spcPts val="1000"/>
              </a:spcBef>
              <a:buAutoNum type="arabicParenR"/>
            </a:pPr>
            <a:r>
              <a:rPr lang="en-US" sz="1500"/>
              <a:t>SELECT </a:t>
            </a:r>
            <a:r>
              <a:rPr lang="en-US" sz="1500" err="1"/>
              <a:t>firstname</a:t>
            </a:r>
            <a:r>
              <a:rPr lang="en-US" sz="1500"/>
              <a:t>, </a:t>
            </a:r>
            <a:r>
              <a:rPr lang="en-US" sz="1500" err="1"/>
              <a:t>lastname</a:t>
            </a:r>
            <a:r>
              <a:rPr lang="en-US" sz="1500"/>
              <a:t> FROM `users`;</a:t>
            </a:r>
          </a:p>
          <a:p>
            <a:pPr marL="342900" indent="-342900">
              <a:lnSpc>
                <a:spcPct val="110000"/>
              </a:lnSpc>
              <a:spcBef>
                <a:spcPts val="1000"/>
              </a:spcBef>
              <a:buAutoNum type="arabicParenR"/>
            </a:pPr>
            <a:r>
              <a:rPr lang="en-US" sz="1500"/>
              <a:t>UPDATE `users` SET </a:t>
            </a:r>
            <a:r>
              <a:rPr lang="en-US" sz="1500" err="1"/>
              <a:t>password_remember_token</a:t>
            </a:r>
            <a:r>
              <a:rPr lang="en-US" sz="1500"/>
              <a:t> = ? WHERE id = ?;</a:t>
            </a:r>
          </a:p>
          <a:p>
            <a:pPr marL="342900" indent="-342900">
              <a:lnSpc>
                <a:spcPct val="110000"/>
              </a:lnSpc>
              <a:spcBef>
                <a:spcPts val="1000"/>
              </a:spcBef>
              <a:buAutoNum type="arabicParenR"/>
            </a:pPr>
            <a:r>
              <a:rPr lang="en-US" sz="1500"/>
              <a:t>SELECT * FROM `pupils` WHERE </a:t>
            </a:r>
            <a:r>
              <a:rPr lang="en-US" sz="1500" err="1"/>
              <a:t>school_org</a:t>
            </a:r>
            <a:r>
              <a:rPr lang="en-US" sz="1500"/>
              <a:t> = '</a:t>
            </a:r>
            <a:r>
              <a:rPr lang="en-US" sz="1500" err="1"/>
              <a:t>Sjabi</a:t>
            </a:r>
            <a:r>
              <a:rPr lang="en-US" sz="150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a:bodyPr>
          <a:lstStyle/>
          <a:p>
            <a:r>
              <a:rPr lang="en-US"/>
              <a:t>Prepared Statements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Manier om te communiceren met database:</a:t>
            </a:r>
          </a:p>
          <a:p>
            <a:pPr marL="285750" indent="-285750">
              <a:buFont typeface="Calibri"/>
              <a:buChar char="-"/>
            </a:pPr>
            <a:r>
              <a:rPr lang="nl-NL" dirty="0"/>
              <a:t>  ° Data opvragen</a:t>
            </a:r>
          </a:p>
          <a:p>
            <a:pPr marL="285750" indent="-285750">
              <a:buFont typeface="Calibri"/>
              <a:buChar char="-"/>
            </a:pPr>
            <a:r>
              <a:rPr lang="nl-NL" dirty="0"/>
              <a:t>  ° Data updaten</a:t>
            </a:r>
          </a:p>
          <a:p>
            <a:pPr marL="285750" indent="-285750">
              <a:buFont typeface="Calibri"/>
              <a:buChar char="-"/>
            </a:pPr>
            <a:r>
              <a:rPr lang="nl-NL" dirty="0"/>
              <a:t>  ° Batch update/delete (grote hoeveelheid in één keer)</a:t>
            </a:r>
          </a:p>
          <a:p>
            <a:pPr marL="285750" indent="-285750">
              <a:buFont typeface="Calibri"/>
              <a:buChar char="-"/>
            </a:pPr>
            <a:endParaRPr lang="nl-NL" dirty="0"/>
          </a:p>
          <a:p>
            <a:pPr marL="285750" indent="-285750">
              <a:buFont typeface="Calibri"/>
              <a:buChar char="-"/>
            </a:pPr>
            <a:r>
              <a:rPr lang="nl-NL" dirty="0"/>
              <a:t>Veel voordelen: o.a. betere efficiëntie van de query, veilige parameter-binding, sneller herhaaldelijk uitvoeren, minder overhead op database server</a:t>
            </a:r>
            <a:endParaRPr lang="nl-NL"/>
          </a:p>
        </p:txBody>
      </p:sp>
      <p:sp>
        <p:nvSpPr>
          <p:cNvPr id="4" name="Tekstvak 3">
            <a:extLst>
              <a:ext uri="{FF2B5EF4-FFF2-40B4-BE49-F238E27FC236}">
                <a16:creationId xmlns:a16="http://schemas.microsoft.com/office/drawing/2014/main" id="{0A92A93F-75D0-1B63-692F-48F517A28967}"/>
              </a:ext>
            </a:extLst>
          </p:cNvPr>
          <p:cNvSpPr txBox="1"/>
          <p:nvPr/>
        </p:nvSpPr>
        <p:spPr>
          <a:xfrm>
            <a:off x="736022" y="4043795"/>
            <a:ext cx="4727863"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PDO doorloopt stapsgewijs:</a:t>
            </a:r>
          </a:p>
          <a:p>
            <a:pPr marL="285750" indent="-285750">
              <a:buFont typeface="Calibri"/>
              <a:buChar char="-"/>
            </a:pPr>
            <a:r>
              <a:rPr lang="nl-NL" dirty="0" err="1"/>
              <a:t>Prepare</a:t>
            </a:r>
          </a:p>
          <a:p>
            <a:pPr marL="285750" indent="-285750">
              <a:buFont typeface="Calibri"/>
              <a:buChar char="-"/>
            </a:pPr>
            <a:r>
              <a:rPr lang="nl-NL" dirty="0"/>
              <a:t>Bind</a:t>
            </a:r>
          </a:p>
          <a:p>
            <a:pPr marL="285750" indent="-285750">
              <a:buFont typeface="Calibri"/>
              <a:buChar char="-"/>
            </a:pPr>
            <a:r>
              <a:rPr lang="nl-NL" dirty="0" err="1"/>
              <a:t>Execute</a:t>
            </a:r>
          </a:p>
          <a:p>
            <a:pPr marL="285750" indent="-285750">
              <a:buFont typeface="Calibri"/>
              <a:buChar char="-"/>
            </a:pPr>
            <a:r>
              <a:rPr lang="nl-NL" dirty="0"/>
              <a:t>Optioneel: </a:t>
            </a:r>
            <a:r>
              <a:rPr lang="nl-NL" dirty="0" err="1"/>
              <a:t>Fetch</a:t>
            </a:r>
            <a:r>
              <a:rPr lang="nl-NL" dirty="0"/>
              <a:t> / </a:t>
            </a:r>
            <a:r>
              <a:rPr lang="nl-NL" dirty="0" err="1"/>
              <a:t>FetchAll</a:t>
            </a:r>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dirty="0"/>
              <a:t>PDO: </a:t>
            </a:r>
            <a:r>
              <a:rPr lang="en-US" dirty="0" err="1"/>
              <a:t>Ophalen</a:t>
            </a:r>
            <a:r>
              <a:rPr lang="en-US" dirty="0"/>
              <a:t> van </a:t>
            </a:r>
            <a:r>
              <a:rPr lang="en-US" dirty="0" err="1"/>
              <a:t>meerdere</a:t>
            </a:r>
            <a:r>
              <a:rPr lang="en-US" dirty="0"/>
              <a:t> </a:t>
            </a:r>
            <a:r>
              <a:rPr lang="en-US" dirty="0"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dirty="0">
                <a:solidFill>
                  <a:schemeClr val="tx1"/>
                </a:solidFill>
                <a:latin typeface="+mj-lt"/>
                <a:ea typeface="+mj-ea"/>
                <a:cs typeface="+mj-cs"/>
              </a:rPr>
              <a:t>Security: SQL Injection</a:t>
            </a: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dirty="0"/>
              <a:t>⚠️ </a:t>
            </a:r>
            <a:r>
              <a:rPr lang="en-US" dirty="0" err="1"/>
              <a:t>Gevaarlijke</a:t>
            </a:r>
            <a:r>
              <a:rPr lang="en-US" dirty="0"/>
              <a:t> </a:t>
            </a:r>
            <a:r>
              <a:rPr lang="en-US" dirty="0" err="1"/>
              <a:t>kwetsbaarheid</a:t>
            </a:r>
            <a:r>
              <a:rPr lang="en-US" dirty="0"/>
              <a:t> (vulnerability) </a:t>
            </a:r>
            <a:r>
              <a:rPr lang="en-US" dirty="0" err="1"/>
              <a:t>bij</a:t>
            </a:r>
            <a:r>
              <a:rPr lang="en-US" dirty="0"/>
              <a:t> </a:t>
            </a:r>
            <a:r>
              <a:rPr lang="en-US" dirty="0" err="1"/>
              <a:t>webapplicaties</a:t>
            </a:r>
            <a:endParaRPr lang="en-US" dirty="0"/>
          </a:p>
          <a:p>
            <a:pPr marL="285750" indent="-228600">
              <a:lnSpc>
                <a:spcPct val="120000"/>
              </a:lnSpc>
              <a:spcBef>
                <a:spcPts val="1000"/>
              </a:spcBef>
              <a:buFont typeface="Arial" panose="020B0604020202020204" pitchFamily="34" charset="0"/>
              <a:buChar char="•"/>
            </a:pPr>
            <a:r>
              <a:rPr lang="en-US" dirty="0"/>
              <a:t>Bij </a:t>
            </a:r>
            <a:r>
              <a:rPr lang="en-US" err="1"/>
              <a:t>kwetsbaarheid</a:t>
            </a:r>
            <a:r>
              <a:rPr lang="en-US" dirty="0"/>
              <a:t> </a:t>
            </a:r>
            <a:r>
              <a:rPr lang="en-US" err="1"/>
              <a:t>kan</a:t>
            </a:r>
            <a:r>
              <a:rPr lang="en-US" dirty="0"/>
              <a:t> </a:t>
            </a:r>
            <a:r>
              <a:rPr lang="en-US" err="1"/>
              <a:t>een</a:t>
            </a:r>
            <a:r>
              <a:rPr lang="en-US" dirty="0"/>
              <a:t> </a:t>
            </a:r>
            <a:r>
              <a:rPr lang="en-US" err="1"/>
              <a:t>aanvaller</a:t>
            </a:r>
            <a:r>
              <a:rPr lang="en-US" dirty="0"/>
              <a:t>/hacker </a:t>
            </a:r>
            <a:r>
              <a:rPr lang="en-US" err="1"/>
              <a:t>zich</a:t>
            </a:r>
            <a:r>
              <a:rPr lang="en-US" dirty="0"/>
              <a:t> </a:t>
            </a:r>
            <a:r>
              <a:rPr lang="en-US" err="1"/>
              <a:t>bemoeien</a:t>
            </a:r>
            <a:r>
              <a:rPr lang="en-US" dirty="0"/>
              <a:t> met SQL queries </a:t>
            </a:r>
            <a:r>
              <a:rPr lang="en-US" b="1" dirty="0"/>
              <a:t>VIA de </a:t>
            </a:r>
            <a:r>
              <a:rPr lang="en-US" b="1" err="1"/>
              <a:t>applicatie</a:t>
            </a:r>
            <a:r>
              <a:rPr lang="en-US" b="1" dirty="0"/>
              <a:t> </a:t>
            </a:r>
            <a:r>
              <a:rPr lang="en-US" b="1" err="1"/>
              <a:t>zelf</a:t>
            </a:r>
            <a:endParaRPr lang="en-US" b="1"/>
          </a:p>
          <a:p>
            <a:pPr marL="285750" indent="-228600">
              <a:lnSpc>
                <a:spcPct val="120000"/>
              </a:lnSpc>
              <a:spcBef>
                <a:spcPts val="1000"/>
              </a:spcBef>
              <a:buFont typeface="Arial" panose="020B0604020202020204" pitchFamily="34" charset="0"/>
              <a:buChar char="•"/>
            </a:pPr>
            <a:r>
              <a:rPr lang="en-US" dirty="0"/>
              <a:t>SQL Injection ≠ SQL Server Vulnerability (</a:t>
            </a:r>
            <a:r>
              <a:rPr lang="en-US" dirty="0" err="1"/>
              <a:t>opgenomen</a:t>
            </a:r>
            <a:r>
              <a:rPr lang="en-US" dirty="0"/>
              <a:t> in CVE </a:t>
            </a:r>
            <a:r>
              <a:rPr lang="en-US" dirty="0" err="1"/>
              <a:t>lijsten</a:t>
            </a:r>
            <a:r>
              <a:rPr lang="en-US" dirty="0"/>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Hoe </a:t>
            </a:r>
            <a:r>
              <a:rPr lang="en-US" dirty="0" err="1"/>
              <a:t>wordt</a:t>
            </a:r>
            <a:r>
              <a:rPr lang="en-US" dirty="0"/>
              <a:t> SQLi </a:t>
            </a:r>
            <a:r>
              <a:rPr lang="en-US" dirty="0" err="1"/>
              <a:t>uitgevoerd</a:t>
            </a:r>
            <a:r>
              <a:rPr lang="en-US" dirty="0"/>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ea typeface="+mn-lt"/>
                <a:cs typeface="+mn-lt"/>
              </a:rPr>
              <a:t>Slecht beveiligde website accepteert ongefilterde invoer (=kwetsbaar voor </a:t>
            </a:r>
            <a:r>
              <a:rPr lang="nl-NL" dirty="0" err="1">
                <a:ea typeface="+mn-lt"/>
                <a:cs typeface="+mn-lt"/>
              </a:rPr>
              <a:t>SQLi</a:t>
            </a:r>
            <a:r>
              <a:rPr lang="nl-NL" dirty="0">
                <a:ea typeface="+mn-lt"/>
                <a:cs typeface="+mn-lt"/>
              </a:rPr>
              <a:t>)</a:t>
            </a:r>
          </a:p>
          <a:p>
            <a:pPr marL="285750" indent="-285750">
              <a:buFont typeface="Calibri"/>
              <a:buChar char="-"/>
            </a:pPr>
            <a:endParaRPr lang="nl-NL" dirty="0">
              <a:ea typeface="+mn-lt"/>
              <a:cs typeface="+mn-lt"/>
            </a:endParaRPr>
          </a:p>
          <a:p>
            <a:pPr marL="285750" indent="-285750">
              <a:buFont typeface="Calibri"/>
              <a:buChar char="-"/>
            </a:pPr>
            <a:r>
              <a:rPr lang="nl-NL" dirty="0">
                <a:ea typeface="+mn-lt"/>
                <a:cs typeface="+mn-lt"/>
              </a:rPr>
              <a:t>Een aanvaller/hacker maakt een zorgvuldig samengesteld stuk tekst (input) in gebruikersinvoer </a:t>
            </a:r>
          </a:p>
          <a:p>
            <a:pPr marL="285750" indent="-285750">
              <a:buFont typeface="Calibri"/>
              <a:buChar char="-"/>
            </a:pPr>
            <a:endParaRPr lang="nl-NL" dirty="0">
              <a:ea typeface="+mn-lt"/>
              <a:cs typeface="+mn-lt"/>
            </a:endParaRPr>
          </a:p>
          <a:p>
            <a:pPr marL="285750" indent="-285750">
              <a:buFont typeface="Calibri"/>
              <a:buChar char="-"/>
            </a:pPr>
            <a:r>
              <a:rPr lang="nl-NL" dirty="0">
                <a:ea typeface="+mn-lt"/>
                <a:cs typeface="+mn-lt"/>
              </a:rPr>
              <a:t>Die tekst breekt de bestaande SQL-query en voegt een kwaadaardige opdracht toe</a:t>
            </a:r>
            <a:endParaRPr lang="nl-NL" dirty="0"/>
          </a:p>
          <a:p>
            <a:endParaRPr lang="nl-NL"/>
          </a:p>
          <a:p>
            <a:pPr marL="285750" indent="-285750">
              <a:buFont typeface="Calibri"/>
              <a:buChar char="-"/>
            </a:pPr>
            <a:r>
              <a:rPr lang="nl-NL" dirty="0"/>
              <a:t>Resultaat: ongewenste toegang tot gegevens (data-lekken), manipulatie of volledige controle over de database</a:t>
            </a:r>
          </a:p>
          <a:p>
            <a:endParaRPr lang="nl-NL" dirty="0"/>
          </a:p>
          <a:p>
            <a:pPr marL="285750" indent="-285750">
              <a:buFont typeface="Calibri"/>
              <a:buChar char="-"/>
            </a:pPr>
            <a:r>
              <a:rPr lang="nl-NL" dirty="0">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Types van SQLi: In-Band</a:t>
            </a:r>
            <a:endParaRPr lang="nl-NL" dirty="0">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In-band</a:t>
            </a:r>
            <a:r>
              <a:rPr lang="en-US" dirty="0"/>
              <a:t>: De </a:t>
            </a:r>
            <a:r>
              <a:rPr lang="en-US" dirty="0" err="1"/>
              <a:t>aanvaller</a:t>
            </a:r>
            <a:r>
              <a:rPr lang="en-US" dirty="0"/>
              <a:t> </a:t>
            </a:r>
            <a:r>
              <a:rPr lang="en-US" dirty="0" err="1"/>
              <a:t>krijgt</a:t>
            </a:r>
            <a:r>
              <a:rPr lang="en-US" dirty="0"/>
              <a:t> direct feedback van </a:t>
            </a:r>
            <a:r>
              <a:rPr lang="en-US" dirty="0" err="1"/>
              <a:t>pogingen</a:t>
            </a:r>
            <a:r>
              <a:rPr lang="en-US" dirty="0"/>
              <a:t> (</a:t>
            </a:r>
            <a:r>
              <a:rPr lang="en-US" dirty="0" err="1"/>
              <a:t>bv</a:t>
            </a:r>
            <a:r>
              <a:rPr lang="en-US" dirty="0"/>
              <a:t>: </a:t>
            </a:r>
            <a:r>
              <a:rPr lang="en-US" dirty="0" err="1"/>
              <a:t>loginpagina</a:t>
            </a:r>
            <a:r>
              <a:rPr lang="en-US" dirty="0"/>
              <a:t> met </a:t>
            </a:r>
            <a:r>
              <a:rPr lang="en-US" dirty="0" err="1"/>
              <a:t>foutmeldingen</a:t>
            </a:r>
            <a:r>
              <a:rPr lang="en-US" dirty="0"/>
              <a:t>)</a:t>
            </a:r>
            <a:endParaRPr lang="nl-NL"/>
          </a:p>
          <a:p>
            <a:pPr marL="342900" indent="-285750">
              <a:lnSpc>
                <a:spcPct val="120000"/>
              </a:lnSpc>
              <a:spcBef>
                <a:spcPts val="1000"/>
              </a:spcBef>
              <a:buFont typeface="Calibri"/>
              <a:buChar char="-"/>
            </a:pPr>
            <a:r>
              <a:rPr lang="en-US" dirty="0"/>
              <a:t>Als </a:t>
            </a:r>
            <a:r>
              <a:rPr lang="en-US" dirty="0" err="1"/>
              <a:t>foutmeldingen</a:t>
            </a:r>
            <a:r>
              <a:rPr lang="en-US" dirty="0"/>
              <a:t> </a:t>
            </a:r>
            <a:r>
              <a:rPr lang="en-US" dirty="0" err="1"/>
              <a:t>aanstaan</a:t>
            </a:r>
            <a:r>
              <a:rPr lang="en-US" dirty="0"/>
              <a:t>: </a:t>
            </a:r>
            <a:r>
              <a:rPr lang="en-US" dirty="0" err="1"/>
              <a:t>meer</a:t>
            </a:r>
            <a:r>
              <a:rPr lang="en-US" dirty="0"/>
              <a:t> </a:t>
            </a:r>
            <a:r>
              <a:rPr lang="en-US" dirty="0" err="1"/>
              <a:t>munitie</a:t>
            </a:r>
            <a:r>
              <a:rPr lang="en-US" dirty="0"/>
              <a:t> </a:t>
            </a:r>
            <a:r>
              <a:rPr lang="en-US" dirty="0" err="1"/>
              <a:t>voor</a:t>
            </a:r>
            <a:r>
              <a:rPr lang="en-US" dirty="0"/>
              <a:t> hackers/</a:t>
            </a:r>
            <a:r>
              <a:rPr lang="en-US" dirty="0"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Types van SQLi: Inferential/Blind</a:t>
            </a:r>
            <a:endParaRPr lang="nl-NL" dirty="0">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dirty="0"/>
              <a:t>Inferential/blind</a:t>
            </a:r>
            <a:r>
              <a:rPr lang="en-US" dirty="0"/>
              <a:t>: De </a:t>
            </a:r>
            <a:r>
              <a:rPr lang="en-US" err="1"/>
              <a:t>aanvaller</a:t>
            </a:r>
            <a:r>
              <a:rPr lang="en-US" dirty="0"/>
              <a:t> </a:t>
            </a:r>
            <a:r>
              <a:rPr lang="en-US" err="1"/>
              <a:t>ziet</a:t>
            </a:r>
            <a:r>
              <a:rPr lang="en-US" dirty="0"/>
              <a:t> </a:t>
            </a:r>
            <a:r>
              <a:rPr lang="en-US" err="1"/>
              <a:t>geen</a:t>
            </a:r>
            <a:r>
              <a:rPr lang="en-US" dirty="0"/>
              <a:t> </a:t>
            </a:r>
            <a:r>
              <a:rPr lang="en-US" err="1"/>
              <a:t>foutmeldingen</a:t>
            </a:r>
            <a:r>
              <a:rPr lang="en-US" dirty="0"/>
              <a:t> of </a:t>
            </a:r>
            <a:r>
              <a:rPr lang="en-US" err="1"/>
              <a:t>veranderingen</a:t>
            </a:r>
            <a:r>
              <a:rPr lang="en-US" dirty="0"/>
              <a:t> in </a:t>
            </a:r>
            <a:r>
              <a:rPr lang="en-US" err="1"/>
              <a:t>getoonde</a:t>
            </a:r>
            <a:r>
              <a:rPr lang="en-US" dirty="0"/>
              <a:t> </a:t>
            </a:r>
            <a:r>
              <a:rPr lang="en-US" err="1"/>
              <a:t>gegevens</a:t>
            </a:r>
            <a:r>
              <a:rPr lang="en-US" dirty="0"/>
              <a:t> (</a:t>
            </a:r>
            <a:r>
              <a:rPr lang="en-US" err="1"/>
              <a:t>bv</a:t>
            </a:r>
            <a:r>
              <a:rPr lang="en-US" dirty="0"/>
              <a:t>: </a:t>
            </a:r>
            <a:r>
              <a:rPr lang="en-US" err="1"/>
              <a:t>filterconstructie</a:t>
            </a:r>
            <a:r>
              <a:rPr lang="en-US" dirty="0"/>
              <a:t> met GET parameter)</a:t>
            </a:r>
            <a:endParaRPr lang="nl-NL"/>
          </a:p>
          <a:p>
            <a:pPr marL="342900" indent="-285750">
              <a:lnSpc>
                <a:spcPct val="120000"/>
              </a:lnSpc>
              <a:spcBef>
                <a:spcPts val="1000"/>
              </a:spcBef>
              <a:buFont typeface="Calibri"/>
              <a:buChar char="-"/>
            </a:pPr>
            <a:r>
              <a:rPr lang="en-US" err="1"/>
              <a:t>Gebruik</a:t>
            </a:r>
            <a:r>
              <a:rPr lang="en-US" dirty="0"/>
              <a:t> </a:t>
            </a:r>
            <a:r>
              <a:rPr lang="en-US" err="1"/>
              <a:t>maken</a:t>
            </a:r>
            <a:r>
              <a:rPr lang="en-US" dirty="0"/>
              <a:t> van meta-</a:t>
            </a:r>
            <a:r>
              <a:rPr lang="en-US" err="1"/>
              <a:t>informatie</a:t>
            </a:r>
            <a:r>
              <a:rPr lang="en-US" dirty="0"/>
              <a:t> </a:t>
            </a:r>
            <a:r>
              <a:rPr lang="en-US" err="1"/>
              <a:t>als</a:t>
            </a:r>
            <a:r>
              <a:rPr lang="en-US" dirty="0"/>
              <a:t> </a:t>
            </a:r>
            <a:r>
              <a:rPr lang="en-US" err="1"/>
              <a:t>laadtijden</a:t>
            </a:r>
            <a:r>
              <a:rPr lang="en-US" dirty="0"/>
              <a:t> </a:t>
            </a:r>
            <a:r>
              <a:rPr lang="en-US" err="1"/>
              <a:t>en</a:t>
            </a:r>
            <a:r>
              <a:rPr lang="en-US" dirty="0"/>
              <a:t> </a:t>
            </a:r>
            <a:r>
              <a:rPr lang="en-US" err="1"/>
              <a:t>indirecte</a:t>
            </a:r>
            <a:r>
              <a:rPr lang="en-US" dirty="0"/>
              <a:t> </a:t>
            </a:r>
            <a:r>
              <a:rPr lang="en-US" err="1"/>
              <a:t>resultaten</a:t>
            </a:r>
            <a:r>
              <a:rPr lang="en-US" dirty="0"/>
              <a:t> (*)</a:t>
            </a:r>
          </a:p>
          <a:p>
            <a:pPr marL="342900" indent="-285750">
              <a:lnSpc>
                <a:spcPct val="120000"/>
              </a:lnSpc>
              <a:spcBef>
                <a:spcPts val="1000"/>
              </a:spcBef>
              <a:buFont typeface="Calibri"/>
              <a:buChar char="-"/>
            </a:pPr>
            <a:endParaRPr lang="en-US" dirty="0"/>
          </a:p>
          <a:p>
            <a:pPr marL="342900" indent="-285750">
              <a:lnSpc>
                <a:spcPct val="120000"/>
              </a:lnSpc>
              <a:spcBef>
                <a:spcPts val="1000"/>
              </a:spcBef>
              <a:buFont typeface="Calibri"/>
              <a:buChar char="-"/>
            </a:pPr>
            <a:r>
              <a:rPr lang="en-US" b="1" dirty="0" err="1"/>
              <a:t>Indirecte</a:t>
            </a:r>
            <a:r>
              <a:rPr lang="en-US" b="1" dirty="0"/>
              <a:t> </a:t>
            </a:r>
            <a:r>
              <a:rPr lang="en-US" b="1" dirty="0" err="1"/>
              <a:t>resultaten</a:t>
            </a:r>
            <a:r>
              <a:rPr lang="en-US" b="1" dirty="0"/>
              <a:t> </a:t>
            </a:r>
            <a:r>
              <a:rPr lang="en-US" b="1" dirty="0" err="1"/>
              <a:t>verkrijgen</a:t>
            </a:r>
            <a:r>
              <a:rPr lang="en-US" b="1" dirty="0"/>
              <a:t>:</a:t>
            </a:r>
          </a:p>
          <a:p>
            <a:pPr marL="57150">
              <a:lnSpc>
                <a:spcPct val="120000"/>
              </a:lnSpc>
              <a:spcBef>
                <a:spcPts val="1000"/>
              </a:spcBef>
            </a:pPr>
            <a:r>
              <a:rPr lang="en-US" dirty="0"/>
              <a:t> - (1) Boolean based</a:t>
            </a:r>
          </a:p>
          <a:p>
            <a:pPr marL="57150">
              <a:lnSpc>
                <a:spcPct val="120000"/>
              </a:lnSpc>
              <a:spcBef>
                <a:spcPts val="1000"/>
              </a:spcBef>
            </a:pPr>
            <a:r>
              <a:rPr lang="en-US" dirty="0"/>
              <a:t> - (2) Time based: </a:t>
            </a:r>
            <a:r>
              <a:rPr lang="en-US" dirty="0" err="1"/>
              <a:t>productID</a:t>
            </a:r>
            <a:r>
              <a:rPr lang="en-US" dirty="0"/>
              <a:t> </a:t>
            </a:r>
            <a:r>
              <a:rPr lang="en-US" dirty="0" err="1"/>
              <a:t>invoer</a:t>
            </a:r>
            <a:r>
              <a:rPr lang="en-US" dirty="0"/>
              <a:t>: 42; IF(EXISTS(SELECT DATABASE LIKE `a_%`)); WAITFOR DELAY '0:0:10'</a:t>
            </a:r>
          </a:p>
          <a:p>
            <a:pPr marL="57150">
              <a:lnSpc>
                <a:spcPct val="120000"/>
              </a:lnSpc>
              <a:spcBef>
                <a:spcPts val="1000"/>
              </a:spcBef>
            </a:pPr>
            <a:endParaRPr lang="en-US" dirty="0"/>
          </a:p>
          <a:p>
            <a:pPr marL="57150">
              <a:lnSpc>
                <a:spcPct val="120000"/>
              </a:lnSpc>
              <a:spcBef>
                <a:spcPts val="1000"/>
              </a:spcBef>
            </a:pPr>
            <a:r>
              <a:rPr lang="en-US" dirty="0"/>
              <a:t>(2) </a:t>
            </a:r>
            <a:r>
              <a:rPr lang="en-US" dirty="0" err="1"/>
              <a:t>als</a:t>
            </a:r>
            <a:r>
              <a:rPr lang="en-US" dirty="0"/>
              <a:t> het 10sec+ </a:t>
            </a:r>
            <a:r>
              <a:rPr lang="en-US" dirty="0" err="1"/>
              <a:t>duurt</a:t>
            </a:r>
            <a:r>
              <a:rPr lang="en-US" dirty="0"/>
              <a:t> om </a:t>
            </a:r>
            <a:r>
              <a:rPr lang="en-US" dirty="0" err="1"/>
              <a:t>resultaten</a:t>
            </a:r>
            <a:r>
              <a:rPr lang="en-US" dirty="0"/>
              <a:t> </a:t>
            </a:r>
            <a:r>
              <a:rPr lang="en-US" dirty="0" err="1"/>
              <a:t>te</a:t>
            </a:r>
            <a:r>
              <a:rPr lang="en-US" dirty="0"/>
              <a:t> </a:t>
            </a:r>
            <a:r>
              <a:rPr lang="en-US" dirty="0" err="1"/>
              <a:t>zien</a:t>
            </a:r>
            <a:r>
              <a:rPr lang="en-US" dirty="0"/>
              <a:t> of </a:t>
            </a:r>
            <a:r>
              <a:rPr lang="en-US" dirty="0" err="1"/>
              <a:t>pagina</a:t>
            </a:r>
            <a:r>
              <a:rPr lang="en-US" dirty="0"/>
              <a:t> </a:t>
            </a:r>
            <a:r>
              <a:rPr lang="en-US" dirty="0" err="1"/>
              <a:t>laadt</a:t>
            </a:r>
            <a:r>
              <a:rPr lang="en-US" dirty="0"/>
              <a:t>: dan is het IF statement TRUE, </a:t>
            </a:r>
            <a:r>
              <a:rPr lang="en-US" dirty="0" err="1"/>
              <a:t>en</a:t>
            </a:r>
            <a:r>
              <a:rPr lang="en-US" dirty="0"/>
              <a:t> dan </a:t>
            </a:r>
            <a:r>
              <a:rPr lang="en-US" dirty="0" err="1"/>
              <a:t>bestaat</a:t>
            </a:r>
            <a:r>
              <a:rPr lang="en-US" dirty="0"/>
              <a:t> er </a:t>
            </a:r>
            <a:r>
              <a:rPr lang="en-US" dirty="0" err="1"/>
              <a:t>een</a:t>
            </a:r>
            <a:r>
              <a:rPr lang="en-US" dirty="0"/>
              <a:t> database die start met de letter A.</a:t>
            </a:r>
          </a:p>
          <a:p>
            <a:pPr marL="57150">
              <a:lnSpc>
                <a:spcPct val="120000"/>
              </a:lnSpc>
              <a:spcBef>
                <a:spcPts val="1000"/>
              </a:spcBef>
            </a:pPr>
            <a:r>
              <a:rPr lang="en-US" dirty="0" err="1"/>
              <a:t>Kijk</a:t>
            </a:r>
            <a:r>
              <a:rPr lang="en-US" dirty="0"/>
              <a:t> op: </a:t>
            </a:r>
            <a:r>
              <a:rPr lang="en-US" dirty="0">
                <a:ea typeface="+mn-lt"/>
                <a:cs typeface="+mn-lt"/>
                <a:hlinkClick r:id="rId2"/>
              </a:rPr>
              <a:t>https://www.invicti.com/learn/blind-sql-injection</a:t>
            </a:r>
            <a:r>
              <a:rPr lang="en-US" dirty="0">
                <a:ea typeface="+mn-lt"/>
                <a:cs typeface="+mn-lt"/>
              </a:rPr>
              <a:t> </a:t>
            </a:r>
            <a:endParaRPr lang="en-US" dirty="0"/>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Types van SQLi: Out-of-band</a:t>
            </a:r>
            <a:endParaRPr lang="nl-NL" dirty="0">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Out-of-band: door </a:t>
            </a:r>
            <a:r>
              <a:rPr lang="en-US" b="1" dirty="0" err="1"/>
              <a:t>gebruik</a:t>
            </a:r>
            <a:r>
              <a:rPr lang="en-US" b="1" dirty="0"/>
              <a:t> van </a:t>
            </a:r>
            <a:r>
              <a:rPr lang="en-US" b="1" dirty="0" err="1"/>
              <a:t>een</a:t>
            </a:r>
            <a:r>
              <a:rPr lang="en-US" b="1" dirty="0"/>
              <a:t> medium (e-mail, DNS) </a:t>
            </a:r>
            <a:r>
              <a:rPr lang="en-US" b="1" dirty="0" err="1"/>
              <a:t>verschillend</a:t>
            </a:r>
            <a:r>
              <a:rPr lang="en-US" b="1" dirty="0"/>
              <a:t> van HTTP</a:t>
            </a:r>
            <a:endParaRPr lang="nl-NL" dirty="0"/>
          </a:p>
          <a:p>
            <a:pPr marL="342900" indent="-285750">
              <a:lnSpc>
                <a:spcPct val="120000"/>
              </a:lnSpc>
              <a:spcBef>
                <a:spcPts val="1000"/>
              </a:spcBef>
              <a:buFont typeface="Calibri"/>
              <a:buChar char="-"/>
            </a:pPr>
            <a:endParaRPr lang="en-US" dirty="0"/>
          </a:p>
          <a:p>
            <a:pPr marL="342900" indent="-285750">
              <a:lnSpc>
                <a:spcPct val="120000"/>
              </a:lnSpc>
              <a:spcBef>
                <a:spcPts val="1000"/>
              </a:spcBef>
              <a:buFont typeface="Calibri"/>
              <a:buChar char="-"/>
            </a:pPr>
            <a:r>
              <a:rPr lang="en-US" dirty="0" err="1"/>
              <a:t>Voorbeeld</a:t>
            </a:r>
            <a:r>
              <a:rPr lang="en-US" dirty="0"/>
              <a:t>: School  DNS / </a:t>
            </a:r>
            <a:r>
              <a:rPr lang="en-US" dirty="0" err="1"/>
              <a:t>Classroom.Cloud</a:t>
            </a:r>
            <a:r>
              <a:rPr lang="en-US" dirty="0"/>
              <a:t> op alle </a:t>
            </a:r>
            <a:r>
              <a:rPr lang="en-US" dirty="0" err="1"/>
              <a:t>schoollaptops</a:t>
            </a:r>
            <a:r>
              <a:rPr lang="en-US" dirty="0"/>
              <a:t> </a:t>
            </a:r>
            <a:r>
              <a:rPr lang="en-US" dirty="0" err="1"/>
              <a:t>bewaren</a:t>
            </a:r>
            <a:r>
              <a:rPr lang="en-US" dirty="0"/>
              <a:t> alle </a:t>
            </a:r>
            <a:r>
              <a:rPr lang="en-US" dirty="0" err="1"/>
              <a:t>bezochte</a:t>
            </a:r>
            <a:r>
              <a:rPr lang="en-US" dirty="0"/>
              <a:t> websites in </a:t>
            </a:r>
            <a:r>
              <a:rPr lang="en-US" dirty="0" err="1"/>
              <a:t>een</a:t>
            </a:r>
            <a:r>
              <a:rPr lang="en-US" dirty="0"/>
              <a:t> Database.</a:t>
            </a:r>
          </a:p>
          <a:p>
            <a:pPr marL="342900" indent="-285750">
              <a:lnSpc>
                <a:spcPct val="120000"/>
              </a:lnSpc>
              <a:spcBef>
                <a:spcPts val="1000"/>
              </a:spcBef>
              <a:buFont typeface="Calibri"/>
              <a:buChar char="-"/>
            </a:pPr>
            <a:r>
              <a:rPr lang="en-US" dirty="0"/>
              <a:t>Als </a:t>
            </a:r>
            <a:r>
              <a:rPr lang="en-US" dirty="0" err="1"/>
              <a:t>een</a:t>
            </a:r>
            <a:r>
              <a:rPr lang="en-US" dirty="0"/>
              <a:t> </a:t>
            </a:r>
            <a:r>
              <a:rPr lang="en-US" dirty="0" err="1"/>
              <a:t>leerling</a:t>
            </a:r>
            <a:r>
              <a:rPr lang="en-US" dirty="0"/>
              <a:t> </a:t>
            </a:r>
            <a:r>
              <a:rPr lang="en-US" dirty="0" err="1"/>
              <a:t>een</a:t>
            </a:r>
            <a:r>
              <a:rPr lang="en-US" dirty="0"/>
              <a:t> DNS </a:t>
            </a:r>
            <a:r>
              <a:rPr lang="en-US" dirty="0" err="1"/>
              <a:t>verzoek</a:t>
            </a:r>
            <a:r>
              <a:rPr lang="en-US" dirty="0"/>
              <a:t> </a:t>
            </a:r>
            <a:r>
              <a:rPr lang="en-US" dirty="0" err="1"/>
              <a:t>stuurt</a:t>
            </a:r>
            <a:r>
              <a:rPr lang="en-US" dirty="0"/>
              <a:t> met Python in </a:t>
            </a:r>
            <a:r>
              <a:rPr lang="en-US" dirty="0" err="1"/>
              <a:t>een</a:t>
            </a:r>
            <a:r>
              <a:rPr lang="en-US" dirty="0"/>
              <a:t> loop </a:t>
            </a:r>
            <a:r>
              <a:rPr lang="en-US" dirty="0" err="1"/>
              <a:t>rechtstreeks</a:t>
            </a:r>
            <a:r>
              <a:rPr lang="en-US" dirty="0"/>
              <a:t> </a:t>
            </a:r>
            <a:r>
              <a:rPr lang="en-US" dirty="0" err="1"/>
              <a:t>naar</a:t>
            </a:r>
            <a:r>
              <a:rPr lang="en-US" dirty="0"/>
              <a:t> DNS server met </a:t>
            </a:r>
            <a:r>
              <a:rPr lang="en-US" dirty="0" err="1"/>
              <a:t>als</a:t>
            </a:r>
            <a:r>
              <a:rPr lang="en-US" dirty="0"/>
              <a:t> </a:t>
            </a:r>
            <a:r>
              <a:rPr lang="en-US" dirty="0" err="1"/>
              <a:t>invoer</a:t>
            </a:r>
            <a:r>
              <a:rPr lang="en-US" dirty="0"/>
              <a:t>: "school.smartschool.be; DROP DATABASE *"</a:t>
            </a:r>
          </a:p>
          <a:p>
            <a:pPr marL="342900" indent="-285750">
              <a:lnSpc>
                <a:spcPct val="120000"/>
              </a:lnSpc>
              <a:spcBef>
                <a:spcPts val="1000"/>
              </a:spcBef>
              <a:buFont typeface="Calibri"/>
              <a:buChar char="-"/>
            </a:pPr>
            <a:r>
              <a:rPr lang="en-US" dirty="0">
                <a:solidFill>
                  <a:srgbClr val="FF0000"/>
                </a:solidFill>
              </a:rPr>
              <a:t>=&gt; Data </a:t>
            </a:r>
            <a:r>
              <a:rPr lang="en-US" dirty="0" err="1">
                <a:solidFill>
                  <a:srgbClr val="FF0000"/>
                </a:solidFill>
              </a:rPr>
              <a:t>kwijt</a:t>
            </a:r>
            <a:r>
              <a:rPr lang="en-US" dirty="0">
                <a:solidFill>
                  <a:srgbClr val="FF0000"/>
                </a:solidFill>
              </a:rPr>
              <a:t> </a:t>
            </a:r>
            <a:r>
              <a:rPr lang="en-US" dirty="0" err="1">
                <a:solidFill>
                  <a:srgbClr val="FF0000"/>
                </a:solidFill>
              </a:rPr>
              <a:t>en</a:t>
            </a:r>
            <a:r>
              <a:rPr lang="en-US" dirty="0">
                <a:solidFill>
                  <a:srgbClr val="FF0000"/>
                </a:solidFill>
              </a:rPr>
              <a:t> </a:t>
            </a:r>
            <a:r>
              <a:rPr lang="en-US" dirty="0" err="1">
                <a:solidFill>
                  <a:srgbClr val="FF0000"/>
                </a:solidFill>
              </a:rPr>
              <a:t>blijft</a:t>
            </a:r>
            <a:r>
              <a:rPr lang="en-US" dirty="0">
                <a:solidFill>
                  <a:srgbClr val="FF0000"/>
                </a:solidFill>
              </a:rPr>
              <a:t> </a:t>
            </a:r>
            <a:r>
              <a:rPr lang="en-US" dirty="0" err="1">
                <a:solidFill>
                  <a:srgbClr val="FF0000"/>
                </a:solidFill>
              </a:rPr>
              <a:t>gewist</a:t>
            </a:r>
            <a:r>
              <a:rPr lang="en-US" dirty="0">
                <a:solidFill>
                  <a:srgbClr val="FF0000"/>
                </a:solidFill>
              </a:rPr>
              <a:t> </a:t>
            </a:r>
            <a:r>
              <a:rPr lang="en-US" dirty="0" err="1">
                <a:solidFill>
                  <a:srgbClr val="FF0000"/>
                </a:solidFill>
              </a:rPr>
              <a:t>zolang</a:t>
            </a:r>
            <a:r>
              <a:rPr lang="en-US" dirty="0">
                <a:solidFill>
                  <a:srgbClr val="FF0000"/>
                </a:solidFill>
              </a:rPr>
              <a:t> de </a:t>
            </a:r>
            <a:r>
              <a:rPr lang="en-US" dirty="0" err="1">
                <a:solidFill>
                  <a:srgbClr val="FF0000"/>
                </a:solidFill>
              </a:rPr>
              <a:t>kwetsbaarheid</a:t>
            </a:r>
            <a:r>
              <a:rPr lang="en-US" dirty="0">
                <a:solidFill>
                  <a:srgbClr val="FF0000"/>
                </a:solidFill>
              </a:rPr>
              <a:t> </a:t>
            </a:r>
            <a:r>
              <a:rPr lang="en-US" dirty="0" err="1">
                <a:solidFill>
                  <a:srgbClr val="FF0000"/>
                </a:solidFill>
              </a:rPr>
              <a:t>bestaat</a:t>
            </a:r>
            <a:endParaRPr lang="en-US" dirty="0">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dirty="0"/>
              <a:t>Hoe </a:t>
            </a:r>
            <a:r>
              <a:rPr lang="en-US" dirty="0" err="1"/>
              <a:t>kwetsbaarheid</a:t>
            </a:r>
            <a:r>
              <a:rPr lang="en-US" dirty="0"/>
              <a:t> </a:t>
            </a:r>
            <a:r>
              <a:rPr lang="en-US" dirty="0" err="1"/>
              <a:t>tegen</a:t>
            </a:r>
            <a:r>
              <a:rPr lang="en-US" dirty="0"/>
              <a:t> SQLi </a:t>
            </a:r>
            <a:r>
              <a:rPr lang="en-US" dirty="0" err="1"/>
              <a:t>voorkomen</a:t>
            </a:r>
            <a:r>
              <a:rPr lang="en-US" dirty="0"/>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dirty="0" err="1">
                <a:solidFill>
                  <a:srgbClr val="FFC800"/>
                </a:solidFill>
              </a:rPr>
              <a:t>Gouden</a:t>
            </a:r>
            <a:r>
              <a:rPr lang="en-US" sz="3200" b="1" dirty="0">
                <a:solidFill>
                  <a:srgbClr val="FFC800"/>
                </a:solidFill>
              </a:rPr>
              <a:t> regel: "NEVER trust User Input"</a:t>
            </a:r>
          </a:p>
          <a:p>
            <a:pPr marL="57150">
              <a:lnSpc>
                <a:spcPct val="120000"/>
              </a:lnSpc>
              <a:spcBef>
                <a:spcPts val="1000"/>
              </a:spcBef>
            </a:pPr>
            <a:r>
              <a:rPr lang="en-US" sz="3200" b="1" dirty="0">
                <a:solidFill>
                  <a:srgbClr val="FFC800"/>
                </a:solidFill>
              </a:rPr>
              <a:t>"</a:t>
            </a:r>
            <a:r>
              <a:rPr lang="en-US" sz="3200" b="1" dirty="0" err="1">
                <a:solidFill>
                  <a:srgbClr val="FFC800"/>
                </a:solidFill>
              </a:rPr>
              <a:t>Vertrouw</a:t>
            </a:r>
            <a:r>
              <a:rPr lang="en-US" sz="3200" b="1" dirty="0">
                <a:solidFill>
                  <a:srgbClr val="FFC800"/>
                </a:solidFill>
              </a:rPr>
              <a:t> </a:t>
            </a:r>
            <a:r>
              <a:rPr lang="en-US" sz="3200" b="1" dirty="0" err="1">
                <a:solidFill>
                  <a:srgbClr val="FFC800"/>
                </a:solidFill>
              </a:rPr>
              <a:t>geen</a:t>
            </a:r>
            <a:r>
              <a:rPr lang="en-US" sz="3200" b="1" dirty="0">
                <a:solidFill>
                  <a:srgbClr val="FFC800"/>
                </a:solidFill>
              </a:rPr>
              <a:t> </a:t>
            </a:r>
            <a:r>
              <a:rPr lang="en-US" sz="3200" b="1" dirty="0" err="1">
                <a:solidFill>
                  <a:srgbClr val="FFC800"/>
                </a:solidFill>
              </a:rPr>
              <a:t>enkele</a:t>
            </a:r>
            <a:r>
              <a:rPr lang="en-US" sz="3200" b="1" dirty="0">
                <a:solidFill>
                  <a:srgbClr val="FFC800"/>
                </a:solidFill>
              </a:rPr>
              <a:t> </a:t>
            </a:r>
            <a:r>
              <a:rPr lang="en-US" sz="3200" b="1" dirty="0" err="1">
                <a:solidFill>
                  <a:srgbClr val="FFC800"/>
                </a:solidFill>
              </a:rPr>
              <a:t>Gebruikersinvoer</a:t>
            </a:r>
            <a:r>
              <a:rPr lang="en-US" sz="3200" b="1" dirty="0">
                <a:solidFill>
                  <a:srgbClr val="FFC800"/>
                </a:solidFill>
              </a:rPr>
              <a:t>"</a:t>
            </a:r>
          </a:p>
          <a:p>
            <a:pPr marL="57150">
              <a:lnSpc>
                <a:spcPct val="120000"/>
              </a:lnSpc>
              <a:spcBef>
                <a:spcPts val="1000"/>
              </a:spcBef>
            </a:pPr>
            <a:endParaRPr lang="en-US" sz="2000" b="1" dirty="0">
              <a:solidFill>
                <a:srgbClr val="FFC800"/>
              </a:solidFill>
            </a:endParaRPr>
          </a:p>
          <a:p>
            <a:pPr marL="57150">
              <a:lnSpc>
                <a:spcPct val="120000"/>
              </a:lnSpc>
              <a:spcBef>
                <a:spcPts val="1000"/>
              </a:spcBef>
            </a:pPr>
            <a:r>
              <a:rPr lang="en-US" sz="2000" b="1" dirty="0">
                <a:solidFill>
                  <a:schemeClr val="accent3"/>
                </a:solidFill>
              </a:rPr>
              <a:t>Ga er van </a:t>
            </a:r>
            <a:r>
              <a:rPr lang="en-US" sz="2000" b="1" dirty="0" err="1">
                <a:solidFill>
                  <a:schemeClr val="accent3"/>
                </a:solidFill>
              </a:rPr>
              <a:t>uit</a:t>
            </a:r>
            <a:r>
              <a:rPr lang="en-US" sz="2000" b="1" dirty="0">
                <a:solidFill>
                  <a:schemeClr val="accent3"/>
                </a:solidFill>
              </a:rPr>
              <a:t> </a:t>
            </a:r>
            <a:r>
              <a:rPr lang="en-US" sz="2000" b="1" dirty="0" err="1">
                <a:solidFill>
                  <a:schemeClr val="accent3"/>
                </a:solidFill>
              </a:rPr>
              <a:t>dat</a:t>
            </a:r>
            <a:r>
              <a:rPr lang="en-US" sz="2000" b="1" dirty="0">
                <a:solidFill>
                  <a:schemeClr val="accent3"/>
                </a:solidFill>
              </a:rPr>
              <a:t> ELKE input </a:t>
            </a:r>
            <a:r>
              <a:rPr lang="en-US" sz="2000" b="1" dirty="0" err="1">
                <a:solidFill>
                  <a:schemeClr val="accent3"/>
                </a:solidFill>
              </a:rPr>
              <a:t>meerdere</a:t>
            </a:r>
            <a:r>
              <a:rPr lang="en-US" sz="2000" b="1" dirty="0">
                <a:solidFill>
                  <a:schemeClr val="accent3"/>
                </a:solidFill>
              </a:rPr>
              <a:t> </a:t>
            </a:r>
            <a:r>
              <a:rPr lang="en-US" sz="2000" b="1" dirty="0" err="1">
                <a:solidFill>
                  <a:schemeClr val="accent3"/>
                </a:solidFill>
              </a:rPr>
              <a:t>pogingen</a:t>
            </a:r>
            <a:r>
              <a:rPr lang="en-US" sz="2000" b="1" dirty="0">
                <a:solidFill>
                  <a:schemeClr val="accent3"/>
                </a:solidFill>
              </a:rPr>
              <a:t> </a:t>
            </a:r>
            <a:r>
              <a:rPr lang="en-US" sz="2000" b="1" dirty="0" err="1">
                <a:solidFill>
                  <a:schemeClr val="accent3"/>
                </a:solidFill>
              </a:rPr>
              <a:t>bevat</a:t>
            </a:r>
            <a:r>
              <a:rPr lang="en-US" sz="2000" b="1" dirty="0">
                <a:solidFill>
                  <a:schemeClr val="accent3"/>
                </a:solidFill>
              </a:rPr>
              <a:t> </a:t>
            </a:r>
            <a:r>
              <a:rPr lang="en-US" sz="2000" b="1" dirty="0" err="1">
                <a:solidFill>
                  <a:schemeClr val="accent3"/>
                </a:solidFill>
              </a:rPr>
              <a:t>uit</a:t>
            </a:r>
            <a:r>
              <a:rPr lang="en-US" sz="2000" b="1" dirty="0">
                <a:solidFill>
                  <a:schemeClr val="accent3"/>
                </a:solidFill>
              </a:rPr>
              <a:t> </a:t>
            </a:r>
            <a:r>
              <a:rPr lang="en-US" sz="2000" b="1" dirty="0" err="1">
                <a:solidFill>
                  <a:schemeClr val="accent3"/>
                </a:solidFill>
              </a:rPr>
              <a:t>voorgaande</a:t>
            </a:r>
            <a:r>
              <a:rPr lang="en-US" sz="2000" b="1" dirty="0">
                <a:solidFill>
                  <a:schemeClr val="accent3"/>
                </a:solidFill>
              </a:rPr>
              <a:t> </a:t>
            </a:r>
            <a:r>
              <a:rPr lang="en-US" sz="2000" b="1" dirty="0" err="1">
                <a:solidFill>
                  <a:schemeClr val="accent3"/>
                </a:solidFill>
              </a:rPr>
              <a:t>voorbeelden</a:t>
            </a:r>
            <a:r>
              <a:rPr lang="en-US" sz="2000" b="1" dirty="0">
                <a:solidFill>
                  <a:schemeClr val="accent3"/>
                </a:solidFill>
              </a:rPr>
              <a:t>.</a:t>
            </a:r>
          </a:p>
          <a:p>
            <a:pPr marL="57150">
              <a:lnSpc>
                <a:spcPct val="120000"/>
              </a:lnSpc>
              <a:spcBef>
                <a:spcPts val="1000"/>
              </a:spcBef>
            </a:pPr>
            <a:r>
              <a:rPr lang="en-US" sz="2000" b="1" dirty="0" err="1"/>
              <a:t>Specifiek</a:t>
            </a:r>
            <a:r>
              <a:rPr lang="en-US" sz="2000" b="1" dirty="0"/>
              <a:t>:</a:t>
            </a:r>
          </a:p>
          <a:p>
            <a:pPr marL="400050" indent="-342900">
              <a:lnSpc>
                <a:spcPct val="120000"/>
              </a:lnSpc>
              <a:spcBef>
                <a:spcPts val="1000"/>
              </a:spcBef>
              <a:buFont typeface="Calibri"/>
              <a:buChar char="-"/>
            </a:pPr>
            <a:r>
              <a:rPr lang="en-US" sz="2000" b="1" dirty="0"/>
              <a:t>PHP </a:t>
            </a:r>
            <a:r>
              <a:rPr lang="en-US" sz="2000" b="1" err="1"/>
              <a:t>invoer</a:t>
            </a:r>
            <a:r>
              <a:rPr lang="en-US" sz="2000" b="1" dirty="0"/>
              <a:t> </a:t>
            </a:r>
            <a:r>
              <a:rPr lang="en-US" sz="2000" b="1" err="1"/>
              <a:t>filteren</a:t>
            </a:r>
            <a:r>
              <a:rPr lang="en-US" sz="2000" b="1" dirty="0"/>
              <a:t> (</a:t>
            </a:r>
            <a:r>
              <a:rPr lang="en-US" sz="2000" b="1" err="1"/>
              <a:t>htmlspecialchars</a:t>
            </a:r>
            <a:r>
              <a:rPr lang="en-US" sz="2000" b="1" dirty="0"/>
              <a:t> op POST </a:t>
            </a:r>
            <a:r>
              <a:rPr lang="en-US" sz="2000" b="1" err="1"/>
              <a:t>en</a:t>
            </a:r>
            <a:r>
              <a:rPr lang="en-US" sz="2000" b="1" dirty="0"/>
              <a:t> GET)</a:t>
            </a:r>
          </a:p>
          <a:p>
            <a:pPr marL="400050" indent="-342900">
              <a:lnSpc>
                <a:spcPct val="120000"/>
              </a:lnSpc>
              <a:spcBef>
                <a:spcPts val="1000"/>
              </a:spcBef>
              <a:buFont typeface="Calibri"/>
              <a:buChar char="-"/>
            </a:pPr>
            <a:r>
              <a:rPr lang="en-US" sz="2000" b="1" dirty="0"/>
              <a:t>PDO </a:t>
            </a:r>
            <a:r>
              <a:rPr lang="en-US" sz="2000" b="1" dirty="0" err="1"/>
              <a:t>gebruiken</a:t>
            </a:r>
            <a:r>
              <a:rPr lang="en-US" sz="2000" b="1" dirty="0"/>
              <a:t> (</a:t>
            </a:r>
            <a:r>
              <a:rPr lang="en-US" sz="2000" b="1" dirty="0" err="1"/>
              <a:t>striktere</a:t>
            </a:r>
            <a:r>
              <a:rPr lang="en-US" sz="2000" b="1" dirty="0"/>
              <a:t> </a:t>
            </a:r>
            <a:r>
              <a:rPr lang="en-US" sz="2000" b="1" dirty="0" err="1"/>
              <a:t>controle</a:t>
            </a:r>
            <a:r>
              <a:rPr lang="en-US" sz="2000" b="1" dirty="0"/>
              <a:t> op datatype van </a:t>
            </a:r>
            <a:r>
              <a:rPr lang="en-US" sz="2000" b="1" dirty="0" err="1"/>
              <a:t>gegeven</a:t>
            </a:r>
            <a:r>
              <a:rPr lang="en-US" sz="2000" b="1" dirty="0"/>
              <a:t> parameters </a:t>
            </a:r>
            <a:r>
              <a:rPr lang="en-US" sz="2000" b="1" dirty="0" err="1"/>
              <a:t>t.o.v</a:t>
            </a:r>
            <a:r>
              <a:rPr lang="en-US" sz="2000" b="1" dirty="0"/>
              <a:t>. </a:t>
            </a:r>
            <a:r>
              <a:rPr lang="en-US" sz="2000" b="1" dirty="0" err="1"/>
              <a:t>db</a:t>
            </a:r>
            <a:r>
              <a:rPr lang="en-US" sz="2000" b="1" dirty="0"/>
              <a:t>)</a:t>
            </a:r>
          </a:p>
          <a:p>
            <a:pPr marL="400050" indent="-342900">
              <a:lnSpc>
                <a:spcPct val="120000"/>
              </a:lnSpc>
              <a:spcBef>
                <a:spcPts val="1000"/>
              </a:spcBef>
              <a:buFont typeface="Calibri"/>
              <a:buChar char="-"/>
            </a:pPr>
            <a:r>
              <a:rPr lang="en-US" sz="2000" b="1" dirty="0"/>
              <a:t>Lengte van datatypes </a:t>
            </a:r>
            <a:r>
              <a:rPr lang="en-US" sz="2000" b="1" err="1"/>
              <a:t>beperken</a:t>
            </a:r>
            <a:r>
              <a:rPr lang="en-US" sz="2000" b="1" dirty="0"/>
              <a:t>: naam, </a:t>
            </a:r>
            <a:r>
              <a:rPr lang="en-US" sz="2000" b="1" err="1"/>
              <a:t>adressen</a:t>
            </a:r>
            <a:r>
              <a:rPr lang="en-US" sz="2000" b="1" dirty="0"/>
              <a:t>, </a:t>
            </a:r>
            <a:r>
              <a:rPr lang="en-US" sz="2000" b="1" err="1"/>
              <a:t>passwoorden</a:t>
            </a:r>
            <a:r>
              <a:rPr lang="en-US" sz="2000" b="1" dirty="0"/>
              <a:t>, </a:t>
            </a:r>
            <a:r>
              <a:rPr lang="en-US" sz="2000" b="1" err="1"/>
              <a:t>tel.nrs</a:t>
            </a:r>
            <a:endParaRPr lang="en-US" sz="2000" b="1"/>
          </a:p>
          <a:p>
            <a:pPr marL="57150">
              <a:lnSpc>
                <a:spcPct val="120000"/>
              </a:lnSpc>
              <a:spcBef>
                <a:spcPts val="1000"/>
              </a:spcBef>
            </a:pPr>
            <a:r>
              <a:rPr lang="en-US" sz="2000" b="1" dirty="0">
                <a:solidFill>
                  <a:srgbClr val="00B0F0"/>
                </a:solidFill>
              </a:rPr>
              <a:t>       =&gt;  </a:t>
            </a:r>
            <a:r>
              <a:rPr lang="en-US" sz="2000" b="1" dirty="0" err="1">
                <a:solidFill>
                  <a:srgbClr val="00B0F0"/>
                </a:solidFill>
              </a:rPr>
              <a:t>moeten</a:t>
            </a:r>
            <a:r>
              <a:rPr lang="en-US" sz="2000" b="1" dirty="0">
                <a:solidFill>
                  <a:srgbClr val="00B0F0"/>
                </a:solidFill>
              </a:rPr>
              <a:t> </a:t>
            </a:r>
            <a:r>
              <a:rPr lang="en-US" sz="2000" b="1" dirty="0" err="1">
                <a:solidFill>
                  <a:srgbClr val="00B0F0"/>
                </a:solidFill>
              </a:rPr>
              <a:t>toch</a:t>
            </a:r>
            <a:r>
              <a:rPr lang="en-US" sz="2000" b="1" dirty="0">
                <a:solidFill>
                  <a:srgbClr val="00B0F0"/>
                </a:solidFill>
              </a:rPr>
              <a:t> nooit &gt;200 </a:t>
            </a:r>
            <a:r>
              <a:rPr lang="en-US" sz="2000" b="1" dirty="0" err="1">
                <a:solidFill>
                  <a:srgbClr val="00B0F0"/>
                </a:solidFill>
              </a:rPr>
              <a:t>karakters</a:t>
            </a:r>
            <a:r>
              <a:rPr lang="en-US" sz="2000" b="1" dirty="0">
                <a:solidFill>
                  <a:srgbClr val="00B0F0"/>
                </a:solidFill>
              </a:rPr>
              <a:t> </a:t>
            </a:r>
            <a:r>
              <a:rPr lang="en-US" sz="2000" b="1" dirty="0" err="1">
                <a:solidFill>
                  <a:srgbClr val="00B0F0"/>
                </a:solidFill>
              </a:rPr>
              <a:t>bevatten</a:t>
            </a:r>
            <a:r>
              <a:rPr lang="en-US" sz="2000" b="1" dirty="0">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dirty="0"/>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dirty="0"/>
              <a:t>🔐</a:t>
            </a:r>
            <a:r>
              <a:rPr lang="en-US" dirty="0" err="1"/>
              <a:t>Waarom</a:t>
            </a:r>
            <a:r>
              <a:rPr lang="en-US" dirty="0"/>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dirty="0"/>
              <a:t>Wachtwoord: privé, geheim</a:t>
            </a:r>
          </a:p>
          <a:p>
            <a:pPr marL="285750" indent="-285750">
              <a:buFont typeface="Calibri"/>
              <a:buChar char="-"/>
            </a:pPr>
            <a:endParaRPr lang="nl-NL" dirty="0"/>
          </a:p>
          <a:p>
            <a:pPr marL="285750" indent="-285750">
              <a:buFont typeface="Calibri"/>
              <a:buChar char="-"/>
            </a:pPr>
            <a:r>
              <a:rPr lang="nl-NL" dirty="0"/>
              <a:t>Maar - Tekst in database: leesbaar, halverwege geheim</a:t>
            </a:r>
          </a:p>
          <a:p>
            <a:pPr marL="285750" indent="-285750">
              <a:buFont typeface="Calibri"/>
              <a:buChar char="-"/>
            </a:pPr>
            <a:endParaRPr lang="nl-NL" dirty="0"/>
          </a:p>
          <a:p>
            <a:pPr marL="285750" indent="-285750">
              <a:buFont typeface="Calibri"/>
              <a:buChar char="-"/>
            </a:pPr>
            <a:r>
              <a:rPr lang="nl-NL" dirty="0"/>
              <a:t>Bij </a:t>
            </a:r>
            <a:r>
              <a:rPr lang="nl-NL" dirty="0" err="1"/>
              <a:t>SQLi</a:t>
            </a:r>
            <a:r>
              <a:rPr lang="nl-NL" dirty="0"/>
              <a:t> aanvallen: datalekken komen vaak voor, ook bij grote bedrijven</a:t>
            </a:r>
          </a:p>
          <a:p>
            <a:pPr marL="285750" indent="-285750">
              <a:buFont typeface="Calibri"/>
              <a:buChar char="-"/>
            </a:pPr>
            <a:endParaRPr lang="nl-NL" dirty="0"/>
          </a:p>
          <a:p>
            <a:pPr marL="285750" indent="-285750">
              <a:buFont typeface="Calibri"/>
              <a:buChar char="-"/>
            </a:pPr>
            <a:r>
              <a:rPr lang="nl-NL" dirty="0" err="1"/>
              <a:t>Leaks</a:t>
            </a:r>
            <a:r>
              <a:rPr lang="nl-NL" dirty="0"/>
              <a:t> resulteren vaak op het </a:t>
            </a:r>
            <a:r>
              <a:rPr lang="nl-NL" dirty="0" err="1"/>
              <a:t>darkweb</a:t>
            </a:r>
            <a:r>
              <a:rPr lang="nl-NL" dirty="0"/>
              <a:t> (toegankelijk voor iedereen)</a:t>
            </a:r>
          </a:p>
          <a:p>
            <a:endParaRPr lang="nl-NL" dirty="0"/>
          </a:p>
          <a:p>
            <a:r>
              <a:rPr lang="nl-NL" dirty="0"/>
              <a:t>=&gt; We willen schade beperken bij datalekken</a:t>
            </a:r>
          </a:p>
          <a:p>
            <a:r>
              <a:rPr lang="nl-NL" dirty="0"/>
              <a:t>Veel mensen gebruiken hetzelfde wachtwoord herhaaldelijk. Als userdata van Google gelekt wordt, dan is de toegang tot veel andere diensten OOK GECOMPROMITTEERD</a:t>
            </a:r>
          </a:p>
          <a:p>
            <a:endParaRPr lang="nl-NL" dirty="0"/>
          </a:p>
          <a:p>
            <a:r>
              <a:rPr lang="nl-NL" dirty="0"/>
              <a:t>"Oplossing" (geen echte oplossing): Wachtwoorden opslaan als </a:t>
            </a:r>
            <a:r>
              <a:rPr lang="nl-NL" err="1"/>
              <a:t>hash</a:t>
            </a:r>
            <a:endParaRPr lang="nl-NL"/>
          </a:p>
          <a:p>
            <a:endParaRPr lang="nl-NL" dirty="0"/>
          </a:p>
          <a:p>
            <a:r>
              <a:rPr lang="nl-NL" dirty="0"/>
              <a:t>Een </a:t>
            </a:r>
            <a:r>
              <a:rPr lang="nl-NL" dirty="0" err="1"/>
              <a:t>hash</a:t>
            </a:r>
            <a:r>
              <a:rPr lang="nl-NL" dirty="0"/>
              <a:t> is ONLEEBSAAR voor buitenstaanders: je kan het wachtwoord niet afleiden</a:t>
            </a:r>
          </a:p>
          <a:p>
            <a:endParaRPr lang="nl-NL" dirty="0"/>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8986899" y="199160"/>
            <a:ext cx="2441864" cy="2466604"/>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dirty="0"/>
              <a:t>Hashing </a:t>
            </a:r>
            <a:r>
              <a:rPr lang="en-US" dirty="0"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dirty="0"/>
              <a:t>Frequent gebruikt:</a:t>
            </a:r>
          </a:p>
          <a:p>
            <a:endParaRPr lang="nl-NL" dirty="0"/>
          </a:p>
          <a:p>
            <a:pPr marL="285750" indent="-285750">
              <a:buFont typeface="Calibri"/>
              <a:buChar char="-"/>
            </a:pPr>
            <a:r>
              <a:rPr lang="nl-NL" err="1"/>
              <a:t>Bcrypt</a:t>
            </a:r>
            <a:endParaRPr lang="nl-NL"/>
          </a:p>
          <a:p>
            <a:pPr marL="285750" indent="-285750">
              <a:buFont typeface="Calibri"/>
              <a:buChar char="-"/>
            </a:pPr>
            <a:endParaRPr lang="nl-NL" dirty="0"/>
          </a:p>
          <a:p>
            <a:pPr marL="285750" indent="-285750">
              <a:buFont typeface="Calibri"/>
              <a:buChar char="-"/>
            </a:pPr>
            <a:r>
              <a:rPr lang="nl-NL" dirty="0"/>
              <a:t>SHA-128/256/512 (fix voor verouderde </a:t>
            </a:r>
            <a:r>
              <a:rPr lang="nl-NL" dirty="0" err="1"/>
              <a:t>algos</a:t>
            </a:r>
            <a:r>
              <a:rPr lang="nl-NL" dirty="0"/>
              <a:t>, niet inherent beter)</a:t>
            </a:r>
          </a:p>
          <a:p>
            <a:pPr marL="285750" indent="-285750">
              <a:buFont typeface="Calibri"/>
              <a:buChar char="-"/>
            </a:pPr>
            <a:endParaRPr lang="nl-NL" dirty="0"/>
          </a:p>
          <a:p>
            <a:pPr marL="285750" indent="-285750">
              <a:buFont typeface="Calibri"/>
              <a:buChar char="-"/>
            </a:pPr>
            <a:r>
              <a:rPr lang="nl-NL" dirty="0"/>
              <a:t>Argon2 (GPU </a:t>
            </a:r>
            <a:r>
              <a:rPr lang="nl-NL" dirty="0" err="1"/>
              <a:t>bruteforce</a:t>
            </a:r>
            <a:r>
              <a:rPr lang="nl-NL" dirty="0"/>
              <a:t> resistent)</a:t>
            </a:r>
          </a:p>
          <a:p>
            <a:pPr marL="285750" indent="-285750">
              <a:buFont typeface="Calibri"/>
              <a:buChar char="-"/>
            </a:pPr>
            <a:endParaRPr lang="nl-NL" dirty="0"/>
          </a:p>
          <a:p>
            <a:pPr marL="285750" indent="-285750">
              <a:buFont typeface="Calibri"/>
              <a:buChar char="-"/>
            </a:pPr>
            <a:r>
              <a:rPr lang="nl-NL" dirty="0" err="1"/>
              <a:t>Scrypt</a:t>
            </a:r>
            <a:r>
              <a:rPr lang="nl-NL" dirty="0"/>
              <a:t> (*) (</a:t>
            </a:r>
            <a:r>
              <a:rPr lang="nl-NL" dirty="0" err="1"/>
              <a:t>specialized</a:t>
            </a:r>
            <a:r>
              <a:rPr lang="nl-NL" dirty="0"/>
              <a:t> hardware resistent)</a:t>
            </a:r>
          </a:p>
          <a:p>
            <a:pPr marL="285750" indent="-285750">
              <a:buFont typeface="Calibri"/>
              <a:buChar char="-"/>
            </a:pPr>
            <a:endParaRPr lang="nl-NL" dirty="0"/>
          </a:p>
          <a:p>
            <a:endParaRPr lang="nl-NL" dirty="0"/>
          </a:p>
          <a:p>
            <a:pPr>
              <a:buFont typeface="Calibri"/>
            </a:pPr>
            <a:r>
              <a:rPr lang="nl-NL" b="1" dirty="0" err="1"/>
              <a:t>Cost</a:t>
            </a:r>
            <a:r>
              <a:rPr lang="nl-NL" b="1" dirty="0"/>
              <a:t> Factor:</a:t>
            </a:r>
            <a:r>
              <a:rPr lang="nl-NL" dirty="0"/>
              <a:t> een keuze die je maakt als compromis tussen performance (hoge factor + moeilijk </a:t>
            </a:r>
            <a:r>
              <a:rPr lang="nl-NL" dirty="0" err="1"/>
              <a:t>algo</a:t>
            </a:r>
            <a:r>
              <a:rPr lang="nl-NL" dirty="0"/>
              <a:t>: lang wachten bij account aanmaken) en veiligheid (hoge factor: lastiger te kraken)</a:t>
            </a:r>
          </a:p>
          <a:p>
            <a:pPr>
              <a:buFont typeface="Calibri"/>
            </a:pPr>
            <a:endParaRPr lang="nl-NL" dirty="0"/>
          </a:p>
          <a:p>
            <a:pPr>
              <a:buFont typeface="Calibri"/>
            </a:pPr>
            <a:r>
              <a:rPr lang="nl-NL" dirty="0"/>
              <a:t>Er zijn 2 methodes om wachtwoorden te kraken:</a:t>
            </a:r>
          </a:p>
          <a:p>
            <a:pPr marL="285750" indent="-285750">
              <a:buFont typeface="Calibri"/>
              <a:buChar char="-"/>
            </a:pPr>
            <a:r>
              <a:rPr lang="nl-NL" dirty="0"/>
              <a:t>Brute force: alle mogelijke opties proberen (kan lang duren in slechtste geval)</a:t>
            </a:r>
          </a:p>
          <a:p>
            <a:pPr marL="285750" indent="-285750">
              <a:buFont typeface="Calibri"/>
              <a:buChar char="-"/>
            </a:pPr>
            <a:r>
              <a:rPr lang="nl-NL" dirty="0" err="1"/>
              <a:t>Wordlists</a:t>
            </a:r>
            <a:r>
              <a:rPr lang="nl-NL" dirty="0"/>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a:solidFill>
                  <a:schemeClr val="tx1"/>
                </a:solidFill>
                <a:latin typeface="+mj-lt"/>
                <a:ea typeface="+mj-ea"/>
                <a:cs typeface="+mj-cs"/>
              </a:rPr>
              <a:t>Wachtwoorden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2"/>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120000"/>
              </a:lnSpc>
              <a:spcAft>
                <a:spcPts val="600"/>
              </a:spcAft>
              <a:buFont typeface="Arial"/>
              <a:buChar char="•"/>
            </a:pPr>
            <a:endParaRPr lang="en-US" b="1"/>
          </a:p>
          <a:p>
            <a:pPr indent="-228600">
              <a:lnSpc>
                <a:spcPct val="120000"/>
              </a:lnSpc>
              <a:spcAft>
                <a:spcPts val="600"/>
              </a:spcAft>
              <a:buFont typeface="Arial"/>
              <a:buChar char="•"/>
            </a:pPr>
            <a:r>
              <a:rPr lang="en-US" dirty="0"/>
              <a:t>Er </a:t>
            </a:r>
            <a:r>
              <a:rPr lang="en-US" dirty="0" err="1"/>
              <a:t>zijn</a:t>
            </a:r>
            <a:r>
              <a:rPr lang="en-US" dirty="0"/>
              <a:t> 2 </a:t>
            </a:r>
            <a:r>
              <a:rPr lang="en-US" dirty="0" err="1"/>
              <a:t>methodes</a:t>
            </a:r>
            <a:r>
              <a:rPr lang="en-US" dirty="0"/>
              <a:t> om </a:t>
            </a:r>
            <a:r>
              <a:rPr lang="en-US" dirty="0" err="1"/>
              <a:t>wachtwoorden</a:t>
            </a:r>
            <a:r>
              <a:rPr lang="en-US" dirty="0"/>
              <a:t> </a:t>
            </a:r>
            <a:r>
              <a:rPr lang="en-US" dirty="0" err="1"/>
              <a:t>te</a:t>
            </a:r>
            <a:r>
              <a:rPr lang="en-US" dirty="0"/>
              <a:t> kraken:</a:t>
            </a:r>
          </a:p>
          <a:p>
            <a:pPr marL="285750" indent="-228600">
              <a:lnSpc>
                <a:spcPct val="120000"/>
              </a:lnSpc>
              <a:spcAft>
                <a:spcPts val="600"/>
              </a:spcAft>
              <a:buFont typeface="Arial" panose="020B0604020202020204" pitchFamily="34" charset="0"/>
              <a:buChar char="•"/>
            </a:pPr>
            <a:r>
              <a:rPr lang="en-US" dirty="0"/>
              <a:t>1) </a:t>
            </a:r>
            <a:r>
              <a:rPr lang="en-US" b="1" dirty="0"/>
              <a:t>Brute force</a:t>
            </a:r>
            <a:r>
              <a:rPr lang="en-US" dirty="0"/>
              <a:t>: alle </a:t>
            </a:r>
            <a:r>
              <a:rPr lang="en-US" dirty="0" err="1"/>
              <a:t>mogelijke</a:t>
            </a:r>
            <a:r>
              <a:rPr lang="en-US" dirty="0"/>
              <a:t> </a:t>
            </a:r>
            <a:r>
              <a:rPr lang="en-US" dirty="0" err="1"/>
              <a:t>opties</a:t>
            </a:r>
            <a:r>
              <a:rPr lang="en-US" dirty="0"/>
              <a:t> </a:t>
            </a:r>
            <a:r>
              <a:rPr lang="en-US" dirty="0" err="1"/>
              <a:t>proberen</a:t>
            </a:r>
            <a:r>
              <a:rPr lang="en-US" dirty="0"/>
              <a:t> (</a:t>
            </a:r>
            <a:r>
              <a:rPr lang="en-US" dirty="0" err="1"/>
              <a:t>kan</a:t>
            </a:r>
            <a:r>
              <a:rPr lang="en-US" dirty="0"/>
              <a:t> lang </a:t>
            </a:r>
            <a:r>
              <a:rPr lang="en-US" dirty="0" err="1"/>
              <a:t>duren</a:t>
            </a:r>
            <a:r>
              <a:rPr lang="en-US" dirty="0"/>
              <a:t> in </a:t>
            </a:r>
            <a:r>
              <a:rPr lang="en-US" dirty="0" err="1"/>
              <a:t>slechtste</a:t>
            </a:r>
            <a:r>
              <a:rPr lang="en-US" dirty="0"/>
              <a:t> </a:t>
            </a:r>
            <a:r>
              <a:rPr lang="en-US" dirty="0" err="1"/>
              <a:t>geval</a:t>
            </a:r>
            <a:r>
              <a:rPr lang="en-US" dirty="0"/>
              <a:t>)</a:t>
            </a:r>
          </a:p>
          <a:p>
            <a:pPr marL="285750" indent="-228600">
              <a:lnSpc>
                <a:spcPct val="120000"/>
              </a:lnSpc>
              <a:spcAft>
                <a:spcPts val="600"/>
              </a:spcAft>
              <a:buFont typeface="Arial"/>
              <a:buChar char="•"/>
            </a:pPr>
            <a:endParaRPr lang="en-US"/>
          </a:p>
          <a:p>
            <a:pPr marL="285750" indent="-228600">
              <a:lnSpc>
                <a:spcPct val="120000"/>
              </a:lnSpc>
              <a:spcAft>
                <a:spcPts val="600"/>
              </a:spcAft>
              <a:buFont typeface="Arial"/>
              <a:buChar char="•"/>
            </a:pPr>
            <a:r>
              <a:rPr lang="en-US" dirty="0"/>
              <a:t>2) </a:t>
            </a:r>
            <a:r>
              <a:rPr lang="en-US" b="1" dirty="0"/>
              <a:t>Wordlists</a:t>
            </a:r>
            <a:r>
              <a:rPr lang="en-US" dirty="0"/>
              <a:t>: </a:t>
            </a:r>
            <a:r>
              <a:rPr lang="en-US" dirty="0" err="1"/>
              <a:t>vaak</a:t>
            </a:r>
            <a:r>
              <a:rPr lang="en-US" dirty="0"/>
              <a:t> </a:t>
            </a:r>
            <a:r>
              <a:rPr lang="en-US" dirty="0" err="1"/>
              <a:t>gebruikte</a:t>
            </a:r>
            <a:r>
              <a:rPr lang="en-US" dirty="0"/>
              <a:t> </a:t>
            </a:r>
            <a:r>
              <a:rPr lang="en-US" dirty="0" err="1"/>
              <a:t>wachtwoorden</a:t>
            </a:r>
            <a:r>
              <a:rPr lang="en-US" dirty="0"/>
              <a:t> </a:t>
            </a:r>
            <a:r>
              <a:rPr lang="en-US" dirty="0" err="1"/>
              <a:t>proberen</a:t>
            </a:r>
            <a:r>
              <a:rPr lang="en-US" dirty="0"/>
              <a:t> (kang heel </a:t>
            </a:r>
            <a:r>
              <a:rPr lang="en-US" dirty="0" err="1"/>
              <a:t>snel</a:t>
            </a:r>
            <a:r>
              <a:rPr lang="en-US" dirty="0"/>
              <a:t> in het </a:t>
            </a:r>
            <a:r>
              <a:rPr lang="en-US" dirty="0" err="1"/>
              <a:t>beste</a:t>
            </a:r>
            <a:r>
              <a:rPr lang="en-US" dirty="0"/>
              <a:t> </a:t>
            </a:r>
            <a:r>
              <a:rPr lang="en-US" dirty="0" err="1"/>
              <a:t>geval</a:t>
            </a:r>
            <a:r>
              <a:rPr lang="en-US" dirty="0"/>
              <a:t>)</a:t>
            </a:r>
          </a:p>
          <a:p>
            <a:pPr marL="285750" indent="-228600">
              <a:lnSpc>
                <a:spcPct val="120000"/>
              </a:lnSpc>
              <a:spcAft>
                <a:spcPts val="600"/>
              </a:spcAft>
              <a:buFont typeface="Arial"/>
              <a:buChar char="•"/>
            </a:pPr>
            <a:endParaRPr lang="en-US" dirty="0"/>
          </a:p>
          <a:p>
            <a:pPr marL="285750" indent="-285750">
              <a:buFont typeface="Arial"/>
              <a:buChar char="•"/>
            </a:pPr>
            <a:r>
              <a:rPr lang="nl-NL" dirty="0"/>
              <a:t>Er zijn wél verschillen in de sterkte van elk </a:t>
            </a:r>
            <a:r>
              <a:rPr lang="nl-NL" err="1"/>
              <a:t>hashing</a:t>
            </a:r>
            <a:r>
              <a:rPr lang="nl-NL" dirty="0"/>
              <a:t> algoritme. </a:t>
            </a:r>
            <a:endParaRPr lang="en-US" dirty="0"/>
          </a:p>
          <a:p>
            <a:pPr marL="285750" indent="-285750">
              <a:buFont typeface="Arial"/>
              <a:buChar char="•"/>
            </a:pPr>
            <a:endParaRPr lang="nl-NL" dirty="0"/>
          </a:p>
          <a:p>
            <a:pPr marL="285750" indent="-285750">
              <a:buFont typeface="Arial"/>
              <a:buChar char="•"/>
            </a:pPr>
            <a:r>
              <a:rPr lang="nl-NL" dirty="0"/>
              <a:t>Te zwak? Je kan de </a:t>
            </a:r>
            <a:r>
              <a:rPr lang="nl-NL" dirty="0" err="1"/>
              <a:t>hash</a:t>
            </a:r>
            <a:r>
              <a:rPr lang="nl-NL" dirty="0"/>
              <a:t> zelfs kraken met consumentenapparatuur (</a:t>
            </a:r>
            <a:r>
              <a:rPr lang="nl-NL" dirty="0" err="1"/>
              <a:t>bvb</a:t>
            </a:r>
            <a:r>
              <a:rPr lang="nl-NL" dirty="0"/>
              <a:t> met NVIDIA </a:t>
            </a:r>
            <a:r>
              <a:rPr lang="nl-NL" dirty="0" err="1"/>
              <a:t>GPUs</a:t>
            </a:r>
            <a:r>
              <a:rPr lang="nl-NL" dirty="0"/>
              <a:t>, die veel CUDA </a:t>
            </a:r>
            <a:r>
              <a:rPr lang="nl-NL" dirty="0" err="1"/>
              <a:t>Cores</a:t>
            </a:r>
            <a:r>
              <a:rPr lang="nl-NL" dirty="0"/>
              <a:t> hebben).</a:t>
            </a:r>
            <a:endParaRPr lang="en-US"/>
          </a:p>
          <a:p>
            <a:pPr marL="285750" indent="-285750">
              <a:buFont typeface="Arial"/>
              <a:buChar char="•"/>
            </a:pPr>
            <a:endParaRPr lang="nl-NL" dirty="0"/>
          </a:p>
          <a:p>
            <a:pPr marL="285750" indent="-285750">
              <a:buFont typeface="Calibri,Sans-Serif"/>
              <a:buChar char="-"/>
            </a:pPr>
            <a:r>
              <a:rPr lang="nl-NL" dirty="0"/>
              <a:t>Wachtwoorden moeten ook lang genoeg zijn. </a:t>
            </a:r>
            <a:endParaRPr lang="en-US"/>
          </a:p>
          <a:p>
            <a:pPr marL="285750" indent="-285750">
              <a:buFont typeface="Calibri,Sans-Serif"/>
              <a:buChar char="-"/>
            </a:pPr>
            <a:r>
              <a:rPr lang="nl-NL" dirty="0"/>
              <a:t>&lt;=8 karakters (zwak) MD5 (zwak) kraken met </a:t>
            </a:r>
            <a:r>
              <a:rPr lang="nl-NL" dirty="0" err="1"/>
              <a:t>bvb</a:t>
            </a:r>
            <a:r>
              <a:rPr lang="nl-NL" dirty="0"/>
              <a:t> RTX xx80/xx90 (10.2K+ CUDA): binnen enkele minuten (bruteforce!)</a:t>
            </a:r>
            <a:endParaRPr lang="en-US"/>
          </a:p>
          <a:p>
            <a:pPr marL="285750" indent="-228600">
              <a:lnSpc>
                <a:spcPct val="120000"/>
              </a:lnSpc>
              <a:spcAft>
                <a:spcPts val="600"/>
              </a:spcAft>
              <a:buFont typeface="Arial"/>
              <a:buChar char="•"/>
            </a:pPr>
            <a:endParaRPr lang="en-US" dirty="0"/>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dirty="0"/>
              <a:t>Let op </a:t>
            </a:r>
            <a:r>
              <a:rPr lang="en-US" dirty="0" err="1"/>
              <a:t>bij</a:t>
            </a:r>
            <a:r>
              <a:rPr lang="en-US" dirty="0"/>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Het kan uitzonderlijk zeldzaam voorkomen dat meerdere, totaal verschillende wachtwoorden DEZELFDE </a:t>
            </a:r>
            <a:r>
              <a:rPr lang="nl-NL" dirty="0" err="1"/>
              <a:t>hash</a:t>
            </a:r>
            <a:r>
              <a:rPr lang="nl-NL" dirty="0"/>
              <a:t> geven als resultaat</a:t>
            </a:r>
          </a:p>
          <a:p>
            <a:endParaRPr lang="nl-NL" dirty="0"/>
          </a:p>
          <a:p>
            <a:r>
              <a:rPr lang="nl-NL" dirty="0"/>
              <a:t>Oplossing: gebruik een algoritme waar dit bijna niet voorkomt</a:t>
            </a:r>
          </a:p>
          <a:p>
            <a:endParaRPr lang="nl-NL" dirty="0"/>
          </a:p>
          <a:p>
            <a:endParaRPr lang="nl-NL" dirty="0"/>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b="1" kern="1200" dirty="0" err="1">
                <a:latin typeface="+mj-lt"/>
                <a:ea typeface="+mj-ea"/>
                <a:cs typeface="+mj-cs"/>
              </a:rPr>
              <a:t>Sessies</a:t>
            </a:r>
            <a:r>
              <a:rPr lang="en-US" dirty="0"/>
              <a:t> </a:t>
            </a:r>
            <a:r>
              <a:rPr lang="en-US" dirty="0" err="1"/>
              <a:t>uitgebreid</a:t>
            </a:r>
            <a:endParaRPr lang="en-US" b="1" kern="1200" dirty="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12648" y="2584058"/>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dirty="0"/>
              <a:t>Sessions vs Storage</a:t>
            </a:r>
            <a:endParaRPr lang="nl-NL" dirty="0">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Sessions ≠ </a:t>
            </a:r>
            <a:r>
              <a:rPr lang="en-US" dirty="0" err="1"/>
              <a:t>permanente</a:t>
            </a:r>
            <a:r>
              <a:rPr lang="en-US" dirty="0"/>
              <a:t> </a:t>
            </a:r>
            <a:r>
              <a:rPr lang="en-US" dirty="0" err="1"/>
              <a:t>opslag</a:t>
            </a:r>
            <a:r>
              <a:rPr lang="en-US" dirty="0"/>
              <a:t> (DB)</a:t>
            </a:r>
          </a:p>
          <a:p>
            <a:pPr marL="285750" indent="-285750">
              <a:buFont typeface="Calibri"/>
              <a:buChar char="-"/>
            </a:pPr>
            <a:r>
              <a:rPr lang="en-US" dirty="0"/>
              <a:t>Cookie (PHPSESSID) replicated </a:t>
            </a:r>
            <a:r>
              <a:rPr lang="en-US" dirty="0" err="1"/>
              <a:t>naar</a:t>
            </a:r>
            <a:r>
              <a:rPr lang="en-US" dirty="0"/>
              <a:t> Client</a:t>
            </a:r>
          </a:p>
          <a:p>
            <a:pPr marL="285750" indent="-285750">
              <a:buFont typeface="Calibri"/>
              <a:buChar char="-"/>
            </a:pPr>
            <a:r>
              <a:rPr lang="en-US" dirty="0"/>
              <a:t>PHPSESSID is </a:t>
            </a:r>
            <a:r>
              <a:rPr lang="en-US" dirty="0" err="1"/>
              <a:t>zoals</a:t>
            </a:r>
            <a:r>
              <a:rPr lang="en-US" dirty="0"/>
              <a:t> </a:t>
            </a:r>
            <a:r>
              <a:rPr lang="en-US" dirty="0" err="1"/>
              <a:t>een</a:t>
            </a:r>
            <a:r>
              <a:rPr lang="en-US" dirty="0"/>
              <a:t> </a:t>
            </a:r>
            <a:r>
              <a:rPr lang="en-US" dirty="0" err="1"/>
              <a:t>elektronische</a:t>
            </a:r>
            <a:r>
              <a:rPr lang="en-US" dirty="0"/>
              <a:t> badge </a:t>
            </a:r>
            <a:r>
              <a:rPr lang="en-US" dirty="0" err="1"/>
              <a:t>voor</a:t>
            </a:r>
            <a:r>
              <a:rPr lang="en-US" dirty="0"/>
              <a:t> </a:t>
            </a:r>
            <a:r>
              <a:rPr lang="en-US" dirty="0" err="1"/>
              <a:t>openen</a:t>
            </a:r>
            <a:r>
              <a:rPr lang="en-US" dirty="0"/>
              <a:t> </a:t>
            </a:r>
            <a:r>
              <a:rPr lang="en-US" dirty="0" err="1"/>
              <a:t>deur</a:t>
            </a:r>
          </a:p>
          <a:p>
            <a:pPr marL="285750" indent="-285750">
              <a:buFont typeface="Calibri"/>
              <a:buChar char="-"/>
            </a:pPr>
            <a:r>
              <a:rPr lang="en-US" dirty="0"/>
              <a:t>Vaak </a:t>
            </a:r>
            <a:r>
              <a:rPr lang="en-US" dirty="0" err="1"/>
              <a:t>gebruikt</a:t>
            </a:r>
            <a:r>
              <a:rPr lang="en-US" dirty="0"/>
              <a:t> </a:t>
            </a:r>
            <a:r>
              <a:rPr lang="en-US" dirty="0" err="1"/>
              <a:t>voor</a:t>
            </a:r>
            <a:r>
              <a:rPr lang="en-US" dirty="0"/>
              <a:t> </a:t>
            </a:r>
            <a:r>
              <a:rPr lang="en-US" dirty="0" err="1"/>
              <a:t>Authenticatie</a:t>
            </a:r>
            <a:r>
              <a:rPr lang="en-US" dirty="0"/>
              <a:t>: </a:t>
            </a:r>
            <a:r>
              <a:rPr lang="en-US" dirty="0" err="1"/>
              <a:t>inloggen</a:t>
            </a:r>
            <a:r>
              <a:rPr lang="en-US" dirty="0"/>
              <a:t>, </a:t>
            </a:r>
            <a:r>
              <a:rPr lang="en-US" dirty="0" err="1"/>
              <a:t>registreren</a:t>
            </a:r>
            <a:r>
              <a:rPr lang="en-US" dirty="0"/>
              <a:t>, </a:t>
            </a:r>
            <a:r>
              <a:rPr lang="en-US" dirty="0" err="1"/>
              <a:t>uitloggen</a:t>
            </a:r>
            <a:r>
              <a:rPr lang="en-US" dirty="0"/>
              <a:t>, </a:t>
            </a:r>
            <a:r>
              <a:rPr lang="en-US" dirty="0" err="1"/>
              <a:t>beschermde</a:t>
            </a:r>
            <a:r>
              <a:rPr lang="en-US" dirty="0"/>
              <a:t> </a:t>
            </a:r>
            <a:r>
              <a:rPr lang="en-US" dirty="0" err="1"/>
              <a:t>pagina's</a:t>
            </a:r>
            <a:endParaRPr lang="en-US" dirty="0"/>
          </a:p>
          <a:p>
            <a:pPr marL="285750" indent="-285750">
              <a:buFont typeface="Calibri"/>
              <a:buChar char="-"/>
            </a:pPr>
            <a:endParaRPr lang="en-US" dirty="0"/>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dirty="0"/>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dirty="0"/>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 </a:t>
            </a:r>
            <a:r>
              <a:rPr lang="nl-NL" dirty="0" err="1"/>
              <a:t>session_start</a:t>
            </a:r>
            <a:r>
              <a:rPr lang="nl-NL" dirty="0"/>
              <a:t>()</a:t>
            </a:r>
          </a:p>
          <a:p>
            <a:r>
              <a:rPr lang="nl-NL" dirty="0"/>
              <a:t>Altijd gebruiken VOOR (eerste lijn code!) dat je sessies inleest of manipuleert</a:t>
            </a:r>
          </a:p>
          <a:p>
            <a:r>
              <a:rPr lang="nl-NL" dirty="0">
                <a:solidFill>
                  <a:srgbClr val="00B0F0"/>
                </a:solidFill>
              </a:rPr>
              <a:t>Indien niet eerst gebruikt?</a:t>
            </a:r>
            <a:r>
              <a:rPr lang="nl-NL" dirty="0"/>
              <a:t> </a:t>
            </a:r>
            <a:r>
              <a:rPr lang="nl-NL" dirty="0">
                <a:solidFill>
                  <a:schemeClr val="accent3"/>
                </a:solidFill>
              </a:rPr>
              <a:t>Start alvast de </a:t>
            </a:r>
            <a:r>
              <a:rPr lang="nl-NL" err="1">
                <a:solidFill>
                  <a:schemeClr val="accent3"/>
                </a:solidFill>
              </a:rPr>
              <a:t>Coffin</a:t>
            </a:r>
            <a:r>
              <a:rPr lang="nl-NL" dirty="0">
                <a:solidFill>
                  <a:schemeClr val="accent3"/>
                </a:solidFill>
              </a:rPr>
              <a:t> Dance ⚰️</a:t>
            </a:r>
          </a:p>
          <a:p>
            <a:pPr marL="285750" indent="-285750">
              <a:buFont typeface="Calibri"/>
              <a:buChar char="-"/>
            </a:pPr>
            <a:r>
              <a:rPr lang="nl-NL" dirty="0">
                <a:solidFill>
                  <a:schemeClr val="accent3"/>
                </a:solidFill>
              </a:rPr>
              <a:t>Error, dan slaapt de mooie website in de kist.</a:t>
            </a:r>
          </a:p>
          <a:p>
            <a:endParaRPr lang="nl-NL" dirty="0"/>
          </a:p>
          <a:p>
            <a:r>
              <a:rPr lang="nl-NL" dirty="0"/>
              <a:t>2) </a:t>
            </a:r>
            <a:r>
              <a:rPr lang="nl-NL" dirty="0" err="1"/>
              <a:t>session_unset</a:t>
            </a:r>
            <a:r>
              <a:rPr lang="nl-NL" dirty="0"/>
              <a:t>()</a:t>
            </a:r>
            <a:endParaRPr lang="en-US" dirty="0"/>
          </a:p>
          <a:p>
            <a:r>
              <a:rPr lang="nl-NL" dirty="0"/>
              <a:t>Bij het afmelden/uitloggen, dan wordt de sessie van de user leeggemaakt.</a:t>
            </a:r>
          </a:p>
          <a:p>
            <a:endParaRPr lang="nl-NL" dirty="0"/>
          </a:p>
          <a:p>
            <a:r>
              <a:rPr lang="nl-NL" dirty="0"/>
              <a:t>3) </a:t>
            </a:r>
            <a:r>
              <a:rPr lang="nl-NL" dirty="0" err="1"/>
              <a:t>session_destroy</a:t>
            </a:r>
            <a:r>
              <a:rPr lang="nl-NL" dirty="0"/>
              <a:t>()</a:t>
            </a:r>
          </a:p>
          <a:p>
            <a:r>
              <a:rPr lang="nl-NL" dirty="0"/>
              <a:t>De meta-info ook verwijderen (uiteraard belangrijk) want dit omvat geheime info.</a:t>
            </a:r>
          </a:p>
          <a:p>
            <a:endParaRPr lang="nl-NL" dirty="0"/>
          </a:p>
          <a:p>
            <a:r>
              <a:rPr lang="nl-NL" dirty="0"/>
              <a:t>4) $_SESSION </a:t>
            </a:r>
            <a:r>
              <a:rPr lang="nl-NL" dirty="0" err="1"/>
              <a:t>superglobal</a:t>
            </a:r>
            <a:endParaRPr lang="nl-NL" dirty="0"/>
          </a:p>
          <a:p>
            <a:r>
              <a:rPr lang="nl-NL" dirty="0"/>
              <a:t>Dit is de </a:t>
            </a:r>
            <a:r>
              <a:rPr lang="nl-NL" err="1"/>
              <a:t>getter</a:t>
            </a:r>
            <a:r>
              <a:rPr lang="nl-NL" dirty="0"/>
              <a:t> en setter.</a:t>
            </a:r>
          </a:p>
          <a:p>
            <a:endParaRPr lang="nl-NL" dirty="0"/>
          </a:p>
          <a:p>
            <a:r>
              <a:rPr lang="nl-NL" dirty="0" err="1"/>
              <a:t>Getter</a:t>
            </a:r>
            <a:r>
              <a:rPr lang="nl-NL" dirty="0"/>
              <a:t> </a:t>
            </a:r>
            <a:r>
              <a:rPr lang="nl-NL" dirty="0" err="1"/>
              <a:t>vb</a:t>
            </a:r>
            <a:r>
              <a:rPr lang="nl-NL" dirty="0"/>
              <a:t>: &lt;?</a:t>
            </a:r>
            <a:r>
              <a:rPr lang="nl-NL" dirty="0" err="1"/>
              <a:t>php</a:t>
            </a:r>
            <a:r>
              <a:rPr lang="nl-NL" dirty="0"/>
              <a:t> </a:t>
            </a:r>
            <a:r>
              <a:rPr lang="nl-NL" dirty="0" err="1"/>
              <a:t>session_start</a:t>
            </a:r>
            <a:r>
              <a:rPr lang="nl-NL" dirty="0"/>
              <a:t>(); echo $_SESSION['user']['name']; ?&gt;</a:t>
            </a:r>
          </a:p>
          <a:p>
            <a:endParaRPr lang="nl-NL" dirty="0"/>
          </a:p>
          <a:p>
            <a:r>
              <a:rPr lang="nl-NL" dirty="0"/>
              <a:t>Setter </a:t>
            </a:r>
            <a:r>
              <a:rPr lang="nl-NL" dirty="0" err="1"/>
              <a:t>vb</a:t>
            </a:r>
            <a:r>
              <a:rPr lang="nl-NL" dirty="0"/>
              <a:t>: &lt;?</a:t>
            </a:r>
            <a:r>
              <a:rPr lang="nl-NL" dirty="0" err="1"/>
              <a:t>php</a:t>
            </a:r>
            <a:r>
              <a:rPr lang="nl-NL" dirty="0"/>
              <a:t> </a:t>
            </a:r>
            <a:r>
              <a:rPr lang="nl-NL" dirty="0" err="1"/>
              <a:t>session_start</a:t>
            </a:r>
            <a:r>
              <a:rPr lang="nl-NL" dirty="0"/>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PHP sessies zijn pesterij wanneer je ze pas later aanroept: </a:t>
            </a:r>
            <a:r>
              <a:rPr lang="nl-NL" dirty="0" err="1"/>
              <a:t>sessions</a:t>
            </a:r>
            <a:r>
              <a:rPr lang="nl-NL" dirty="0"/>
              <a:t> kunnen vastlopen als je ze niet eerst </a:t>
            </a:r>
            <a:r>
              <a:rPr lang="nl-NL" dirty="0" err="1"/>
              <a:t>initialiseert</a:t>
            </a:r>
            <a:r>
              <a:rPr lang="nl-NL" dirty="0"/>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24</Slides>
  <Notes>2</Notes>
  <HiddenSlides>0</HiddenSlides>
  <ScaleCrop>false</ScaleCrop>
  <HeadingPairs>
    <vt:vector size="4" baseType="variant">
      <vt:variant>
        <vt:lpstr>Theme</vt:lpstr>
      </vt:variant>
      <vt:variant>
        <vt:i4>1</vt:i4>
      </vt:variant>
      <vt:variant>
        <vt:lpstr>Slide Titles</vt:lpstr>
      </vt:variant>
      <vt:variant>
        <vt:i4>24</vt:i4>
      </vt:variant>
    </vt:vector>
  </HeadingPairs>
  <TitlesOfParts>
    <vt:vector size="25" baseType="lpstr">
      <vt:lpstr>VanillaVTI</vt:lpstr>
      <vt:lpstr>Webdesign: Dynamische Websites  H3 Databases en Beveiliging</vt:lpstr>
      <vt:lpstr>Wat is een database? </vt:lpstr>
      <vt:lpstr>MySQL/MariaDB</vt:lpstr>
      <vt:lpstr>PhpMyAdmin (PMA)</vt:lpstr>
      <vt:lpstr>Prepared Statements (PDO)</vt:lpstr>
      <vt:lpstr>PDO: Ophalen van één rij</vt:lpstr>
      <vt:lpstr>PDO: Ophalen van meerdere rijen</vt:lpstr>
      <vt:lpstr>CRUD  Create, Read, Update, Delete</vt:lpstr>
      <vt:lpstr>Security: SQL Injection</vt:lpstr>
      <vt:lpstr>Hoe wordt SQLi uitgevoerd?</vt:lpstr>
      <vt:lpstr>Types van SQLi: In-Band</vt:lpstr>
      <vt:lpstr>Types van SQLi: Inferential/Blind</vt:lpstr>
      <vt:lpstr>Types van SQLi: Out-of-band</vt:lpstr>
      <vt:lpstr>Hoe kwetsbaarheid tegen SQLi voorkomen?</vt:lpstr>
      <vt:lpstr>🔐Password Hashing🔑</vt:lpstr>
      <vt:lpstr>🔐Waarom Password Hashing?🔑</vt:lpstr>
      <vt:lpstr>Hashing Algoritmes</vt:lpstr>
      <vt:lpstr>Wachtwoorden "kraken"</vt:lpstr>
      <vt:lpstr>2 methoden samengevat</vt:lpstr>
      <vt:lpstr>Let op bij Password Hashing</vt:lpstr>
      <vt:lpstr>Sessies uitgebreid</vt:lpstr>
      <vt:lpstr>Sessions vs Storage</vt:lpstr>
      <vt:lpstr>Syntax: Sessions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revision>565</cp:revision>
  <dcterms:created xsi:type="dcterms:W3CDTF">2025-10-16T12:22:40Z</dcterms:created>
  <dcterms:modified xsi:type="dcterms:W3CDTF">2025-11-06T12:32:42Z</dcterms:modified>
</cp:coreProperties>
</file>