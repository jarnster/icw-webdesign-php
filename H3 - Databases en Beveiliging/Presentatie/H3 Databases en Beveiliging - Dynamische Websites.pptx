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7"/>
  </p:notesMasterIdLst>
  <p:sldIdLst>
    <p:sldId id="256" r:id="rId2"/>
    <p:sldId id="295" r:id="rId3"/>
    <p:sldId id="273" r:id="rId4"/>
    <p:sldId id="274" r:id="rId5"/>
    <p:sldId id="275" r:id="rId6"/>
    <p:sldId id="276" r:id="rId7"/>
    <p:sldId id="277" r:id="rId8"/>
    <p:sldId id="278" r:id="rId9"/>
    <p:sldId id="279" r:id="rId10"/>
    <p:sldId id="280" r:id="rId11"/>
    <p:sldId id="281" r:id="rId12"/>
    <p:sldId id="282" r:id="rId13"/>
    <p:sldId id="283" r:id="rId14"/>
    <p:sldId id="284" r:id="rId15"/>
    <p:sldId id="285" r:id="rId16"/>
    <p:sldId id="296" r:id="rId17"/>
    <p:sldId id="286" r:id="rId18"/>
    <p:sldId id="289" r:id="rId19"/>
    <p:sldId id="287" r:id="rId20"/>
    <p:sldId id="305" r:id="rId21"/>
    <p:sldId id="290" r:id="rId22"/>
    <p:sldId id="297" r:id="rId23"/>
    <p:sldId id="298" r:id="rId24"/>
    <p:sldId id="291" r:id="rId25"/>
    <p:sldId id="288" r:id="rId26"/>
    <p:sldId id="292" r:id="rId27"/>
    <p:sldId id="293" r:id="rId28"/>
    <p:sldId id="294" r:id="rId29"/>
    <p:sldId id="299" r:id="rId30"/>
    <p:sldId id="300" r:id="rId31"/>
    <p:sldId id="302" r:id="rId32"/>
    <p:sldId id="303" r:id="rId33"/>
    <p:sldId id="304" r:id="rId34"/>
    <p:sldId id="301" r:id="rId35"/>
    <p:sldId id="272" r:id="rId36"/>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8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0E12901-35B4-0AEE-2BBE-81EAEF0EFE96}" v="1110" dt="2026-04-27T12:18:23.14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5" d="100"/>
          <a:sy n="75" d="100"/>
        </p:scale>
        <p:origin x="300"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706355E-35B0-47A6-8E00-D68DE081856C}" type="datetimeFigureOut">
              <a:rPr lang="nl-BE" smtClean="0"/>
              <a:t>30/04/2026</a:t>
            </a:fld>
            <a:endParaRPr lang="nl-BE"/>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DBD449-D42A-4711-8837-53EC15580D9C}" type="slidenum">
              <a:rPr lang="nl-BE" smtClean="0"/>
              <a:t>‹nr.›</a:t>
            </a:fld>
            <a:endParaRPr lang="nl-BE"/>
          </a:p>
        </p:txBody>
      </p:sp>
    </p:spTree>
    <p:extLst>
      <p:ext uri="{BB962C8B-B14F-4D97-AF65-F5344CB8AC3E}">
        <p14:creationId xmlns:p14="http://schemas.microsoft.com/office/powerpoint/2010/main" val="15808967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github.com/jarnster"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a:latin typeface="Calibri"/>
                <a:ea typeface="Calibri"/>
                <a:cs typeface="Calibri"/>
              </a:rPr>
              <a:t>(2025-2026) Jarne Verlinden – 6icw</a:t>
            </a:r>
          </a:p>
          <a:p>
            <a:r>
              <a:rPr lang="en-US">
                <a:hlinkClick r:id="rId3"/>
              </a:rPr>
              <a:t>https://github.com/jarnster</a:t>
            </a:r>
            <a:endParaRPr lang="en-US"/>
          </a:p>
          <a:p>
            <a:endParaRPr lang="en-US"/>
          </a:p>
        </p:txBody>
      </p:sp>
      <p:sp>
        <p:nvSpPr>
          <p:cNvPr id="4" name="Tijdelijke aanduiding voor dianummer 3"/>
          <p:cNvSpPr>
            <a:spLocks noGrp="1"/>
          </p:cNvSpPr>
          <p:nvPr>
            <p:ph type="sldNum" sz="quarter" idx="5"/>
          </p:nvPr>
        </p:nvSpPr>
        <p:spPr/>
        <p:txBody>
          <a:bodyPr/>
          <a:lstStyle/>
          <a:p>
            <a:fld id="{39DBD449-D42A-4711-8837-53EC15580D9C}" type="slidenum">
              <a:rPr lang="nl-BE" smtClean="0"/>
              <a:t>1</a:t>
            </a:fld>
            <a:endParaRPr lang="nl-BE"/>
          </a:p>
        </p:txBody>
      </p:sp>
    </p:spTree>
    <p:extLst>
      <p:ext uri="{BB962C8B-B14F-4D97-AF65-F5344CB8AC3E}">
        <p14:creationId xmlns:p14="http://schemas.microsoft.com/office/powerpoint/2010/main" val="41059679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latin typeface="Calibri"/>
                <a:ea typeface="Calibri"/>
                <a:cs typeface="Calibri"/>
              </a:rPr>
              <a:t>Je </a:t>
            </a:r>
            <a:r>
              <a:rPr lang="en-US" dirty="0" err="1">
                <a:latin typeface="Calibri"/>
                <a:ea typeface="Calibri"/>
                <a:cs typeface="Calibri"/>
              </a:rPr>
              <a:t>ziet</a:t>
            </a:r>
            <a:r>
              <a:rPr lang="en-US" dirty="0">
                <a:latin typeface="Calibri"/>
                <a:ea typeface="Calibri"/>
                <a:cs typeface="Calibri"/>
              </a:rPr>
              <a:t> de 3 </a:t>
            </a:r>
            <a:r>
              <a:rPr lang="en-US" dirty="0" err="1">
                <a:latin typeface="Calibri"/>
                <a:ea typeface="Calibri"/>
                <a:cs typeface="Calibri"/>
              </a:rPr>
              <a:t>fasen</a:t>
            </a:r>
            <a:r>
              <a:rPr lang="en-US" dirty="0">
                <a:latin typeface="Calibri"/>
                <a:ea typeface="Calibri"/>
                <a:cs typeface="Calibri"/>
              </a:rPr>
              <a:t> </a:t>
            </a:r>
            <a:r>
              <a:rPr lang="en-US" dirty="0" err="1">
                <a:latin typeface="Calibri"/>
                <a:ea typeface="Calibri"/>
                <a:cs typeface="Calibri"/>
              </a:rPr>
              <a:t>vanuit</a:t>
            </a:r>
            <a:r>
              <a:rPr lang="en-US" dirty="0">
                <a:latin typeface="Calibri"/>
                <a:ea typeface="Calibri"/>
                <a:cs typeface="Calibri"/>
              </a:rPr>
              <a:t> het concept Prepared Statements. Vierkant </a:t>
            </a:r>
            <a:r>
              <a:rPr lang="en-US" dirty="0" err="1">
                <a:latin typeface="Calibri"/>
                <a:ea typeface="Calibri"/>
                <a:cs typeface="Calibri"/>
              </a:rPr>
              <a:t>en</a:t>
            </a:r>
            <a:r>
              <a:rPr lang="en-US" dirty="0">
                <a:latin typeface="Calibri"/>
                <a:ea typeface="Calibri"/>
                <a:cs typeface="Calibri"/>
              </a:rPr>
              <a:t> </a:t>
            </a:r>
            <a:r>
              <a:rPr lang="en-US" dirty="0" err="1">
                <a:latin typeface="Calibri"/>
                <a:ea typeface="Calibri"/>
                <a:cs typeface="Calibri"/>
              </a:rPr>
              <a:t>rechthoek</a:t>
            </a:r>
            <a:r>
              <a:rPr lang="en-US" dirty="0">
                <a:latin typeface="Calibri"/>
                <a:ea typeface="Calibri"/>
                <a:cs typeface="Calibri"/>
              </a:rPr>
              <a:t> </a:t>
            </a:r>
            <a:r>
              <a:rPr lang="en-US" dirty="0" err="1">
                <a:latin typeface="Calibri"/>
                <a:ea typeface="Calibri"/>
                <a:cs typeface="Calibri"/>
              </a:rPr>
              <a:t>zijn</a:t>
            </a:r>
            <a:r>
              <a:rPr lang="en-US" dirty="0">
                <a:latin typeface="Calibri"/>
                <a:ea typeface="Calibri"/>
                <a:cs typeface="Calibri"/>
              </a:rPr>
              <a:t> </a:t>
            </a:r>
            <a:r>
              <a:rPr lang="en-US" dirty="0" err="1">
                <a:latin typeface="Calibri"/>
                <a:ea typeface="Calibri"/>
                <a:cs typeface="Calibri"/>
              </a:rPr>
              <a:t>kopieën</a:t>
            </a:r>
            <a:r>
              <a:rPr lang="en-US" dirty="0">
                <a:latin typeface="Calibri"/>
                <a:ea typeface="Calibri"/>
                <a:cs typeface="Calibri"/>
              </a:rPr>
              <a:t> van data.</a:t>
            </a:r>
          </a:p>
          <a:p>
            <a:br>
              <a:rPr lang="en-US" dirty="0">
                <a:latin typeface="Calibri"/>
                <a:ea typeface="Calibri"/>
                <a:cs typeface="Calibri"/>
              </a:rPr>
            </a:br>
            <a:r>
              <a:rPr lang="en-US" dirty="0">
                <a:latin typeface="Calibri"/>
                <a:ea typeface="Calibri"/>
                <a:cs typeface="Calibri"/>
              </a:rPr>
              <a:t>Denk </a:t>
            </a:r>
            <a:r>
              <a:rPr lang="en-US" dirty="0" err="1">
                <a:latin typeface="Calibri"/>
                <a:ea typeface="Calibri"/>
                <a:cs typeface="Calibri"/>
              </a:rPr>
              <a:t>hierbij</a:t>
            </a:r>
            <a:r>
              <a:rPr lang="en-US" dirty="0">
                <a:latin typeface="Calibri"/>
                <a:ea typeface="Calibri"/>
                <a:cs typeface="Calibri"/>
              </a:rPr>
              <a:t> </a:t>
            </a:r>
            <a:r>
              <a:rPr lang="en-US" dirty="0" err="1">
                <a:latin typeface="Calibri"/>
                <a:ea typeface="Calibri"/>
                <a:cs typeface="Calibri"/>
              </a:rPr>
              <a:t>aan</a:t>
            </a:r>
            <a:r>
              <a:rPr lang="en-US" dirty="0">
                <a:latin typeface="Calibri"/>
                <a:ea typeface="Calibri"/>
                <a:cs typeface="Calibri"/>
              </a:rPr>
              <a:t> </a:t>
            </a:r>
            <a:r>
              <a:rPr lang="en-US" dirty="0" err="1">
                <a:latin typeface="Calibri"/>
                <a:ea typeface="Calibri"/>
                <a:cs typeface="Calibri"/>
              </a:rPr>
              <a:t>een</a:t>
            </a:r>
            <a:r>
              <a:rPr lang="en-US" dirty="0">
                <a:latin typeface="Calibri"/>
                <a:ea typeface="Calibri"/>
                <a:cs typeface="Calibri"/>
              </a:rPr>
              <a:t> </a:t>
            </a:r>
            <a:r>
              <a:rPr lang="en-US" dirty="0" err="1">
                <a:latin typeface="Calibri"/>
                <a:ea typeface="Calibri"/>
                <a:cs typeface="Calibri"/>
              </a:rPr>
              <a:t>simpele</a:t>
            </a:r>
            <a:r>
              <a:rPr lang="en-US" dirty="0">
                <a:latin typeface="Calibri"/>
                <a:ea typeface="Calibri"/>
                <a:cs typeface="Calibri"/>
              </a:rPr>
              <a:t> compare </a:t>
            </a:r>
            <a:r>
              <a:rPr lang="en-US" dirty="0" err="1">
                <a:latin typeface="Calibri"/>
                <a:ea typeface="Calibri"/>
                <a:cs typeface="Calibri"/>
              </a:rPr>
              <a:t>functie</a:t>
            </a:r>
            <a:r>
              <a:rPr lang="en-US" dirty="0">
                <a:latin typeface="Calibri"/>
                <a:ea typeface="Calibri"/>
                <a:cs typeface="Calibri"/>
              </a:rPr>
              <a:t> in C met </a:t>
            </a:r>
            <a:r>
              <a:rPr lang="en-US" dirty="0" err="1">
                <a:latin typeface="Calibri"/>
                <a:ea typeface="Calibri"/>
                <a:cs typeface="Calibri"/>
              </a:rPr>
              <a:t>een</a:t>
            </a:r>
            <a:r>
              <a:rPr lang="en-US" dirty="0">
                <a:latin typeface="Calibri"/>
                <a:ea typeface="Calibri"/>
                <a:cs typeface="Calibri"/>
              </a:rPr>
              <a:t> </a:t>
            </a:r>
            <a:r>
              <a:rPr lang="en-US" dirty="0" err="1">
                <a:latin typeface="Calibri"/>
                <a:ea typeface="Calibri"/>
                <a:cs typeface="Calibri"/>
              </a:rPr>
              <a:t>datastructuur</a:t>
            </a:r>
            <a:r>
              <a:rPr lang="en-US" dirty="0">
                <a:latin typeface="Calibri"/>
                <a:ea typeface="Calibri"/>
                <a:cs typeface="Calibri"/>
              </a:rPr>
              <a:t> met </a:t>
            </a:r>
            <a:r>
              <a:rPr lang="en-US" dirty="0" err="1">
                <a:latin typeface="Calibri"/>
                <a:ea typeface="Calibri"/>
                <a:cs typeface="Calibri"/>
              </a:rPr>
              <a:t>verwijzingen</a:t>
            </a:r>
            <a:r>
              <a:rPr lang="en-US" dirty="0">
                <a:latin typeface="Calibri"/>
                <a:ea typeface="Calibri"/>
                <a:cs typeface="Calibri"/>
              </a:rPr>
              <a:t> in het </a:t>
            </a:r>
            <a:r>
              <a:rPr lang="en-US" dirty="0" err="1">
                <a:latin typeface="Calibri"/>
                <a:ea typeface="Calibri"/>
                <a:cs typeface="Calibri"/>
              </a:rPr>
              <a:t>geheugen</a:t>
            </a:r>
            <a:r>
              <a:rPr lang="en-US" dirty="0">
                <a:latin typeface="Calibri"/>
                <a:ea typeface="Calibri"/>
                <a:cs typeface="Calibri"/>
              </a:rPr>
              <a:t>!</a:t>
            </a:r>
          </a:p>
        </p:txBody>
      </p:sp>
      <p:sp>
        <p:nvSpPr>
          <p:cNvPr id="4" name="Tijdelijke aanduiding voor dianummer 3"/>
          <p:cNvSpPr>
            <a:spLocks noGrp="1"/>
          </p:cNvSpPr>
          <p:nvPr>
            <p:ph type="sldNum" sz="quarter" idx="5"/>
          </p:nvPr>
        </p:nvSpPr>
        <p:spPr/>
        <p:txBody>
          <a:bodyPr/>
          <a:lstStyle/>
          <a:p>
            <a:fld id="{39DBD449-D42A-4711-8837-53EC15580D9C}" type="slidenum">
              <a:rPr lang="nl-BE" smtClean="0"/>
              <a:t>16</a:t>
            </a:fld>
            <a:endParaRPr lang="nl-BE"/>
          </a:p>
        </p:txBody>
      </p:sp>
    </p:spTree>
    <p:extLst>
      <p:ext uri="{BB962C8B-B14F-4D97-AF65-F5344CB8AC3E}">
        <p14:creationId xmlns:p14="http://schemas.microsoft.com/office/powerpoint/2010/main" val="8655938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BE" dirty="0"/>
              <a:t>Rechtergedeelte wordt zichtbaar op het </a:t>
            </a:r>
            <a:r>
              <a:rPr lang="nl-BE" dirty="0" err="1"/>
              <a:t>darkweb</a:t>
            </a:r>
            <a:r>
              <a:rPr lang="nl-BE" dirty="0"/>
              <a:t> indien de webshop effectief </a:t>
            </a:r>
            <a:r>
              <a:rPr lang="nl-BE" dirty="0" err="1"/>
              <a:t>hashing</a:t>
            </a:r>
            <a:r>
              <a:rPr lang="nl-BE" dirty="0"/>
              <a:t> gebruikt voor de wachtwoorden van hun gebruikers (bij wet verplicht)</a:t>
            </a:r>
          </a:p>
        </p:txBody>
      </p:sp>
      <p:sp>
        <p:nvSpPr>
          <p:cNvPr id="4" name="Tijdelijke aanduiding voor dianummer 3"/>
          <p:cNvSpPr>
            <a:spLocks noGrp="1"/>
          </p:cNvSpPr>
          <p:nvPr>
            <p:ph type="sldNum" sz="quarter" idx="5"/>
          </p:nvPr>
        </p:nvSpPr>
        <p:spPr/>
        <p:txBody>
          <a:bodyPr/>
          <a:lstStyle/>
          <a:p>
            <a:fld id="{39DBD449-D42A-4711-8837-53EC15580D9C}" type="slidenum">
              <a:rPr lang="nl-BE" smtClean="0"/>
              <a:t>20</a:t>
            </a:fld>
            <a:endParaRPr lang="nl-BE"/>
          </a:p>
        </p:txBody>
      </p:sp>
    </p:spTree>
    <p:extLst>
      <p:ext uri="{BB962C8B-B14F-4D97-AF65-F5344CB8AC3E}">
        <p14:creationId xmlns:p14="http://schemas.microsoft.com/office/powerpoint/2010/main" val="20167101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BE" dirty="0"/>
              <a:t>Extra:</a:t>
            </a:r>
          </a:p>
          <a:p>
            <a:r>
              <a:rPr lang="nl-BE" dirty="0"/>
              <a:t>Indien je de </a:t>
            </a:r>
            <a:r>
              <a:rPr lang="nl-BE" dirty="0" err="1"/>
              <a:t>bruteforce</a:t>
            </a:r>
            <a:r>
              <a:rPr lang="nl-BE" dirty="0"/>
              <a:t> methode uitvoert op een gewoon PHP webformulier om direct toegang te krijgen tot iemands’ online sessie op een dienst (zoals een webshop) dan ben je niet bezig met </a:t>
            </a:r>
            <a:r>
              <a:rPr lang="nl-BE" dirty="0" err="1"/>
              <a:t>hashes</a:t>
            </a:r>
            <a:r>
              <a:rPr lang="nl-BE" dirty="0"/>
              <a:t> te kraken, maar met “pogingen maken” en je zal tegen </a:t>
            </a:r>
            <a:r>
              <a:rPr lang="nl-BE" dirty="0" err="1"/>
              <a:t>rate</a:t>
            </a:r>
            <a:r>
              <a:rPr lang="nl-BE" dirty="0"/>
              <a:t> </a:t>
            </a:r>
            <a:r>
              <a:rPr lang="nl-BE" dirty="0" err="1"/>
              <a:t>limiting</a:t>
            </a:r>
            <a:r>
              <a:rPr lang="nl-BE" dirty="0"/>
              <a:t> lopen (een beveiligingsmaatregel die voorkomt dat een bezoeker te veel pogingen doet in een korte tijd).</a:t>
            </a:r>
          </a:p>
        </p:txBody>
      </p:sp>
      <p:sp>
        <p:nvSpPr>
          <p:cNvPr id="4" name="Tijdelijke aanduiding voor dianummer 3"/>
          <p:cNvSpPr>
            <a:spLocks noGrp="1"/>
          </p:cNvSpPr>
          <p:nvPr>
            <p:ph type="sldNum" sz="quarter" idx="5"/>
          </p:nvPr>
        </p:nvSpPr>
        <p:spPr/>
        <p:txBody>
          <a:bodyPr/>
          <a:lstStyle/>
          <a:p>
            <a:fld id="{39DBD449-D42A-4711-8837-53EC15580D9C}" type="slidenum">
              <a:rPr lang="nl-BE" smtClean="0"/>
              <a:t>21</a:t>
            </a:fld>
            <a:endParaRPr lang="nl-BE"/>
          </a:p>
        </p:txBody>
      </p:sp>
    </p:spTree>
    <p:extLst>
      <p:ext uri="{BB962C8B-B14F-4D97-AF65-F5344CB8AC3E}">
        <p14:creationId xmlns:p14="http://schemas.microsoft.com/office/powerpoint/2010/main" val="7629067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3B55E-F384-3346-9D31-E8B7123F526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AAB5098-42BE-D401-BBD2-3842E3F4E931}"/>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EE397478-9C48-B92A-FF6E-08E1953502F1}"/>
              </a:ext>
            </a:extLst>
          </p:cNvPr>
          <p:cNvSpPr>
            <a:spLocks noGrp="1"/>
          </p:cNvSpPr>
          <p:nvPr>
            <p:ph type="body" idx="1"/>
          </p:nvPr>
        </p:nvSpPr>
        <p:spPr/>
        <p:txBody>
          <a:bodyPr/>
          <a:lstStyle/>
          <a:p>
            <a:endParaRPr lang="nl-BE"/>
          </a:p>
        </p:txBody>
      </p:sp>
      <p:sp>
        <p:nvSpPr>
          <p:cNvPr id="4" name="Tijdelijke aanduiding voor dianummer 3">
            <a:extLst>
              <a:ext uri="{FF2B5EF4-FFF2-40B4-BE49-F238E27FC236}">
                <a16:creationId xmlns:a16="http://schemas.microsoft.com/office/drawing/2014/main" id="{929D769E-B26B-DBE5-0148-598E0463C603}"/>
              </a:ext>
            </a:extLst>
          </p:cNvPr>
          <p:cNvSpPr>
            <a:spLocks noGrp="1"/>
          </p:cNvSpPr>
          <p:nvPr>
            <p:ph type="sldNum" sz="quarter" idx="5"/>
          </p:nvPr>
        </p:nvSpPr>
        <p:spPr/>
        <p:txBody>
          <a:bodyPr/>
          <a:lstStyle/>
          <a:p>
            <a:fld id="{39DBD449-D42A-4711-8837-53EC15580D9C}" type="slidenum">
              <a:rPr lang="nl-BE" smtClean="0"/>
              <a:t>35</a:t>
            </a:fld>
            <a:endParaRPr lang="nl-BE"/>
          </a:p>
        </p:txBody>
      </p:sp>
    </p:spTree>
    <p:extLst>
      <p:ext uri="{BB962C8B-B14F-4D97-AF65-F5344CB8AC3E}">
        <p14:creationId xmlns:p14="http://schemas.microsoft.com/office/powerpoint/2010/main" val="15866522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4/30/2026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83350823"/>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4/30/2026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98831519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4/30/2026</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7176809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4/30/2026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25653495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4/30/2026</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52784955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4/30/2026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3734024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4/30/2026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40128006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4/30/2026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02718359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4/30/2026</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16122218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4/30/2026</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3672962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4/30/2026</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24114587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4/30/2026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‹nr.›</a:t>
            </a:fld>
            <a:endParaRPr lang="en-US"/>
          </a:p>
        </p:txBody>
      </p:sp>
    </p:spTree>
    <p:extLst>
      <p:ext uri="{BB962C8B-B14F-4D97-AF65-F5344CB8AC3E}">
        <p14:creationId xmlns:p14="http://schemas.microsoft.com/office/powerpoint/2010/main" val="3456864172"/>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www.invicti.com/learn/blind-sql-injection"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gif"/><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mailto:anneke@hotmail.com" TargetMode="External"/><Relationship Id="rId7"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gif"/><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8">
            <a:extLst>
              <a:ext uri="{FF2B5EF4-FFF2-40B4-BE49-F238E27FC236}">
                <a16:creationId xmlns:a16="http://schemas.microsoft.com/office/drawing/2014/main" id="{1A32057F-F015-B1B2-4E3E-2307F8EFC9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46DA711-7BD0-BB8C-2A0C-0814AB4FBDF5}"/>
              </a:ext>
            </a:extLst>
          </p:cNvPr>
          <p:cNvSpPr>
            <a:spLocks noGrp="1"/>
          </p:cNvSpPr>
          <p:nvPr>
            <p:ph type="ctrTitle"/>
          </p:nvPr>
        </p:nvSpPr>
        <p:spPr>
          <a:xfrm>
            <a:off x="7168896" y="1129554"/>
            <a:ext cx="4465597" cy="3613782"/>
          </a:xfrm>
        </p:spPr>
        <p:txBody>
          <a:bodyPr vert="horz" lIns="91440" tIns="45720" rIns="91440" bIns="45720" rtlCol="0" anchor="b">
            <a:noAutofit/>
          </a:bodyPr>
          <a:lstStyle/>
          <a:p>
            <a:pPr algn="l"/>
            <a:r>
              <a:rPr lang="nl-BE" b="0"/>
              <a:t>Webdesign:</a:t>
            </a:r>
            <a:r>
              <a:rPr lang="nl-BE"/>
              <a:t> </a:t>
            </a:r>
            <a:r>
              <a:rPr lang="nl-BE" b="0">
                <a:solidFill>
                  <a:schemeClr val="accent3"/>
                </a:solidFill>
              </a:rPr>
              <a:t>Dynamische Websites</a:t>
            </a:r>
            <a:br>
              <a:rPr lang="nl-BE" b="0"/>
            </a:br>
            <a:br>
              <a:rPr lang="nl-BE" b="0"/>
            </a:br>
            <a:r>
              <a:rPr lang="nl-BE">
                <a:solidFill>
                  <a:schemeClr val="accent3"/>
                </a:solidFill>
              </a:rPr>
              <a:t>H3 Databases en Beveiliging</a:t>
            </a:r>
          </a:p>
        </p:txBody>
      </p:sp>
      <p:sp>
        <p:nvSpPr>
          <p:cNvPr id="3" name="Ondertitel 2">
            <a:extLst>
              <a:ext uri="{FF2B5EF4-FFF2-40B4-BE49-F238E27FC236}">
                <a16:creationId xmlns:a16="http://schemas.microsoft.com/office/drawing/2014/main" id="{B9F38A38-247B-CA6E-A49D-55F15E60FA51}"/>
              </a:ext>
            </a:extLst>
          </p:cNvPr>
          <p:cNvSpPr>
            <a:spLocks noGrp="1"/>
          </p:cNvSpPr>
          <p:nvPr>
            <p:ph type="subTitle" idx="1"/>
          </p:nvPr>
        </p:nvSpPr>
        <p:spPr>
          <a:xfrm>
            <a:off x="7168896" y="4754016"/>
            <a:ext cx="4597136" cy="1636917"/>
          </a:xfrm>
        </p:spPr>
        <p:txBody>
          <a:bodyPr vert="horz" lIns="91440" tIns="45720" rIns="91440" bIns="45720" rtlCol="0" anchor="t">
            <a:normAutofit fontScale="70000" lnSpcReduction="20000"/>
          </a:bodyPr>
          <a:lstStyle/>
          <a:p>
            <a:pPr algn="l"/>
            <a:r>
              <a:rPr lang="nl-BE"/>
              <a:t>Met PHP</a:t>
            </a:r>
          </a:p>
          <a:p>
            <a:pPr algn="l"/>
            <a:endParaRPr lang="nl-BE"/>
          </a:p>
          <a:p>
            <a:pPr algn="l"/>
            <a:r>
              <a:rPr lang="nl-BE"/>
              <a:t>2025-2026</a:t>
            </a:r>
          </a:p>
          <a:p>
            <a:pPr algn="l"/>
            <a:r>
              <a:rPr lang="nl-BE"/>
              <a:t>Jarne Verlinden – 6icw</a:t>
            </a:r>
          </a:p>
          <a:p>
            <a:pPr algn="l"/>
            <a:r>
              <a:rPr lang="nl-BE"/>
              <a:t>(https://github.com/Jarnster)</a:t>
            </a:r>
          </a:p>
        </p:txBody>
      </p:sp>
      <p:sp>
        <p:nvSpPr>
          <p:cNvPr id="4" name="Tekstvak 3">
            <a:extLst>
              <a:ext uri="{FF2B5EF4-FFF2-40B4-BE49-F238E27FC236}">
                <a16:creationId xmlns:a16="http://schemas.microsoft.com/office/drawing/2014/main" id="{85895E27-575A-AEC4-37EC-5F4FFEB01E62}"/>
              </a:ext>
            </a:extLst>
          </p:cNvPr>
          <p:cNvSpPr txBox="1"/>
          <p:nvPr/>
        </p:nvSpPr>
        <p:spPr>
          <a:xfrm>
            <a:off x="6731393" y="147903"/>
            <a:ext cx="5029909"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sz="1200" b="1" i="1">
                <a:solidFill>
                  <a:srgbClr val="FF0000"/>
                </a:solidFill>
                <a:ea typeface="+mn-lt"/>
                <a:cs typeface="+mn-lt"/>
              </a:rPr>
              <a:t>Disclaimer:</a:t>
            </a:r>
            <a:r>
              <a:rPr lang="nl-NL" sz="1200" i="1">
                <a:ea typeface="+mn-lt"/>
                <a:cs typeface="+mn-lt"/>
              </a:rPr>
              <a:t> Sommige afbeeldingen en diagrammen in deze presentatie zijn afkomstig van het internet en zijn niet door mijzelf gemaakt. Alle rechten behoren toe aan de respectieve eigenaars. Deze presentatie is uitsluitend bedoeld voor educatief gebruik.</a:t>
            </a:r>
            <a:endParaRPr lang="nl-NL" sz="1200" i="1"/>
          </a:p>
        </p:txBody>
      </p:sp>
      <p:pic>
        <p:nvPicPr>
          <p:cNvPr id="6" name="Afbeelding 5" descr="Database - Overview, Roles and Components, DBMS">
            <a:extLst>
              <a:ext uri="{FF2B5EF4-FFF2-40B4-BE49-F238E27FC236}">
                <a16:creationId xmlns:a16="http://schemas.microsoft.com/office/drawing/2014/main" id="{00E33693-A3BD-A5DB-9617-7C34F7DDD589}"/>
              </a:ext>
            </a:extLst>
          </p:cNvPr>
          <p:cNvPicPr>
            <a:picLocks noChangeAspect="1"/>
          </p:cNvPicPr>
          <p:nvPr/>
        </p:nvPicPr>
        <p:blipFill>
          <a:blip r:embed="rId3"/>
          <a:srcRect l="8324" r="17815" b="-1"/>
          <a:stretch>
            <a:fillRect/>
          </a:stretch>
        </p:blipFill>
        <p:spPr>
          <a:xfrm>
            <a:off x="-1752" y="1"/>
            <a:ext cx="6723681" cy="6858000"/>
          </a:xfrm>
          <a:prstGeom prst="rect">
            <a:avLst/>
          </a:prstGeom>
        </p:spPr>
      </p:pic>
    </p:spTree>
    <p:extLst>
      <p:ext uri="{BB962C8B-B14F-4D97-AF65-F5344CB8AC3E}">
        <p14:creationId xmlns:p14="http://schemas.microsoft.com/office/powerpoint/2010/main" val="229799067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2C37D9-25D7-80C1-D1D2-BAAF73157DCF}"/>
              </a:ext>
            </a:extLst>
          </p:cNvPr>
          <p:cNvSpPr>
            <a:spLocks noGrp="1"/>
          </p:cNvSpPr>
          <p:nvPr>
            <p:ph type="title"/>
          </p:nvPr>
        </p:nvSpPr>
        <p:spPr/>
        <p:txBody>
          <a:bodyPr/>
          <a:lstStyle/>
          <a:p>
            <a:r>
              <a:rPr lang="nl-NL"/>
              <a:t>Overzicht</a:t>
            </a:r>
          </a:p>
        </p:txBody>
      </p:sp>
      <p:pic>
        <p:nvPicPr>
          <p:cNvPr id="3" name="Afbeelding 2" descr="Client-Server Architecture | EN.601.421: Object-Oriented Software  Engineering (OOSE)">
            <a:extLst>
              <a:ext uri="{FF2B5EF4-FFF2-40B4-BE49-F238E27FC236}">
                <a16:creationId xmlns:a16="http://schemas.microsoft.com/office/drawing/2014/main" id="{D5D76B4E-88AC-CAC6-27A9-85E752F31FB6}"/>
              </a:ext>
            </a:extLst>
          </p:cNvPr>
          <p:cNvPicPr>
            <a:picLocks noChangeAspect="1"/>
          </p:cNvPicPr>
          <p:nvPr/>
        </p:nvPicPr>
        <p:blipFill>
          <a:blip r:embed="rId2"/>
          <a:stretch>
            <a:fillRect/>
          </a:stretch>
        </p:blipFill>
        <p:spPr>
          <a:xfrm>
            <a:off x="1990725" y="1762125"/>
            <a:ext cx="8210550" cy="3333750"/>
          </a:xfrm>
          <a:prstGeom prst="rect">
            <a:avLst/>
          </a:prstGeom>
        </p:spPr>
      </p:pic>
      <p:pic>
        <p:nvPicPr>
          <p:cNvPr id="4" name="Afbeelding 3" descr="Free Setting Database Icon - Download SVG, PNG for Seo &amp; Web | IconScout">
            <a:extLst>
              <a:ext uri="{FF2B5EF4-FFF2-40B4-BE49-F238E27FC236}">
                <a16:creationId xmlns:a16="http://schemas.microsoft.com/office/drawing/2014/main" id="{71ED6C40-0B3F-FC6D-C0EB-195BDB0F615F}"/>
              </a:ext>
            </a:extLst>
          </p:cNvPr>
          <p:cNvPicPr>
            <a:picLocks noChangeAspect="1"/>
          </p:cNvPicPr>
          <p:nvPr/>
        </p:nvPicPr>
        <p:blipFill>
          <a:blip r:embed="rId3"/>
          <a:stretch>
            <a:fillRect/>
          </a:stretch>
        </p:blipFill>
        <p:spPr>
          <a:xfrm>
            <a:off x="8930821" y="357370"/>
            <a:ext cx="938894" cy="899976"/>
          </a:xfrm>
          <a:prstGeom prst="rect">
            <a:avLst/>
          </a:prstGeom>
        </p:spPr>
      </p:pic>
      <p:cxnSp>
        <p:nvCxnSpPr>
          <p:cNvPr id="5" name="Rechte verbindingslijn met pijl 4">
            <a:extLst>
              <a:ext uri="{FF2B5EF4-FFF2-40B4-BE49-F238E27FC236}">
                <a16:creationId xmlns:a16="http://schemas.microsoft.com/office/drawing/2014/main" id="{319B8C7F-7C1B-6170-932F-2EFE6E4F61D1}"/>
              </a:ext>
            </a:extLst>
          </p:cNvPr>
          <p:cNvCxnSpPr/>
          <p:nvPr/>
        </p:nvCxnSpPr>
        <p:spPr>
          <a:xfrm>
            <a:off x="9369135" y="1359477"/>
            <a:ext cx="8659" cy="320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19910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BA19FEF-677B-9CCD-3A5A-C2AB3F8C9420}"/>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Wat is een database? </a:t>
            </a:r>
          </a:p>
        </p:txBody>
      </p:sp>
      <p:sp>
        <p:nvSpPr>
          <p:cNvPr id="5" name="Tekstvak 4">
            <a:extLst>
              <a:ext uri="{FF2B5EF4-FFF2-40B4-BE49-F238E27FC236}">
                <a16:creationId xmlns:a16="http://schemas.microsoft.com/office/drawing/2014/main" id="{A88AF0A4-C457-8D7A-4DA8-D65DD99D937D}"/>
              </a:ext>
            </a:extLst>
          </p:cNvPr>
          <p:cNvSpPr txBox="1"/>
          <p:nvPr/>
        </p:nvSpPr>
        <p:spPr>
          <a:xfrm>
            <a:off x="510074" y="4003563"/>
            <a:ext cx="3348297" cy="1184584"/>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a:lnSpc>
                <a:spcPct val="110000"/>
              </a:lnSpc>
              <a:spcBef>
                <a:spcPts val="1000"/>
              </a:spcBef>
            </a:pPr>
            <a:r>
              <a:rPr lang="en-US" sz="1500" b="1"/>
              <a:t>Gegevens op gestructureerde wijze opslaan om ze op een later moment te bewerken en te raadplegen.</a:t>
            </a:r>
          </a:p>
        </p:txBody>
      </p:sp>
      <p:pic>
        <p:nvPicPr>
          <p:cNvPr id="6" name="Afbeelding 5" descr="Database schema design 101 for relational databases — PlanetScale">
            <a:extLst>
              <a:ext uri="{FF2B5EF4-FFF2-40B4-BE49-F238E27FC236}">
                <a16:creationId xmlns:a16="http://schemas.microsoft.com/office/drawing/2014/main" id="{6866F84F-C5CE-18FA-D341-90A73C6DA8E4}"/>
              </a:ext>
            </a:extLst>
          </p:cNvPr>
          <p:cNvPicPr>
            <a:picLocks noChangeAspect="1"/>
          </p:cNvPicPr>
          <p:nvPr/>
        </p:nvPicPr>
        <p:blipFill>
          <a:blip r:embed="rId2"/>
          <a:stretch>
            <a:fillRect/>
          </a:stretch>
        </p:blipFill>
        <p:spPr>
          <a:xfrm>
            <a:off x="4344099" y="441433"/>
            <a:ext cx="7390808" cy="5968076"/>
          </a:xfrm>
          <a:prstGeom prst="rect">
            <a:avLst/>
          </a:prstGeom>
        </p:spPr>
      </p:pic>
    </p:spTree>
    <p:extLst>
      <p:ext uri="{BB962C8B-B14F-4D97-AF65-F5344CB8AC3E}">
        <p14:creationId xmlns:p14="http://schemas.microsoft.com/office/powerpoint/2010/main" val="253835808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23D7D2-51B9-E266-8647-9C60159FC211}"/>
            </a:ext>
          </a:extLst>
        </p:cNvPr>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405A723-57A2-4D2A-06E9-E87B1B3DF7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0E4430B-F00D-EACC-1971-3FF50A78890B}"/>
              </a:ext>
            </a:extLst>
          </p:cNvPr>
          <p:cNvSpPr>
            <a:spLocks noGrp="1"/>
          </p:cNvSpPr>
          <p:nvPr>
            <p:ph type="title"/>
          </p:nvPr>
        </p:nvSpPr>
        <p:spPr>
          <a:xfrm>
            <a:off x="352030" y="421704"/>
            <a:ext cx="8100919" cy="898378"/>
          </a:xfrm>
        </p:spPr>
        <p:txBody>
          <a:bodyPr vert="horz" lIns="91440" tIns="45720" rIns="91440" bIns="45720" rtlCol="0" anchor="b">
            <a:normAutofit/>
          </a:bodyPr>
          <a:lstStyle/>
          <a:p>
            <a:r>
              <a:rPr lang="en-US" sz="4000"/>
              <a:t>MySQL/MariaDB</a:t>
            </a:r>
            <a:endParaRPr lang="nl-NL"/>
          </a:p>
        </p:txBody>
      </p:sp>
      <p:sp>
        <p:nvSpPr>
          <p:cNvPr id="5" name="Tekstvak 4">
            <a:extLst>
              <a:ext uri="{FF2B5EF4-FFF2-40B4-BE49-F238E27FC236}">
                <a16:creationId xmlns:a16="http://schemas.microsoft.com/office/drawing/2014/main" id="{0DE699CA-0174-B644-BE7C-00FC52DF6156}"/>
              </a:ext>
            </a:extLst>
          </p:cNvPr>
          <p:cNvSpPr txBox="1"/>
          <p:nvPr/>
        </p:nvSpPr>
        <p:spPr>
          <a:xfrm>
            <a:off x="352030" y="1418407"/>
            <a:ext cx="9523319" cy="2990806"/>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85750">
              <a:lnSpc>
                <a:spcPct val="110000"/>
              </a:lnSpc>
              <a:spcBef>
                <a:spcPts val="1000"/>
              </a:spcBef>
              <a:buAutoNum type="arabicParenR"/>
            </a:pPr>
            <a:r>
              <a:rPr lang="en-US" sz="1500" b="1"/>
              <a:t>Vaak </a:t>
            </a:r>
            <a:r>
              <a:rPr lang="en-US" sz="1500" b="1" err="1"/>
              <a:t>gebruikt</a:t>
            </a:r>
            <a:r>
              <a:rPr lang="en-US" sz="1500" b="1"/>
              <a:t> in </a:t>
            </a:r>
            <a:r>
              <a:rPr lang="en-US" sz="1500" b="1" err="1"/>
              <a:t>combinatie</a:t>
            </a:r>
            <a:r>
              <a:rPr lang="en-US" sz="1500" b="1"/>
              <a:t> met PHP</a:t>
            </a:r>
            <a:endParaRPr lang="nl-NL"/>
          </a:p>
          <a:p>
            <a:pPr marL="285750" indent="-285750">
              <a:lnSpc>
                <a:spcPct val="110000"/>
              </a:lnSpc>
              <a:spcBef>
                <a:spcPts val="1000"/>
              </a:spcBef>
              <a:buAutoNum type="arabicParenR"/>
            </a:pPr>
            <a:r>
              <a:rPr lang="en-US" sz="1500" b="1"/>
              <a:t>SQL</a:t>
            </a:r>
          </a:p>
          <a:p>
            <a:pPr>
              <a:lnSpc>
                <a:spcPct val="110000"/>
              </a:lnSpc>
              <a:spcBef>
                <a:spcPts val="1000"/>
              </a:spcBef>
            </a:pPr>
            <a:endParaRPr lang="en-US" sz="1500" b="1"/>
          </a:p>
          <a:p>
            <a:pPr>
              <a:lnSpc>
                <a:spcPct val="110000"/>
              </a:lnSpc>
              <a:spcBef>
                <a:spcPts val="1000"/>
              </a:spcBef>
            </a:pPr>
            <a:r>
              <a:rPr lang="en-US" sz="1500"/>
              <a:t>Voorbeelden van SQL Queries:</a:t>
            </a:r>
          </a:p>
          <a:p>
            <a:pPr marL="342900" indent="-342900">
              <a:lnSpc>
                <a:spcPct val="110000"/>
              </a:lnSpc>
              <a:spcBef>
                <a:spcPts val="1000"/>
              </a:spcBef>
              <a:buAutoNum type="arabicParenR"/>
            </a:pPr>
            <a:r>
              <a:rPr lang="en-US" sz="1500"/>
              <a:t>SELECT </a:t>
            </a:r>
            <a:r>
              <a:rPr lang="en-US" sz="1500" err="1"/>
              <a:t>firstname</a:t>
            </a:r>
            <a:r>
              <a:rPr lang="en-US" sz="1500"/>
              <a:t>, </a:t>
            </a:r>
            <a:r>
              <a:rPr lang="en-US" sz="1500" err="1"/>
              <a:t>lastname</a:t>
            </a:r>
            <a:r>
              <a:rPr lang="en-US" sz="1500"/>
              <a:t> FROM `users`;</a:t>
            </a:r>
          </a:p>
          <a:p>
            <a:pPr marL="342900" indent="-342900">
              <a:lnSpc>
                <a:spcPct val="110000"/>
              </a:lnSpc>
              <a:spcBef>
                <a:spcPts val="1000"/>
              </a:spcBef>
              <a:buAutoNum type="arabicParenR"/>
            </a:pPr>
            <a:r>
              <a:rPr lang="en-US" sz="1500"/>
              <a:t>UPDATE `users` SET </a:t>
            </a:r>
            <a:r>
              <a:rPr lang="en-US" sz="1500" err="1"/>
              <a:t>password_remember_token</a:t>
            </a:r>
            <a:r>
              <a:rPr lang="en-US" sz="1500"/>
              <a:t> = ? WHERE id = ?;</a:t>
            </a:r>
          </a:p>
          <a:p>
            <a:pPr marL="342900" indent="-342900">
              <a:lnSpc>
                <a:spcPct val="110000"/>
              </a:lnSpc>
              <a:spcBef>
                <a:spcPts val="1000"/>
              </a:spcBef>
              <a:buAutoNum type="arabicParenR"/>
            </a:pPr>
            <a:r>
              <a:rPr lang="en-US" sz="1500"/>
              <a:t>SELECT * FROM `pupils` WHERE </a:t>
            </a:r>
            <a:r>
              <a:rPr lang="en-US" sz="1500" err="1"/>
              <a:t>school_org</a:t>
            </a:r>
            <a:r>
              <a:rPr lang="en-US" sz="1500"/>
              <a:t> = '</a:t>
            </a:r>
            <a:r>
              <a:rPr lang="en-US" sz="1500" err="1"/>
              <a:t>Sjabi</a:t>
            </a:r>
            <a:r>
              <a:rPr lang="en-US" sz="1500"/>
              <a:t>';</a:t>
            </a:r>
          </a:p>
        </p:txBody>
      </p:sp>
      <p:pic>
        <p:nvPicPr>
          <p:cNvPr id="3" name="Afbeelding 2" descr="MySQL vs. MariaDB: What Are the Main Differences Between Them">
            <a:extLst>
              <a:ext uri="{FF2B5EF4-FFF2-40B4-BE49-F238E27FC236}">
                <a16:creationId xmlns:a16="http://schemas.microsoft.com/office/drawing/2014/main" id="{A02F9063-CA9A-F806-A7C3-6AF88FF31C14}"/>
              </a:ext>
            </a:extLst>
          </p:cNvPr>
          <p:cNvPicPr>
            <a:picLocks noChangeAspect="1"/>
          </p:cNvPicPr>
          <p:nvPr/>
        </p:nvPicPr>
        <p:blipFill>
          <a:blip r:embed="rId2"/>
          <a:stretch>
            <a:fillRect/>
          </a:stretch>
        </p:blipFill>
        <p:spPr>
          <a:xfrm>
            <a:off x="6525491" y="86096"/>
            <a:ext cx="4915394" cy="2465119"/>
          </a:xfrm>
          <a:prstGeom prst="rect">
            <a:avLst/>
          </a:prstGeom>
        </p:spPr>
      </p:pic>
    </p:spTree>
    <p:extLst>
      <p:ext uri="{BB962C8B-B14F-4D97-AF65-F5344CB8AC3E}">
        <p14:creationId xmlns:p14="http://schemas.microsoft.com/office/powerpoint/2010/main" val="971032140"/>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AED4D5-D0DC-1C48-DF0D-B84AAD47B5D3}"/>
            </a:ext>
          </a:extLst>
        </p:cNvPr>
        <p:cNvGrpSpPr/>
        <p:nvPr/>
      </p:nvGrpSpPr>
      <p:grpSpPr>
        <a:xfrm>
          <a:off x="0" y="0"/>
          <a:ext cx="0" cy="0"/>
          <a:chOff x="0" y="0"/>
          <a:chExt cx="0" cy="0"/>
        </a:xfrm>
      </p:grpSpPr>
      <p:sp useBgFill="1">
        <p:nvSpPr>
          <p:cNvPr id="27" name="Rectangle 18">
            <a:extLst>
              <a:ext uri="{FF2B5EF4-FFF2-40B4-BE49-F238E27FC236}">
                <a16:creationId xmlns:a16="http://schemas.microsoft.com/office/drawing/2014/main" id="{8207B083-EAC0-A5BB-C369-C9589EC7F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4F90985E-7BD5-9E6D-F300-29A2F6A21EEC}"/>
              </a:ext>
            </a:extLst>
          </p:cNvPr>
          <p:cNvSpPr>
            <a:spLocks noGrp="1"/>
          </p:cNvSpPr>
          <p:nvPr>
            <p:ph type="title"/>
          </p:nvPr>
        </p:nvSpPr>
        <p:spPr>
          <a:xfrm>
            <a:off x="614677" y="603504"/>
            <a:ext cx="10872216" cy="1527048"/>
          </a:xfrm>
        </p:spPr>
        <p:txBody>
          <a:bodyPr vert="horz" lIns="91440" tIns="45720" rIns="91440" bIns="45720" rtlCol="0" anchor="b">
            <a:normAutofit/>
          </a:bodyPr>
          <a:lstStyle/>
          <a:p>
            <a:r>
              <a:rPr lang="en-US" b="1" kern="1200">
                <a:solidFill>
                  <a:schemeClr val="tx1"/>
                </a:solidFill>
                <a:latin typeface="+mj-lt"/>
                <a:ea typeface="+mj-ea"/>
                <a:cs typeface="+mj-cs"/>
              </a:rPr>
              <a:t>PhpMyAdmin (PMA)</a:t>
            </a:r>
          </a:p>
        </p:txBody>
      </p:sp>
      <p:pic>
        <p:nvPicPr>
          <p:cNvPr id="3" name="Afbeelding 2" descr="phpMyAdmin">
            <a:extLst>
              <a:ext uri="{FF2B5EF4-FFF2-40B4-BE49-F238E27FC236}">
                <a16:creationId xmlns:a16="http://schemas.microsoft.com/office/drawing/2014/main" id="{16DE8FFD-7D47-826D-CB3F-6CCD58F0B1BA}"/>
              </a:ext>
            </a:extLst>
          </p:cNvPr>
          <p:cNvPicPr>
            <a:picLocks noChangeAspect="1"/>
          </p:cNvPicPr>
          <p:nvPr/>
        </p:nvPicPr>
        <p:blipFill>
          <a:blip r:embed="rId2"/>
          <a:stretch>
            <a:fillRect/>
          </a:stretch>
        </p:blipFill>
        <p:spPr>
          <a:xfrm>
            <a:off x="614678" y="2441274"/>
            <a:ext cx="5173647" cy="3233529"/>
          </a:xfrm>
          <a:prstGeom prst="rect">
            <a:avLst/>
          </a:prstGeom>
        </p:spPr>
      </p:pic>
      <p:sp>
        <p:nvSpPr>
          <p:cNvPr id="5" name="Tekstvak 4">
            <a:extLst>
              <a:ext uri="{FF2B5EF4-FFF2-40B4-BE49-F238E27FC236}">
                <a16:creationId xmlns:a16="http://schemas.microsoft.com/office/drawing/2014/main" id="{5B447A70-E1B3-A439-0AD6-B048055D65C4}"/>
              </a:ext>
            </a:extLst>
          </p:cNvPr>
          <p:cNvSpPr txBox="1"/>
          <p:nvPr/>
        </p:nvSpPr>
        <p:spPr>
          <a:xfrm>
            <a:off x="6096000" y="2441273"/>
            <a:ext cx="5385816" cy="3817942"/>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28600">
              <a:lnSpc>
                <a:spcPct val="120000"/>
              </a:lnSpc>
              <a:spcBef>
                <a:spcPts val="1000"/>
              </a:spcBef>
              <a:buFont typeface="Arial" panose="020B0604020202020204" pitchFamily="34" charset="0"/>
              <a:buChar char="•"/>
            </a:pPr>
            <a:r>
              <a:rPr lang="en-US" b="1"/>
              <a:t>Handig programma om MySQL/MariaDB databases te beheren</a:t>
            </a:r>
          </a:p>
          <a:p>
            <a:pPr marL="285750" indent="-228600">
              <a:lnSpc>
                <a:spcPct val="120000"/>
              </a:lnSpc>
              <a:spcBef>
                <a:spcPts val="1000"/>
              </a:spcBef>
              <a:buFont typeface="Arial" panose="020B0604020202020204" pitchFamily="34" charset="0"/>
              <a:buChar char="•"/>
            </a:pPr>
            <a:r>
              <a:rPr lang="en-US" b="1"/>
              <a:t>Ingebouwd in XAMPP</a:t>
            </a:r>
          </a:p>
          <a:p>
            <a:pPr marL="285750" indent="-228600">
              <a:lnSpc>
                <a:spcPct val="120000"/>
              </a:lnSpc>
              <a:spcBef>
                <a:spcPts val="1000"/>
              </a:spcBef>
              <a:buFont typeface="Arial" panose="020B0604020202020204" pitchFamily="34" charset="0"/>
              <a:buChar char="•"/>
            </a:pPr>
            <a:r>
              <a:rPr lang="en-US" b="1"/>
              <a:t>Openen via: "localhost:8000/phpmyadmin"</a:t>
            </a:r>
          </a:p>
        </p:txBody>
      </p:sp>
    </p:spTree>
    <p:extLst>
      <p:ext uri="{BB962C8B-B14F-4D97-AF65-F5344CB8AC3E}">
        <p14:creationId xmlns:p14="http://schemas.microsoft.com/office/powerpoint/2010/main" val="3947084573"/>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A257EA-5259-9835-6FC2-AA30A5BB8D00}"/>
            </a:ext>
          </a:extLst>
        </p:cNvPr>
        <p:cNvGrpSpPr/>
        <p:nvPr/>
      </p:nvGrpSpPr>
      <p:grpSpPr>
        <a:xfrm>
          <a:off x="0" y="0"/>
          <a:ext cx="0" cy="0"/>
          <a:chOff x="0" y="0"/>
          <a:chExt cx="0" cy="0"/>
        </a:xfrm>
      </p:grpSpPr>
      <p:sp useBgFill="1">
        <p:nvSpPr>
          <p:cNvPr id="27" name="Rectangle 18">
            <a:extLst>
              <a:ext uri="{FF2B5EF4-FFF2-40B4-BE49-F238E27FC236}">
                <a16:creationId xmlns:a16="http://schemas.microsoft.com/office/drawing/2014/main" id="{B4FB899D-4EBD-4586-DF67-C512E30194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26475FD5-D9EE-AAC3-A596-395E165CB6FC}"/>
              </a:ext>
            </a:extLst>
          </p:cNvPr>
          <p:cNvSpPr>
            <a:spLocks noGrp="1"/>
          </p:cNvSpPr>
          <p:nvPr>
            <p:ph type="title"/>
          </p:nvPr>
        </p:nvSpPr>
        <p:spPr>
          <a:xfrm>
            <a:off x="614677" y="603504"/>
            <a:ext cx="10866572" cy="855360"/>
          </a:xfrm>
        </p:spPr>
        <p:txBody>
          <a:bodyPr vert="horz" lIns="91440" tIns="45720" rIns="91440" bIns="45720" rtlCol="0" anchor="b">
            <a:normAutofit fontScale="90000"/>
          </a:bodyPr>
          <a:lstStyle/>
          <a:p>
            <a:r>
              <a:rPr lang="en-US"/>
              <a:t>Prepared Statements met Prepared Data Objects (PDO)</a:t>
            </a:r>
            <a:endParaRPr lang="nl-NL">
              <a:ea typeface="+mj-ea"/>
              <a:cs typeface="+mj-cs"/>
            </a:endParaRPr>
          </a:p>
        </p:txBody>
      </p:sp>
      <p:sp>
        <p:nvSpPr>
          <p:cNvPr id="3" name="Tekstvak 2">
            <a:extLst>
              <a:ext uri="{FF2B5EF4-FFF2-40B4-BE49-F238E27FC236}">
                <a16:creationId xmlns:a16="http://schemas.microsoft.com/office/drawing/2014/main" id="{C90867B4-78A5-491D-5085-13D206A73C8E}"/>
              </a:ext>
            </a:extLst>
          </p:cNvPr>
          <p:cNvSpPr txBox="1"/>
          <p:nvPr/>
        </p:nvSpPr>
        <p:spPr>
          <a:xfrm>
            <a:off x="474024" y="1609705"/>
            <a:ext cx="9334027"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a:t>Manier om te communiceren met dé echte database server (=driver):</a:t>
            </a:r>
          </a:p>
          <a:p>
            <a:pPr marL="285750" indent="-285750">
              <a:buFont typeface="Calibri"/>
              <a:buChar char="-"/>
            </a:pPr>
            <a:r>
              <a:rPr lang="nl-NL"/>
              <a:t>  ° Data opvragen</a:t>
            </a:r>
          </a:p>
          <a:p>
            <a:pPr marL="285750" indent="-285750">
              <a:buFont typeface="Calibri"/>
              <a:buChar char="-"/>
            </a:pPr>
            <a:r>
              <a:rPr lang="nl-NL"/>
              <a:t>  ° Data updaten</a:t>
            </a:r>
          </a:p>
          <a:p>
            <a:pPr marL="285750" indent="-285750">
              <a:buFont typeface="Calibri"/>
              <a:buChar char="-"/>
            </a:pPr>
            <a:r>
              <a:rPr lang="nl-NL"/>
              <a:t>  ° Batch update/delete (grote hoeveelheid in één keer)</a:t>
            </a:r>
          </a:p>
          <a:p>
            <a:pPr marL="285750" indent="-285750">
              <a:buFont typeface="Calibri"/>
              <a:buChar char="-"/>
            </a:pPr>
            <a:endParaRPr lang="nl-NL"/>
          </a:p>
          <a:p>
            <a:pPr marL="285750" indent="-285750">
              <a:buFont typeface="Calibri"/>
              <a:buChar char="-"/>
            </a:pPr>
            <a:r>
              <a:rPr lang="nl-NL"/>
              <a:t>Veel voordelen: o.a. betere efficiëntie van de query, veilige parameter-binding, sneller herhaaldelijk uitvoeren, minder overhead op database server</a:t>
            </a:r>
          </a:p>
        </p:txBody>
      </p:sp>
      <p:sp>
        <p:nvSpPr>
          <p:cNvPr id="4" name="Tekstvak 3">
            <a:extLst>
              <a:ext uri="{FF2B5EF4-FFF2-40B4-BE49-F238E27FC236}">
                <a16:creationId xmlns:a16="http://schemas.microsoft.com/office/drawing/2014/main" id="{0A92A93F-75D0-1B63-692F-48F517A28967}"/>
              </a:ext>
            </a:extLst>
          </p:cNvPr>
          <p:cNvSpPr txBox="1"/>
          <p:nvPr/>
        </p:nvSpPr>
        <p:spPr>
          <a:xfrm>
            <a:off x="736022" y="4043795"/>
            <a:ext cx="4727863"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PDO doorloopt stapsgewijs:</a:t>
            </a:r>
          </a:p>
          <a:p>
            <a:pPr marL="285750" indent="-285750">
              <a:buFont typeface="Calibri"/>
              <a:buChar char="-"/>
            </a:pPr>
            <a:r>
              <a:rPr lang="nl-NL" err="1"/>
              <a:t>Prepare</a:t>
            </a:r>
          </a:p>
          <a:p>
            <a:pPr marL="285750" indent="-285750">
              <a:buFont typeface="Calibri"/>
              <a:buChar char="-"/>
            </a:pPr>
            <a:r>
              <a:rPr lang="nl-NL"/>
              <a:t>Bind</a:t>
            </a:r>
          </a:p>
          <a:p>
            <a:pPr marL="285750" indent="-285750">
              <a:buFont typeface="Calibri"/>
              <a:buChar char="-"/>
            </a:pPr>
            <a:r>
              <a:rPr lang="nl-NL" err="1"/>
              <a:t>Execute</a:t>
            </a:r>
          </a:p>
          <a:p>
            <a:pPr marL="285750" indent="-285750">
              <a:buFont typeface="Calibri"/>
              <a:buChar char="-"/>
            </a:pPr>
            <a:r>
              <a:rPr lang="nl-NL"/>
              <a:t>Optioneel: </a:t>
            </a:r>
            <a:r>
              <a:rPr lang="nl-NL" err="1"/>
              <a:t>Fetch</a:t>
            </a:r>
            <a:r>
              <a:rPr lang="nl-NL"/>
              <a:t> / </a:t>
            </a:r>
            <a:r>
              <a:rPr lang="nl-NL" err="1"/>
              <a:t>FetchAll</a:t>
            </a:r>
          </a:p>
        </p:txBody>
      </p:sp>
    </p:spTree>
    <p:extLst>
      <p:ext uri="{BB962C8B-B14F-4D97-AF65-F5344CB8AC3E}">
        <p14:creationId xmlns:p14="http://schemas.microsoft.com/office/powerpoint/2010/main" val="14700378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924516-A969-3E76-2382-FA65B5363A0D}"/>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3A039E1-ED08-C9FA-BDC4-4793D8D0031A}"/>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PDO: Ophalen van één rij</a:t>
            </a:r>
          </a:p>
        </p:txBody>
      </p:sp>
      <p:pic>
        <p:nvPicPr>
          <p:cNvPr id="4" name="Afbeelding 3" descr="Afbeelding met tekst, schermopname, Lettertype, nummer&#10;&#10;Door AI gegenereerde inhoud is mogelijk onjuist.">
            <a:extLst>
              <a:ext uri="{FF2B5EF4-FFF2-40B4-BE49-F238E27FC236}">
                <a16:creationId xmlns:a16="http://schemas.microsoft.com/office/drawing/2014/main" id="{3BF1E549-2032-42E7-457E-D7FA680009B6}"/>
              </a:ext>
            </a:extLst>
          </p:cNvPr>
          <p:cNvPicPr>
            <a:picLocks noChangeAspect="1"/>
          </p:cNvPicPr>
          <p:nvPr/>
        </p:nvPicPr>
        <p:blipFill>
          <a:blip r:embed="rId2"/>
          <a:stretch>
            <a:fillRect/>
          </a:stretch>
        </p:blipFill>
        <p:spPr>
          <a:xfrm>
            <a:off x="3999788" y="1911416"/>
            <a:ext cx="8192318" cy="3039398"/>
          </a:xfrm>
          <a:prstGeom prst="rect">
            <a:avLst/>
          </a:prstGeom>
        </p:spPr>
      </p:pic>
    </p:spTree>
    <p:extLst>
      <p:ext uri="{BB962C8B-B14F-4D97-AF65-F5344CB8AC3E}">
        <p14:creationId xmlns:p14="http://schemas.microsoft.com/office/powerpoint/2010/main" val="91176883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55E2B6-0216-5011-892A-498A27B422B9}"/>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5AB5C7EE-A919-646B-4F86-BACCBC52D9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B712D4B0-C8AC-8990-32AD-FE82E681566E}"/>
              </a:ext>
            </a:extLst>
          </p:cNvPr>
          <p:cNvSpPr>
            <a:spLocks noGrp="1"/>
          </p:cNvSpPr>
          <p:nvPr>
            <p:ph type="title"/>
          </p:nvPr>
        </p:nvSpPr>
        <p:spPr>
          <a:xfrm>
            <a:off x="8388642" y="1104181"/>
            <a:ext cx="3406543" cy="2779731"/>
          </a:xfrm>
        </p:spPr>
        <p:txBody>
          <a:bodyPr vert="horz" lIns="91440" tIns="45720" rIns="91440" bIns="45720" rtlCol="0" anchor="b">
            <a:normAutofit/>
          </a:bodyPr>
          <a:lstStyle/>
          <a:p>
            <a:pPr algn="ctr"/>
            <a:r>
              <a:rPr lang="en-US"/>
              <a:t>PDO: </a:t>
            </a:r>
            <a:r>
              <a:rPr lang="en-US" err="1"/>
              <a:t>Ophalen</a:t>
            </a:r>
            <a:r>
              <a:rPr lang="en-US"/>
              <a:t> van </a:t>
            </a:r>
            <a:r>
              <a:rPr lang="en-US" err="1"/>
              <a:t>meerdere</a:t>
            </a:r>
            <a:r>
              <a:rPr lang="en-US"/>
              <a:t> </a:t>
            </a:r>
            <a:r>
              <a:rPr lang="en-US" err="1"/>
              <a:t>rijen</a:t>
            </a:r>
          </a:p>
        </p:txBody>
      </p:sp>
      <p:pic>
        <p:nvPicPr>
          <p:cNvPr id="3" name="Afbeelding 2" descr="Afbeelding met tekst, schermopname, Lettertype&#10;&#10;Door AI gegenereerde inhoud is mogelijk onjuist.">
            <a:extLst>
              <a:ext uri="{FF2B5EF4-FFF2-40B4-BE49-F238E27FC236}">
                <a16:creationId xmlns:a16="http://schemas.microsoft.com/office/drawing/2014/main" id="{B8F642D3-5B7C-253E-4D8D-C56A5ED04FB7}"/>
              </a:ext>
            </a:extLst>
          </p:cNvPr>
          <p:cNvPicPr>
            <a:picLocks noChangeAspect="1"/>
          </p:cNvPicPr>
          <p:nvPr/>
        </p:nvPicPr>
        <p:blipFill>
          <a:blip r:embed="rId2"/>
          <a:stretch>
            <a:fillRect/>
          </a:stretch>
        </p:blipFill>
        <p:spPr>
          <a:xfrm>
            <a:off x="396814" y="662314"/>
            <a:ext cx="7712015" cy="5533371"/>
          </a:xfrm>
          <a:prstGeom prst="rect">
            <a:avLst/>
          </a:prstGeom>
        </p:spPr>
      </p:pic>
    </p:spTree>
    <p:extLst>
      <p:ext uri="{BB962C8B-B14F-4D97-AF65-F5344CB8AC3E}">
        <p14:creationId xmlns:p14="http://schemas.microsoft.com/office/powerpoint/2010/main" val="252358584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65CCC2-A275-11AA-64E5-9AC68694C422}"/>
            </a:ext>
          </a:extLst>
        </p:cNvPr>
        <p:cNvGrpSpPr/>
        <p:nvPr/>
      </p:nvGrpSpPr>
      <p:grpSpPr>
        <a:xfrm>
          <a:off x="0" y="0"/>
          <a:ext cx="0" cy="0"/>
          <a:chOff x="0" y="0"/>
          <a:chExt cx="0" cy="0"/>
        </a:xfrm>
      </p:grpSpPr>
      <p:sp useBgFill="1">
        <p:nvSpPr>
          <p:cNvPr id="51" name="Rectangle 46">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AEB27F5-03F9-3D8D-F12F-181A3BF460B0}"/>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3400"/>
              <a:t>CRUD</a:t>
            </a:r>
            <a:br>
              <a:rPr lang="en-US" sz="3400"/>
            </a:br>
            <a:br>
              <a:rPr lang="en-US" sz="3400"/>
            </a:br>
            <a:r>
              <a:rPr lang="en-US" sz="3400"/>
              <a:t>Create, Read, Update, Delete</a:t>
            </a:r>
          </a:p>
        </p:txBody>
      </p:sp>
      <p:sp>
        <p:nvSpPr>
          <p:cNvPr id="4" name="Tekstvak 3">
            <a:extLst>
              <a:ext uri="{FF2B5EF4-FFF2-40B4-BE49-F238E27FC236}">
                <a16:creationId xmlns:a16="http://schemas.microsoft.com/office/drawing/2014/main" id="{AE0B9C7B-E610-6AD1-8F19-80F478FDDD51}"/>
              </a:ext>
            </a:extLst>
          </p:cNvPr>
          <p:cNvSpPr txBox="1"/>
          <p:nvPr/>
        </p:nvSpPr>
        <p:spPr>
          <a:xfrm>
            <a:off x="510074" y="4003563"/>
            <a:ext cx="3348297" cy="1184584"/>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a:lnSpc>
                <a:spcPct val="120000"/>
              </a:lnSpc>
              <a:spcBef>
                <a:spcPts val="1000"/>
              </a:spcBef>
            </a:pPr>
            <a:r>
              <a:rPr lang="en-US"/>
              <a:t>Concept van de 4 fundamentele bewerkingen op datastructuren.</a:t>
            </a:r>
          </a:p>
        </p:txBody>
      </p:sp>
      <p:pic>
        <p:nvPicPr>
          <p:cNvPr id="5" name="Afbeelding 4" descr="Afbeelding met tekst, schermopname, Lettertype, software&#10;&#10;Door AI gegenereerde inhoud is mogelijk onjuist.">
            <a:extLst>
              <a:ext uri="{FF2B5EF4-FFF2-40B4-BE49-F238E27FC236}">
                <a16:creationId xmlns:a16="http://schemas.microsoft.com/office/drawing/2014/main" id="{5089DA5B-B9F4-EB8F-285B-D7FF64311258}"/>
              </a:ext>
            </a:extLst>
          </p:cNvPr>
          <p:cNvPicPr>
            <a:picLocks noChangeAspect="1"/>
          </p:cNvPicPr>
          <p:nvPr/>
        </p:nvPicPr>
        <p:blipFill>
          <a:blip r:embed="rId2"/>
          <a:stretch>
            <a:fillRect/>
          </a:stretch>
        </p:blipFill>
        <p:spPr>
          <a:xfrm>
            <a:off x="4344099" y="1781016"/>
            <a:ext cx="7390808" cy="3288910"/>
          </a:xfrm>
          <a:prstGeom prst="rect">
            <a:avLst/>
          </a:prstGeom>
        </p:spPr>
      </p:pic>
    </p:spTree>
    <p:extLst>
      <p:ext uri="{BB962C8B-B14F-4D97-AF65-F5344CB8AC3E}">
        <p14:creationId xmlns:p14="http://schemas.microsoft.com/office/powerpoint/2010/main" val="152132827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A5A999-D668-D122-5CF9-38D4413010EA}"/>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43867147-1C83-BF71-39B0-B590EE7F34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D3AAE6F-D3B0-27F7-FA33-879DE876EFD9}"/>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b="1" kern="1200">
                <a:latin typeface="+mj-lt"/>
                <a:ea typeface="+mj-ea"/>
                <a:cs typeface="+mj-cs"/>
              </a:rPr>
              <a:t>Security: SQL </a:t>
            </a:r>
            <a:r>
              <a:rPr lang="en-US"/>
              <a:t>Injections</a:t>
            </a:r>
            <a:endParaRPr lang="en-US" b="1" kern="1200">
              <a:solidFill>
                <a:schemeClr val="tx1"/>
              </a:solidFill>
              <a:latin typeface="+mj-lt"/>
              <a:ea typeface="+mj-ea"/>
              <a:cs typeface="+mj-cs"/>
            </a:endParaRPr>
          </a:p>
        </p:txBody>
      </p:sp>
      <p:pic>
        <p:nvPicPr>
          <p:cNvPr id="6" name="Afbeelding 5" descr="SQL Injection Attacks — Web-based App Security, Part 4 | Spanning">
            <a:extLst>
              <a:ext uri="{FF2B5EF4-FFF2-40B4-BE49-F238E27FC236}">
                <a16:creationId xmlns:a16="http://schemas.microsoft.com/office/drawing/2014/main" id="{7B16DF80-FFD3-1FC4-A667-0E2145A55D31}"/>
              </a:ext>
            </a:extLst>
          </p:cNvPr>
          <p:cNvPicPr>
            <a:picLocks noChangeAspect="1"/>
          </p:cNvPicPr>
          <p:nvPr/>
        </p:nvPicPr>
        <p:blipFill>
          <a:blip r:embed="rId2"/>
          <a:stretch>
            <a:fillRect/>
          </a:stretch>
        </p:blipFill>
        <p:spPr>
          <a:xfrm>
            <a:off x="827735" y="1792223"/>
            <a:ext cx="5921495" cy="4539813"/>
          </a:xfrm>
          <a:prstGeom prst="rect">
            <a:avLst/>
          </a:prstGeom>
        </p:spPr>
      </p:pic>
      <p:sp>
        <p:nvSpPr>
          <p:cNvPr id="4" name="Tekstvak 3">
            <a:extLst>
              <a:ext uri="{FF2B5EF4-FFF2-40B4-BE49-F238E27FC236}">
                <a16:creationId xmlns:a16="http://schemas.microsoft.com/office/drawing/2014/main" id="{878FE41B-9CC3-6EEF-2A40-11A20FDC9D73}"/>
              </a:ext>
            </a:extLst>
          </p:cNvPr>
          <p:cNvSpPr txBox="1"/>
          <p:nvPr/>
        </p:nvSpPr>
        <p:spPr>
          <a:xfrm>
            <a:off x="7177176" y="1792224"/>
            <a:ext cx="4307527" cy="4517136"/>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28600">
              <a:lnSpc>
                <a:spcPct val="120000"/>
              </a:lnSpc>
              <a:spcBef>
                <a:spcPts val="1000"/>
              </a:spcBef>
              <a:buFont typeface="Arial" panose="020B0604020202020204" pitchFamily="34" charset="0"/>
              <a:buChar char="•"/>
            </a:pPr>
            <a:r>
              <a:rPr lang="en-US"/>
              <a:t>⚠️ </a:t>
            </a:r>
            <a:r>
              <a:rPr lang="en-US" err="1"/>
              <a:t>Gevaarlijke</a:t>
            </a:r>
            <a:r>
              <a:rPr lang="en-US"/>
              <a:t> </a:t>
            </a:r>
            <a:r>
              <a:rPr lang="en-US" err="1"/>
              <a:t>kwetsbaarheid</a:t>
            </a:r>
            <a:r>
              <a:rPr lang="en-US"/>
              <a:t> (vulnerability) </a:t>
            </a:r>
            <a:r>
              <a:rPr lang="en-US" err="1"/>
              <a:t>bij</a:t>
            </a:r>
            <a:r>
              <a:rPr lang="en-US"/>
              <a:t> </a:t>
            </a:r>
            <a:r>
              <a:rPr lang="en-US" err="1"/>
              <a:t>webapplicaties</a:t>
            </a:r>
            <a:endParaRPr lang="en-US"/>
          </a:p>
          <a:p>
            <a:pPr marL="285750" indent="-228600">
              <a:lnSpc>
                <a:spcPct val="120000"/>
              </a:lnSpc>
              <a:spcBef>
                <a:spcPts val="1000"/>
              </a:spcBef>
              <a:buFont typeface="Arial" panose="020B0604020202020204" pitchFamily="34" charset="0"/>
              <a:buChar char="•"/>
            </a:pPr>
            <a:r>
              <a:rPr lang="en-US"/>
              <a:t>Bij </a:t>
            </a:r>
            <a:r>
              <a:rPr lang="en-US" err="1"/>
              <a:t>kwetsbaarheid</a:t>
            </a:r>
            <a:r>
              <a:rPr lang="en-US"/>
              <a:t> </a:t>
            </a:r>
            <a:r>
              <a:rPr lang="en-US" err="1"/>
              <a:t>kan</a:t>
            </a:r>
            <a:r>
              <a:rPr lang="en-US"/>
              <a:t> </a:t>
            </a:r>
            <a:r>
              <a:rPr lang="en-US" err="1"/>
              <a:t>een</a:t>
            </a:r>
            <a:r>
              <a:rPr lang="en-US"/>
              <a:t> </a:t>
            </a:r>
            <a:r>
              <a:rPr lang="en-US" err="1"/>
              <a:t>aanvaller</a:t>
            </a:r>
            <a:r>
              <a:rPr lang="en-US"/>
              <a:t>/hacker </a:t>
            </a:r>
            <a:r>
              <a:rPr lang="en-US" err="1"/>
              <a:t>zich</a:t>
            </a:r>
            <a:r>
              <a:rPr lang="en-US"/>
              <a:t> </a:t>
            </a:r>
            <a:r>
              <a:rPr lang="en-US" err="1"/>
              <a:t>bemoeien</a:t>
            </a:r>
            <a:r>
              <a:rPr lang="en-US"/>
              <a:t> met SQL queries </a:t>
            </a:r>
            <a:r>
              <a:rPr lang="en-US" b="1"/>
              <a:t>VIA de </a:t>
            </a:r>
            <a:r>
              <a:rPr lang="en-US" b="1" err="1"/>
              <a:t>applicatie</a:t>
            </a:r>
            <a:r>
              <a:rPr lang="en-US" b="1"/>
              <a:t> </a:t>
            </a:r>
            <a:r>
              <a:rPr lang="en-US" b="1" err="1"/>
              <a:t>zelf</a:t>
            </a:r>
            <a:endParaRPr lang="en-US" b="1"/>
          </a:p>
          <a:p>
            <a:pPr marL="285750" indent="-228600">
              <a:lnSpc>
                <a:spcPct val="120000"/>
              </a:lnSpc>
              <a:spcBef>
                <a:spcPts val="1000"/>
              </a:spcBef>
              <a:buFont typeface="Arial" panose="020B0604020202020204" pitchFamily="34" charset="0"/>
              <a:buChar char="•"/>
            </a:pPr>
            <a:r>
              <a:rPr lang="en-US"/>
              <a:t>SQL Injection ≠ SQL Server Vulnerability (</a:t>
            </a:r>
            <a:r>
              <a:rPr lang="en-US" err="1"/>
              <a:t>opgenomen</a:t>
            </a:r>
            <a:r>
              <a:rPr lang="en-US"/>
              <a:t> in CVE </a:t>
            </a:r>
            <a:r>
              <a:rPr lang="en-US" err="1"/>
              <a:t>lijsten</a:t>
            </a:r>
            <a:r>
              <a:rPr lang="en-US"/>
              <a:t>)</a:t>
            </a:r>
          </a:p>
        </p:txBody>
      </p:sp>
    </p:spTree>
    <p:extLst>
      <p:ext uri="{BB962C8B-B14F-4D97-AF65-F5344CB8AC3E}">
        <p14:creationId xmlns:p14="http://schemas.microsoft.com/office/powerpoint/2010/main" val="133623967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3503CF-7B12-CBBA-68B3-1AF1F5B952BE}"/>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FB61192C-349D-2053-D31B-E251C82B90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6FF7AD7-98F7-CB2A-7208-F340D1DCD34E}"/>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Hoe </a:t>
            </a:r>
            <a:r>
              <a:rPr lang="en-US" err="1"/>
              <a:t>wordt</a:t>
            </a:r>
            <a:r>
              <a:rPr lang="en-US"/>
              <a:t> SQLi </a:t>
            </a:r>
            <a:r>
              <a:rPr lang="en-US" err="1"/>
              <a:t>uitgevoerd</a:t>
            </a:r>
            <a:r>
              <a:rPr lang="en-US"/>
              <a:t>?</a:t>
            </a:r>
          </a:p>
        </p:txBody>
      </p:sp>
      <p:sp>
        <p:nvSpPr>
          <p:cNvPr id="5" name="Tekstvak 4">
            <a:extLst>
              <a:ext uri="{FF2B5EF4-FFF2-40B4-BE49-F238E27FC236}">
                <a16:creationId xmlns:a16="http://schemas.microsoft.com/office/drawing/2014/main" id="{DB7C3D45-F3A6-5F64-A162-9A1DE0DC9DFA}"/>
              </a:ext>
            </a:extLst>
          </p:cNvPr>
          <p:cNvSpPr txBox="1"/>
          <p:nvPr/>
        </p:nvSpPr>
        <p:spPr>
          <a:xfrm>
            <a:off x="543152" y="1313440"/>
            <a:ext cx="11200685" cy="31393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a:ea typeface="+mn-lt"/>
                <a:cs typeface="+mn-lt"/>
              </a:rPr>
              <a:t>Slecht beveiligde website accepteert ongefilterde invoer (=kwetsbaar voor </a:t>
            </a:r>
            <a:r>
              <a:rPr lang="nl-NL" err="1">
                <a:ea typeface="+mn-lt"/>
                <a:cs typeface="+mn-lt"/>
              </a:rPr>
              <a:t>SQLi</a:t>
            </a:r>
            <a:r>
              <a:rPr lang="nl-NL">
                <a:ea typeface="+mn-lt"/>
                <a:cs typeface="+mn-lt"/>
              </a:rPr>
              <a:t>)</a:t>
            </a:r>
          </a:p>
          <a:p>
            <a:pPr marL="285750" indent="-285750">
              <a:buFont typeface="Calibri"/>
              <a:buChar char="-"/>
            </a:pPr>
            <a:endParaRPr lang="nl-NL">
              <a:ea typeface="+mn-lt"/>
              <a:cs typeface="+mn-lt"/>
            </a:endParaRPr>
          </a:p>
          <a:p>
            <a:pPr marL="285750" indent="-285750">
              <a:buFont typeface="Calibri"/>
              <a:buChar char="-"/>
            </a:pPr>
            <a:r>
              <a:rPr lang="nl-NL">
                <a:ea typeface="+mn-lt"/>
                <a:cs typeface="+mn-lt"/>
              </a:rPr>
              <a:t>Een aanvaller/hacker maakt een zorgvuldig samengesteld stuk tekst (input) in gebruikersinvoer </a:t>
            </a:r>
          </a:p>
          <a:p>
            <a:pPr marL="285750" indent="-285750">
              <a:buFont typeface="Calibri"/>
              <a:buChar char="-"/>
            </a:pPr>
            <a:endParaRPr lang="nl-NL">
              <a:ea typeface="+mn-lt"/>
              <a:cs typeface="+mn-lt"/>
            </a:endParaRPr>
          </a:p>
          <a:p>
            <a:pPr marL="285750" indent="-285750">
              <a:buFont typeface="Calibri"/>
              <a:buChar char="-"/>
            </a:pPr>
            <a:r>
              <a:rPr lang="nl-NL">
                <a:ea typeface="+mn-lt"/>
                <a:cs typeface="+mn-lt"/>
              </a:rPr>
              <a:t>Die tekst breekt de bestaande SQL-query en voegt een kwaadaardige opdracht toe</a:t>
            </a:r>
            <a:endParaRPr lang="nl-NL"/>
          </a:p>
          <a:p>
            <a:endParaRPr lang="nl-NL"/>
          </a:p>
          <a:p>
            <a:pPr marL="285750" indent="-285750">
              <a:buFont typeface="Calibri"/>
              <a:buChar char="-"/>
            </a:pPr>
            <a:r>
              <a:rPr lang="nl-NL"/>
              <a:t>Resultaat: ongewenste toegang tot gegevens (data-lekken), manipulatie of volledige controle over de database</a:t>
            </a:r>
          </a:p>
          <a:p>
            <a:endParaRPr lang="nl-NL"/>
          </a:p>
          <a:p>
            <a:pPr marL="285750" indent="-285750">
              <a:buFont typeface="Calibri"/>
              <a:buChar char="-"/>
            </a:pPr>
            <a:r>
              <a:rPr lang="nl-NL">
                <a:solidFill>
                  <a:srgbClr val="00B0F0"/>
                </a:solidFill>
              </a:rPr>
              <a:t>Kort samengevat: Je misleidt de website door gebruik van kwaadaardige User Input om eigen commando's uit te voeren</a:t>
            </a:r>
          </a:p>
        </p:txBody>
      </p:sp>
    </p:spTree>
    <p:extLst>
      <p:ext uri="{BB962C8B-B14F-4D97-AF65-F5344CB8AC3E}">
        <p14:creationId xmlns:p14="http://schemas.microsoft.com/office/powerpoint/2010/main" val="29929290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55DB250-1E77-9EC1-437D-2854E137AB48}"/>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D82F82BC-5306-C083-95B5-851C34F41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40CA3D0-5B2C-887C-CEB3-AB7FC2B5AD74}"/>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Types van SQLi: #1 In-Band</a:t>
            </a:r>
            <a:endParaRPr lang="nl-NL">
              <a:ea typeface="+mj-ea"/>
              <a:cs typeface="+mj-cs"/>
            </a:endParaRPr>
          </a:p>
        </p:txBody>
      </p:sp>
      <p:sp>
        <p:nvSpPr>
          <p:cNvPr id="4" name="Tekstvak 3">
            <a:extLst>
              <a:ext uri="{FF2B5EF4-FFF2-40B4-BE49-F238E27FC236}">
                <a16:creationId xmlns:a16="http://schemas.microsoft.com/office/drawing/2014/main" id="{2285CE14-6953-7964-4F5B-7573B78CD3C2}"/>
              </a:ext>
            </a:extLst>
          </p:cNvPr>
          <p:cNvSpPr txBox="1"/>
          <p:nvPr/>
        </p:nvSpPr>
        <p:spPr>
          <a:xfrm>
            <a:off x="522376" y="1577735"/>
            <a:ext cx="10849438" cy="865180"/>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b="1"/>
              <a:t>In-band</a:t>
            </a:r>
            <a:r>
              <a:rPr lang="en-US"/>
              <a:t>: De </a:t>
            </a:r>
            <a:r>
              <a:rPr lang="en-US" err="1"/>
              <a:t>aanvaller</a:t>
            </a:r>
            <a:r>
              <a:rPr lang="en-US"/>
              <a:t> </a:t>
            </a:r>
            <a:r>
              <a:rPr lang="en-US" err="1"/>
              <a:t>krijgt</a:t>
            </a:r>
            <a:r>
              <a:rPr lang="en-US"/>
              <a:t> direct feedback van </a:t>
            </a:r>
            <a:r>
              <a:rPr lang="en-US" err="1"/>
              <a:t>pogingen</a:t>
            </a:r>
            <a:r>
              <a:rPr lang="en-US"/>
              <a:t> (</a:t>
            </a:r>
            <a:r>
              <a:rPr lang="en-US" err="1"/>
              <a:t>bv</a:t>
            </a:r>
            <a:r>
              <a:rPr lang="en-US"/>
              <a:t>: </a:t>
            </a:r>
            <a:r>
              <a:rPr lang="en-US" err="1"/>
              <a:t>loginpagina</a:t>
            </a:r>
            <a:r>
              <a:rPr lang="en-US"/>
              <a:t> met </a:t>
            </a:r>
            <a:r>
              <a:rPr lang="en-US" err="1"/>
              <a:t>foutmeldingen</a:t>
            </a:r>
            <a:r>
              <a:rPr lang="en-US"/>
              <a:t>)</a:t>
            </a:r>
            <a:endParaRPr lang="nl-NL"/>
          </a:p>
          <a:p>
            <a:pPr marL="342900" indent="-285750">
              <a:lnSpc>
                <a:spcPct val="120000"/>
              </a:lnSpc>
              <a:spcBef>
                <a:spcPts val="1000"/>
              </a:spcBef>
              <a:buFont typeface="Calibri"/>
              <a:buChar char="-"/>
            </a:pPr>
            <a:r>
              <a:rPr lang="en-US"/>
              <a:t>Als </a:t>
            </a:r>
            <a:r>
              <a:rPr lang="en-US" err="1"/>
              <a:t>foutmeldingen</a:t>
            </a:r>
            <a:r>
              <a:rPr lang="en-US"/>
              <a:t> </a:t>
            </a:r>
            <a:r>
              <a:rPr lang="en-US" err="1"/>
              <a:t>aanstaan</a:t>
            </a:r>
            <a:r>
              <a:rPr lang="en-US"/>
              <a:t>: </a:t>
            </a:r>
            <a:r>
              <a:rPr lang="en-US" err="1"/>
              <a:t>meer</a:t>
            </a:r>
            <a:r>
              <a:rPr lang="en-US"/>
              <a:t> </a:t>
            </a:r>
            <a:r>
              <a:rPr lang="en-US" err="1"/>
              <a:t>munitie</a:t>
            </a:r>
            <a:r>
              <a:rPr lang="en-US"/>
              <a:t> </a:t>
            </a:r>
            <a:r>
              <a:rPr lang="en-US" err="1"/>
              <a:t>voor</a:t>
            </a:r>
            <a:r>
              <a:rPr lang="en-US"/>
              <a:t> hackers/</a:t>
            </a:r>
            <a:r>
              <a:rPr lang="en-US" err="1"/>
              <a:t>aanvallers</a:t>
            </a:r>
            <a:endParaRPr lang="en-US"/>
          </a:p>
        </p:txBody>
      </p:sp>
      <p:pic>
        <p:nvPicPr>
          <p:cNvPr id="3" name="Afbeelding 2" descr="Afbeelding met tekst, Lettertype, schermopname, lijn&#10;&#10;Door AI gegenereerde inhoud is mogelijk onjuist.">
            <a:extLst>
              <a:ext uri="{FF2B5EF4-FFF2-40B4-BE49-F238E27FC236}">
                <a16:creationId xmlns:a16="http://schemas.microsoft.com/office/drawing/2014/main" id="{369E8104-381E-3551-13C4-54FBABB69390}"/>
              </a:ext>
            </a:extLst>
          </p:cNvPr>
          <p:cNvPicPr>
            <a:picLocks noChangeAspect="1"/>
          </p:cNvPicPr>
          <p:nvPr/>
        </p:nvPicPr>
        <p:blipFill>
          <a:blip r:embed="rId2"/>
          <a:stretch>
            <a:fillRect/>
          </a:stretch>
        </p:blipFill>
        <p:spPr>
          <a:xfrm>
            <a:off x="257175" y="2796469"/>
            <a:ext cx="11677650" cy="1885950"/>
          </a:xfrm>
          <a:prstGeom prst="rect">
            <a:avLst/>
          </a:prstGeom>
        </p:spPr>
      </p:pic>
    </p:spTree>
    <p:extLst>
      <p:ext uri="{BB962C8B-B14F-4D97-AF65-F5344CB8AC3E}">
        <p14:creationId xmlns:p14="http://schemas.microsoft.com/office/powerpoint/2010/main" val="58479880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C07761-28E2-D288-5104-796851CDF246}"/>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866D8999-29AD-221D-0C55-18FC072B0F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750E6A0-BE93-658D-25D5-2FABA01C35D4}"/>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Types van SQLi: #2 Inferential/Blind</a:t>
            </a:r>
            <a:endParaRPr lang="nl-NL">
              <a:ea typeface="+mj-ea"/>
              <a:cs typeface="+mj-cs"/>
            </a:endParaRPr>
          </a:p>
        </p:txBody>
      </p:sp>
      <p:sp>
        <p:nvSpPr>
          <p:cNvPr id="4" name="Tekstvak 3">
            <a:extLst>
              <a:ext uri="{FF2B5EF4-FFF2-40B4-BE49-F238E27FC236}">
                <a16:creationId xmlns:a16="http://schemas.microsoft.com/office/drawing/2014/main" id="{DD43FDF0-2E5A-0C14-7CF3-643B7225CE65}"/>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lnSpcReduction="10000"/>
          </a:bodyPr>
          <a:lstStyle/>
          <a:p>
            <a:pPr marL="57150">
              <a:lnSpc>
                <a:spcPct val="120000"/>
              </a:lnSpc>
              <a:spcBef>
                <a:spcPts val="1000"/>
              </a:spcBef>
            </a:pPr>
            <a:r>
              <a:rPr lang="en-US" b="1"/>
              <a:t>Inferential/blind</a:t>
            </a:r>
            <a:r>
              <a:rPr lang="en-US"/>
              <a:t>: De </a:t>
            </a:r>
            <a:r>
              <a:rPr lang="en-US" err="1"/>
              <a:t>aanvaller</a:t>
            </a:r>
            <a:r>
              <a:rPr lang="en-US"/>
              <a:t> </a:t>
            </a:r>
            <a:r>
              <a:rPr lang="en-US" err="1"/>
              <a:t>ziet</a:t>
            </a:r>
            <a:r>
              <a:rPr lang="en-US"/>
              <a:t> </a:t>
            </a:r>
            <a:r>
              <a:rPr lang="en-US" err="1"/>
              <a:t>geen</a:t>
            </a:r>
            <a:r>
              <a:rPr lang="en-US"/>
              <a:t> </a:t>
            </a:r>
            <a:r>
              <a:rPr lang="en-US" err="1"/>
              <a:t>foutmeldingen</a:t>
            </a:r>
            <a:r>
              <a:rPr lang="en-US"/>
              <a:t> of </a:t>
            </a:r>
            <a:r>
              <a:rPr lang="en-US" err="1"/>
              <a:t>veranderingen</a:t>
            </a:r>
            <a:r>
              <a:rPr lang="en-US"/>
              <a:t> in </a:t>
            </a:r>
            <a:r>
              <a:rPr lang="en-US" err="1"/>
              <a:t>getoonde</a:t>
            </a:r>
            <a:r>
              <a:rPr lang="en-US"/>
              <a:t> </a:t>
            </a:r>
            <a:r>
              <a:rPr lang="en-US" err="1"/>
              <a:t>gegevens</a:t>
            </a:r>
            <a:r>
              <a:rPr lang="en-US"/>
              <a:t> (</a:t>
            </a:r>
            <a:r>
              <a:rPr lang="en-US" err="1"/>
              <a:t>bv</a:t>
            </a:r>
            <a:r>
              <a:rPr lang="en-US"/>
              <a:t>: </a:t>
            </a:r>
            <a:r>
              <a:rPr lang="en-US" err="1"/>
              <a:t>filterconstructie</a:t>
            </a:r>
            <a:r>
              <a:rPr lang="en-US"/>
              <a:t> met GET parameter)</a:t>
            </a:r>
            <a:endParaRPr lang="nl-NL"/>
          </a:p>
          <a:p>
            <a:pPr marL="342900" indent="-285750">
              <a:lnSpc>
                <a:spcPct val="120000"/>
              </a:lnSpc>
              <a:spcBef>
                <a:spcPts val="1000"/>
              </a:spcBef>
              <a:buFont typeface="Calibri"/>
              <a:buChar char="-"/>
            </a:pPr>
            <a:r>
              <a:rPr lang="en-US" err="1"/>
              <a:t>Gebruik</a:t>
            </a:r>
            <a:r>
              <a:rPr lang="en-US"/>
              <a:t> </a:t>
            </a:r>
            <a:r>
              <a:rPr lang="en-US" err="1"/>
              <a:t>maken</a:t>
            </a:r>
            <a:r>
              <a:rPr lang="en-US"/>
              <a:t> van meta-</a:t>
            </a:r>
            <a:r>
              <a:rPr lang="en-US" err="1"/>
              <a:t>informatie</a:t>
            </a:r>
            <a:r>
              <a:rPr lang="en-US"/>
              <a:t> </a:t>
            </a:r>
            <a:r>
              <a:rPr lang="en-US" err="1"/>
              <a:t>als</a:t>
            </a:r>
            <a:r>
              <a:rPr lang="en-US"/>
              <a:t> </a:t>
            </a:r>
            <a:r>
              <a:rPr lang="en-US" err="1"/>
              <a:t>laadtijden</a:t>
            </a:r>
            <a:r>
              <a:rPr lang="en-US"/>
              <a:t> </a:t>
            </a:r>
            <a:r>
              <a:rPr lang="en-US" err="1"/>
              <a:t>en</a:t>
            </a:r>
            <a:r>
              <a:rPr lang="en-US"/>
              <a:t> </a:t>
            </a:r>
            <a:r>
              <a:rPr lang="en-US" err="1"/>
              <a:t>indirecte</a:t>
            </a:r>
            <a:r>
              <a:rPr lang="en-US"/>
              <a:t> </a:t>
            </a:r>
            <a:r>
              <a:rPr lang="en-US" err="1"/>
              <a:t>resultaten</a:t>
            </a:r>
            <a:r>
              <a:rPr lang="en-US"/>
              <a:t> (*)</a:t>
            </a:r>
          </a:p>
          <a:p>
            <a:pPr marL="342900" indent="-285750">
              <a:lnSpc>
                <a:spcPct val="120000"/>
              </a:lnSpc>
              <a:spcBef>
                <a:spcPts val="1000"/>
              </a:spcBef>
              <a:buFont typeface="Calibri"/>
              <a:buChar char="-"/>
            </a:pPr>
            <a:endParaRPr lang="en-US"/>
          </a:p>
          <a:p>
            <a:pPr marL="342900" indent="-285750">
              <a:lnSpc>
                <a:spcPct val="120000"/>
              </a:lnSpc>
              <a:spcBef>
                <a:spcPts val="1000"/>
              </a:spcBef>
              <a:buFont typeface="Calibri"/>
              <a:buChar char="-"/>
            </a:pPr>
            <a:r>
              <a:rPr lang="en-US" b="1" err="1"/>
              <a:t>Indirecte</a:t>
            </a:r>
            <a:r>
              <a:rPr lang="en-US" b="1"/>
              <a:t> </a:t>
            </a:r>
            <a:r>
              <a:rPr lang="en-US" b="1" err="1"/>
              <a:t>resultaten</a:t>
            </a:r>
            <a:r>
              <a:rPr lang="en-US" b="1"/>
              <a:t> </a:t>
            </a:r>
            <a:r>
              <a:rPr lang="en-US" b="1" err="1"/>
              <a:t>verkrijgen</a:t>
            </a:r>
            <a:r>
              <a:rPr lang="en-US" b="1"/>
              <a:t>:</a:t>
            </a:r>
          </a:p>
          <a:p>
            <a:pPr marL="57150">
              <a:lnSpc>
                <a:spcPct val="120000"/>
              </a:lnSpc>
              <a:spcBef>
                <a:spcPts val="1000"/>
              </a:spcBef>
            </a:pPr>
            <a:r>
              <a:rPr lang="en-US"/>
              <a:t> - (1) Boolean based</a:t>
            </a:r>
          </a:p>
          <a:p>
            <a:pPr marL="57150">
              <a:lnSpc>
                <a:spcPct val="120000"/>
              </a:lnSpc>
              <a:spcBef>
                <a:spcPts val="1000"/>
              </a:spcBef>
            </a:pPr>
            <a:r>
              <a:rPr lang="en-US"/>
              <a:t> - (2) Time based: </a:t>
            </a:r>
            <a:r>
              <a:rPr lang="en-US" err="1"/>
              <a:t>productID</a:t>
            </a:r>
            <a:r>
              <a:rPr lang="en-US"/>
              <a:t> </a:t>
            </a:r>
            <a:r>
              <a:rPr lang="en-US" err="1"/>
              <a:t>invoer</a:t>
            </a:r>
            <a:r>
              <a:rPr lang="en-US"/>
              <a:t>: 42; IF(EXISTS(SELECT DATABASE LIKE `a_%`)); WAITFOR DELAY '0:0:10'</a:t>
            </a:r>
          </a:p>
          <a:p>
            <a:pPr marL="57150">
              <a:lnSpc>
                <a:spcPct val="120000"/>
              </a:lnSpc>
              <a:spcBef>
                <a:spcPts val="1000"/>
              </a:spcBef>
            </a:pPr>
            <a:endParaRPr lang="en-US"/>
          </a:p>
          <a:p>
            <a:pPr marL="57150">
              <a:lnSpc>
                <a:spcPct val="120000"/>
              </a:lnSpc>
              <a:spcBef>
                <a:spcPts val="1000"/>
              </a:spcBef>
            </a:pPr>
            <a:r>
              <a:rPr lang="en-US"/>
              <a:t>(2) </a:t>
            </a:r>
            <a:r>
              <a:rPr lang="en-US" err="1"/>
              <a:t>als</a:t>
            </a:r>
            <a:r>
              <a:rPr lang="en-US"/>
              <a:t> het 10sec+ </a:t>
            </a:r>
            <a:r>
              <a:rPr lang="en-US" err="1"/>
              <a:t>duurt</a:t>
            </a:r>
            <a:r>
              <a:rPr lang="en-US"/>
              <a:t> om </a:t>
            </a:r>
            <a:r>
              <a:rPr lang="en-US" err="1"/>
              <a:t>resultaten</a:t>
            </a:r>
            <a:r>
              <a:rPr lang="en-US"/>
              <a:t> </a:t>
            </a:r>
            <a:r>
              <a:rPr lang="en-US" err="1"/>
              <a:t>te</a:t>
            </a:r>
            <a:r>
              <a:rPr lang="en-US"/>
              <a:t> </a:t>
            </a:r>
            <a:r>
              <a:rPr lang="en-US" err="1"/>
              <a:t>zien</a:t>
            </a:r>
            <a:r>
              <a:rPr lang="en-US"/>
              <a:t> of </a:t>
            </a:r>
            <a:r>
              <a:rPr lang="en-US" err="1"/>
              <a:t>pagina</a:t>
            </a:r>
            <a:r>
              <a:rPr lang="en-US"/>
              <a:t> </a:t>
            </a:r>
            <a:r>
              <a:rPr lang="en-US" err="1"/>
              <a:t>laadt</a:t>
            </a:r>
            <a:r>
              <a:rPr lang="en-US"/>
              <a:t>: dan is het IF statement TRUE, </a:t>
            </a:r>
            <a:r>
              <a:rPr lang="en-US" err="1"/>
              <a:t>en</a:t>
            </a:r>
            <a:r>
              <a:rPr lang="en-US"/>
              <a:t> dan </a:t>
            </a:r>
            <a:r>
              <a:rPr lang="en-US" err="1"/>
              <a:t>bestaat</a:t>
            </a:r>
            <a:r>
              <a:rPr lang="en-US"/>
              <a:t> er </a:t>
            </a:r>
            <a:r>
              <a:rPr lang="en-US" err="1"/>
              <a:t>een</a:t>
            </a:r>
            <a:r>
              <a:rPr lang="en-US"/>
              <a:t> database die start met de letter A.</a:t>
            </a:r>
          </a:p>
          <a:p>
            <a:pPr marL="57150">
              <a:lnSpc>
                <a:spcPct val="120000"/>
              </a:lnSpc>
              <a:spcBef>
                <a:spcPts val="1000"/>
              </a:spcBef>
            </a:pPr>
            <a:r>
              <a:rPr lang="en-US" err="1"/>
              <a:t>Kijk</a:t>
            </a:r>
            <a:r>
              <a:rPr lang="en-US"/>
              <a:t> op: </a:t>
            </a:r>
            <a:r>
              <a:rPr lang="en-US">
                <a:ea typeface="+mn-lt"/>
                <a:cs typeface="+mn-lt"/>
                <a:hlinkClick r:id="rId2"/>
              </a:rPr>
              <a:t>https://www.invicti.com/learn/blind-sql-injection</a:t>
            </a:r>
            <a:r>
              <a:rPr lang="en-US">
                <a:ea typeface="+mn-lt"/>
                <a:cs typeface="+mn-lt"/>
              </a:rPr>
              <a:t> </a:t>
            </a:r>
            <a:endParaRPr lang="en-US"/>
          </a:p>
        </p:txBody>
      </p:sp>
    </p:spTree>
    <p:extLst>
      <p:ext uri="{BB962C8B-B14F-4D97-AF65-F5344CB8AC3E}">
        <p14:creationId xmlns:p14="http://schemas.microsoft.com/office/powerpoint/2010/main" val="174763874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8097454-5800-17B3-DF05-31C1AD3140C0}"/>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B0F61EA4-0E5D-01DA-931D-9CAD10F65D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C7CDB14-6810-97BB-561A-16E7173AEB33}"/>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Types van SQLi: #3 Out-of-band</a:t>
            </a:r>
            <a:endParaRPr lang="nl-NL">
              <a:ea typeface="+mj-ea"/>
              <a:cs typeface="+mj-cs"/>
            </a:endParaRPr>
          </a:p>
        </p:txBody>
      </p:sp>
      <p:sp>
        <p:nvSpPr>
          <p:cNvPr id="4" name="Tekstvak 3">
            <a:extLst>
              <a:ext uri="{FF2B5EF4-FFF2-40B4-BE49-F238E27FC236}">
                <a16:creationId xmlns:a16="http://schemas.microsoft.com/office/drawing/2014/main" id="{1E559969-B1E4-BBB9-C9F7-4C43C5DDD083}"/>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b="1" dirty="0"/>
              <a:t>Out-of-band: door </a:t>
            </a:r>
            <a:r>
              <a:rPr lang="en-US" b="1" dirty="0" err="1"/>
              <a:t>gebruik</a:t>
            </a:r>
            <a:r>
              <a:rPr lang="en-US" b="1" dirty="0"/>
              <a:t> van </a:t>
            </a:r>
            <a:r>
              <a:rPr lang="en-US" b="1" dirty="0" err="1"/>
              <a:t>een</a:t>
            </a:r>
            <a:r>
              <a:rPr lang="en-US" b="1" dirty="0"/>
              <a:t> medium (e-mail, DNS) </a:t>
            </a:r>
            <a:r>
              <a:rPr lang="en-US" b="1" dirty="0" err="1"/>
              <a:t>verschillend</a:t>
            </a:r>
            <a:r>
              <a:rPr lang="en-US" b="1" dirty="0"/>
              <a:t> van HTTP</a:t>
            </a:r>
            <a:endParaRPr lang="nl-NL" dirty="0"/>
          </a:p>
          <a:p>
            <a:pPr marL="342900" indent="-285750">
              <a:lnSpc>
                <a:spcPct val="120000"/>
              </a:lnSpc>
              <a:spcBef>
                <a:spcPts val="1000"/>
              </a:spcBef>
              <a:buFont typeface="Calibri"/>
              <a:buChar char="-"/>
            </a:pPr>
            <a:endParaRPr lang="en-US"/>
          </a:p>
          <a:p>
            <a:pPr marL="342900" indent="-285750">
              <a:lnSpc>
                <a:spcPct val="120000"/>
              </a:lnSpc>
              <a:spcBef>
                <a:spcPts val="1000"/>
              </a:spcBef>
              <a:buFont typeface="Calibri"/>
              <a:buChar char="-"/>
            </a:pPr>
            <a:r>
              <a:rPr lang="en-US" dirty="0" err="1"/>
              <a:t>Voorbeeld</a:t>
            </a:r>
            <a:r>
              <a:rPr lang="en-US" dirty="0"/>
              <a:t>: School  DNS / </a:t>
            </a:r>
            <a:r>
              <a:rPr lang="en-US" dirty="0" err="1"/>
              <a:t>Classroom.Cloud</a:t>
            </a:r>
            <a:r>
              <a:rPr lang="en-US" dirty="0"/>
              <a:t> op alle </a:t>
            </a:r>
            <a:r>
              <a:rPr lang="en-US" dirty="0" err="1"/>
              <a:t>schoollaptops</a:t>
            </a:r>
            <a:r>
              <a:rPr lang="en-US" dirty="0"/>
              <a:t> </a:t>
            </a:r>
            <a:r>
              <a:rPr lang="en-US" dirty="0" err="1"/>
              <a:t>bewaren</a:t>
            </a:r>
            <a:r>
              <a:rPr lang="en-US" dirty="0"/>
              <a:t> alle </a:t>
            </a:r>
            <a:r>
              <a:rPr lang="en-US" dirty="0" err="1"/>
              <a:t>bezochte</a:t>
            </a:r>
            <a:r>
              <a:rPr lang="en-US" dirty="0"/>
              <a:t> websites in </a:t>
            </a:r>
            <a:r>
              <a:rPr lang="en-US" dirty="0" err="1"/>
              <a:t>een</a:t>
            </a:r>
            <a:r>
              <a:rPr lang="en-US" dirty="0"/>
              <a:t> Database.</a:t>
            </a:r>
          </a:p>
          <a:p>
            <a:pPr marL="342900" indent="-285750">
              <a:lnSpc>
                <a:spcPct val="120000"/>
              </a:lnSpc>
              <a:spcBef>
                <a:spcPts val="1000"/>
              </a:spcBef>
              <a:buFont typeface="Calibri"/>
              <a:buChar char="-"/>
            </a:pPr>
            <a:r>
              <a:rPr lang="en-US" dirty="0"/>
              <a:t>Als </a:t>
            </a:r>
            <a:r>
              <a:rPr lang="en-US" dirty="0" err="1"/>
              <a:t>een</a:t>
            </a:r>
            <a:r>
              <a:rPr lang="en-US" dirty="0"/>
              <a:t> </a:t>
            </a:r>
            <a:r>
              <a:rPr lang="en-US" dirty="0" err="1"/>
              <a:t>leerling</a:t>
            </a:r>
            <a:r>
              <a:rPr lang="en-US" dirty="0"/>
              <a:t> </a:t>
            </a:r>
            <a:r>
              <a:rPr lang="en-US" dirty="0" err="1"/>
              <a:t>een</a:t>
            </a:r>
            <a:r>
              <a:rPr lang="en-US" dirty="0"/>
              <a:t> DNS </a:t>
            </a:r>
            <a:r>
              <a:rPr lang="en-US" dirty="0" err="1"/>
              <a:t>verzoek</a:t>
            </a:r>
            <a:r>
              <a:rPr lang="en-US" dirty="0"/>
              <a:t> </a:t>
            </a:r>
            <a:r>
              <a:rPr lang="en-US" dirty="0" err="1"/>
              <a:t>stuurt</a:t>
            </a:r>
            <a:r>
              <a:rPr lang="en-US" dirty="0"/>
              <a:t> met Python in </a:t>
            </a:r>
            <a:r>
              <a:rPr lang="en-US" dirty="0" err="1"/>
              <a:t>een</a:t>
            </a:r>
            <a:r>
              <a:rPr lang="en-US" dirty="0"/>
              <a:t> loop </a:t>
            </a:r>
            <a:r>
              <a:rPr lang="en-US" dirty="0" err="1"/>
              <a:t>rechtstreeks</a:t>
            </a:r>
            <a:r>
              <a:rPr lang="en-US" dirty="0"/>
              <a:t> </a:t>
            </a:r>
            <a:r>
              <a:rPr lang="en-US" dirty="0" err="1"/>
              <a:t>naar</a:t>
            </a:r>
            <a:r>
              <a:rPr lang="en-US" dirty="0"/>
              <a:t> DNS server met </a:t>
            </a:r>
            <a:r>
              <a:rPr lang="en-US" dirty="0" err="1"/>
              <a:t>als</a:t>
            </a:r>
            <a:r>
              <a:rPr lang="en-US" dirty="0"/>
              <a:t> </a:t>
            </a:r>
            <a:r>
              <a:rPr lang="en-US" dirty="0" err="1"/>
              <a:t>invoer</a:t>
            </a:r>
            <a:r>
              <a:rPr lang="en-US"/>
              <a:t>: "school_name.smartschool.be; DROP DATABASE *"</a:t>
            </a:r>
          </a:p>
          <a:p>
            <a:pPr marL="342900" indent="-285750">
              <a:lnSpc>
                <a:spcPct val="120000"/>
              </a:lnSpc>
              <a:spcBef>
                <a:spcPts val="1000"/>
              </a:spcBef>
              <a:buFont typeface="Calibri"/>
              <a:buChar char="-"/>
            </a:pPr>
            <a:r>
              <a:rPr lang="en-US" dirty="0">
                <a:solidFill>
                  <a:srgbClr val="FF0000"/>
                </a:solidFill>
              </a:rPr>
              <a:t>=&gt; Data </a:t>
            </a:r>
            <a:r>
              <a:rPr lang="en-US" dirty="0" err="1">
                <a:solidFill>
                  <a:srgbClr val="FF0000"/>
                </a:solidFill>
              </a:rPr>
              <a:t>kwijt</a:t>
            </a:r>
            <a:r>
              <a:rPr lang="en-US" dirty="0">
                <a:solidFill>
                  <a:srgbClr val="FF0000"/>
                </a:solidFill>
              </a:rPr>
              <a:t> </a:t>
            </a:r>
            <a:r>
              <a:rPr lang="en-US" dirty="0" err="1">
                <a:solidFill>
                  <a:srgbClr val="FF0000"/>
                </a:solidFill>
              </a:rPr>
              <a:t>en</a:t>
            </a:r>
            <a:r>
              <a:rPr lang="en-US" dirty="0">
                <a:solidFill>
                  <a:srgbClr val="FF0000"/>
                </a:solidFill>
              </a:rPr>
              <a:t> </a:t>
            </a:r>
            <a:r>
              <a:rPr lang="en-US" dirty="0" err="1">
                <a:solidFill>
                  <a:srgbClr val="FF0000"/>
                </a:solidFill>
              </a:rPr>
              <a:t>blijft</a:t>
            </a:r>
            <a:r>
              <a:rPr lang="en-US" dirty="0">
                <a:solidFill>
                  <a:srgbClr val="FF0000"/>
                </a:solidFill>
              </a:rPr>
              <a:t> </a:t>
            </a:r>
            <a:r>
              <a:rPr lang="en-US" dirty="0" err="1">
                <a:solidFill>
                  <a:srgbClr val="FF0000"/>
                </a:solidFill>
              </a:rPr>
              <a:t>gewist</a:t>
            </a:r>
            <a:r>
              <a:rPr lang="en-US" dirty="0">
                <a:solidFill>
                  <a:srgbClr val="FF0000"/>
                </a:solidFill>
              </a:rPr>
              <a:t> </a:t>
            </a:r>
            <a:r>
              <a:rPr lang="en-US" dirty="0" err="1">
                <a:solidFill>
                  <a:srgbClr val="FF0000"/>
                </a:solidFill>
              </a:rPr>
              <a:t>zolang</a:t>
            </a:r>
            <a:r>
              <a:rPr lang="en-US" dirty="0">
                <a:solidFill>
                  <a:srgbClr val="FF0000"/>
                </a:solidFill>
              </a:rPr>
              <a:t> de </a:t>
            </a:r>
            <a:r>
              <a:rPr lang="en-US" dirty="0" err="1">
                <a:solidFill>
                  <a:srgbClr val="FF0000"/>
                </a:solidFill>
              </a:rPr>
              <a:t>kwetsbaarheid</a:t>
            </a:r>
            <a:r>
              <a:rPr lang="en-US" dirty="0">
                <a:solidFill>
                  <a:srgbClr val="FF0000"/>
                </a:solidFill>
              </a:rPr>
              <a:t> </a:t>
            </a:r>
            <a:r>
              <a:rPr lang="en-US" dirty="0" err="1">
                <a:solidFill>
                  <a:srgbClr val="FF0000"/>
                </a:solidFill>
              </a:rPr>
              <a:t>bestaat</a:t>
            </a:r>
            <a:endParaRPr lang="en-US" dirty="0">
              <a:solidFill>
                <a:srgbClr val="FF0000"/>
              </a:solidFill>
            </a:endParaRPr>
          </a:p>
        </p:txBody>
      </p:sp>
    </p:spTree>
    <p:extLst>
      <p:ext uri="{BB962C8B-B14F-4D97-AF65-F5344CB8AC3E}">
        <p14:creationId xmlns:p14="http://schemas.microsoft.com/office/powerpoint/2010/main" val="67897407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1ED6B05-844F-D4C7-DFB5-9D9E361C8D8B}"/>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67E893C8-B0FD-C464-E1E8-0704B3F33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032B42B4-9D02-5CFC-0DA6-D6775CEBAC5B}"/>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Hoe </a:t>
            </a:r>
            <a:r>
              <a:rPr lang="en-US" err="1"/>
              <a:t>kwetsbaarheid</a:t>
            </a:r>
            <a:r>
              <a:rPr lang="en-US"/>
              <a:t> </a:t>
            </a:r>
            <a:r>
              <a:rPr lang="en-US" err="1"/>
              <a:t>tegen</a:t>
            </a:r>
            <a:r>
              <a:rPr lang="en-US"/>
              <a:t> SQLi </a:t>
            </a:r>
            <a:r>
              <a:rPr lang="en-US" err="1"/>
              <a:t>voorkomen</a:t>
            </a:r>
            <a:r>
              <a:rPr lang="en-US"/>
              <a:t>?</a:t>
            </a:r>
          </a:p>
        </p:txBody>
      </p:sp>
      <p:sp>
        <p:nvSpPr>
          <p:cNvPr id="4" name="Tekstvak 3">
            <a:extLst>
              <a:ext uri="{FF2B5EF4-FFF2-40B4-BE49-F238E27FC236}">
                <a16:creationId xmlns:a16="http://schemas.microsoft.com/office/drawing/2014/main" id="{A8C7FF3F-6174-4D0B-113C-F4C7FFDF2E88}"/>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sz="3200" b="1" err="1">
                <a:solidFill>
                  <a:srgbClr val="FFC800"/>
                </a:solidFill>
              </a:rPr>
              <a:t>Gouden</a:t>
            </a:r>
            <a:r>
              <a:rPr lang="en-US" sz="3200" b="1">
                <a:solidFill>
                  <a:srgbClr val="FFC800"/>
                </a:solidFill>
              </a:rPr>
              <a:t> regel: "NEVER trust User Input"</a:t>
            </a:r>
          </a:p>
          <a:p>
            <a:pPr marL="57150">
              <a:lnSpc>
                <a:spcPct val="120000"/>
              </a:lnSpc>
              <a:spcBef>
                <a:spcPts val="1000"/>
              </a:spcBef>
            </a:pPr>
            <a:r>
              <a:rPr lang="en-US" sz="3200" b="1">
                <a:solidFill>
                  <a:srgbClr val="FFC800"/>
                </a:solidFill>
              </a:rPr>
              <a:t>"</a:t>
            </a:r>
            <a:r>
              <a:rPr lang="en-US" sz="3200" b="1" err="1">
                <a:solidFill>
                  <a:srgbClr val="FFC800"/>
                </a:solidFill>
              </a:rPr>
              <a:t>Vertrouw</a:t>
            </a:r>
            <a:r>
              <a:rPr lang="en-US" sz="3200" b="1">
                <a:solidFill>
                  <a:srgbClr val="FFC800"/>
                </a:solidFill>
              </a:rPr>
              <a:t> </a:t>
            </a:r>
            <a:r>
              <a:rPr lang="en-US" sz="3200" b="1" err="1">
                <a:solidFill>
                  <a:srgbClr val="FFC800"/>
                </a:solidFill>
              </a:rPr>
              <a:t>geen</a:t>
            </a:r>
            <a:r>
              <a:rPr lang="en-US" sz="3200" b="1">
                <a:solidFill>
                  <a:srgbClr val="FFC800"/>
                </a:solidFill>
              </a:rPr>
              <a:t> </a:t>
            </a:r>
            <a:r>
              <a:rPr lang="en-US" sz="3200" b="1" err="1">
                <a:solidFill>
                  <a:srgbClr val="FFC800"/>
                </a:solidFill>
              </a:rPr>
              <a:t>enkele</a:t>
            </a:r>
            <a:r>
              <a:rPr lang="en-US" sz="3200" b="1">
                <a:solidFill>
                  <a:srgbClr val="FFC800"/>
                </a:solidFill>
              </a:rPr>
              <a:t> </a:t>
            </a:r>
            <a:r>
              <a:rPr lang="en-US" sz="3200" b="1" err="1">
                <a:solidFill>
                  <a:srgbClr val="FFC800"/>
                </a:solidFill>
              </a:rPr>
              <a:t>Gebruikersinvoer</a:t>
            </a:r>
            <a:r>
              <a:rPr lang="en-US" sz="3200" b="1">
                <a:solidFill>
                  <a:srgbClr val="FFC800"/>
                </a:solidFill>
              </a:rPr>
              <a:t>"</a:t>
            </a:r>
          </a:p>
          <a:p>
            <a:pPr marL="57150">
              <a:lnSpc>
                <a:spcPct val="120000"/>
              </a:lnSpc>
              <a:spcBef>
                <a:spcPts val="1000"/>
              </a:spcBef>
            </a:pPr>
            <a:endParaRPr lang="en-US" sz="2000" b="1">
              <a:solidFill>
                <a:srgbClr val="FFC800"/>
              </a:solidFill>
            </a:endParaRPr>
          </a:p>
          <a:p>
            <a:pPr marL="57150">
              <a:lnSpc>
                <a:spcPct val="120000"/>
              </a:lnSpc>
              <a:spcBef>
                <a:spcPts val="1000"/>
              </a:spcBef>
            </a:pPr>
            <a:r>
              <a:rPr lang="en-US" sz="2000" b="1">
                <a:solidFill>
                  <a:schemeClr val="accent3"/>
                </a:solidFill>
              </a:rPr>
              <a:t>Ga er van </a:t>
            </a:r>
            <a:r>
              <a:rPr lang="en-US" sz="2000" b="1" err="1">
                <a:solidFill>
                  <a:schemeClr val="accent3"/>
                </a:solidFill>
              </a:rPr>
              <a:t>uit</a:t>
            </a:r>
            <a:r>
              <a:rPr lang="en-US" sz="2000" b="1">
                <a:solidFill>
                  <a:schemeClr val="accent3"/>
                </a:solidFill>
              </a:rPr>
              <a:t> </a:t>
            </a:r>
            <a:r>
              <a:rPr lang="en-US" sz="2000" b="1" err="1">
                <a:solidFill>
                  <a:schemeClr val="accent3"/>
                </a:solidFill>
              </a:rPr>
              <a:t>dat</a:t>
            </a:r>
            <a:r>
              <a:rPr lang="en-US" sz="2000" b="1">
                <a:solidFill>
                  <a:schemeClr val="accent3"/>
                </a:solidFill>
              </a:rPr>
              <a:t> ELKE input </a:t>
            </a:r>
            <a:r>
              <a:rPr lang="en-US" sz="2000" b="1" err="1">
                <a:solidFill>
                  <a:schemeClr val="accent3"/>
                </a:solidFill>
              </a:rPr>
              <a:t>meerdere</a:t>
            </a:r>
            <a:r>
              <a:rPr lang="en-US" sz="2000" b="1">
                <a:solidFill>
                  <a:schemeClr val="accent3"/>
                </a:solidFill>
              </a:rPr>
              <a:t> </a:t>
            </a:r>
            <a:r>
              <a:rPr lang="en-US" sz="2000" b="1" err="1">
                <a:solidFill>
                  <a:schemeClr val="accent3"/>
                </a:solidFill>
              </a:rPr>
              <a:t>pogingen</a:t>
            </a:r>
            <a:r>
              <a:rPr lang="en-US" sz="2000" b="1">
                <a:solidFill>
                  <a:schemeClr val="accent3"/>
                </a:solidFill>
              </a:rPr>
              <a:t> </a:t>
            </a:r>
            <a:r>
              <a:rPr lang="en-US" sz="2000" b="1" err="1">
                <a:solidFill>
                  <a:schemeClr val="accent3"/>
                </a:solidFill>
              </a:rPr>
              <a:t>bevat</a:t>
            </a:r>
            <a:r>
              <a:rPr lang="en-US" sz="2000" b="1">
                <a:solidFill>
                  <a:schemeClr val="accent3"/>
                </a:solidFill>
              </a:rPr>
              <a:t> </a:t>
            </a:r>
            <a:r>
              <a:rPr lang="en-US" sz="2000" b="1" err="1">
                <a:solidFill>
                  <a:schemeClr val="accent3"/>
                </a:solidFill>
              </a:rPr>
              <a:t>uit</a:t>
            </a:r>
            <a:r>
              <a:rPr lang="en-US" sz="2000" b="1">
                <a:solidFill>
                  <a:schemeClr val="accent3"/>
                </a:solidFill>
              </a:rPr>
              <a:t> </a:t>
            </a:r>
            <a:r>
              <a:rPr lang="en-US" sz="2000" b="1" err="1">
                <a:solidFill>
                  <a:schemeClr val="accent3"/>
                </a:solidFill>
              </a:rPr>
              <a:t>voorgaande</a:t>
            </a:r>
            <a:r>
              <a:rPr lang="en-US" sz="2000" b="1">
                <a:solidFill>
                  <a:schemeClr val="accent3"/>
                </a:solidFill>
              </a:rPr>
              <a:t> </a:t>
            </a:r>
            <a:r>
              <a:rPr lang="en-US" sz="2000" b="1" err="1">
                <a:solidFill>
                  <a:schemeClr val="accent3"/>
                </a:solidFill>
              </a:rPr>
              <a:t>voorbeelden</a:t>
            </a:r>
            <a:r>
              <a:rPr lang="en-US" sz="2000" b="1">
                <a:solidFill>
                  <a:schemeClr val="accent3"/>
                </a:solidFill>
              </a:rPr>
              <a:t>.</a:t>
            </a:r>
          </a:p>
          <a:p>
            <a:pPr marL="57150">
              <a:lnSpc>
                <a:spcPct val="120000"/>
              </a:lnSpc>
              <a:spcBef>
                <a:spcPts val="1000"/>
              </a:spcBef>
            </a:pPr>
            <a:r>
              <a:rPr lang="en-US" sz="2000" b="1" err="1"/>
              <a:t>Specifiek</a:t>
            </a:r>
            <a:r>
              <a:rPr lang="en-US" sz="2000" b="1"/>
              <a:t>:</a:t>
            </a:r>
          </a:p>
          <a:p>
            <a:pPr marL="400050" indent="-342900">
              <a:lnSpc>
                <a:spcPct val="120000"/>
              </a:lnSpc>
              <a:spcBef>
                <a:spcPts val="1000"/>
              </a:spcBef>
              <a:buFont typeface="Calibri"/>
              <a:buChar char="-"/>
            </a:pPr>
            <a:r>
              <a:rPr lang="en-US" sz="2000" b="1"/>
              <a:t>PHP </a:t>
            </a:r>
            <a:r>
              <a:rPr lang="en-US" sz="2000" b="1" err="1"/>
              <a:t>invoer</a:t>
            </a:r>
            <a:r>
              <a:rPr lang="en-US" sz="2000" b="1"/>
              <a:t> </a:t>
            </a:r>
            <a:r>
              <a:rPr lang="en-US" sz="2000" b="1" err="1"/>
              <a:t>filteren</a:t>
            </a:r>
            <a:r>
              <a:rPr lang="en-US" sz="2000" b="1"/>
              <a:t> (</a:t>
            </a:r>
            <a:r>
              <a:rPr lang="en-US" sz="2000" b="1" err="1"/>
              <a:t>htmlspecialchars</a:t>
            </a:r>
            <a:r>
              <a:rPr lang="en-US" sz="2000" b="1"/>
              <a:t> op POST </a:t>
            </a:r>
            <a:r>
              <a:rPr lang="en-US" sz="2000" b="1" err="1"/>
              <a:t>en</a:t>
            </a:r>
            <a:r>
              <a:rPr lang="en-US" sz="2000" b="1"/>
              <a:t> GET)</a:t>
            </a:r>
          </a:p>
          <a:p>
            <a:pPr marL="400050" indent="-342900">
              <a:lnSpc>
                <a:spcPct val="120000"/>
              </a:lnSpc>
              <a:spcBef>
                <a:spcPts val="1000"/>
              </a:spcBef>
              <a:buFont typeface="Calibri"/>
              <a:buChar char="-"/>
            </a:pPr>
            <a:r>
              <a:rPr lang="en-US" sz="2000" b="1"/>
              <a:t>PDO </a:t>
            </a:r>
            <a:r>
              <a:rPr lang="en-US" sz="2000" b="1" err="1"/>
              <a:t>gebruiken</a:t>
            </a:r>
            <a:r>
              <a:rPr lang="en-US" sz="2000" b="1"/>
              <a:t> (</a:t>
            </a:r>
            <a:r>
              <a:rPr lang="en-US" sz="2000" b="1" err="1"/>
              <a:t>striktere</a:t>
            </a:r>
            <a:r>
              <a:rPr lang="en-US" sz="2000" b="1"/>
              <a:t> </a:t>
            </a:r>
            <a:r>
              <a:rPr lang="en-US" sz="2000" b="1" err="1"/>
              <a:t>controle</a:t>
            </a:r>
            <a:r>
              <a:rPr lang="en-US" sz="2000" b="1"/>
              <a:t> op datatype van </a:t>
            </a:r>
            <a:r>
              <a:rPr lang="en-US" sz="2000" b="1" err="1"/>
              <a:t>gegeven</a:t>
            </a:r>
            <a:r>
              <a:rPr lang="en-US" sz="2000" b="1"/>
              <a:t> parameters </a:t>
            </a:r>
            <a:r>
              <a:rPr lang="en-US" sz="2000" b="1" err="1"/>
              <a:t>t.o.v</a:t>
            </a:r>
            <a:r>
              <a:rPr lang="en-US" sz="2000" b="1"/>
              <a:t>. </a:t>
            </a:r>
            <a:r>
              <a:rPr lang="en-US" sz="2000" b="1" err="1"/>
              <a:t>db</a:t>
            </a:r>
            <a:r>
              <a:rPr lang="en-US" sz="2000" b="1"/>
              <a:t>)</a:t>
            </a:r>
          </a:p>
          <a:p>
            <a:pPr marL="400050" indent="-342900">
              <a:lnSpc>
                <a:spcPct val="120000"/>
              </a:lnSpc>
              <a:spcBef>
                <a:spcPts val="1000"/>
              </a:spcBef>
              <a:buFont typeface="Calibri"/>
              <a:buChar char="-"/>
            </a:pPr>
            <a:r>
              <a:rPr lang="en-US" sz="2000" b="1"/>
              <a:t>Lengte van datatypes </a:t>
            </a:r>
            <a:r>
              <a:rPr lang="en-US" sz="2000" b="1" err="1"/>
              <a:t>beperken</a:t>
            </a:r>
            <a:r>
              <a:rPr lang="en-US" sz="2000" b="1"/>
              <a:t>: naam, </a:t>
            </a:r>
            <a:r>
              <a:rPr lang="en-US" sz="2000" b="1" err="1"/>
              <a:t>adressen</a:t>
            </a:r>
            <a:r>
              <a:rPr lang="en-US" sz="2000" b="1"/>
              <a:t>, </a:t>
            </a:r>
            <a:r>
              <a:rPr lang="en-US" sz="2000" b="1" err="1"/>
              <a:t>passwoorden</a:t>
            </a:r>
            <a:r>
              <a:rPr lang="en-US" sz="2000" b="1"/>
              <a:t>, </a:t>
            </a:r>
            <a:r>
              <a:rPr lang="en-US" sz="2000" b="1" err="1"/>
              <a:t>tel.nrs</a:t>
            </a:r>
            <a:endParaRPr lang="en-US" sz="2000" b="1"/>
          </a:p>
          <a:p>
            <a:pPr marL="57150">
              <a:lnSpc>
                <a:spcPct val="120000"/>
              </a:lnSpc>
              <a:spcBef>
                <a:spcPts val="1000"/>
              </a:spcBef>
            </a:pPr>
            <a:r>
              <a:rPr lang="en-US" sz="2000" b="1">
                <a:solidFill>
                  <a:srgbClr val="00B0F0"/>
                </a:solidFill>
              </a:rPr>
              <a:t>       =&gt;  </a:t>
            </a:r>
            <a:r>
              <a:rPr lang="en-US" sz="2000" b="1" err="1">
                <a:solidFill>
                  <a:srgbClr val="00B0F0"/>
                </a:solidFill>
              </a:rPr>
              <a:t>moeten</a:t>
            </a:r>
            <a:r>
              <a:rPr lang="en-US" sz="2000" b="1">
                <a:solidFill>
                  <a:srgbClr val="00B0F0"/>
                </a:solidFill>
              </a:rPr>
              <a:t> </a:t>
            </a:r>
            <a:r>
              <a:rPr lang="en-US" sz="2000" b="1" err="1">
                <a:solidFill>
                  <a:srgbClr val="00B0F0"/>
                </a:solidFill>
              </a:rPr>
              <a:t>toch</a:t>
            </a:r>
            <a:r>
              <a:rPr lang="en-US" sz="2000" b="1">
                <a:solidFill>
                  <a:srgbClr val="00B0F0"/>
                </a:solidFill>
              </a:rPr>
              <a:t> nooit &gt;200 </a:t>
            </a:r>
            <a:r>
              <a:rPr lang="en-US" sz="2000" b="1" err="1">
                <a:solidFill>
                  <a:srgbClr val="00B0F0"/>
                </a:solidFill>
              </a:rPr>
              <a:t>karakters</a:t>
            </a:r>
            <a:r>
              <a:rPr lang="en-US" sz="2000" b="1">
                <a:solidFill>
                  <a:srgbClr val="00B0F0"/>
                </a:solidFill>
              </a:rPr>
              <a:t> </a:t>
            </a:r>
            <a:r>
              <a:rPr lang="en-US" sz="2000" b="1" err="1">
                <a:solidFill>
                  <a:srgbClr val="00B0F0"/>
                </a:solidFill>
              </a:rPr>
              <a:t>bevatten</a:t>
            </a:r>
            <a:r>
              <a:rPr lang="en-US" sz="2000" b="1">
                <a:solidFill>
                  <a:srgbClr val="00B0F0"/>
                </a:solidFill>
              </a:rPr>
              <a:t>?</a:t>
            </a:r>
            <a:endParaRPr lang="en-US">
              <a:solidFill>
                <a:srgbClr val="00B0F0"/>
              </a:solidFill>
            </a:endParaRPr>
          </a:p>
        </p:txBody>
      </p:sp>
    </p:spTree>
    <p:extLst>
      <p:ext uri="{BB962C8B-B14F-4D97-AF65-F5344CB8AC3E}">
        <p14:creationId xmlns:p14="http://schemas.microsoft.com/office/powerpoint/2010/main" val="164899013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3D98A8-1D04-7D87-31E4-9BCD6CF8B11D}"/>
            </a:ext>
          </a:extLst>
        </p:cNvPr>
        <p:cNvGrpSpPr/>
        <p:nvPr/>
      </p:nvGrpSpPr>
      <p:grpSpPr>
        <a:xfrm>
          <a:off x="0" y="0"/>
          <a:ext cx="0" cy="0"/>
          <a:chOff x="0" y="0"/>
          <a:chExt cx="0" cy="0"/>
        </a:xfrm>
      </p:grpSpPr>
      <p:sp useBgFill="1">
        <p:nvSpPr>
          <p:cNvPr id="27" name="Rectangle 18">
            <a:extLst>
              <a:ext uri="{FF2B5EF4-FFF2-40B4-BE49-F238E27FC236}">
                <a16:creationId xmlns:a16="http://schemas.microsoft.com/office/drawing/2014/main" id="{2E162526-2C87-D11A-7C61-2426CD1EC6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8558FD5-87F1-66DA-091B-77492C316735}"/>
              </a:ext>
            </a:extLst>
          </p:cNvPr>
          <p:cNvSpPr>
            <a:spLocks noGrp="1"/>
          </p:cNvSpPr>
          <p:nvPr>
            <p:ph type="title"/>
          </p:nvPr>
        </p:nvSpPr>
        <p:spPr>
          <a:xfrm>
            <a:off x="614677" y="603504"/>
            <a:ext cx="10866572" cy="632698"/>
          </a:xfrm>
        </p:spPr>
        <p:txBody>
          <a:bodyPr vert="horz" lIns="91440" tIns="45720" rIns="91440" bIns="45720" rtlCol="0" anchor="b">
            <a:normAutofit/>
          </a:bodyPr>
          <a:lstStyle/>
          <a:p>
            <a:r>
              <a:rPr lang="en-US" dirty="0" err="1"/>
              <a:t>Visueel</a:t>
            </a:r>
            <a:r>
              <a:rPr lang="en-US" dirty="0"/>
              <a:t>: Hoe PDO SQL </a:t>
            </a:r>
            <a:r>
              <a:rPr lang="en-US" dirty="0" err="1"/>
              <a:t>injecties</a:t>
            </a:r>
            <a:r>
              <a:rPr lang="en-US" dirty="0"/>
              <a:t> </a:t>
            </a:r>
            <a:r>
              <a:rPr lang="en-US" dirty="0" err="1"/>
              <a:t>voorkomt</a:t>
            </a:r>
            <a:endParaRPr lang="nl-NL" dirty="0" err="1">
              <a:ea typeface="+mj-ea"/>
              <a:cs typeface="+mj-cs"/>
            </a:endParaRPr>
          </a:p>
        </p:txBody>
      </p:sp>
      <p:pic>
        <p:nvPicPr>
          <p:cNvPr id="5" name="Afbeelding 4" descr="Afbeelding met tekst, handschrift, schoolbord, krijt&#10;&#10;Door AI gegenereerde inhoud is mogelijk onjuist.">
            <a:extLst>
              <a:ext uri="{FF2B5EF4-FFF2-40B4-BE49-F238E27FC236}">
                <a16:creationId xmlns:a16="http://schemas.microsoft.com/office/drawing/2014/main" id="{5A2FA0D7-9303-129D-7AE1-04E6D7F8C971}"/>
              </a:ext>
            </a:extLst>
          </p:cNvPr>
          <p:cNvPicPr>
            <a:picLocks noChangeAspect="1"/>
          </p:cNvPicPr>
          <p:nvPr/>
        </p:nvPicPr>
        <p:blipFill>
          <a:blip r:embed="rId3"/>
          <a:stretch>
            <a:fillRect/>
          </a:stretch>
        </p:blipFill>
        <p:spPr>
          <a:xfrm>
            <a:off x="131645" y="1356832"/>
            <a:ext cx="12058403" cy="5930718"/>
          </a:xfrm>
          <a:prstGeom prst="rect">
            <a:avLst/>
          </a:prstGeom>
        </p:spPr>
      </p:pic>
    </p:spTree>
    <p:extLst>
      <p:ext uri="{BB962C8B-B14F-4D97-AF65-F5344CB8AC3E}">
        <p14:creationId xmlns:p14="http://schemas.microsoft.com/office/powerpoint/2010/main" val="237312014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BD9EF4-FCDE-3F1A-9071-DCD0D64B68B2}"/>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14D27876-614E-CCD5-5142-A650DBF0B0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54E54DC-1740-D3A2-FB8E-A83B546FD1D2}"/>
              </a:ext>
            </a:extLst>
          </p:cNvPr>
          <p:cNvSpPr>
            <a:spLocks noGrp="1"/>
          </p:cNvSpPr>
          <p:nvPr>
            <p:ph type="title"/>
          </p:nvPr>
        </p:nvSpPr>
        <p:spPr>
          <a:xfrm>
            <a:off x="1994140" y="5137536"/>
            <a:ext cx="8203720" cy="732129"/>
          </a:xfrm>
        </p:spPr>
        <p:txBody>
          <a:bodyPr vert="horz" lIns="91440" tIns="45720" rIns="91440" bIns="45720" rtlCol="0" anchor="b">
            <a:normAutofit/>
          </a:bodyPr>
          <a:lstStyle/>
          <a:p>
            <a:pPr algn="ctr"/>
            <a:r>
              <a:rPr lang="en-US"/>
              <a:t>🔐Password Hashing🔑</a:t>
            </a:r>
          </a:p>
        </p:txBody>
      </p:sp>
      <p:pic>
        <p:nvPicPr>
          <p:cNvPr id="3" name="Afbeelding 2" descr="What is password hashing?">
            <a:extLst>
              <a:ext uri="{FF2B5EF4-FFF2-40B4-BE49-F238E27FC236}">
                <a16:creationId xmlns:a16="http://schemas.microsoft.com/office/drawing/2014/main" id="{41FF9EBE-3FA9-78C9-8143-55612E3D69AB}"/>
              </a:ext>
            </a:extLst>
          </p:cNvPr>
          <p:cNvPicPr>
            <a:picLocks noChangeAspect="1"/>
          </p:cNvPicPr>
          <p:nvPr/>
        </p:nvPicPr>
        <p:blipFill>
          <a:blip r:embed="rId2"/>
          <a:stretch>
            <a:fillRect/>
          </a:stretch>
        </p:blipFill>
        <p:spPr>
          <a:xfrm>
            <a:off x="1994140" y="994550"/>
            <a:ext cx="8202169" cy="3414153"/>
          </a:xfrm>
          <a:prstGeom prst="rect">
            <a:avLst/>
          </a:prstGeom>
        </p:spPr>
      </p:pic>
    </p:spTree>
    <p:extLst>
      <p:ext uri="{BB962C8B-B14F-4D97-AF65-F5344CB8AC3E}">
        <p14:creationId xmlns:p14="http://schemas.microsoft.com/office/powerpoint/2010/main" val="3988672840"/>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E8B3AD-AE17-3A73-D2EF-98E067250907}"/>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8D8B2BAA-6E2E-AF52-3419-95BDF8F3D5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A15F5DC-A0D5-9752-3250-D9055350D227}"/>
              </a:ext>
            </a:extLst>
          </p:cNvPr>
          <p:cNvSpPr>
            <a:spLocks noGrp="1"/>
          </p:cNvSpPr>
          <p:nvPr>
            <p:ph type="title"/>
          </p:nvPr>
        </p:nvSpPr>
        <p:spPr>
          <a:xfrm>
            <a:off x="176629" y="198647"/>
            <a:ext cx="8203720" cy="732129"/>
          </a:xfrm>
        </p:spPr>
        <p:txBody>
          <a:bodyPr vert="horz" lIns="91440" tIns="45720" rIns="91440" bIns="45720" rtlCol="0" anchor="b">
            <a:normAutofit/>
          </a:bodyPr>
          <a:lstStyle/>
          <a:p>
            <a:pPr algn="ctr"/>
            <a:r>
              <a:rPr lang="en-US"/>
              <a:t>🔐</a:t>
            </a:r>
            <a:r>
              <a:rPr lang="en-US" err="1"/>
              <a:t>Waarom</a:t>
            </a:r>
            <a:r>
              <a:rPr lang="en-US"/>
              <a:t> Password Hashing?🔑</a:t>
            </a:r>
          </a:p>
        </p:txBody>
      </p:sp>
      <p:sp>
        <p:nvSpPr>
          <p:cNvPr id="4" name="Tekstvak 3">
            <a:extLst>
              <a:ext uri="{FF2B5EF4-FFF2-40B4-BE49-F238E27FC236}">
                <a16:creationId xmlns:a16="http://schemas.microsoft.com/office/drawing/2014/main" id="{0D472EF7-88A2-4EA7-F455-96C2F7588D15}"/>
              </a:ext>
            </a:extLst>
          </p:cNvPr>
          <p:cNvSpPr txBox="1"/>
          <p:nvPr/>
        </p:nvSpPr>
        <p:spPr>
          <a:xfrm>
            <a:off x="277771" y="1000251"/>
            <a:ext cx="11907610" cy="452431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a:t>Wachtwoord: privé, geheim</a:t>
            </a:r>
          </a:p>
          <a:p>
            <a:pPr marL="285750" indent="-285750">
              <a:buFont typeface="Calibri"/>
              <a:buChar char="-"/>
            </a:pPr>
            <a:endParaRPr lang="nl-NL"/>
          </a:p>
          <a:p>
            <a:pPr marL="285750" indent="-285750">
              <a:buFont typeface="Calibri"/>
              <a:buChar char="-"/>
            </a:pPr>
            <a:r>
              <a:rPr lang="nl-NL"/>
              <a:t>Maar - Tekst in database: leesbaar, indien toegang</a:t>
            </a:r>
          </a:p>
          <a:p>
            <a:pPr marL="285750" indent="-285750">
              <a:buFont typeface="Calibri"/>
              <a:buChar char="-"/>
            </a:pPr>
            <a:endParaRPr lang="nl-NL"/>
          </a:p>
          <a:p>
            <a:pPr marL="285750" indent="-285750">
              <a:buFont typeface="Calibri"/>
              <a:buChar char="-"/>
            </a:pPr>
            <a:r>
              <a:rPr lang="nl-NL"/>
              <a:t>Bij </a:t>
            </a:r>
            <a:r>
              <a:rPr lang="nl-NL" err="1"/>
              <a:t>SQLi</a:t>
            </a:r>
            <a:r>
              <a:rPr lang="nl-NL"/>
              <a:t> aanvallen: datalekken komen vaak voor, ook bij grote bedrijven (checken op </a:t>
            </a:r>
            <a:r>
              <a:rPr lang="nl-NL" err="1"/>
              <a:t>HaveIBeenPwned</a:t>
            </a:r>
            <a:r>
              <a:rPr lang="nl-NL"/>
              <a:t>)</a:t>
            </a:r>
          </a:p>
          <a:p>
            <a:pPr marL="285750" indent="-285750">
              <a:buFont typeface="Calibri"/>
              <a:buChar char="-"/>
            </a:pPr>
            <a:endParaRPr lang="nl-NL"/>
          </a:p>
          <a:p>
            <a:pPr marL="285750" indent="-285750">
              <a:buFont typeface="Calibri"/>
              <a:buChar char="-"/>
            </a:pPr>
            <a:r>
              <a:rPr lang="nl-NL" err="1"/>
              <a:t>Leaks</a:t>
            </a:r>
            <a:r>
              <a:rPr lang="nl-NL"/>
              <a:t> resulteren vaak op het </a:t>
            </a:r>
            <a:r>
              <a:rPr lang="nl-NL" err="1"/>
              <a:t>darkweb</a:t>
            </a:r>
            <a:r>
              <a:rPr lang="nl-NL"/>
              <a:t> (toegankelijk voor iedereen)</a:t>
            </a:r>
          </a:p>
          <a:p>
            <a:endParaRPr lang="nl-NL"/>
          </a:p>
          <a:p>
            <a:r>
              <a:rPr lang="nl-NL"/>
              <a:t>=&gt; We willen schade beperken bij datalekken</a:t>
            </a:r>
          </a:p>
          <a:p>
            <a:r>
              <a:rPr lang="nl-NL"/>
              <a:t>Veel mensen gebruiken hetzelfde wachtwoord herhaaldelijk. Als userdata van Google gelekt wordt, dan is de toegang tot veel andere diensten OOK GECOMPROMITTEERD</a:t>
            </a:r>
          </a:p>
          <a:p>
            <a:endParaRPr lang="nl-NL"/>
          </a:p>
          <a:p>
            <a:r>
              <a:rPr lang="nl-NL"/>
              <a:t>"Oplossing" (geen echte oplossing): Wachtwoorden opslaan als </a:t>
            </a:r>
            <a:r>
              <a:rPr lang="nl-NL" err="1"/>
              <a:t>hash</a:t>
            </a:r>
            <a:endParaRPr lang="nl-NL"/>
          </a:p>
          <a:p>
            <a:endParaRPr lang="nl-NL"/>
          </a:p>
          <a:p>
            <a:r>
              <a:rPr lang="nl-NL"/>
              <a:t>Een </a:t>
            </a:r>
            <a:r>
              <a:rPr lang="nl-NL" err="1"/>
              <a:t>hash</a:t>
            </a:r>
            <a:r>
              <a:rPr lang="nl-NL"/>
              <a:t> is ONLEEBSAAR voor buitenstaanders: je kan het wachtwoord niet afleiden</a:t>
            </a:r>
          </a:p>
          <a:p>
            <a:endParaRPr lang="nl-NL"/>
          </a:p>
        </p:txBody>
      </p:sp>
      <p:pic>
        <p:nvPicPr>
          <p:cNvPr id="3" name="Afbeelding 2" descr="Top 10 Cybersecurity Memes">
            <a:extLst>
              <a:ext uri="{FF2B5EF4-FFF2-40B4-BE49-F238E27FC236}">
                <a16:creationId xmlns:a16="http://schemas.microsoft.com/office/drawing/2014/main" id="{5B4290EE-1A7F-FA4B-B565-3EE2BE311C4E}"/>
              </a:ext>
            </a:extLst>
          </p:cNvPr>
          <p:cNvPicPr>
            <a:picLocks noChangeAspect="1"/>
          </p:cNvPicPr>
          <p:nvPr/>
        </p:nvPicPr>
        <p:blipFill>
          <a:blip r:embed="rId2"/>
          <a:stretch>
            <a:fillRect/>
          </a:stretch>
        </p:blipFill>
        <p:spPr>
          <a:xfrm>
            <a:off x="10175256" y="99374"/>
            <a:ext cx="1634507" cy="1654712"/>
          </a:xfrm>
          <a:prstGeom prst="rect">
            <a:avLst/>
          </a:prstGeom>
        </p:spPr>
      </p:pic>
    </p:spTree>
    <p:extLst>
      <p:ext uri="{BB962C8B-B14F-4D97-AF65-F5344CB8AC3E}">
        <p14:creationId xmlns:p14="http://schemas.microsoft.com/office/powerpoint/2010/main" val="137590088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2C7C18-FBE2-F580-813E-24F5DF42A246}"/>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F0E93119-60E6-21CC-6C36-7D06336DB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2C66CAD-39D1-E085-9E8F-B287A1E13635}"/>
              </a:ext>
            </a:extLst>
          </p:cNvPr>
          <p:cNvSpPr>
            <a:spLocks noGrp="1"/>
          </p:cNvSpPr>
          <p:nvPr>
            <p:ph type="title"/>
          </p:nvPr>
        </p:nvSpPr>
        <p:spPr>
          <a:xfrm>
            <a:off x="1994140" y="142203"/>
            <a:ext cx="8203720" cy="732129"/>
          </a:xfrm>
        </p:spPr>
        <p:txBody>
          <a:bodyPr vert="horz" lIns="91440" tIns="45720" rIns="91440" bIns="45720" rtlCol="0" anchor="b">
            <a:normAutofit/>
          </a:bodyPr>
          <a:lstStyle/>
          <a:p>
            <a:pPr algn="ctr"/>
            <a:r>
              <a:rPr lang="en-US"/>
              <a:t>Hashing </a:t>
            </a:r>
            <a:r>
              <a:rPr lang="en-US" err="1"/>
              <a:t>Algoritmes</a:t>
            </a:r>
          </a:p>
        </p:txBody>
      </p:sp>
      <p:pic>
        <p:nvPicPr>
          <p:cNvPr id="3" name="Afbeelding 2" descr="What is password hashing?">
            <a:extLst>
              <a:ext uri="{FF2B5EF4-FFF2-40B4-BE49-F238E27FC236}">
                <a16:creationId xmlns:a16="http://schemas.microsoft.com/office/drawing/2014/main" id="{42249334-5403-2111-9099-9A92690574EC}"/>
              </a:ext>
            </a:extLst>
          </p:cNvPr>
          <p:cNvPicPr>
            <a:picLocks noChangeAspect="1"/>
          </p:cNvPicPr>
          <p:nvPr/>
        </p:nvPicPr>
        <p:blipFill>
          <a:blip r:embed="rId2"/>
          <a:stretch>
            <a:fillRect/>
          </a:stretch>
        </p:blipFill>
        <p:spPr>
          <a:xfrm>
            <a:off x="6295207" y="1017128"/>
            <a:ext cx="5334792" cy="2217531"/>
          </a:xfrm>
          <a:prstGeom prst="rect">
            <a:avLst/>
          </a:prstGeom>
        </p:spPr>
      </p:pic>
      <p:sp>
        <p:nvSpPr>
          <p:cNvPr id="4" name="Tekstvak 3">
            <a:extLst>
              <a:ext uri="{FF2B5EF4-FFF2-40B4-BE49-F238E27FC236}">
                <a16:creationId xmlns:a16="http://schemas.microsoft.com/office/drawing/2014/main" id="{41EAE565-0C67-220B-7455-6135377AA966}"/>
              </a:ext>
            </a:extLst>
          </p:cNvPr>
          <p:cNvSpPr txBox="1"/>
          <p:nvPr/>
        </p:nvSpPr>
        <p:spPr>
          <a:xfrm>
            <a:off x="121269" y="873237"/>
            <a:ext cx="6046974" cy="59093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b="1"/>
              <a:t>Frequent gebruikt:</a:t>
            </a:r>
          </a:p>
          <a:p>
            <a:endParaRPr lang="nl-NL"/>
          </a:p>
          <a:p>
            <a:pPr marL="285750" indent="-285750">
              <a:buFont typeface="Calibri"/>
              <a:buChar char="-"/>
            </a:pPr>
            <a:r>
              <a:rPr lang="nl-NL" err="1"/>
              <a:t>Bcrypt</a:t>
            </a:r>
            <a:endParaRPr lang="nl-NL"/>
          </a:p>
          <a:p>
            <a:pPr marL="285750" indent="-285750">
              <a:buFont typeface="Calibri"/>
              <a:buChar char="-"/>
            </a:pPr>
            <a:endParaRPr lang="nl-NL"/>
          </a:p>
          <a:p>
            <a:pPr marL="285750" indent="-285750">
              <a:buFont typeface="Calibri"/>
              <a:buChar char="-"/>
            </a:pPr>
            <a:r>
              <a:rPr lang="nl-NL"/>
              <a:t>SHA-128/256/512 (fix voor verouderde </a:t>
            </a:r>
            <a:r>
              <a:rPr lang="nl-NL" err="1"/>
              <a:t>algos</a:t>
            </a:r>
            <a:r>
              <a:rPr lang="nl-NL"/>
              <a:t>, niet inherent beter)</a:t>
            </a:r>
          </a:p>
          <a:p>
            <a:pPr marL="285750" indent="-285750">
              <a:buFont typeface="Calibri"/>
              <a:buChar char="-"/>
            </a:pPr>
            <a:endParaRPr lang="nl-NL"/>
          </a:p>
          <a:p>
            <a:pPr marL="285750" indent="-285750">
              <a:buFont typeface="Calibri"/>
              <a:buChar char="-"/>
            </a:pPr>
            <a:r>
              <a:rPr lang="nl-NL"/>
              <a:t>Argon2 (GPU </a:t>
            </a:r>
            <a:r>
              <a:rPr lang="nl-NL" err="1"/>
              <a:t>bruteforce</a:t>
            </a:r>
            <a:r>
              <a:rPr lang="nl-NL"/>
              <a:t> resistent)</a:t>
            </a:r>
          </a:p>
          <a:p>
            <a:pPr marL="285750" indent="-285750">
              <a:buFont typeface="Calibri"/>
              <a:buChar char="-"/>
            </a:pPr>
            <a:endParaRPr lang="nl-NL"/>
          </a:p>
          <a:p>
            <a:pPr marL="285750" indent="-285750">
              <a:buFont typeface="Calibri"/>
              <a:buChar char="-"/>
            </a:pPr>
            <a:r>
              <a:rPr lang="nl-NL" err="1"/>
              <a:t>Scrypt</a:t>
            </a:r>
            <a:r>
              <a:rPr lang="nl-NL"/>
              <a:t> (*) (</a:t>
            </a:r>
            <a:r>
              <a:rPr lang="nl-NL" err="1"/>
              <a:t>specialized</a:t>
            </a:r>
            <a:r>
              <a:rPr lang="nl-NL"/>
              <a:t> hardware resistent)</a:t>
            </a:r>
          </a:p>
          <a:p>
            <a:pPr marL="285750" indent="-285750">
              <a:buFont typeface="Calibri"/>
              <a:buChar char="-"/>
            </a:pPr>
            <a:endParaRPr lang="nl-NL"/>
          </a:p>
          <a:p>
            <a:endParaRPr lang="nl-NL"/>
          </a:p>
          <a:p>
            <a:pPr>
              <a:buFont typeface="Calibri"/>
            </a:pPr>
            <a:r>
              <a:rPr lang="nl-NL" b="1" err="1"/>
              <a:t>Cost</a:t>
            </a:r>
            <a:r>
              <a:rPr lang="nl-NL" b="1"/>
              <a:t> Factor:</a:t>
            </a:r>
            <a:r>
              <a:rPr lang="nl-NL"/>
              <a:t> een keuze die je maakt als compromis tussen performance (hoge factor + moeilijk </a:t>
            </a:r>
            <a:r>
              <a:rPr lang="nl-NL" err="1"/>
              <a:t>algo</a:t>
            </a:r>
            <a:r>
              <a:rPr lang="nl-NL"/>
              <a:t>: lang wachten bij account aanmaken) en veiligheid (hoge factor: lastiger te kraken)</a:t>
            </a:r>
          </a:p>
          <a:p>
            <a:pPr>
              <a:buFont typeface="Calibri"/>
            </a:pPr>
            <a:endParaRPr lang="nl-NL"/>
          </a:p>
          <a:p>
            <a:pPr>
              <a:buFont typeface="Calibri"/>
            </a:pPr>
            <a:r>
              <a:rPr lang="nl-NL"/>
              <a:t>Er zijn 2 methodes om wachtwoorden te kraken:</a:t>
            </a:r>
          </a:p>
          <a:p>
            <a:pPr marL="285750" indent="-285750">
              <a:buFont typeface="Calibri"/>
              <a:buChar char="-"/>
            </a:pPr>
            <a:r>
              <a:rPr lang="nl-NL"/>
              <a:t>Brute force: alle mogelijke opties proberen (kan lang duren in slechtste geval)</a:t>
            </a:r>
          </a:p>
          <a:p>
            <a:pPr marL="285750" indent="-285750">
              <a:buFont typeface="Calibri"/>
              <a:buChar char="-"/>
            </a:pPr>
            <a:r>
              <a:rPr lang="nl-NL" err="1"/>
              <a:t>Wordlists</a:t>
            </a:r>
            <a:r>
              <a:rPr lang="nl-NL"/>
              <a:t>: vaak gebruikte wachtwoorden </a:t>
            </a:r>
          </a:p>
        </p:txBody>
      </p:sp>
    </p:spTree>
    <p:extLst>
      <p:ext uri="{BB962C8B-B14F-4D97-AF65-F5344CB8AC3E}">
        <p14:creationId xmlns:p14="http://schemas.microsoft.com/office/powerpoint/2010/main" val="176450210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AF02D3-F99A-B357-53F5-8F6607F75B4B}"/>
              </a:ext>
            </a:extLst>
          </p:cNvPr>
          <p:cNvSpPr>
            <a:spLocks noGrp="1"/>
          </p:cNvSpPr>
          <p:nvPr>
            <p:ph type="title"/>
          </p:nvPr>
        </p:nvSpPr>
        <p:spPr/>
        <p:txBody>
          <a:bodyPr/>
          <a:lstStyle/>
          <a:p>
            <a:r>
              <a:rPr lang="nl-BE" dirty="0"/>
              <a:t>Voorbeeld: Anneke maakt een account op CoolsteWebshop.BE</a:t>
            </a:r>
          </a:p>
        </p:txBody>
      </p:sp>
      <p:sp>
        <p:nvSpPr>
          <p:cNvPr id="3" name="Tijdelijke aanduiding voor inhoud 2">
            <a:extLst>
              <a:ext uri="{FF2B5EF4-FFF2-40B4-BE49-F238E27FC236}">
                <a16:creationId xmlns:a16="http://schemas.microsoft.com/office/drawing/2014/main" id="{9EFE7E90-46E5-1A0F-BEE4-7C939E494B79}"/>
              </a:ext>
            </a:extLst>
          </p:cNvPr>
          <p:cNvSpPr>
            <a:spLocks noGrp="1"/>
          </p:cNvSpPr>
          <p:nvPr>
            <p:ph idx="1"/>
          </p:nvPr>
        </p:nvSpPr>
        <p:spPr>
          <a:xfrm>
            <a:off x="4936540" y="2705619"/>
            <a:ext cx="3970393" cy="985514"/>
          </a:xfrm>
        </p:spPr>
        <p:txBody>
          <a:bodyPr/>
          <a:lstStyle/>
          <a:p>
            <a:pPr marL="0" indent="0">
              <a:buNone/>
            </a:pPr>
            <a:r>
              <a:rPr lang="nl-BE" dirty="0"/>
              <a:t>User: </a:t>
            </a:r>
            <a:r>
              <a:rPr lang="nl-BE" dirty="0">
                <a:hlinkClick r:id="rId3"/>
              </a:rPr>
              <a:t>anneke@hotmail.com</a:t>
            </a:r>
            <a:endParaRPr lang="nl-BE" dirty="0"/>
          </a:p>
          <a:p>
            <a:pPr marL="0" indent="0">
              <a:buNone/>
            </a:pPr>
            <a:r>
              <a:rPr lang="nl-BE" dirty="0"/>
              <a:t>Pass: kat123</a:t>
            </a:r>
          </a:p>
        </p:txBody>
      </p:sp>
      <p:pic>
        <p:nvPicPr>
          <p:cNvPr id="1028" name="Picture 4" descr="Password - Free security icons">
            <a:extLst>
              <a:ext uri="{FF2B5EF4-FFF2-40B4-BE49-F238E27FC236}">
                <a16:creationId xmlns:a16="http://schemas.microsoft.com/office/drawing/2014/main" id="{317B65B4-A7A4-9048-0A52-0B23A09457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43615" y="3008242"/>
            <a:ext cx="2438400" cy="24384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Dark web - Free security icons">
            <a:extLst>
              <a:ext uri="{FF2B5EF4-FFF2-40B4-BE49-F238E27FC236}">
                <a16:creationId xmlns:a16="http://schemas.microsoft.com/office/drawing/2014/main" id="{78CA13C5-5453-1284-2522-158A6468C7E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306383" y="1818645"/>
            <a:ext cx="2257485" cy="2257485"/>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Online shop Generic Blue icon">
            <a:extLst>
              <a:ext uri="{FF2B5EF4-FFF2-40B4-BE49-F238E27FC236}">
                <a16:creationId xmlns:a16="http://schemas.microsoft.com/office/drawing/2014/main" id="{B00DD1DA-4434-0C31-1A95-7E2AA6BEBAC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6122" y="2155371"/>
            <a:ext cx="2438401" cy="2438401"/>
          </a:xfrm>
          <a:prstGeom prst="rect">
            <a:avLst/>
          </a:prstGeom>
          <a:noFill/>
          <a:extLst>
            <a:ext uri="{909E8E84-426E-40DD-AFC4-6F175D3DCCD1}">
              <a14:hiddenFill xmlns:a14="http://schemas.microsoft.com/office/drawing/2010/main">
                <a:solidFill>
                  <a:srgbClr val="FFFFFF"/>
                </a:solidFill>
              </a14:hiddenFill>
            </a:ext>
          </a:extLst>
        </p:spPr>
      </p:pic>
      <p:sp>
        <p:nvSpPr>
          <p:cNvPr id="7" name="Tekstvak 6">
            <a:extLst>
              <a:ext uri="{FF2B5EF4-FFF2-40B4-BE49-F238E27FC236}">
                <a16:creationId xmlns:a16="http://schemas.microsoft.com/office/drawing/2014/main" id="{3C6E42A6-7187-D2D2-FCB1-49B849DFCCCF}"/>
              </a:ext>
            </a:extLst>
          </p:cNvPr>
          <p:cNvSpPr txBox="1"/>
          <p:nvPr/>
        </p:nvSpPr>
        <p:spPr>
          <a:xfrm>
            <a:off x="965340" y="4593772"/>
            <a:ext cx="2531327" cy="369332"/>
          </a:xfrm>
          <a:prstGeom prst="rect">
            <a:avLst/>
          </a:prstGeom>
          <a:noFill/>
        </p:spPr>
        <p:txBody>
          <a:bodyPr wrap="square" rtlCol="0">
            <a:spAutoFit/>
          </a:bodyPr>
          <a:lstStyle/>
          <a:p>
            <a:r>
              <a:rPr lang="nl-BE" dirty="0"/>
              <a:t>CoolsteWebshop.BE</a:t>
            </a:r>
          </a:p>
        </p:txBody>
      </p:sp>
      <p:sp>
        <p:nvSpPr>
          <p:cNvPr id="8" name="Tekstvak 7">
            <a:extLst>
              <a:ext uri="{FF2B5EF4-FFF2-40B4-BE49-F238E27FC236}">
                <a16:creationId xmlns:a16="http://schemas.microsoft.com/office/drawing/2014/main" id="{63D9EDFA-F819-9C11-A06D-637F1AA4E4C5}"/>
              </a:ext>
            </a:extLst>
          </p:cNvPr>
          <p:cNvSpPr txBox="1"/>
          <p:nvPr/>
        </p:nvSpPr>
        <p:spPr>
          <a:xfrm>
            <a:off x="10019641" y="4227442"/>
            <a:ext cx="1371600" cy="369332"/>
          </a:xfrm>
          <a:prstGeom prst="rect">
            <a:avLst/>
          </a:prstGeom>
          <a:noFill/>
        </p:spPr>
        <p:txBody>
          <a:bodyPr wrap="square" rtlCol="0">
            <a:spAutoFit/>
          </a:bodyPr>
          <a:lstStyle/>
          <a:p>
            <a:r>
              <a:rPr lang="nl-BE" dirty="0" err="1"/>
              <a:t>DarkWeb</a:t>
            </a:r>
            <a:endParaRPr lang="nl-BE" dirty="0"/>
          </a:p>
        </p:txBody>
      </p:sp>
      <p:sp>
        <p:nvSpPr>
          <p:cNvPr id="9" name="Tekstvak 8">
            <a:extLst>
              <a:ext uri="{FF2B5EF4-FFF2-40B4-BE49-F238E27FC236}">
                <a16:creationId xmlns:a16="http://schemas.microsoft.com/office/drawing/2014/main" id="{1696E89F-C366-E671-32BA-F60D552E78C5}"/>
              </a:ext>
            </a:extLst>
          </p:cNvPr>
          <p:cNvSpPr txBox="1"/>
          <p:nvPr/>
        </p:nvSpPr>
        <p:spPr>
          <a:xfrm>
            <a:off x="4691743" y="5518275"/>
            <a:ext cx="3069771" cy="646331"/>
          </a:xfrm>
          <a:prstGeom prst="rect">
            <a:avLst/>
          </a:prstGeom>
          <a:noFill/>
        </p:spPr>
        <p:txBody>
          <a:bodyPr wrap="square" rtlCol="0">
            <a:spAutoFit/>
          </a:bodyPr>
          <a:lstStyle/>
          <a:p>
            <a:r>
              <a:rPr lang="nl-BE" dirty="0"/>
              <a:t>Website gehackt bv. door </a:t>
            </a:r>
            <a:r>
              <a:rPr lang="nl-BE" dirty="0" err="1"/>
              <a:t>SQLi</a:t>
            </a:r>
            <a:endParaRPr lang="nl-BE" dirty="0"/>
          </a:p>
        </p:txBody>
      </p:sp>
      <p:cxnSp>
        <p:nvCxnSpPr>
          <p:cNvPr id="11" name="Rechte verbindingslijn met pijl 10">
            <a:extLst>
              <a:ext uri="{FF2B5EF4-FFF2-40B4-BE49-F238E27FC236}">
                <a16:creationId xmlns:a16="http://schemas.microsoft.com/office/drawing/2014/main" id="{B83C6C60-FB6C-B59A-E617-5A3CED4AE055}"/>
              </a:ext>
            </a:extLst>
          </p:cNvPr>
          <p:cNvCxnSpPr>
            <a:cxnSpLocks/>
          </p:cNvCxnSpPr>
          <p:nvPr/>
        </p:nvCxnSpPr>
        <p:spPr>
          <a:xfrm>
            <a:off x="2198914" y="5446642"/>
            <a:ext cx="7293429" cy="0"/>
          </a:xfrm>
          <a:prstGeom prst="straightConnector1">
            <a:avLst/>
          </a:prstGeom>
          <a:ln w="19050" cap="flat" cmpd="sng" algn="ctr">
            <a:solidFill>
              <a:schemeClr val="accent3"/>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Rechte verbindingslijn met pijl 13">
            <a:extLst>
              <a:ext uri="{FF2B5EF4-FFF2-40B4-BE49-F238E27FC236}">
                <a16:creationId xmlns:a16="http://schemas.microsoft.com/office/drawing/2014/main" id="{42903187-6649-DB5E-186E-547F2D306BC3}"/>
              </a:ext>
            </a:extLst>
          </p:cNvPr>
          <p:cNvCxnSpPr>
            <a:cxnSpLocks/>
          </p:cNvCxnSpPr>
          <p:nvPr/>
        </p:nvCxnSpPr>
        <p:spPr>
          <a:xfrm>
            <a:off x="6603395" y="3619500"/>
            <a:ext cx="944638" cy="0"/>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p:pic>
        <p:nvPicPr>
          <p:cNvPr id="1042" name="Picture 18" descr="Chip encryption Generic color fill icon | Freepik">
            <a:extLst>
              <a:ext uri="{FF2B5EF4-FFF2-40B4-BE49-F238E27FC236}">
                <a16:creationId xmlns:a16="http://schemas.microsoft.com/office/drawing/2014/main" id="{BD83E21E-B4FD-56EA-8683-2408FA52134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821326" y="3110723"/>
            <a:ext cx="508776" cy="508776"/>
          </a:xfrm>
          <a:prstGeom prst="rect">
            <a:avLst/>
          </a:prstGeom>
          <a:noFill/>
          <a:extLst>
            <a:ext uri="{909E8E84-426E-40DD-AFC4-6F175D3DCCD1}">
              <a14:hiddenFill xmlns:a14="http://schemas.microsoft.com/office/drawing/2010/main">
                <a:solidFill>
                  <a:srgbClr val="FFFFFF"/>
                </a:solidFill>
              </a14:hiddenFill>
            </a:ext>
          </a:extLst>
        </p:spPr>
      </p:pic>
      <p:sp>
        <p:nvSpPr>
          <p:cNvPr id="16" name="Tekstvak 15">
            <a:extLst>
              <a:ext uri="{FF2B5EF4-FFF2-40B4-BE49-F238E27FC236}">
                <a16:creationId xmlns:a16="http://schemas.microsoft.com/office/drawing/2014/main" id="{48F8AD8F-F776-03A0-32F5-5D8B701677C4}"/>
              </a:ext>
            </a:extLst>
          </p:cNvPr>
          <p:cNvSpPr txBox="1"/>
          <p:nvPr/>
        </p:nvSpPr>
        <p:spPr>
          <a:xfrm>
            <a:off x="7524366" y="3250167"/>
            <a:ext cx="1176867" cy="369332"/>
          </a:xfrm>
          <a:prstGeom prst="rect">
            <a:avLst/>
          </a:prstGeom>
          <a:noFill/>
        </p:spPr>
        <p:txBody>
          <a:bodyPr wrap="square" rtlCol="0">
            <a:spAutoFit/>
          </a:bodyPr>
          <a:lstStyle/>
          <a:p>
            <a:r>
              <a:rPr lang="nl-BE" sz="900" dirty="0"/>
              <a:t>$2a$12$aEyCOurgM7</a:t>
            </a:r>
          </a:p>
        </p:txBody>
      </p:sp>
      <p:sp>
        <p:nvSpPr>
          <p:cNvPr id="17" name="Tijdelijke aanduiding voor inhoud 2">
            <a:extLst>
              <a:ext uri="{FF2B5EF4-FFF2-40B4-BE49-F238E27FC236}">
                <a16:creationId xmlns:a16="http://schemas.microsoft.com/office/drawing/2014/main" id="{C109EE3A-4CFD-6F2A-2B51-96D02AB20F48}"/>
              </a:ext>
            </a:extLst>
          </p:cNvPr>
          <p:cNvSpPr txBox="1">
            <a:spLocks/>
          </p:cNvSpPr>
          <p:nvPr/>
        </p:nvSpPr>
        <p:spPr>
          <a:xfrm>
            <a:off x="9306383" y="4593772"/>
            <a:ext cx="2913866" cy="646331"/>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nl-BE" dirty="0"/>
              <a:t>User: </a:t>
            </a:r>
            <a:r>
              <a:rPr lang="nl-BE" dirty="0">
                <a:hlinkClick r:id="rId3"/>
              </a:rPr>
              <a:t>anneke@hotmail.com</a:t>
            </a:r>
            <a:endParaRPr lang="nl-BE" dirty="0"/>
          </a:p>
          <a:p>
            <a:pPr marL="0" indent="0">
              <a:buNone/>
            </a:pPr>
            <a:r>
              <a:rPr lang="nl-BE" dirty="0" err="1"/>
              <a:t>Pass_hash</a:t>
            </a:r>
            <a:r>
              <a:rPr lang="nl-BE" dirty="0"/>
              <a:t>: </a:t>
            </a:r>
            <a:r>
              <a:rPr lang="nl-BE" sz="1400" dirty="0"/>
              <a:t>$2a$12$aEyCOurgM7</a:t>
            </a:r>
          </a:p>
          <a:p>
            <a:pPr marL="0" indent="0">
              <a:buFont typeface="Arial" panose="020B0604020202020204" pitchFamily="34" charset="0"/>
              <a:buNone/>
            </a:pPr>
            <a:endParaRPr lang="nl-BE" dirty="0"/>
          </a:p>
        </p:txBody>
      </p:sp>
    </p:spTree>
    <p:extLst>
      <p:ext uri="{BB962C8B-B14F-4D97-AF65-F5344CB8AC3E}">
        <p14:creationId xmlns:p14="http://schemas.microsoft.com/office/powerpoint/2010/main" val="1126651703"/>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F7A9903-03C6-2A98-D677-365C1411F891}"/>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8207B083-EAC0-A5BB-C369-C9589EC7F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76D08A6-0482-DC13-D2A6-17F8DC196E8D}"/>
              </a:ext>
            </a:extLst>
          </p:cNvPr>
          <p:cNvSpPr>
            <a:spLocks noGrp="1"/>
          </p:cNvSpPr>
          <p:nvPr>
            <p:ph type="title"/>
          </p:nvPr>
        </p:nvSpPr>
        <p:spPr>
          <a:xfrm>
            <a:off x="202633" y="72926"/>
            <a:ext cx="10872216" cy="844071"/>
          </a:xfrm>
        </p:spPr>
        <p:txBody>
          <a:bodyPr vert="horz" lIns="91440" tIns="45720" rIns="91440" bIns="45720" rtlCol="0" anchor="b">
            <a:normAutofit/>
          </a:bodyPr>
          <a:lstStyle/>
          <a:p>
            <a:r>
              <a:rPr lang="en-US" b="1" kern="1200" dirty="0" err="1">
                <a:solidFill>
                  <a:schemeClr val="tx1"/>
                </a:solidFill>
                <a:latin typeface="+mj-lt"/>
                <a:ea typeface="+mj-ea"/>
                <a:cs typeface="+mj-cs"/>
              </a:rPr>
              <a:t>Wachtwoordhashes</a:t>
            </a:r>
            <a:r>
              <a:rPr lang="en-US" b="1" kern="1200" dirty="0">
                <a:solidFill>
                  <a:schemeClr val="tx1"/>
                </a:solidFill>
                <a:latin typeface="+mj-lt"/>
                <a:ea typeface="+mj-ea"/>
                <a:cs typeface="+mj-cs"/>
              </a:rPr>
              <a:t> "kraken"</a:t>
            </a:r>
          </a:p>
        </p:txBody>
      </p:sp>
      <p:pic>
        <p:nvPicPr>
          <p:cNvPr id="5" name="Afbeelding 4" descr="The 2025 Hive Systems Password Table Is Here - Passwords Are Easier to  Crack Than Ever">
            <a:extLst>
              <a:ext uri="{FF2B5EF4-FFF2-40B4-BE49-F238E27FC236}">
                <a16:creationId xmlns:a16="http://schemas.microsoft.com/office/drawing/2014/main" id="{096540FB-CAFE-5FCC-3264-5F922A4EDB19}"/>
              </a:ext>
            </a:extLst>
          </p:cNvPr>
          <p:cNvPicPr>
            <a:picLocks noChangeAspect="1"/>
          </p:cNvPicPr>
          <p:nvPr/>
        </p:nvPicPr>
        <p:blipFill>
          <a:blip r:embed="rId3"/>
          <a:stretch>
            <a:fillRect/>
          </a:stretch>
        </p:blipFill>
        <p:spPr>
          <a:xfrm>
            <a:off x="202634" y="1255941"/>
            <a:ext cx="3817941" cy="3817941"/>
          </a:xfrm>
          <a:prstGeom prst="rect">
            <a:avLst/>
          </a:prstGeom>
        </p:spPr>
      </p:pic>
      <p:sp>
        <p:nvSpPr>
          <p:cNvPr id="4" name="Tekstvak 3">
            <a:extLst>
              <a:ext uri="{FF2B5EF4-FFF2-40B4-BE49-F238E27FC236}">
                <a16:creationId xmlns:a16="http://schemas.microsoft.com/office/drawing/2014/main" id="{69C2D0BD-34F2-5EF6-6EFB-7E5F8505E7D1}"/>
              </a:ext>
            </a:extLst>
          </p:cNvPr>
          <p:cNvSpPr txBox="1"/>
          <p:nvPr/>
        </p:nvSpPr>
        <p:spPr>
          <a:xfrm>
            <a:off x="4126089" y="911629"/>
            <a:ext cx="7875016" cy="5866875"/>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a:lnSpc>
                <a:spcPct val="120000"/>
              </a:lnSpc>
              <a:spcAft>
                <a:spcPts val="600"/>
              </a:spcAft>
            </a:pPr>
            <a:r>
              <a:rPr lang="en-US" dirty="0"/>
              <a:t>Er </a:t>
            </a:r>
            <a:r>
              <a:rPr lang="en-US" dirty="0" err="1"/>
              <a:t>zijn</a:t>
            </a:r>
            <a:r>
              <a:rPr lang="en-US" dirty="0"/>
              <a:t> 2 </a:t>
            </a:r>
            <a:r>
              <a:rPr lang="en-US" dirty="0" err="1"/>
              <a:t>methodes</a:t>
            </a:r>
            <a:r>
              <a:rPr lang="en-US" dirty="0"/>
              <a:t> om de </a:t>
            </a:r>
            <a:r>
              <a:rPr lang="en-US" dirty="0" err="1"/>
              <a:t>inhoud</a:t>
            </a:r>
            <a:r>
              <a:rPr lang="en-US" dirty="0"/>
              <a:t> achter </a:t>
            </a:r>
            <a:r>
              <a:rPr lang="en-US" dirty="0" err="1"/>
              <a:t>aan</a:t>
            </a:r>
            <a:r>
              <a:rPr lang="en-US" dirty="0"/>
              <a:t> hash </a:t>
            </a:r>
            <a:r>
              <a:rPr lang="en-US" dirty="0" err="1"/>
              <a:t>te</a:t>
            </a:r>
            <a:r>
              <a:rPr lang="en-US" dirty="0"/>
              <a:t> </a:t>
            </a:r>
            <a:r>
              <a:rPr lang="en-US" dirty="0" err="1"/>
              <a:t>achterhalen</a:t>
            </a:r>
            <a:r>
              <a:rPr lang="en-US" dirty="0"/>
              <a:t>:</a:t>
            </a:r>
          </a:p>
          <a:p>
            <a:pPr marL="285750" indent="-228600">
              <a:lnSpc>
                <a:spcPct val="120000"/>
              </a:lnSpc>
              <a:spcAft>
                <a:spcPts val="600"/>
              </a:spcAft>
              <a:buFont typeface="Arial" panose="020B0604020202020204" pitchFamily="34" charset="0"/>
              <a:buChar char="•"/>
            </a:pPr>
            <a:r>
              <a:rPr lang="en-US" dirty="0"/>
              <a:t>1) </a:t>
            </a:r>
            <a:r>
              <a:rPr lang="en-US" b="1" dirty="0"/>
              <a:t>Brute force</a:t>
            </a:r>
            <a:r>
              <a:rPr lang="en-US" dirty="0"/>
              <a:t>: alle </a:t>
            </a:r>
            <a:r>
              <a:rPr lang="en-US" dirty="0" err="1"/>
              <a:t>mogelijke</a:t>
            </a:r>
            <a:r>
              <a:rPr lang="en-US" dirty="0"/>
              <a:t> </a:t>
            </a:r>
            <a:r>
              <a:rPr lang="en-US" dirty="0" err="1"/>
              <a:t>opties</a:t>
            </a:r>
            <a:r>
              <a:rPr lang="en-US" dirty="0"/>
              <a:t> </a:t>
            </a:r>
            <a:r>
              <a:rPr lang="en-US" dirty="0" err="1"/>
              <a:t>proberen</a:t>
            </a:r>
            <a:r>
              <a:rPr lang="en-US" dirty="0"/>
              <a:t> (</a:t>
            </a:r>
            <a:r>
              <a:rPr lang="en-US" dirty="0" err="1"/>
              <a:t>kan</a:t>
            </a:r>
            <a:r>
              <a:rPr lang="en-US" dirty="0"/>
              <a:t> lang </a:t>
            </a:r>
            <a:r>
              <a:rPr lang="en-US" dirty="0" err="1"/>
              <a:t>duren</a:t>
            </a:r>
            <a:r>
              <a:rPr lang="en-US" dirty="0"/>
              <a:t> in </a:t>
            </a:r>
            <a:r>
              <a:rPr lang="en-US" dirty="0" err="1"/>
              <a:t>slechtste</a:t>
            </a:r>
            <a:r>
              <a:rPr lang="en-US" dirty="0"/>
              <a:t> </a:t>
            </a:r>
            <a:r>
              <a:rPr lang="en-US" dirty="0" err="1"/>
              <a:t>geval</a:t>
            </a:r>
            <a:r>
              <a:rPr lang="en-US" dirty="0"/>
              <a:t>)</a:t>
            </a:r>
          </a:p>
          <a:p>
            <a:pPr marL="285750" indent="-228600">
              <a:lnSpc>
                <a:spcPct val="120000"/>
              </a:lnSpc>
              <a:spcAft>
                <a:spcPts val="600"/>
              </a:spcAft>
              <a:buFont typeface="Arial"/>
              <a:buChar char="•"/>
            </a:pPr>
            <a:endParaRPr lang="en-US" dirty="0"/>
          </a:p>
          <a:p>
            <a:pPr marL="285750" indent="-228600">
              <a:lnSpc>
                <a:spcPct val="120000"/>
              </a:lnSpc>
              <a:spcAft>
                <a:spcPts val="600"/>
              </a:spcAft>
              <a:buFont typeface="Arial"/>
              <a:buChar char="•"/>
            </a:pPr>
            <a:r>
              <a:rPr lang="en-US" dirty="0"/>
              <a:t>2) </a:t>
            </a:r>
            <a:r>
              <a:rPr lang="en-US" b="1" dirty="0"/>
              <a:t>Wordlists</a:t>
            </a:r>
            <a:r>
              <a:rPr lang="en-US" dirty="0"/>
              <a:t>: </a:t>
            </a:r>
            <a:r>
              <a:rPr lang="en-US" dirty="0" err="1"/>
              <a:t>vaak</a:t>
            </a:r>
            <a:r>
              <a:rPr lang="en-US" dirty="0"/>
              <a:t> </a:t>
            </a:r>
            <a:r>
              <a:rPr lang="en-US" dirty="0" err="1"/>
              <a:t>gebruikte</a:t>
            </a:r>
            <a:r>
              <a:rPr lang="en-US" dirty="0"/>
              <a:t> </a:t>
            </a:r>
            <a:r>
              <a:rPr lang="en-US" dirty="0" err="1"/>
              <a:t>wachtwoorden</a:t>
            </a:r>
            <a:r>
              <a:rPr lang="en-US" dirty="0"/>
              <a:t> </a:t>
            </a:r>
            <a:r>
              <a:rPr lang="en-US" dirty="0" err="1"/>
              <a:t>proberen</a:t>
            </a:r>
            <a:r>
              <a:rPr lang="en-US" dirty="0"/>
              <a:t> (kang heel </a:t>
            </a:r>
            <a:r>
              <a:rPr lang="en-US" dirty="0" err="1"/>
              <a:t>snel</a:t>
            </a:r>
            <a:r>
              <a:rPr lang="en-US" dirty="0"/>
              <a:t> in het </a:t>
            </a:r>
            <a:r>
              <a:rPr lang="en-US" dirty="0" err="1"/>
              <a:t>beste</a:t>
            </a:r>
            <a:r>
              <a:rPr lang="en-US" dirty="0"/>
              <a:t> </a:t>
            </a:r>
            <a:r>
              <a:rPr lang="en-US" dirty="0" err="1"/>
              <a:t>geval</a:t>
            </a:r>
            <a:r>
              <a:rPr lang="en-US" dirty="0"/>
              <a:t>)</a:t>
            </a:r>
          </a:p>
          <a:p>
            <a:pPr marL="285750" indent="-228600">
              <a:lnSpc>
                <a:spcPct val="120000"/>
              </a:lnSpc>
              <a:spcAft>
                <a:spcPts val="600"/>
              </a:spcAft>
              <a:buFont typeface="Arial"/>
              <a:buChar char="•"/>
            </a:pPr>
            <a:endParaRPr lang="en-US" dirty="0"/>
          </a:p>
          <a:p>
            <a:pPr marL="285750" indent="-285750">
              <a:buFont typeface="Arial"/>
              <a:buChar char="•"/>
            </a:pPr>
            <a:r>
              <a:rPr lang="nl-NL" dirty="0"/>
              <a:t>Er zijn wél verschillen in de sterkte van elk </a:t>
            </a:r>
            <a:r>
              <a:rPr lang="nl-NL" dirty="0" err="1"/>
              <a:t>hashing</a:t>
            </a:r>
            <a:r>
              <a:rPr lang="nl-NL" dirty="0"/>
              <a:t> algoritme. </a:t>
            </a:r>
            <a:endParaRPr lang="en-US" dirty="0"/>
          </a:p>
          <a:p>
            <a:pPr marL="285750" indent="-285750">
              <a:buFont typeface="Arial"/>
              <a:buChar char="•"/>
            </a:pPr>
            <a:endParaRPr lang="nl-NL" dirty="0"/>
          </a:p>
          <a:p>
            <a:pPr marL="285750" indent="-285750">
              <a:buFont typeface="Arial"/>
              <a:buChar char="•"/>
            </a:pPr>
            <a:r>
              <a:rPr lang="nl-NL" dirty="0"/>
              <a:t>Te zwak? Je kan de </a:t>
            </a:r>
            <a:r>
              <a:rPr lang="nl-NL" dirty="0" err="1"/>
              <a:t>hash</a:t>
            </a:r>
            <a:r>
              <a:rPr lang="nl-NL" dirty="0"/>
              <a:t> zelfs kraken met consumentenapparatuur (</a:t>
            </a:r>
            <a:r>
              <a:rPr lang="nl-NL" dirty="0" err="1"/>
              <a:t>bvb</a:t>
            </a:r>
            <a:r>
              <a:rPr lang="nl-NL" dirty="0"/>
              <a:t> met NVIDIA </a:t>
            </a:r>
            <a:r>
              <a:rPr lang="nl-NL" dirty="0" err="1"/>
              <a:t>GPUs</a:t>
            </a:r>
            <a:r>
              <a:rPr lang="nl-NL" dirty="0"/>
              <a:t>, die veel CUDA </a:t>
            </a:r>
            <a:r>
              <a:rPr lang="nl-NL" dirty="0" err="1"/>
              <a:t>Cores</a:t>
            </a:r>
            <a:r>
              <a:rPr lang="nl-NL" dirty="0"/>
              <a:t> hebben).</a:t>
            </a:r>
            <a:endParaRPr lang="en-US" dirty="0"/>
          </a:p>
          <a:p>
            <a:pPr marL="285750" indent="-285750">
              <a:buFont typeface="Arial"/>
              <a:buChar char="•"/>
            </a:pPr>
            <a:endParaRPr lang="nl-NL" dirty="0"/>
          </a:p>
          <a:p>
            <a:pPr marL="285750" indent="-285750">
              <a:buFont typeface="Calibri,Sans-Serif"/>
              <a:buChar char="-"/>
            </a:pPr>
            <a:r>
              <a:rPr lang="nl-NL" dirty="0"/>
              <a:t>Wachtwoorden moeten ook lang genoeg zijn. </a:t>
            </a:r>
            <a:endParaRPr lang="en-US" dirty="0"/>
          </a:p>
          <a:p>
            <a:pPr marL="285750" indent="-285750">
              <a:buFont typeface="Calibri,Sans-Serif"/>
              <a:buChar char="-"/>
            </a:pPr>
            <a:r>
              <a:rPr lang="nl-NL" dirty="0"/>
              <a:t>&lt;=8 karakters (zwak) MD5 (zwak) kraken met </a:t>
            </a:r>
            <a:r>
              <a:rPr lang="nl-NL" dirty="0" err="1"/>
              <a:t>bvb</a:t>
            </a:r>
            <a:r>
              <a:rPr lang="nl-NL" dirty="0"/>
              <a:t> RTX xx80/xx90 (10.2K+ CUDA): binnen enkele minuten (</a:t>
            </a:r>
            <a:r>
              <a:rPr lang="nl-NL" dirty="0" err="1"/>
              <a:t>bruteforce</a:t>
            </a:r>
            <a:r>
              <a:rPr lang="nl-NL" dirty="0"/>
              <a:t>!)</a:t>
            </a:r>
            <a:endParaRPr lang="en-US" dirty="0"/>
          </a:p>
          <a:p>
            <a:pPr marL="285750" indent="-228600">
              <a:lnSpc>
                <a:spcPct val="120000"/>
              </a:lnSpc>
              <a:spcAft>
                <a:spcPts val="600"/>
              </a:spcAft>
              <a:buFont typeface="Arial"/>
              <a:buChar char="•"/>
            </a:pPr>
            <a:endParaRPr lang="en-US" dirty="0"/>
          </a:p>
        </p:txBody>
      </p:sp>
    </p:spTree>
    <p:extLst>
      <p:ext uri="{BB962C8B-B14F-4D97-AF65-F5344CB8AC3E}">
        <p14:creationId xmlns:p14="http://schemas.microsoft.com/office/powerpoint/2010/main" val="99612878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CA4BE2-D486-E891-CD23-1F3972D840E3}"/>
            </a:ext>
          </a:extLst>
        </p:cNvPr>
        <p:cNvGrpSpPr/>
        <p:nvPr/>
      </p:nvGrpSpPr>
      <p:grpSpPr>
        <a:xfrm>
          <a:off x="0" y="0"/>
          <a:ext cx="0" cy="0"/>
          <a:chOff x="0" y="0"/>
          <a:chExt cx="0" cy="0"/>
        </a:xfrm>
      </p:grpSpPr>
      <p:sp>
        <p:nvSpPr>
          <p:cNvPr id="81" name="Rectangle 80">
            <a:extLst>
              <a:ext uri="{FF2B5EF4-FFF2-40B4-BE49-F238E27FC236}">
                <a16:creationId xmlns:a16="http://schemas.microsoft.com/office/drawing/2014/main" id="{F32DA861-71EB-E1B1-AA66-7E2BF61F2E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2E9B64E8-9189-80E6-9866-02BC40EB8064}"/>
              </a:ext>
            </a:extLst>
          </p:cNvPr>
          <p:cNvSpPr>
            <a:spLocks noGrp="1"/>
          </p:cNvSpPr>
          <p:nvPr>
            <p:ph type="title"/>
          </p:nvPr>
        </p:nvSpPr>
        <p:spPr>
          <a:xfrm>
            <a:off x="124914" y="194335"/>
            <a:ext cx="6140462" cy="1129140"/>
          </a:xfrm>
        </p:spPr>
        <p:txBody>
          <a:bodyPr vert="horz" lIns="91440" tIns="45720" rIns="91440" bIns="45720" rtlCol="0" anchor="b">
            <a:normAutofit/>
          </a:bodyPr>
          <a:lstStyle/>
          <a:p>
            <a:r>
              <a:rPr lang="en-US" b="1" kern="1200" dirty="0" err="1">
                <a:solidFill>
                  <a:schemeClr val="tx1"/>
                </a:solidFill>
                <a:latin typeface="+mj-lt"/>
                <a:ea typeface="+mj-ea"/>
                <a:cs typeface="+mj-cs"/>
              </a:rPr>
              <a:t>Wachtwoordhashes</a:t>
            </a:r>
            <a:r>
              <a:rPr lang="en-US" b="1" kern="1200" dirty="0">
                <a:solidFill>
                  <a:schemeClr val="tx1"/>
                </a:solidFill>
                <a:latin typeface="+mj-lt"/>
                <a:ea typeface="+mj-ea"/>
                <a:cs typeface="+mj-cs"/>
              </a:rPr>
              <a:t> "kraken": In de </a:t>
            </a:r>
            <a:r>
              <a:rPr lang="en-US" b="1" kern="1200" dirty="0" err="1">
                <a:solidFill>
                  <a:schemeClr val="tx1"/>
                </a:solidFill>
                <a:latin typeface="+mj-lt"/>
                <a:ea typeface="+mj-ea"/>
                <a:cs typeface="+mj-cs"/>
              </a:rPr>
              <a:t>praktijk</a:t>
            </a:r>
            <a:endParaRPr lang="en-US" b="1" kern="1200" dirty="0">
              <a:solidFill>
                <a:schemeClr val="tx1"/>
              </a:solidFill>
              <a:latin typeface="+mj-lt"/>
              <a:ea typeface="+mj-ea"/>
              <a:cs typeface="+mj-cs"/>
            </a:endParaRPr>
          </a:p>
        </p:txBody>
      </p:sp>
      <p:sp>
        <p:nvSpPr>
          <p:cNvPr id="3" name="Tekstvak 2">
            <a:extLst>
              <a:ext uri="{FF2B5EF4-FFF2-40B4-BE49-F238E27FC236}">
                <a16:creationId xmlns:a16="http://schemas.microsoft.com/office/drawing/2014/main" id="{D59647FB-B20E-B6F7-96FC-4FBABB50F2F4}"/>
              </a:ext>
            </a:extLst>
          </p:cNvPr>
          <p:cNvSpPr txBox="1"/>
          <p:nvPr/>
        </p:nvSpPr>
        <p:spPr>
          <a:xfrm>
            <a:off x="278305" y="1515173"/>
            <a:ext cx="6140462" cy="4096512"/>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a:lnSpc>
                <a:spcPct val="120000"/>
              </a:lnSpc>
              <a:spcAft>
                <a:spcPts val="600"/>
              </a:spcAft>
            </a:pPr>
            <a:r>
              <a:rPr lang="en-US" dirty="0"/>
              <a:t>Tools </a:t>
            </a:r>
            <a:r>
              <a:rPr lang="en-US" err="1"/>
              <a:t>zoals</a:t>
            </a:r>
            <a:r>
              <a:rPr lang="en-US" dirty="0"/>
              <a:t>:</a:t>
            </a:r>
            <a:endParaRPr lang="en-US"/>
          </a:p>
          <a:p>
            <a:pPr marL="285750" indent="-228600">
              <a:lnSpc>
                <a:spcPct val="120000"/>
              </a:lnSpc>
              <a:spcAft>
                <a:spcPts val="600"/>
              </a:spcAft>
              <a:buFont typeface="Arial" panose="020B0604020202020204" pitchFamily="34" charset="0"/>
              <a:buChar char="•"/>
            </a:pPr>
            <a:r>
              <a:rPr lang="en-US" b="1" dirty="0" err="1"/>
              <a:t>Fitcrack</a:t>
            </a:r>
            <a:r>
              <a:rPr lang="en-US" b="1" dirty="0"/>
              <a:t> </a:t>
            </a:r>
            <a:r>
              <a:rPr lang="en-US" dirty="0"/>
              <a:t>(BOINC distributed computing + management layer)</a:t>
            </a:r>
          </a:p>
          <a:p>
            <a:pPr marL="285750" indent="-228600">
              <a:lnSpc>
                <a:spcPct val="120000"/>
              </a:lnSpc>
              <a:spcAft>
                <a:spcPts val="600"/>
              </a:spcAft>
              <a:buFont typeface="Arial" panose="020B0604020202020204" pitchFamily="34" charset="0"/>
              <a:buChar char="•"/>
            </a:pPr>
            <a:r>
              <a:rPr lang="en-US" b="1" dirty="0" err="1"/>
              <a:t>Hashtopolis</a:t>
            </a:r>
            <a:endParaRPr lang="en-US" b="1" dirty="0"/>
          </a:p>
        </p:txBody>
      </p:sp>
      <p:pic>
        <p:nvPicPr>
          <p:cNvPr id="7" name="Afbeelding 6" descr="Afbeelding met tekst, schermopname, diagram, Perceel&#10;&#10;Door AI gegenereerde inhoud is mogelijk onjuist.">
            <a:extLst>
              <a:ext uri="{FF2B5EF4-FFF2-40B4-BE49-F238E27FC236}">
                <a16:creationId xmlns:a16="http://schemas.microsoft.com/office/drawing/2014/main" id="{54365FF2-D675-BFE9-8F26-1CE0F7F0778D}"/>
              </a:ext>
            </a:extLst>
          </p:cNvPr>
          <p:cNvPicPr>
            <a:picLocks noChangeAspect="1"/>
          </p:cNvPicPr>
          <p:nvPr/>
        </p:nvPicPr>
        <p:blipFill>
          <a:blip r:embed="rId2"/>
          <a:stretch>
            <a:fillRect/>
          </a:stretch>
        </p:blipFill>
        <p:spPr>
          <a:xfrm>
            <a:off x="5554931" y="1463912"/>
            <a:ext cx="6637050" cy="4194201"/>
          </a:xfrm>
          <a:prstGeom prst="rect">
            <a:avLst/>
          </a:prstGeom>
        </p:spPr>
      </p:pic>
    </p:spTree>
    <p:extLst>
      <p:ext uri="{BB962C8B-B14F-4D97-AF65-F5344CB8AC3E}">
        <p14:creationId xmlns:p14="http://schemas.microsoft.com/office/powerpoint/2010/main" val="17659453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E8E3B8E-1A67-5EB4-685F-51C80CE3E60B}"/>
            </a:ext>
          </a:extLst>
        </p:cNvPr>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6DA9942F-A18C-9E9D-BF08-9291C54E1C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204A0C6-D32A-D499-936E-BA6B2A3B814F}"/>
              </a:ext>
            </a:extLst>
          </p:cNvPr>
          <p:cNvSpPr>
            <a:spLocks noGrp="1"/>
          </p:cNvSpPr>
          <p:nvPr>
            <p:ph type="title"/>
          </p:nvPr>
        </p:nvSpPr>
        <p:spPr>
          <a:xfrm>
            <a:off x="2809809" y="193661"/>
            <a:ext cx="6572382" cy="1233390"/>
          </a:xfrm>
        </p:spPr>
        <p:txBody>
          <a:bodyPr vert="horz" lIns="91440" tIns="45720" rIns="91440" bIns="45720" rtlCol="0" anchor="b">
            <a:normAutofit fontScale="90000"/>
          </a:bodyPr>
          <a:lstStyle/>
          <a:p>
            <a:pPr algn="ctr"/>
            <a:r>
              <a:rPr lang="en-US" sz="3100" b="0" dirty="0" err="1"/>
              <a:t>Wachtwoorden</a:t>
            </a:r>
            <a:r>
              <a:rPr lang="en-US" sz="3100" b="0" dirty="0"/>
              <a:t> "kraken": In de </a:t>
            </a:r>
            <a:r>
              <a:rPr lang="en-US" sz="3100" b="0" dirty="0" err="1"/>
              <a:t>praktijk</a:t>
            </a:r>
            <a:br>
              <a:rPr lang="en-US" sz="3100" b="0" dirty="0"/>
            </a:br>
            <a:r>
              <a:rPr lang="en-US" sz="3100" b="0" dirty="0" err="1"/>
              <a:t>Overzicht</a:t>
            </a:r>
            <a:r>
              <a:rPr lang="en-US" sz="3100" b="0" dirty="0"/>
              <a:t> </a:t>
            </a:r>
            <a:r>
              <a:rPr lang="en-US" sz="3100" b="0" dirty="0" err="1"/>
              <a:t>architectuur</a:t>
            </a:r>
            <a:r>
              <a:rPr lang="en-US" sz="3100" b="0" dirty="0"/>
              <a:t> </a:t>
            </a:r>
            <a:r>
              <a:rPr lang="en-US" sz="3100" b="0" dirty="0" err="1"/>
              <a:t>Fitcrack</a:t>
            </a:r>
            <a:endParaRPr lang="en-US" sz="3100" b="0" dirty="0"/>
          </a:p>
        </p:txBody>
      </p:sp>
      <p:pic>
        <p:nvPicPr>
          <p:cNvPr id="4" name="Afbeelding 3" descr="Afbeelding met tekst, schermopname, diagram&#10;&#10;Door AI gegenereerde inhoud is mogelijk onjuist.">
            <a:extLst>
              <a:ext uri="{FF2B5EF4-FFF2-40B4-BE49-F238E27FC236}">
                <a16:creationId xmlns:a16="http://schemas.microsoft.com/office/drawing/2014/main" id="{D4EAC6A4-B28E-4D11-2EDC-ADC253733D4D}"/>
              </a:ext>
            </a:extLst>
          </p:cNvPr>
          <p:cNvPicPr>
            <a:picLocks noChangeAspect="1"/>
          </p:cNvPicPr>
          <p:nvPr/>
        </p:nvPicPr>
        <p:blipFill>
          <a:blip r:embed="rId2"/>
          <a:stretch>
            <a:fillRect/>
          </a:stretch>
        </p:blipFill>
        <p:spPr>
          <a:xfrm>
            <a:off x="5084704" y="1716933"/>
            <a:ext cx="6885834" cy="4764801"/>
          </a:xfrm>
          <a:prstGeom prst="rect">
            <a:avLst/>
          </a:prstGeom>
        </p:spPr>
      </p:pic>
      <p:pic>
        <p:nvPicPr>
          <p:cNvPr id="5" name="Afbeelding 4" descr="Afbeelding met tekst, schermopname, diagram, ontwerp&#10;&#10;Door AI gegenereerde inhoud is mogelijk onjuist.">
            <a:extLst>
              <a:ext uri="{FF2B5EF4-FFF2-40B4-BE49-F238E27FC236}">
                <a16:creationId xmlns:a16="http://schemas.microsoft.com/office/drawing/2014/main" id="{CFB36DD7-8BE8-4D43-9A05-4BCE30F7A010}"/>
              </a:ext>
            </a:extLst>
          </p:cNvPr>
          <p:cNvPicPr>
            <a:picLocks noChangeAspect="1"/>
          </p:cNvPicPr>
          <p:nvPr/>
        </p:nvPicPr>
        <p:blipFill>
          <a:blip r:embed="rId3"/>
          <a:stretch>
            <a:fillRect/>
          </a:stretch>
        </p:blipFill>
        <p:spPr>
          <a:xfrm>
            <a:off x="492023" y="2322120"/>
            <a:ext cx="3617644" cy="3886199"/>
          </a:xfrm>
          <a:prstGeom prst="rect">
            <a:avLst/>
          </a:prstGeom>
        </p:spPr>
      </p:pic>
    </p:spTree>
    <p:extLst>
      <p:ext uri="{BB962C8B-B14F-4D97-AF65-F5344CB8AC3E}">
        <p14:creationId xmlns:p14="http://schemas.microsoft.com/office/powerpoint/2010/main" val="4167157373"/>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AFC54E-C9AC-7DBF-E85C-C8F9364720C1}"/>
            </a:ext>
          </a:extLst>
        </p:cNvPr>
        <p:cNvGrpSpPr/>
        <p:nvPr/>
      </p:nvGrpSpPr>
      <p:grpSpPr>
        <a:xfrm>
          <a:off x="0" y="0"/>
          <a:ext cx="0" cy="0"/>
          <a:chOff x="0" y="0"/>
          <a:chExt cx="0" cy="0"/>
        </a:xfrm>
      </p:grpSpPr>
      <p:sp useBgFill="1">
        <p:nvSpPr>
          <p:cNvPr id="76" name="Rectangle 75">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1C1472C-095D-AA18-B9B1-483D7A497593}"/>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2 methoden samengevat</a:t>
            </a:r>
          </a:p>
        </p:txBody>
      </p:sp>
      <p:pic>
        <p:nvPicPr>
          <p:cNvPr id="3" name="Afbeelding 2" descr="Brute Force vs. Dictionary Attack: What's the Difference? - Rublon">
            <a:extLst>
              <a:ext uri="{FF2B5EF4-FFF2-40B4-BE49-F238E27FC236}">
                <a16:creationId xmlns:a16="http://schemas.microsoft.com/office/drawing/2014/main" id="{0E830A67-3C02-E6D2-20DB-2AA40A4CD78C}"/>
              </a:ext>
            </a:extLst>
          </p:cNvPr>
          <p:cNvPicPr>
            <a:picLocks noChangeAspect="1"/>
          </p:cNvPicPr>
          <p:nvPr/>
        </p:nvPicPr>
        <p:blipFill>
          <a:blip r:embed="rId2"/>
          <a:stretch>
            <a:fillRect/>
          </a:stretch>
        </p:blipFill>
        <p:spPr>
          <a:xfrm>
            <a:off x="4354436" y="394504"/>
            <a:ext cx="7370133" cy="6061934"/>
          </a:xfrm>
          <a:prstGeom prst="rect">
            <a:avLst/>
          </a:prstGeom>
        </p:spPr>
      </p:pic>
    </p:spTree>
    <p:extLst>
      <p:ext uri="{BB962C8B-B14F-4D97-AF65-F5344CB8AC3E}">
        <p14:creationId xmlns:p14="http://schemas.microsoft.com/office/powerpoint/2010/main" val="401205380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DC0427-D264-CC15-8833-52404AF2AEC0}"/>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29E5BB62-039B-BF6C-E6A9-E2C6D4A08C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5B46734-523C-7274-CC65-1CED9990F7FC}"/>
              </a:ext>
            </a:extLst>
          </p:cNvPr>
          <p:cNvSpPr>
            <a:spLocks noGrp="1"/>
          </p:cNvSpPr>
          <p:nvPr>
            <p:ph type="title"/>
          </p:nvPr>
        </p:nvSpPr>
        <p:spPr>
          <a:xfrm>
            <a:off x="1994140" y="142203"/>
            <a:ext cx="8203720" cy="732129"/>
          </a:xfrm>
        </p:spPr>
        <p:txBody>
          <a:bodyPr vert="horz" lIns="91440" tIns="45720" rIns="91440" bIns="45720" rtlCol="0" anchor="b">
            <a:normAutofit/>
          </a:bodyPr>
          <a:lstStyle/>
          <a:p>
            <a:pPr algn="ctr"/>
            <a:r>
              <a:rPr lang="en-US"/>
              <a:t>Let op </a:t>
            </a:r>
            <a:r>
              <a:rPr lang="en-US" err="1"/>
              <a:t>bij</a:t>
            </a:r>
            <a:r>
              <a:rPr lang="en-US"/>
              <a:t> Password Hashing</a:t>
            </a:r>
          </a:p>
        </p:txBody>
      </p:sp>
      <p:sp>
        <p:nvSpPr>
          <p:cNvPr id="4" name="Tekstvak 3">
            <a:extLst>
              <a:ext uri="{FF2B5EF4-FFF2-40B4-BE49-F238E27FC236}">
                <a16:creationId xmlns:a16="http://schemas.microsoft.com/office/drawing/2014/main" id="{9B530BFF-6D93-1C96-601A-332047108CB8}"/>
              </a:ext>
            </a:extLst>
          </p:cNvPr>
          <p:cNvSpPr txBox="1"/>
          <p:nvPr/>
        </p:nvSpPr>
        <p:spPr>
          <a:xfrm>
            <a:off x="121269" y="873237"/>
            <a:ext cx="11945418"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Het kan uitzonderlijk zeldzaam voorkomen dat meerdere, totaal verschillende wachtwoorden DEZELFDE </a:t>
            </a:r>
            <a:r>
              <a:rPr lang="nl-NL" err="1"/>
              <a:t>hash</a:t>
            </a:r>
            <a:r>
              <a:rPr lang="nl-NL"/>
              <a:t> geven als resultaat</a:t>
            </a:r>
          </a:p>
          <a:p>
            <a:endParaRPr lang="nl-NL"/>
          </a:p>
          <a:p>
            <a:r>
              <a:rPr lang="nl-NL"/>
              <a:t>Oplossing: gebruik een algoritme waar dit bijna niet voorkomt</a:t>
            </a:r>
          </a:p>
          <a:p>
            <a:endParaRPr lang="nl-NL"/>
          </a:p>
          <a:p>
            <a:endParaRPr lang="nl-NL"/>
          </a:p>
        </p:txBody>
      </p:sp>
    </p:spTree>
    <p:extLst>
      <p:ext uri="{BB962C8B-B14F-4D97-AF65-F5344CB8AC3E}">
        <p14:creationId xmlns:p14="http://schemas.microsoft.com/office/powerpoint/2010/main" val="215338990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E52853-AD2C-9407-BFDB-C11561B9467A}"/>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CBB0869A-0BE5-B3E9-F73D-2F3691E4D9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B61E84A-FB17-CFA3-6E26-4378F4B9FFEC}"/>
              </a:ext>
            </a:extLst>
          </p:cNvPr>
          <p:cNvSpPr>
            <a:spLocks noGrp="1"/>
          </p:cNvSpPr>
          <p:nvPr>
            <p:ph type="title"/>
          </p:nvPr>
        </p:nvSpPr>
        <p:spPr>
          <a:xfrm>
            <a:off x="612648" y="352923"/>
            <a:ext cx="4621553" cy="1360728"/>
          </a:xfrm>
        </p:spPr>
        <p:txBody>
          <a:bodyPr vert="horz" lIns="91440" tIns="45720" rIns="91440" bIns="45720" rtlCol="0" anchor="b">
            <a:normAutofit/>
          </a:bodyPr>
          <a:lstStyle/>
          <a:p>
            <a:r>
              <a:rPr lang="en-US" b="1" kern="1200" err="1">
                <a:latin typeface="+mj-lt"/>
                <a:ea typeface="+mj-ea"/>
                <a:cs typeface="+mj-cs"/>
              </a:rPr>
              <a:t>Sessies</a:t>
            </a:r>
            <a:r>
              <a:rPr lang="en-US"/>
              <a:t> </a:t>
            </a:r>
            <a:r>
              <a:rPr lang="en-US" err="1"/>
              <a:t>uitgebreid</a:t>
            </a:r>
            <a:endParaRPr lang="en-US" b="1" kern="1200" err="1">
              <a:latin typeface="+mj-lt"/>
            </a:endParaRPr>
          </a:p>
        </p:txBody>
      </p:sp>
      <p:sp>
        <p:nvSpPr>
          <p:cNvPr id="5" name="Tekstvak 4">
            <a:extLst>
              <a:ext uri="{FF2B5EF4-FFF2-40B4-BE49-F238E27FC236}">
                <a16:creationId xmlns:a16="http://schemas.microsoft.com/office/drawing/2014/main" id="{69035122-C1DC-84CC-9F0E-3FEFE87C4245}"/>
              </a:ext>
            </a:extLst>
          </p:cNvPr>
          <p:cNvSpPr txBox="1"/>
          <p:nvPr/>
        </p:nvSpPr>
        <p:spPr>
          <a:xfrm>
            <a:off x="672025" y="1970500"/>
            <a:ext cx="4621553" cy="3159018"/>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a:lnSpc>
                <a:spcPct val="120000"/>
              </a:lnSpc>
              <a:spcAft>
                <a:spcPts val="600"/>
              </a:spcAft>
              <a:buFont typeface="Arial" panose="020B0604020202020204" pitchFamily="34" charset="0"/>
              <a:buChar char="•"/>
            </a:pPr>
            <a:r>
              <a:rPr lang="en-US" i="1"/>
              <a:t>"When you work with an application, you open it, do some changes, and then you close it. This is much like a Session. The computer knows who you are. It knows when you start the application and when you end. But on the internet there is one problem: the web server does not know who you are or what you do, because the HTTP address doesn't maintain state."</a:t>
            </a:r>
          </a:p>
        </p:txBody>
      </p:sp>
      <p:pic>
        <p:nvPicPr>
          <p:cNvPr id="8" name="Afbeelding 7" descr="Session vs Token Based Authentication - GeeksforGeeks">
            <a:extLst>
              <a:ext uri="{FF2B5EF4-FFF2-40B4-BE49-F238E27FC236}">
                <a16:creationId xmlns:a16="http://schemas.microsoft.com/office/drawing/2014/main" id="{9F4BF6A5-2310-8724-ABBC-154AC13F7291}"/>
              </a:ext>
            </a:extLst>
          </p:cNvPr>
          <p:cNvPicPr>
            <a:picLocks noChangeAspect="1"/>
          </p:cNvPicPr>
          <p:nvPr/>
        </p:nvPicPr>
        <p:blipFill>
          <a:blip r:embed="rId2"/>
          <a:stretch>
            <a:fillRect/>
          </a:stretch>
        </p:blipFill>
        <p:spPr>
          <a:xfrm>
            <a:off x="5691261" y="1969554"/>
            <a:ext cx="5837780" cy="2918890"/>
          </a:xfrm>
          <a:prstGeom prst="rect">
            <a:avLst/>
          </a:prstGeom>
        </p:spPr>
      </p:pic>
    </p:spTree>
    <p:extLst>
      <p:ext uri="{BB962C8B-B14F-4D97-AF65-F5344CB8AC3E}">
        <p14:creationId xmlns:p14="http://schemas.microsoft.com/office/powerpoint/2010/main" val="406028497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6466AB-17BD-EDDC-59D9-2DEFBD350296}"/>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179EC0A7-7295-F54E-B013-52388D9E03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D7A0247-8637-A3DB-7EA0-3DC83EBF5B87}"/>
              </a:ext>
            </a:extLst>
          </p:cNvPr>
          <p:cNvSpPr>
            <a:spLocks noGrp="1"/>
          </p:cNvSpPr>
          <p:nvPr>
            <p:ph type="title"/>
          </p:nvPr>
        </p:nvSpPr>
        <p:spPr>
          <a:xfrm>
            <a:off x="612648" y="1114923"/>
            <a:ext cx="4621553" cy="1360728"/>
          </a:xfrm>
        </p:spPr>
        <p:txBody>
          <a:bodyPr vert="horz" lIns="91440" tIns="45720" rIns="91440" bIns="45720" rtlCol="0" anchor="b">
            <a:normAutofit/>
          </a:bodyPr>
          <a:lstStyle/>
          <a:p>
            <a:r>
              <a:rPr lang="en-US"/>
              <a:t>Sessions vs Storage</a:t>
            </a:r>
            <a:endParaRPr lang="nl-NL">
              <a:ea typeface="+mj-ea"/>
              <a:cs typeface="+mj-cs"/>
            </a:endParaRPr>
          </a:p>
        </p:txBody>
      </p:sp>
      <p:sp>
        <p:nvSpPr>
          <p:cNvPr id="3" name="Tekstvak 2">
            <a:extLst>
              <a:ext uri="{FF2B5EF4-FFF2-40B4-BE49-F238E27FC236}">
                <a16:creationId xmlns:a16="http://schemas.microsoft.com/office/drawing/2014/main" id="{109B93C2-9EF9-2213-A3EC-FD608267F501}"/>
              </a:ext>
            </a:extLst>
          </p:cNvPr>
          <p:cNvSpPr txBox="1"/>
          <p:nvPr/>
        </p:nvSpPr>
        <p:spPr>
          <a:xfrm>
            <a:off x="608610" y="2582882"/>
            <a:ext cx="9721682"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a:t>Sessions ≠ </a:t>
            </a:r>
            <a:r>
              <a:rPr lang="en-US" err="1"/>
              <a:t>permanente</a:t>
            </a:r>
            <a:r>
              <a:rPr lang="en-US"/>
              <a:t> </a:t>
            </a:r>
            <a:r>
              <a:rPr lang="en-US" err="1"/>
              <a:t>opslag</a:t>
            </a:r>
            <a:r>
              <a:rPr lang="en-US"/>
              <a:t> (DB)</a:t>
            </a:r>
          </a:p>
          <a:p>
            <a:pPr marL="285750" indent="-285750">
              <a:buFont typeface="Calibri"/>
              <a:buChar char="-"/>
            </a:pPr>
            <a:r>
              <a:rPr lang="en-US"/>
              <a:t>Cookie (PHPSESSID) replicated </a:t>
            </a:r>
            <a:r>
              <a:rPr lang="en-US" err="1"/>
              <a:t>naar</a:t>
            </a:r>
            <a:r>
              <a:rPr lang="en-US"/>
              <a:t> Client</a:t>
            </a:r>
          </a:p>
          <a:p>
            <a:pPr marL="285750" indent="-285750">
              <a:buFont typeface="Calibri"/>
              <a:buChar char="-"/>
            </a:pPr>
            <a:r>
              <a:rPr lang="en-US"/>
              <a:t>PHPSESSID is </a:t>
            </a:r>
            <a:r>
              <a:rPr lang="en-US" err="1"/>
              <a:t>zoals</a:t>
            </a:r>
            <a:r>
              <a:rPr lang="en-US"/>
              <a:t> </a:t>
            </a:r>
            <a:r>
              <a:rPr lang="en-US" err="1"/>
              <a:t>een</a:t>
            </a:r>
            <a:r>
              <a:rPr lang="en-US"/>
              <a:t> </a:t>
            </a:r>
            <a:r>
              <a:rPr lang="en-US" err="1"/>
              <a:t>elektronische</a:t>
            </a:r>
            <a:r>
              <a:rPr lang="en-US"/>
              <a:t> badge </a:t>
            </a:r>
            <a:r>
              <a:rPr lang="en-US" err="1"/>
              <a:t>voor</a:t>
            </a:r>
            <a:r>
              <a:rPr lang="en-US"/>
              <a:t> </a:t>
            </a:r>
            <a:r>
              <a:rPr lang="en-US" err="1"/>
              <a:t>openen</a:t>
            </a:r>
            <a:r>
              <a:rPr lang="en-US"/>
              <a:t> </a:t>
            </a:r>
            <a:r>
              <a:rPr lang="en-US" err="1"/>
              <a:t>deur</a:t>
            </a:r>
          </a:p>
          <a:p>
            <a:pPr marL="285750" indent="-285750">
              <a:buFont typeface="Calibri"/>
              <a:buChar char="-"/>
            </a:pPr>
            <a:r>
              <a:rPr lang="en-US"/>
              <a:t>Vaak </a:t>
            </a:r>
            <a:r>
              <a:rPr lang="en-US" err="1"/>
              <a:t>gebruikt</a:t>
            </a:r>
            <a:r>
              <a:rPr lang="en-US"/>
              <a:t> </a:t>
            </a:r>
            <a:r>
              <a:rPr lang="en-US" err="1"/>
              <a:t>voor</a:t>
            </a:r>
            <a:r>
              <a:rPr lang="en-US"/>
              <a:t> </a:t>
            </a:r>
            <a:r>
              <a:rPr lang="en-US" err="1"/>
              <a:t>Authenticatie</a:t>
            </a:r>
            <a:r>
              <a:rPr lang="en-US"/>
              <a:t>: </a:t>
            </a:r>
            <a:r>
              <a:rPr lang="en-US" err="1"/>
              <a:t>inloggen</a:t>
            </a:r>
            <a:r>
              <a:rPr lang="en-US"/>
              <a:t>, </a:t>
            </a:r>
            <a:r>
              <a:rPr lang="en-US" err="1"/>
              <a:t>registreren</a:t>
            </a:r>
            <a:r>
              <a:rPr lang="en-US"/>
              <a:t>, </a:t>
            </a:r>
            <a:r>
              <a:rPr lang="en-US" err="1"/>
              <a:t>uitloggen</a:t>
            </a:r>
            <a:r>
              <a:rPr lang="en-US"/>
              <a:t>, </a:t>
            </a:r>
            <a:r>
              <a:rPr lang="en-US" err="1"/>
              <a:t>beschermde</a:t>
            </a:r>
            <a:r>
              <a:rPr lang="en-US"/>
              <a:t> </a:t>
            </a:r>
            <a:r>
              <a:rPr lang="en-US" err="1"/>
              <a:t>pagina's</a:t>
            </a:r>
            <a:endParaRPr lang="en-US"/>
          </a:p>
          <a:p>
            <a:pPr marL="285750" indent="-285750">
              <a:buFont typeface="Calibri"/>
              <a:buChar char="-"/>
            </a:pPr>
            <a:endParaRPr lang="en-US"/>
          </a:p>
        </p:txBody>
      </p:sp>
      <p:pic>
        <p:nvPicPr>
          <p:cNvPr id="4" name="Afbeelding 3" descr="PHP - Sessions">
            <a:extLst>
              <a:ext uri="{FF2B5EF4-FFF2-40B4-BE49-F238E27FC236}">
                <a16:creationId xmlns:a16="http://schemas.microsoft.com/office/drawing/2014/main" id="{2C27CCC2-CE83-676A-C642-149FA999E5C6}"/>
              </a:ext>
            </a:extLst>
          </p:cNvPr>
          <p:cNvPicPr>
            <a:picLocks noChangeAspect="1"/>
          </p:cNvPicPr>
          <p:nvPr/>
        </p:nvPicPr>
        <p:blipFill>
          <a:blip r:embed="rId2"/>
          <a:stretch>
            <a:fillRect/>
          </a:stretch>
        </p:blipFill>
        <p:spPr>
          <a:xfrm>
            <a:off x="2517569" y="4344390"/>
            <a:ext cx="6612577" cy="1835728"/>
          </a:xfrm>
          <a:prstGeom prst="rect">
            <a:avLst/>
          </a:prstGeom>
        </p:spPr>
      </p:pic>
      <p:pic>
        <p:nvPicPr>
          <p:cNvPr id="6" name="Afbeelding 5" descr="How Session works in PHP - scmGalaxy">
            <a:extLst>
              <a:ext uri="{FF2B5EF4-FFF2-40B4-BE49-F238E27FC236}">
                <a16:creationId xmlns:a16="http://schemas.microsoft.com/office/drawing/2014/main" id="{65CB5012-3A11-F296-A566-F7841F4792FA}"/>
              </a:ext>
            </a:extLst>
          </p:cNvPr>
          <p:cNvPicPr>
            <a:picLocks noChangeAspect="1"/>
          </p:cNvPicPr>
          <p:nvPr/>
        </p:nvPicPr>
        <p:blipFill>
          <a:blip r:embed="rId3"/>
          <a:stretch>
            <a:fillRect/>
          </a:stretch>
        </p:blipFill>
        <p:spPr>
          <a:xfrm>
            <a:off x="6337465" y="60646"/>
            <a:ext cx="5123214" cy="2649616"/>
          </a:xfrm>
          <a:prstGeom prst="rect">
            <a:avLst/>
          </a:prstGeom>
        </p:spPr>
      </p:pic>
      <p:sp>
        <p:nvSpPr>
          <p:cNvPr id="7" name="Tekstvak 6">
            <a:extLst>
              <a:ext uri="{FF2B5EF4-FFF2-40B4-BE49-F238E27FC236}">
                <a16:creationId xmlns:a16="http://schemas.microsoft.com/office/drawing/2014/main" id="{4D82F3DA-79F2-0137-C25C-922FF12A90C7}"/>
              </a:ext>
            </a:extLst>
          </p:cNvPr>
          <p:cNvSpPr txBox="1"/>
          <p:nvPr/>
        </p:nvSpPr>
        <p:spPr>
          <a:xfrm>
            <a:off x="2519794" y="6244440"/>
            <a:ext cx="434686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i="1"/>
              <a:t>*PHPSESSID op client (in browser)</a:t>
            </a:r>
          </a:p>
        </p:txBody>
      </p:sp>
    </p:spTree>
    <p:extLst>
      <p:ext uri="{BB962C8B-B14F-4D97-AF65-F5344CB8AC3E}">
        <p14:creationId xmlns:p14="http://schemas.microsoft.com/office/powerpoint/2010/main" val="94733756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1FEFB0A-79F8-FFC2-6D35-7371831F927E}"/>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406BE688-13D6-0507-21D7-C6BCA5F38B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C4C1AB5-4AE6-9C77-A3DB-21AB7E1C3A8D}"/>
              </a:ext>
            </a:extLst>
          </p:cNvPr>
          <p:cNvSpPr>
            <a:spLocks noGrp="1"/>
          </p:cNvSpPr>
          <p:nvPr>
            <p:ph type="title"/>
          </p:nvPr>
        </p:nvSpPr>
        <p:spPr>
          <a:xfrm>
            <a:off x="251440" y="125313"/>
            <a:ext cx="4621553" cy="737274"/>
          </a:xfrm>
        </p:spPr>
        <p:txBody>
          <a:bodyPr vert="horz" lIns="91440" tIns="45720" rIns="91440" bIns="45720" rtlCol="0" anchor="b">
            <a:normAutofit/>
          </a:bodyPr>
          <a:lstStyle/>
          <a:p>
            <a:r>
              <a:rPr lang="en-US"/>
              <a:t>Syntax: Sessions</a:t>
            </a:r>
          </a:p>
        </p:txBody>
      </p:sp>
      <p:sp>
        <p:nvSpPr>
          <p:cNvPr id="5" name="Tekstvak 4">
            <a:extLst>
              <a:ext uri="{FF2B5EF4-FFF2-40B4-BE49-F238E27FC236}">
                <a16:creationId xmlns:a16="http://schemas.microsoft.com/office/drawing/2014/main" id="{87B24AF7-AE0D-F0AE-07D9-1D9918ABA788}"/>
              </a:ext>
            </a:extLst>
          </p:cNvPr>
          <p:cNvSpPr txBox="1"/>
          <p:nvPr/>
        </p:nvSpPr>
        <p:spPr>
          <a:xfrm>
            <a:off x="252350" y="860961"/>
            <a:ext cx="7462897" cy="59093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 </a:t>
            </a:r>
            <a:r>
              <a:rPr lang="nl-NL" err="1"/>
              <a:t>session_start</a:t>
            </a:r>
            <a:r>
              <a:rPr lang="nl-NL"/>
              <a:t>()</a:t>
            </a:r>
          </a:p>
          <a:p>
            <a:r>
              <a:rPr lang="nl-NL"/>
              <a:t>Altijd gebruiken VOOR (eerste lijn code!) dat je sessies inleest of manipuleert</a:t>
            </a:r>
          </a:p>
          <a:p>
            <a:r>
              <a:rPr lang="nl-NL">
                <a:solidFill>
                  <a:srgbClr val="00B0F0"/>
                </a:solidFill>
              </a:rPr>
              <a:t>Indien niet eerst gebruikt?</a:t>
            </a:r>
            <a:r>
              <a:rPr lang="nl-NL"/>
              <a:t> </a:t>
            </a:r>
            <a:r>
              <a:rPr lang="nl-NL">
                <a:solidFill>
                  <a:schemeClr val="accent3"/>
                </a:solidFill>
              </a:rPr>
              <a:t>Start alvast de </a:t>
            </a:r>
            <a:r>
              <a:rPr lang="nl-NL" err="1">
                <a:solidFill>
                  <a:schemeClr val="accent3"/>
                </a:solidFill>
              </a:rPr>
              <a:t>Coffin</a:t>
            </a:r>
            <a:r>
              <a:rPr lang="nl-NL">
                <a:solidFill>
                  <a:schemeClr val="accent3"/>
                </a:solidFill>
              </a:rPr>
              <a:t> Dance ⚰️</a:t>
            </a:r>
          </a:p>
          <a:p>
            <a:pPr marL="285750" indent="-285750">
              <a:buFont typeface="Calibri"/>
              <a:buChar char="-"/>
            </a:pPr>
            <a:r>
              <a:rPr lang="nl-NL">
                <a:solidFill>
                  <a:schemeClr val="accent3"/>
                </a:solidFill>
              </a:rPr>
              <a:t>Error, dan slaapt de mooie website in de kist.</a:t>
            </a:r>
          </a:p>
          <a:p>
            <a:endParaRPr lang="nl-NL"/>
          </a:p>
          <a:p>
            <a:r>
              <a:rPr lang="nl-NL"/>
              <a:t>2) </a:t>
            </a:r>
            <a:r>
              <a:rPr lang="nl-NL" err="1"/>
              <a:t>session_unset</a:t>
            </a:r>
            <a:r>
              <a:rPr lang="nl-NL"/>
              <a:t>()</a:t>
            </a:r>
            <a:endParaRPr lang="en-US"/>
          </a:p>
          <a:p>
            <a:r>
              <a:rPr lang="nl-NL"/>
              <a:t>Bij het afmelden/uitloggen, dan wordt de sessie van de user leeggemaakt.</a:t>
            </a:r>
          </a:p>
          <a:p>
            <a:endParaRPr lang="nl-NL"/>
          </a:p>
          <a:p>
            <a:r>
              <a:rPr lang="nl-NL"/>
              <a:t>3) </a:t>
            </a:r>
            <a:r>
              <a:rPr lang="nl-NL" err="1"/>
              <a:t>session_destroy</a:t>
            </a:r>
            <a:r>
              <a:rPr lang="nl-NL"/>
              <a:t>()</a:t>
            </a:r>
          </a:p>
          <a:p>
            <a:r>
              <a:rPr lang="nl-NL"/>
              <a:t>De meta-info ook verwijderen (uiteraard belangrijk) want dit omvat geheime info.</a:t>
            </a:r>
          </a:p>
          <a:p>
            <a:endParaRPr lang="nl-NL"/>
          </a:p>
          <a:p>
            <a:r>
              <a:rPr lang="nl-NL"/>
              <a:t>4) $_SESSION </a:t>
            </a:r>
            <a:r>
              <a:rPr lang="nl-NL" err="1"/>
              <a:t>superglobal</a:t>
            </a:r>
            <a:endParaRPr lang="nl-NL"/>
          </a:p>
          <a:p>
            <a:r>
              <a:rPr lang="nl-NL"/>
              <a:t>Dit is de </a:t>
            </a:r>
            <a:r>
              <a:rPr lang="nl-NL" err="1"/>
              <a:t>getter</a:t>
            </a:r>
            <a:r>
              <a:rPr lang="nl-NL"/>
              <a:t> en setter.</a:t>
            </a:r>
          </a:p>
          <a:p>
            <a:endParaRPr lang="nl-NL"/>
          </a:p>
          <a:p>
            <a:r>
              <a:rPr lang="nl-NL" err="1"/>
              <a:t>Getter</a:t>
            </a:r>
            <a:r>
              <a:rPr lang="nl-NL"/>
              <a:t> </a:t>
            </a:r>
            <a:r>
              <a:rPr lang="nl-NL" err="1"/>
              <a:t>vb</a:t>
            </a:r>
            <a:r>
              <a:rPr lang="nl-NL"/>
              <a:t>: &lt;?</a:t>
            </a:r>
            <a:r>
              <a:rPr lang="nl-NL" err="1"/>
              <a:t>php</a:t>
            </a:r>
            <a:r>
              <a:rPr lang="nl-NL"/>
              <a:t> </a:t>
            </a:r>
            <a:r>
              <a:rPr lang="nl-NL" err="1"/>
              <a:t>session_start</a:t>
            </a:r>
            <a:r>
              <a:rPr lang="nl-NL"/>
              <a:t>(); echo $_SESSION['user']['name']; ?&gt;</a:t>
            </a:r>
          </a:p>
          <a:p>
            <a:endParaRPr lang="nl-NL"/>
          </a:p>
          <a:p>
            <a:r>
              <a:rPr lang="nl-NL"/>
              <a:t>Setter </a:t>
            </a:r>
            <a:r>
              <a:rPr lang="nl-NL" err="1"/>
              <a:t>vb</a:t>
            </a:r>
            <a:r>
              <a:rPr lang="nl-NL"/>
              <a:t>: &lt;?</a:t>
            </a:r>
            <a:r>
              <a:rPr lang="nl-NL" err="1"/>
              <a:t>php</a:t>
            </a:r>
            <a:r>
              <a:rPr lang="nl-NL"/>
              <a:t> </a:t>
            </a:r>
            <a:r>
              <a:rPr lang="nl-NL" err="1"/>
              <a:t>session_start</a:t>
            </a:r>
            <a:r>
              <a:rPr lang="nl-NL"/>
              <a:t>(); $_SESSION['user']['name'] = "Mr. Bonjour"; ?&gt;</a:t>
            </a:r>
          </a:p>
        </p:txBody>
      </p:sp>
      <p:pic>
        <p:nvPicPr>
          <p:cNvPr id="6" name="Afbeelding 5" descr="Afbeelding met tekst, schermopname, Lettertype, ontwerp&#10;&#10;Door AI gegenereerde inhoud is mogelijk onjuist.">
            <a:extLst>
              <a:ext uri="{FF2B5EF4-FFF2-40B4-BE49-F238E27FC236}">
                <a16:creationId xmlns:a16="http://schemas.microsoft.com/office/drawing/2014/main" id="{B61A8472-844F-24E2-7F39-1AA6CA6AD022}"/>
              </a:ext>
            </a:extLst>
          </p:cNvPr>
          <p:cNvPicPr>
            <a:picLocks noChangeAspect="1"/>
          </p:cNvPicPr>
          <p:nvPr/>
        </p:nvPicPr>
        <p:blipFill>
          <a:blip r:embed="rId2"/>
          <a:stretch>
            <a:fillRect/>
          </a:stretch>
        </p:blipFill>
        <p:spPr>
          <a:xfrm>
            <a:off x="8834005" y="2199657"/>
            <a:ext cx="2995056" cy="4145973"/>
          </a:xfrm>
          <a:prstGeom prst="rect">
            <a:avLst/>
          </a:prstGeom>
        </p:spPr>
      </p:pic>
      <p:pic>
        <p:nvPicPr>
          <p:cNvPr id="8" name="Afbeelding 7" descr="Coffin GIFs | Tenor">
            <a:extLst>
              <a:ext uri="{FF2B5EF4-FFF2-40B4-BE49-F238E27FC236}">
                <a16:creationId xmlns:a16="http://schemas.microsoft.com/office/drawing/2014/main" id="{C8E4B67C-2088-4F22-0606-7751A14C968E}"/>
              </a:ext>
            </a:extLst>
          </p:cNvPr>
          <p:cNvPicPr>
            <a:picLocks noChangeAspect="1"/>
          </p:cNvPicPr>
          <p:nvPr/>
        </p:nvPicPr>
        <p:blipFill>
          <a:blip r:embed="rId3"/>
          <a:stretch>
            <a:fillRect/>
          </a:stretch>
        </p:blipFill>
        <p:spPr>
          <a:xfrm>
            <a:off x="7420411" y="-1472"/>
            <a:ext cx="1565069" cy="2176646"/>
          </a:xfrm>
          <a:prstGeom prst="rect">
            <a:avLst/>
          </a:prstGeom>
        </p:spPr>
      </p:pic>
      <p:sp>
        <p:nvSpPr>
          <p:cNvPr id="9" name="Tekstvak 8">
            <a:extLst>
              <a:ext uri="{FF2B5EF4-FFF2-40B4-BE49-F238E27FC236}">
                <a16:creationId xmlns:a16="http://schemas.microsoft.com/office/drawing/2014/main" id="{920CC238-FCB5-0CCF-0C10-24BF23F4656F}"/>
              </a:ext>
            </a:extLst>
          </p:cNvPr>
          <p:cNvSpPr txBox="1"/>
          <p:nvPr/>
        </p:nvSpPr>
        <p:spPr>
          <a:xfrm>
            <a:off x="9238012" y="124938"/>
            <a:ext cx="2806781" cy="1477328"/>
          </a:xfrm>
          <a:prstGeom prst="rect">
            <a:avLst/>
          </a:prstGeom>
          <a:solidFill>
            <a:srgbClr val="ED7D3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PHP sessies zijn pesterij wanneer je ze pas later aanroept: </a:t>
            </a:r>
            <a:r>
              <a:rPr lang="nl-NL" err="1"/>
              <a:t>sessions</a:t>
            </a:r>
            <a:r>
              <a:rPr lang="nl-NL"/>
              <a:t> kunnen vastlopen als je ze niet eerst </a:t>
            </a:r>
            <a:r>
              <a:rPr lang="nl-NL" err="1"/>
              <a:t>initialiseert</a:t>
            </a:r>
            <a:r>
              <a:rPr lang="nl-NL"/>
              <a:t> </a:t>
            </a:r>
          </a:p>
        </p:txBody>
      </p:sp>
    </p:spTree>
    <p:extLst>
      <p:ext uri="{BB962C8B-B14F-4D97-AF65-F5344CB8AC3E}">
        <p14:creationId xmlns:p14="http://schemas.microsoft.com/office/powerpoint/2010/main" val="218189706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Afbeelding 4" descr="Afbeelding met tekst, schermopname, software, Besturingssysteem&#10;&#10;Door AI gegenereerde inhoud is mogelijk onjuist.">
            <a:extLst>
              <a:ext uri="{FF2B5EF4-FFF2-40B4-BE49-F238E27FC236}">
                <a16:creationId xmlns:a16="http://schemas.microsoft.com/office/drawing/2014/main" id="{C77E0DEE-A6F3-259C-1CCE-E364FAAA7830}"/>
              </a:ext>
            </a:extLst>
          </p:cNvPr>
          <p:cNvPicPr>
            <a:picLocks noChangeAspect="1"/>
          </p:cNvPicPr>
          <p:nvPr/>
        </p:nvPicPr>
        <p:blipFill>
          <a:blip r:embed="rId2"/>
          <a:stretch>
            <a:fillRect/>
          </a:stretch>
        </p:blipFill>
        <p:spPr>
          <a:xfrm>
            <a:off x="5207" y="-3061"/>
            <a:ext cx="7620331" cy="7022716"/>
          </a:xfrm>
          <a:prstGeom prst="rect">
            <a:avLst/>
          </a:prstGeom>
        </p:spPr>
      </p:pic>
      <p:sp>
        <p:nvSpPr>
          <p:cNvPr id="7" name="Tekstvak 6">
            <a:extLst>
              <a:ext uri="{FF2B5EF4-FFF2-40B4-BE49-F238E27FC236}">
                <a16:creationId xmlns:a16="http://schemas.microsoft.com/office/drawing/2014/main" id="{958FCB8B-AB43-48BD-8DBE-88BEDE8F4C50}"/>
              </a:ext>
            </a:extLst>
          </p:cNvPr>
          <p:cNvSpPr txBox="1"/>
          <p:nvPr/>
        </p:nvSpPr>
        <p:spPr>
          <a:xfrm>
            <a:off x="7973785" y="353785"/>
            <a:ext cx="2667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sz="2800" b="1"/>
              <a:t>Loginproces</a:t>
            </a:r>
          </a:p>
          <a:p>
            <a:r>
              <a:rPr lang="nl-NL" sz="2800"/>
              <a:t>Voorgesteld met een scenario</a:t>
            </a:r>
            <a:endParaRPr lang="nl-NL" sz="2800" dirty="0"/>
          </a:p>
        </p:txBody>
      </p:sp>
    </p:spTree>
    <p:extLst>
      <p:ext uri="{BB962C8B-B14F-4D97-AF65-F5344CB8AC3E}">
        <p14:creationId xmlns:p14="http://schemas.microsoft.com/office/powerpoint/2010/main" val="80072088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16DAC6B-8F6F-41E5-8A52-955F4FC1481E}"/>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8" name="Afbeelding 7" descr="Een dubbele kluis in een verlaten bank. Nog nooit zoiets in het echt  gezien. : r/AbandonedPorn">
            <a:extLst>
              <a:ext uri="{FF2B5EF4-FFF2-40B4-BE49-F238E27FC236}">
                <a16:creationId xmlns:a16="http://schemas.microsoft.com/office/drawing/2014/main" id="{5886F30D-E2B5-43DE-B48F-364D2D1FAD8C}"/>
              </a:ext>
            </a:extLst>
          </p:cNvPr>
          <p:cNvPicPr>
            <a:picLocks noChangeAspect="1"/>
          </p:cNvPicPr>
          <p:nvPr/>
        </p:nvPicPr>
        <p:blipFill>
          <a:blip r:embed="rId2"/>
          <a:srcRect l="553" r="10758" b="-2"/>
          <a:stretch>
            <a:fillRect/>
          </a:stretch>
        </p:blipFill>
        <p:spPr>
          <a:xfrm>
            <a:off x="489877" y="511639"/>
            <a:ext cx="6482422" cy="5758533"/>
          </a:xfrm>
          <a:prstGeom prst="rect">
            <a:avLst/>
          </a:prstGeom>
        </p:spPr>
      </p:pic>
      <p:sp>
        <p:nvSpPr>
          <p:cNvPr id="3" name="Tekstvak 2">
            <a:extLst>
              <a:ext uri="{FF2B5EF4-FFF2-40B4-BE49-F238E27FC236}">
                <a16:creationId xmlns:a16="http://schemas.microsoft.com/office/drawing/2014/main" id="{01FC132B-75C4-0718-DF0C-A478BCFA3518}"/>
              </a:ext>
            </a:extLst>
          </p:cNvPr>
          <p:cNvSpPr txBox="1"/>
          <p:nvPr/>
        </p:nvSpPr>
        <p:spPr>
          <a:xfrm>
            <a:off x="7136989" y="504533"/>
            <a:ext cx="5053504" cy="5947973"/>
          </a:xfrm>
          <a:prstGeom prst="rect">
            <a:avLst/>
          </a:prstGeom>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57150" indent="-228600">
              <a:lnSpc>
                <a:spcPct val="110000"/>
              </a:lnSpc>
              <a:spcAft>
                <a:spcPts val="600"/>
              </a:spcAft>
              <a:buFont typeface="Arial" panose="020B0604020202020204" pitchFamily="34" charset="0"/>
              <a:buChar char="•"/>
            </a:pPr>
            <a:r>
              <a:rPr lang="en-US" sz="1900"/>
              <a:t>Scenario: </a:t>
            </a:r>
            <a:endParaRPr lang="en-US" sz="1900" dirty="0"/>
          </a:p>
          <a:p>
            <a:pPr>
              <a:lnSpc>
                <a:spcPct val="110000"/>
              </a:lnSpc>
              <a:spcAft>
                <a:spcPts val="600"/>
              </a:spcAft>
            </a:pPr>
            <a:r>
              <a:rPr lang="en-US" sz="1900" dirty="0"/>
              <a:t>In de </a:t>
            </a:r>
            <a:r>
              <a:rPr lang="en-US" sz="1900" dirty="0" err="1"/>
              <a:t>middeleeuwen</a:t>
            </a:r>
            <a:r>
              <a:rPr lang="en-US" sz="1900" dirty="0"/>
              <a:t>: Een </a:t>
            </a:r>
            <a:r>
              <a:rPr lang="en-US" sz="1900" dirty="0" err="1"/>
              <a:t>klant</a:t>
            </a:r>
            <a:r>
              <a:rPr lang="en-US" sz="1900" dirty="0"/>
              <a:t> </a:t>
            </a:r>
            <a:r>
              <a:rPr lang="en-US" sz="1900" dirty="0" err="1"/>
              <a:t>wil</a:t>
            </a:r>
            <a:r>
              <a:rPr lang="en-US" sz="1900" dirty="0"/>
              <a:t> </a:t>
            </a:r>
            <a:r>
              <a:rPr lang="en-US" sz="1900" dirty="0" err="1"/>
              <a:t>toegang</a:t>
            </a:r>
            <a:r>
              <a:rPr lang="en-US" sz="1900" dirty="0"/>
              <a:t> </a:t>
            </a:r>
            <a:r>
              <a:rPr lang="en-US" sz="1900" dirty="0" err="1"/>
              <a:t>krijgen</a:t>
            </a:r>
            <a:r>
              <a:rPr lang="en-US" sz="1900" dirty="0"/>
              <a:t> tot </a:t>
            </a:r>
            <a:r>
              <a:rPr lang="en-US" sz="1900" dirty="0" err="1"/>
              <a:t>zijn</a:t>
            </a:r>
            <a:r>
              <a:rPr lang="en-US" sz="1900" dirty="0"/>
              <a:t> </a:t>
            </a:r>
            <a:r>
              <a:rPr lang="en-US" sz="1900" dirty="0" err="1"/>
              <a:t>kluis</a:t>
            </a:r>
            <a:r>
              <a:rPr lang="en-US" sz="1900" dirty="0"/>
              <a:t> </a:t>
            </a:r>
            <a:r>
              <a:rPr lang="en-US" sz="1900" dirty="0" err="1"/>
              <a:t>bij</a:t>
            </a:r>
            <a:r>
              <a:rPr lang="en-US" sz="1900" dirty="0"/>
              <a:t> de bank.</a:t>
            </a:r>
          </a:p>
          <a:p>
            <a:pPr marL="57150" indent="-228600">
              <a:lnSpc>
                <a:spcPct val="110000"/>
              </a:lnSpc>
              <a:spcAft>
                <a:spcPts val="600"/>
              </a:spcAft>
              <a:buFont typeface="Arial" panose="020B0604020202020204" pitchFamily="34" charset="0"/>
              <a:buChar char="•"/>
            </a:pPr>
            <a:endParaRPr lang="en-US" sz="1900" dirty="0"/>
          </a:p>
          <a:p>
            <a:pPr marL="285750" indent="-228600">
              <a:lnSpc>
                <a:spcPct val="110000"/>
              </a:lnSpc>
              <a:spcAft>
                <a:spcPts val="600"/>
              </a:spcAft>
              <a:buFont typeface="Arial" panose="020B0604020202020204" pitchFamily="34" charset="0"/>
              <a:buChar char="•"/>
            </a:pPr>
            <a:r>
              <a:rPr lang="en-US" sz="1900" dirty="0" err="1"/>
              <a:t>Klant</a:t>
            </a:r>
          </a:p>
          <a:p>
            <a:pPr marL="285750" indent="-228600">
              <a:lnSpc>
                <a:spcPct val="110000"/>
              </a:lnSpc>
              <a:spcAft>
                <a:spcPts val="600"/>
              </a:spcAft>
              <a:buFont typeface="Arial" panose="020B0604020202020204" pitchFamily="34" charset="0"/>
              <a:buChar char="•"/>
            </a:pPr>
            <a:r>
              <a:rPr lang="en-US" sz="1900" dirty="0"/>
              <a:t>Portier </a:t>
            </a:r>
            <a:r>
              <a:rPr lang="en-US" sz="1900" b="1" dirty="0" err="1"/>
              <a:t>aan</a:t>
            </a:r>
            <a:r>
              <a:rPr lang="en-US" sz="1900" dirty="0"/>
              <a:t> de </a:t>
            </a:r>
            <a:r>
              <a:rPr lang="en-US" sz="1900" dirty="0" err="1"/>
              <a:t>kluis</a:t>
            </a:r>
          </a:p>
          <a:p>
            <a:pPr marL="285750" indent="-228600">
              <a:lnSpc>
                <a:spcPct val="110000"/>
              </a:lnSpc>
              <a:spcAft>
                <a:spcPts val="600"/>
              </a:spcAft>
              <a:buFont typeface="Arial" panose="020B0604020202020204" pitchFamily="34" charset="0"/>
              <a:buChar char="•"/>
            </a:pPr>
            <a:r>
              <a:rPr lang="en-US" sz="1900" dirty="0"/>
              <a:t>Operator </a:t>
            </a:r>
            <a:r>
              <a:rPr lang="en-US" sz="1900" b="1" dirty="0"/>
              <a:t>in</a:t>
            </a:r>
            <a:r>
              <a:rPr lang="en-US" sz="1900" dirty="0"/>
              <a:t> de </a:t>
            </a:r>
            <a:r>
              <a:rPr lang="en-US" sz="1900" dirty="0" err="1"/>
              <a:t>kluis</a:t>
            </a:r>
            <a:endParaRPr lang="en-US" sz="1900" dirty="0"/>
          </a:p>
          <a:p>
            <a:pPr marL="285750" indent="-228600">
              <a:lnSpc>
                <a:spcPct val="110000"/>
              </a:lnSpc>
              <a:spcAft>
                <a:spcPts val="600"/>
              </a:spcAft>
              <a:buFont typeface="Arial" panose="020B0604020202020204" pitchFamily="34" charset="0"/>
              <a:buChar char="•"/>
            </a:pPr>
            <a:endParaRPr lang="en-US" sz="1900" dirty="0"/>
          </a:p>
          <a:p>
            <a:pPr marL="285750" indent="-228600">
              <a:lnSpc>
                <a:spcPct val="110000"/>
              </a:lnSpc>
              <a:spcAft>
                <a:spcPts val="600"/>
              </a:spcAft>
              <a:buFont typeface="Arial" panose="020B0604020202020204" pitchFamily="34" charset="0"/>
              <a:buChar char="•"/>
            </a:pPr>
            <a:r>
              <a:rPr lang="en-US" sz="1900" dirty="0"/>
              <a:t>Merk op: </a:t>
            </a:r>
            <a:r>
              <a:rPr lang="en-US" sz="1900" dirty="0" err="1"/>
              <a:t>elke</a:t>
            </a:r>
            <a:r>
              <a:rPr lang="en-US" sz="1900" dirty="0"/>
              <a:t> </a:t>
            </a:r>
            <a:r>
              <a:rPr lang="en-US" sz="1900" dirty="0" err="1"/>
              <a:t>persoon</a:t>
            </a:r>
            <a:r>
              <a:rPr lang="en-US" sz="1900" dirty="0"/>
              <a:t> </a:t>
            </a:r>
            <a:r>
              <a:rPr lang="en-US" sz="1900" dirty="0" err="1"/>
              <a:t>heeft</a:t>
            </a:r>
            <a:r>
              <a:rPr lang="en-US" sz="1900" dirty="0"/>
              <a:t> </a:t>
            </a:r>
            <a:r>
              <a:rPr lang="en-US" sz="1900" dirty="0" err="1"/>
              <a:t>zijn</a:t>
            </a:r>
            <a:r>
              <a:rPr lang="en-US" sz="1900" dirty="0"/>
              <a:t> eigen </a:t>
            </a:r>
            <a:r>
              <a:rPr lang="en-US" sz="1900" dirty="0" err="1"/>
              <a:t>bevoegdheid</a:t>
            </a:r>
            <a:r>
              <a:rPr lang="en-US" sz="1900" dirty="0"/>
              <a:t> ; ze </a:t>
            </a:r>
            <a:r>
              <a:rPr lang="en-US" sz="1900" dirty="0" err="1"/>
              <a:t>mogen</a:t>
            </a:r>
            <a:r>
              <a:rPr lang="en-US" sz="1900" dirty="0"/>
              <a:t> </a:t>
            </a:r>
            <a:r>
              <a:rPr lang="en-US" sz="1900" dirty="0" err="1"/>
              <a:t>zich</a:t>
            </a:r>
            <a:r>
              <a:rPr lang="en-US" sz="1900" dirty="0"/>
              <a:t> </a:t>
            </a:r>
            <a:r>
              <a:rPr lang="en-US" sz="1900" dirty="0" err="1"/>
              <a:t>niet</a:t>
            </a:r>
            <a:r>
              <a:rPr lang="en-US" sz="1900" dirty="0"/>
              <a:t> </a:t>
            </a:r>
            <a:r>
              <a:rPr lang="en-US" sz="1900" dirty="0" err="1"/>
              <a:t>bemoeien</a:t>
            </a:r>
            <a:r>
              <a:rPr lang="en-US" sz="1900" dirty="0"/>
              <a:t> met </a:t>
            </a:r>
            <a:r>
              <a:rPr lang="en-US" sz="1900" dirty="0" err="1"/>
              <a:t>elkaar</a:t>
            </a:r>
            <a:r>
              <a:rPr lang="en-US" sz="1900" dirty="0"/>
              <a:t>.</a:t>
            </a:r>
          </a:p>
          <a:p>
            <a:pPr marL="285750" indent="-228600">
              <a:lnSpc>
                <a:spcPct val="110000"/>
              </a:lnSpc>
              <a:spcAft>
                <a:spcPts val="600"/>
              </a:spcAft>
              <a:buFont typeface="Arial" panose="020B0604020202020204" pitchFamily="34" charset="0"/>
              <a:buChar char="•"/>
            </a:pPr>
            <a:r>
              <a:rPr lang="en-US" sz="1900" dirty="0"/>
              <a:t>Zo </a:t>
            </a:r>
            <a:r>
              <a:rPr lang="en-US" sz="1900" dirty="0" err="1"/>
              <a:t>mogen</a:t>
            </a:r>
            <a:r>
              <a:rPr lang="en-US" sz="1900" dirty="0"/>
              <a:t> de </a:t>
            </a:r>
            <a:r>
              <a:rPr lang="en-US" sz="1900" dirty="0" err="1"/>
              <a:t>klant</a:t>
            </a:r>
            <a:r>
              <a:rPr lang="en-US" sz="1900" dirty="0"/>
              <a:t> </a:t>
            </a:r>
            <a:r>
              <a:rPr lang="en-US" sz="1900" dirty="0" err="1"/>
              <a:t>en</a:t>
            </a:r>
            <a:r>
              <a:rPr lang="en-US" sz="1900" dirty="0"/>
              <a:t> de portier </a:t>
            </a:r>
            <a:r>
              <a:rPr lang="en-US" sz="1900" b="1" dirty="0"/>
              <a:t>nooit</a:t>
            </a:r>
            <a:r>
              <a:rPr lang="en-US" sz="1900" dirty="0"/>
              <a:t> in de </a:t>
            </a:r>
            <a:r>
              <a:rPr lang="en-US" sz="1900" dirty="0" err="1"/>
              <a:t>kluis</a:t>
            </a:r>
            <a:r>
              <a:rPr lang="en-US" sz="1900" dirty="0"/>
              <a:t>, </a:t>
            </a:r>
            <a:r>
              <a:rPr lang="en-US" sz="1900" dirty="0" err="1"/>
              <a:t>enkel</a:t>
            </a:r>
            <a:r>
              <a:rPr lang="en-US" sz="1900" dirty="0"/>
              <a:t> de operator</a:t>
            </a:r>
          </a:p>
          <a:p>
            <a:pPr marL="285750" indent="-228600">
              <a:lnSpc>
                <a:spcPct val="110000"/>
              </a:lnSpc>
              <a:spcAft>
                <a:spcPts val="600"/>
              </a:spcAft>
              <a:buFont typeface="Arial" panose="020B0604020202020204" pitchFamily="34" charset="0"/>
              <a:buChar char="•"/>
            </a:pPr>
            <a:endParaRPr lang="en-US" sz="1900" dirty="0"/>
          </a:p>
        </p:txBody>
      </p:sp>
    </p:spTree>
    <p:extLst>
      <p:ext uri="{BB962C8B-B14F-4D97-AF65-F5344CB8AC3E}">
        <p14:creationId xmlns:p14="http://schemas.microsoft.com/office/powerpoint/2010/main" val="216797237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ECB193-81A3-6A0B-76D0-6201F66E08B1}"/>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C0393A1C-5EA3-2D0F-9654-85F56C6A72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kstvak 2">
            <a:extLst>
              <a:ext uri="{FF2B5EF4-FFF2-40B4-BE49-F238E27FC236}">
                <a16:creationId xmlns:a16="http://schemas.microsoft.com/office/drawing/2014/main" id="{DF6427D3-21B7-9350-281D-1D9ECD91823F}"/>
              </a:ext>
            </a:extLst>
          </p:cNvPr>
          <p:cNvSpPr txBox="1"/>
          <p:nvPr/>
        </p:nvSpPr>
        <p:spPr>
          <a:xfrm>
            <a:off x="612648" y="261667"/>
            <a:ext cx="9192212" cy="6073601"/>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14350" indent="-457200">
              <a:lnSpc>
                <a:spcPct val="120000"/>
              </a:lnSpc>
              <a:spcAft>
                <a:spcPts val="600"/>
              </a:spcAft>
              <a:buAutoNum type="arabicParenR"/>
            </a:pPr>
            <a:r>
              <a:rPr lang="en-US" sz="2200" dirty="0" err="1"/>
              <a:t>Klant</a:t>
            </a:r>
            <a:r>
              <a:rPr lang="en-US" sz="2200" dirty="0"/>
              <a:t> </a:t>
            </a:r>
            <a:r>
              <a:rPr lang="en-US" sz="2200" dirty="0" err="1"/>
              <a:t>meldt</a:t>
            </a:r>
            <a:r>
              <a:rPr lang="en-US" sz="2200" dirty="0"/>
              <a:t> </a:t>
            </a:r>
            <a:r>
              <a:rPr lang="en-US" sz="2200" dirty="0" err="1"/>
              <a:t>zich</a:t>
            </a:r>
            <a:r>
              <a:rPr lang="en-US" sz="2200" dirty="0"/>
              <a:t> </a:t>
            </a:r>
            <a:r>
              <a:rPr lang="en-US" sz="2200" dirty="0" err="1"/>
              <a:t>aan</a:t>
            </a:r>
            <a:r>
              <a:rPr lang="en-US" sz="2200" dirty="0"/>
              <a:t> </a:t>
            </a:r>
            <a:r>
              <a:rPr lang="en-US" sz="2200" dirty="0" err="1"/>
              <a:t>bij</a:t>
            </a:r>
            <a:r>
              <a:rPr lang="en-US" sz="2200" dirty="0"/>
              <a:t> de portier</a:t>
            </a:r>
            <a:endParaRPr lang="nl-NL" dirty="0"/>
          </a:p>
          <a:p>
            <a:pPr marL="57150">
              <a:lnSpc>
                <a:spcPct val="120000"/>
              </a:lnSpc>
              <a:spcAft>
                <a:spcPts val="600"/>
              </a:spcAft>
            </a:pPr>
            <a:r>
              <a:rPr lang="en-US" sz="2200" dirty="0" err="1"/>
              <a:t>Klant</a:t>
            </a:r>
            <a:r>
              <a:rPr lang="en-US" sz="2200" dirty="0"/>
              <a:t>: </a:t>
            </a:r>
            <a:r>
              <a:rPr lang="en-US" sz="2200" dirty="0" err="1"/>
              <a:t>bezoeker</a:t>
            </a:r>
            <a:r>
              <a:rPr lang="en-US" sz="2200" dirty="0"/>
              <a:t> van de website die het </a:t>
            </a:r>
            <a:r>
              <a:rPr lang="en-US" sz="2200" dirty="0" err="1"/>
              <a:t>formulier</a:t>
            </a:r>
            <a:r>
              <a:rPr lang="en-US" sz="2200" dirty="0"/>
              <a:t> </a:t>
            </a:r>
            <a:r>
              <a:rPr lang="en-US" sz="2200" dirty="0" err="1"/>
              <a:t>invult</a:t>
            </a:r>
          </a:p>
          <a:p>
            <a:pPr marL="57150">
              <a:lnSpc>
                <a:spcPct val="120000"/>
              </a:lnSpc>
              <a:spcAft>
                <a:spcPts val="600"/>
              </a:spcAft>
            </a:pPr>
            <a:endParaRPr lang="en-US" sz="2200" dirty="0"/>
          </a:p>
          <a:p>
            <a:pPr marL="57150">
              <a:lnSpc>
                <a:spcPct val="120000"/>
              </a:lnSpc>
              <a:spcAft>
                <a:spcPts val="600"/>
              </a:spcAft>
            </a:pPr>
            <a:r>
              <a:rPr lang="en-US" sz="1600" dirty="0" err="1"/>
              <a:t>Definitie</a:t>
            </a:r>
            <a:r>
              <a:rPr lang="en-US" sz="1600" dirty="0"/>
              <a:t> </a:t>
            </a:r>
            <a:r>
              <a:rPr lang="en-US" sz="1600" dirty="0" err="1"/>
              <a:t>klant</a:t>
            </a:r>
            <a:r>
              <a:rPr lang="en-US" sz="1600" dirty="0"/>
              <a:t>:</a:t>
            </a:r>
          </a:p>
          <a:p>
            <a:pPr marL="57150">
              <a:lnSpc>
                <a:spcPct val="120000"/>
              </a:lnSpc>
              <a:spcAft>
                <a:spcPts val="600"/>
              </a:spcAft>
            </a:pPr>
            <a:r>
              <a:rPr lang="en-US" sz="1600" dirty="0" err="1"/>
              <a:t>Iemand</a:t>
            </a:r>
            <a:r>
              <a:rPr lang="en-US" sz="1600" dirty="0"/>
              <a:t> die </a:t>
            </a:r>
            <a:r>
              <a:rPr lang="en-US" sz="1600" dirty="0" err="1"/>
              <a:t>beweert</a:t>
            </a:r>
            <a:r>
              <a:rPr lang="en-US" sz="1600" dirty="0"/>
              <a:t> </a:t>
            </a:r>
            <a:r>
              <a:rPr lang="en-US" sz="1600" dirty="0" err="1"/>
              <a:t>bepaalde</a:t>
            </a:r>
            <a:r>
              <a:rPr lang="en-US" sz="1600" dirty="0"/>
              <a:t> </a:t>
            </a:r>
            <a:r>
              <a:rPr lang="en-US" sz="1600" dirty="0" err="1"/>
              <a:t>eigenschappen</a:t>
            </a:r>
            <a:r>
              <a:rPr lang="en-US" sz="1600" dirty="0"/>
              <a:t> </a:t>
            </a:r>
            <a:r>
              <a:rPr lang="en-US" sz="1600" dirty="0" err="1"/>
              <a:t>te</a:t>
            </a:r>
            <a:r>
              <a:rPr lang="en-US" sz="1600" dirty="0"/>
              <a:t> </a:t>
            </a:r>
            <a:r>
              <a:rPr lang="en-US" sz="1600" dirty="0" err="1"/>
              <a:t>hebben</a:t>
            </a:r>
            <a:r>
              <a:rPr lang="en-US" sz="1600" dirty="0"/>
              <a:t>:</a:t>
            </a:r>
          </a:p>
          <a:p>
            <a:pPr marL="57150">
              <a:lnSpc>
                <a:spcPct val="120000"/>
              </a:lnSpc>
              <a:spcAft>
                <a:spcPts val="600"/>
              </a:spcAft>
            </a:pPr>
            <a:r>
              <a:rPr lang="en-US" sz="1600" dirty="0" err="1"/>
              <a:t>Waaronder</a:t>
            </a:r>
            <a:r>
              <a:rPr lang="en-US" sz="1600" dirty="0"/>
              <a:t> </a:t>
            </a:r>
            <a:r>
              <a:rPr lang="en-US" sz="1600" dirty="0" err="1"/>
              <a:t>gebruikersnaam</a:t>
            </a:r>
            <a:r>
              <a:rPr lang="en-US" sz="1600" dirty="0"/>
              <a:t> </a:t>
            </a:r>
            <a:r>
              <a:rPr lang="en-US" sz="1600" dirty="0" err="1"/>
              <a:t>en</a:t>
            </a:r>
            <a:r>
              <a:rPr lang="en-US" sz="1600" dirty="0"/>
              <a:t> </a:t>
            </a:r>
            <a:r>
              <a:rPr lang="en-US" sz="1600" dirty="0" err="1"/>
              <a:t>wachtwoord</a:t>
            </a:r>
            <a:endParaRPr lang="en-US" sz="1600" dirty="0"/>
          </a:p>
          <a:p>
            <a:pPr marL="57150">
              <a:lnSpc>
                <a:spcPct val="120000"/>
              </a:lnSpc>
              <a:spcAft>
                <a:spcPts val="600"/>
              </a:spcAft>
            </a:pPr>
            <a:r>
              <a:rPr lang="en-US" sz="1600" dirty="0"/>
              <a:t>Kan </a:t>
            </a:r>
            <a:r>
              <a:rPr lang="en-US" sz="1600" dirty="0" err="1"/>
              <a:t>ook</a:t>
            </a:r>
            <a:r>
              <a:rPr lang="en-US" sz="1600" dirty="0"/>
              <a:t> </a:t>
            </a:r>
            <a:r>
              <a:rPr lang="en-US" sz="1600" dirty="0" err="1"/>
              <a:t>iemand</a:t>
            </a:r>
            <a:r>
              <a:rPr lang="en-US" sz="1600" dirty="0"/>
              <a:t> </a:t>
            </a:r>
            <a:r>
              <a:rPr lang="en-US" sz="1600" dirty="0" err="1"/>
              <a:t>zijn</a:t>
            </a:r>
            <a:r>
              <a:rPr lang="en-US" sz="1600" dirty="0"/>
              <a:t> die valse </a:t>
            </a:r>
            <a:r>
              <a:rPr lang="en-US" sz="1600" dirty="0" err="1"/>
              <a:t>informatie</a:t>
            </a:r>
            <a:r>
              <a:rPr lang="en-US" sz="1600" dirty="0"/>
              <a:t> </a:t>
            </a:r>
            <a:r>
              <a:rPr lang="en-US" sz="1600" dirty="0" err="1"/>
              <a:t>opgeeft</a:t>
            </a:r>
            <a:r>
              <a:rPr lang="en-US" sz="1600" dirty="0"/>
              <a:t> om </a:t>
            </a:r>
            <a:r>
              <a:rPr lang="en-US" sz="1600" dirty="0" err="1"/>
              <a:t>aan</a:t>
            </a:r>
            <a:r>
              <a:rPr lang="en-US" sz="1600" dirty="0"/>
              <a:t> de </a:t>
            </a:r>
            <a:r>
              <a:rPr lang="en-US" sz="1600" dirty="0" err="1"/>
              <a:t>kluisinhoud</a:t>
            </a:r>
            <a:r>
              <a:rPr lang="en-US" sz="1600" dirty="0"/>
              <a:t> </a:t>
            </a:r>
            <a:r>
              <a:rPr lang="en-US" sz="1600" dirty="0" err="1"/>
              <a:t>te</a:t>
            </a:r>
            <a:r>
              <a:rPr lang="en-US" sz="1600" dirty="0"/>
              <a:t> </a:t>
            </a:r>
            <a:r>
              <a:rPr lang="en-US" sz="1600" dirty="0" err="1"/>
              <a:t>geraken</a:t>
            </a:r>
            <a:r>
              <a:rPr lang="en-US" sz="1600" dirty="0"/>
              <a:t> van </a:t>
            </a:r>
            <a:r>
              <a:rPr lang="en-US" sz="1600" dirty="0" err="1"/>
              <a:t>iemand</a:t>
            </a:r>
            <a:r>
              <a:rPr lang="en-US" sz="1600" dirty="0"/>
              <a:t> </a:t>
            </a:r>
            <a:r>
              <a:rPr lang="en-US" sz="1600" dirty="0" err="1"/>
              <a:t>anders</a:t>
            </a:r>
            <a:r>
              <a:rPr lang="en-US" sz="1600" dirty="0"/>
              <a:t> (</a:t>
            </a:r>
            <a:r>
              <a:rPr lang="en-US" sz="1600" dirty="0" err="1"/>
              <a:t>ongewenst</a:t>
            </a:r>
            <a:r>
              <a:rPr lang="en-US" sz="1600" dirty="0"/>
              <a:t>)</a:t>
            </a:r>
          </a:p>
        </p:txBody>
      </p:sp>
      <p:pic>
        <p:nvPicPr>
          <p:cNvPr id="2" name="Afbeelding 1" descr="Gangster cat pfp Photos - Download Free High-Quality Pictures | Freepik">
            <a:extLst>
              <a:ext uri="{FF2B5EF4-FFF2-40B4-BE49-F238E27FC236}">
                <a16:creationId xmlns:a16="http://schemas.microsoft.com/office/drawing/2014/main" id="{B15BED5C-EC3E-6268-0B9C-16B925AF108D}"/>
              </a:ext>
            </a:extLst>
          </p:cNvPr>
          <p:cNvPicPr>
            <a:picLocks noChangeAspect="1"/>
          </p:cNvPicPr>
          <p:nvPr/>
        </p:nvPicPr>
        <p:blipFill>
          <a:blip r:embed="rId2"/>
          <a:stretch>
            <a:fillRect/>
          </a:stretch>
        </p:blipFill>
        <p:spPr>
          <a:xfrm>
            <a:off x="7413171" y="3429000"/>
            <a:ext cx="4441371" cy="3356977"/>
          </a:xfrm>
          <a:prstGeom prst="rect">
            <a:avLst/>
          </a:prstGeom>
        </p:spPr>
      </p:pic>
    </p:spTree>
    <p:extLst>
      <p:ext uri="{BB962C8B-B14F-4D97-AF65-F5344CB8AC3E}">
        <p14:creationId xmlns:p14="http://schemas.microsoft.com/office/powerpoint/2010/main" val="55514100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D1D73F-08DE-5A4B-889A-E9F639C86DC6}"/>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084127E5-EFBA-53AC-5C5C-1DF95C7BC1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kstvak 2">
            <a:extLst>
              <a:ext uri="{FF2B5EF4-FFF2-40B4-BE49-F238E27FC236}">
                <a16:creationId xmlns:a16="http://schemas.microsoft.com/office/drawing/2014/main" id="{8D5F21D7-0EE2-2D65-D71F-DE6DC1D323BD}"/>
              </a:ext>
            </a:extLst>
          </p:cNvPr>
          <p:cNvSpPr txBox="1"/>
          <p:nvPr/>
        </p:nvSpPr>
        <p:spPr>
          <a:xfrm>
            <a:off x="612648" y="261667"/>
            <a:ext cx="9192212" cy="6073601"/>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Aft>
                <a:spcPts val="600"/>
              </a:spcAft>
            </a:pPr>
            <a:r>
              <a:rPr lang="en-US" sz="2200" dirty="0"/>
              <a:t>2) Operator </a:t>
            </a:r>
            <a:r>
              <a:rPr lang="en-US" sz="2200" dirty="0" err="1"/>
              <a:t>krijgt</a:t>
            </a:r>
            <a:r>
              <a:rPr lang="en-US" sz="2200" dirty="0"/>
              <a:t> </a:t>
            </a:r>
            <a:r>
              <a:rPr lang="en-US" sz="2200" dirty="0" err="1"/>
              <a:t>opdracht</a:t>
            </a:r>
            <a:r>
              <a:rPr lang="en-US" sz="2200" dirty="0"/>
              <a:t> van portier</a:t>
            </a:r>
          </a:p>
          <a:p>
            <a:pPr marL="57150">
              <a:lnSpc>
                <a:spcPct val="120000"/>
              </a:lnSpc>
              <a:spcAft>
                <a:spcPts val="600"/>
              </a:spcAft>
            </a:pPr>
            <a:r>
              <a:rPr lang="en-US" sz="2200" dirty="0"/>
              <a:t>Operator (</a:t>
            </a:r>
            <a:r>
              <a:rPr lang="en-US" sz="2200" dirty="0" err="1"/>
              <a:t>vergelijk</a:t>
            </a:r>
            <a:r>
              <a:rPr lang="en-US" sz="2200" dirty="0"/>
              <a:t> met: query in database)</a:t>
            </a:r>
          </a:p>
          <a:p>
            <a:pPr marL="57150">
              <a:lnSpc>
                <a:spcPct val="120000"/>
              </a:lnSpc>
              <a:spcAft>
                <a:spcPts val="600"/>
              </a:spcAft>
            </a:pPr>
            <a:endParaRPr lang="en-US" sz="2200" dirty="0"/>
          </a:p>
          <a:p>
            <a:pPr marL="57150">
              <a:lnSpc>
                <a:spcPct val="120000"/>
              </a:lnSpc>
              <a:spcAft>
                <a:spcPts val="600"/>
              </a:spcAft>
            </a:pPr>
            <a:r>
              <a:rPr lang="en-US" dirty="0" err="1"/>
              <a:t>Loopt</a:t>
            </a:r>
            <a:r>
              <a:rPr lang="en-US" dirty="0"/>
              <a:t> in de </a:t>
            </a:r>
            <a:r>
              <a:rPr lang="en-US" dirty="0" err="1"/>
              <a:t>kluis</a:t>
            </a:r>
            <a:r>
              <a:rPr lang="en-US" dirty="0"/>
              <a:t> </a:t>
            </a:r>
            <a:r>
              <a:rPr lang="en-US" dirty="0" err="1"/>
              <a:t>rond</a:t>
            </a:r>
            <a:r>
              <a:rPr lang="en-US" dirty="0"/>
              <a:t>, </a:t>
            </a:r>
            <a:r>
              <a:rPr lang="en-US" dirty="0" err="1"/>
              <a:t>zoekt</a:t>
            </a:r>
            <a:r>
              <a:rPr lang="en-US" dirty="0"/>
              <a:t> </a:t>
            </a:r>
            <a:r>
              <a:rPr lang="en-US" dirty="0" err="1"/>
              <a:t>naar</a:t>
            </a:r>
            <a:r>
              <a:rPr lang="en-US" dirty="0"/>
              <a:t> username </a:t>
            </a:r>
            <a:r>
              <a:rPr lang="en-US" dirty="0" err="1"/>
              <a:t>en</a:t>
            </a:r>
            <a:r>
              <a:rPr lang="en-US" dirty="0"/>
              <a:t> password.</a:t>
            </a:r>
          </a:p>
          <a:p>
            <a:pPr marL="57150">
              <a:lnSpc>
                <a:spcPct val="120000"/>
              </a:lnSpc>
              <a:spcAft>
                <a:spcPts val="600"/>
              </a:spcAft>
            </a:pPr>
            <a:endParaRPr lang="en-US" dirty="0"/>
          </a:p>
          <a:p>
            <a:pPr marL="57150">
              <a:lnSpc>
                <a:spcPct val="120000"/>
              </a:lnSpc>
              <a:spcAft>
                <a:spcPts val="600"/>
              </a:spcAft>
            </a:pPr>
            <a:r>
              <a:rPr lang="en-US" dirty="0" err="1"/>
              <a:t>Geeft</a:t>
            </a:r>
            <a:r>
              <a:rPr lang="en-US" dirty="0"/>
              <a:t> info </a:t>
            </a:r>
            <a:r>
              <a:rPr lang="en-US" dirty="0" err="1"/>
              <a:t>terug</a:t>
            </a:r>
            <a:r>
              <a:rPr lang="en-US" dirty="0"/>
              <a:t> door </a:t>
            </a:r>
            <a:r>
              <a:rPr lang="en-US" dirty="0" err="1"/>
              <a:t>aan</a:t>
            </a:r>
            <a:r>
              <a:rPr lang="en-US" dirty="0"/>
              <a:t> de portier.</a:t>
            </a:r>
          </a:p>
        </p:txBody>
      </p:sp>
      <p:pic>
        <p:nvPicPr>
          <p:cNvPr id="4" name="Afbeelding 3" descr="Bank Employee PNG Transparent Images Free Download | Vector Files | Pngtree">
            <a:extLst>
              <a:ext uri="{FF2B5EF4-FFF2-40B4-BE49-F238E27FC236}">
                <a16:creationId xmlns:a16="http://schemas.microsoft.com/office/drawing/2014/main" id="{83B39FFF-26D2-A8AE-5AA1-133DD7591FC7}"/>
              </a:ext>
            </a:extLst>
          </p:cNvPr>
          <p:cNvPicPr>
            <a:picLocks noChangeAspect="1"/>
          </p:cNvPicPr>
          <p:nvPr/>
        </p:nvPicPr>
        <p:blipFill>
          <a:blip r:embed="rId2"/>
          <a:stretch>
            <a:fillRect/>
          </a:stretch>
        </p:blipFill>
        <p:spPr>
          <a:xfrm>
            <a:off x="6458802" y="0"/>
            <a:ext cx="7678168" cy="6858000"/>
          </a:xfrm>
          <a:prstGeom prst="rect">
            <a:avLst/>
          </a:prstGeom>
        </p:spPr>
      </p:pic>
    </p:spTree>
    <p:extLst>
      <p:ext uri="{BB962C8B-B14F-4D97-AF65-F5344CB8AC3E}">
        <p14:creationId xmlns:p14="http://schemas.microsoft.com/office/powerpoint/2010/main" val="259790903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786161-15CB-26C8-8F59-632D7BB8C8CC}"/>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639560F5-E925-3193-DF9A-A53775F17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kstvak 2">
            <a:extLst>
              <a:ext uri="{FF2B5EF4-FFF2-40B4-BE49-F238E27FC236}">
                <a16:creationId xmlns:a16="http://schemas.microsoft.com/office/drawing/2014/main" id="{99DB4338-1D14-0125-B88C-45AEA5B45EB8}"/>
              </a:ext>
            </a:extLst>
          </p:cNvPr>
          <p:cNvSpPr txBox="1"/>
          <p:nvPr/>
        </p:nvSpPr>
        <p:spPr>
          <a:xfrm>
            <a:off x="612648" y="261667"/>
            <a:ext cx="9192212" cy="6073601"/>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Aft>
                <a:spcPts val="600"/>
              </a:spcAft>
            </a:pPr>
            <a:r>
              <a:rPr lang="en-US" sz="2200" dirty="0"/>
              <a:t>3) Portier </a:t>
            </a:r>
            <a:r>
              <a:rPr lang="en-US" sz="2200" dirty="0" err="1"/>
              <a:t>kondigt</a:t>
            </a:r>
            <a:r>
              <a:rPr lang="en-US" sz="2200" dirty="0"/>
              <a:t> </a:t>
            </a:r>
            <a:r>
              <a:rPr lang="en-US" sz="2200" dirty="0" err="1"/>
              <a:t>actie</a:t>
            </a:r>
            <a:r>
              <a:rPr lang="en-US" sz="2200" dirty="0"/>
              <a:t> </a:t>
            </a:r>
            <a:r>
              <a:rPr lang="en-US" sz="2200" dirty="0" err="1"/>
              <a:t>aan</a:t>
            </a:r>
            <a:r>
              <a:rPr lang="en-US" sz="2200" dirty="0"/>
              <a:t> </a:t>
            </a:r>
            <a:r>
              <a:rPr lang="en-US" sz="2200" dirty="0" err="1"/>
              <a:t>tegen</a:t>
            </a:r>
            <a:r>
              <a:rPr lang="en-US" sz="2200" dirty="0"/>
              <a:t> </a:t>
            </a:r>
            <a:r>
              <a:rPr lang="en-US" sz="2200" dirty="0" err="1"/>
              <a:t>kla</a:t>
            </a:r>
            <a:r>
              <a:rPr lang="en-US" sz="2200" dirty="0"/>
              <a:t>nt</a:t>
            </a:r>
          </a:p>
          <a:p>
            <a:pPr marL="57150">
              <a:lnSpc>
                <a:spcPct val="120000"/>
              </a:lnSpc>
              <a:spcAft>
                <a:spcPts val="600"/>
              </a:spcAft>
            </a:pPr>
            <a:r>
              <a:rPr lang="en-US" sz="2200" dirty="0"/>
              <a:t>Portier (</a:t>
            </a:r>
            <a:r>
              <a:rPr lang="en-US" sz="2200" dirty="0" err="1"/>
              <a:t>vergelijkbaar</a:t>
            </a:r>
            <a:r>
              <a:rPr lang="en-US" sz="2200" dirty="0"/>
              <a:t> met "echo </a:t>
            </a:r>
            <a:r>
              <a:rPr lang="en-US" sz="2200" dirty="0" err="1"/>
              <a:t>en</a:t>
            </a:r>
            <a:r>
              <a:rPr lang="en-US" sz="2200" dirty="0"/>
              <a:t> if statements")</a:t>
            </a:r>
            <a:endParaRPr lang="en-US" dirty="0"/>
          </a:p>
          <a:p>
            <a:pPr marL="57150">
              <a:lnSpc>
                <a:spcPct val="120000"/>
              </a:lnSpc>
              <a:spcAft>
                <a:spcPts val="600"/>
              </a:spcAft>
            </a:pPr>
            <a:endParaRPr lang="en-US" sz="2200" dirty="0"/>
          </a:p>
          <a:p>
            <a:pPr marL="57150">
              <a:lnSpc>
                <a:spcPct val="120000"/>
              </a:lnSpc>
              <a:spcAft>
                <a:spcPts val="600"/>
              </a:spcAft>
            </a:pPr>
            <a:r>
              <a:rPr lang="en-US" sz="2200" dirty="0"/>
              <a:t>Als de operator het record </a:t>
            </a:r>
            <a:r>
              <a:rPr lang="en-US" sz="2200" dirty="0" err="1"/>
              <a:t>kan</a:t>
            </a:r>
            <a:r>
              <a:rPr lang="en-US" sz="2200" dirty="0"/>
              <a:t> </a:t>
            </a:r>
            <a:r>
              <a:rPr lang="en-US" sz="2200" dirty="0" err="1"/>
              <a:t>vinden</a:t>
            </a:r>
            <a:r>
              <a:rPr lang="en-US" sz="2200" dirty="0"/>
              <a:t>: portier </a:t>
            </a:r>
            <a:r>
              <a:rPr lang="en-US" sz="2200" dirty="0" err="1"/>
              <a:t>geeft</a:t>
            </a:r>
            <a:endParaRPr lang="en-US" sz="2200" dirty="0"/>
          </a:p>
          <a:p>
            <a:pPr marL="57150">
              <a:lnSpc>
                <a:spcPct val="120000"/>
              </a:lnSpc>
              <a:spcAft>
                <a:spcPts val="600"/>
              </a:spcAft>
            </a:pPr>
            <a:r>
              <a:rPr lang="en-US" sz="2200" dirty="0" err="1"/>
              <a:t>sessiemap</a:t>
            </a:r>
            <a:r>
              <a:rPr lang="en-US" sz="2200" dirty="0"/>
              <a:t> mee </a:t>
            </a:r>
            <a:r>
              <a:rPr lang="en-US" sz="2200" dirty="0" err="1"/>
              <a:t>aan</a:t>
            </a:r>
            <a:r>
              <a:rPr lang="en-US" sz="2200" dirty="0"/>
              <a:t> </a:t>
            </a:r>
            <a:r>
              <a:rPr lang="en-US" sz="2200" dirty="0" err="1"/>
              <a:t>klant</a:t>
            </a:r>
            <a:endParaRPr lang="en-US" sz="2200" dirty="0"/>
          </a:p>
          <a:p>
            <a:pPr marL="57150">
              <a:lnSpc>
                <a:spcPct val="120000"/>
              </a:lnSpc>
              <a:spcAft>
                <a:spcPts val="600"/>
              </a:spcAft>
            </a:pPr>
            <a:endParaRPr lang="en-US" sz="2200" dirty="0"/>
          </a:p>
          <a:p>
            <a:pPr marL="57150">
              <a:lnSpc>
                <a:spcPct val="120000"/>
              </a:lnSpc>
              <a:spcAft>
                <a:spcPts val="600"/>
              </a:spcAft>
            </a:pPr>
            <a:r>
              <a:rPr lang="en-US" sz="2200" dirty="0" err="1"/>
              <a:t>Indien</a:t>
            </a:r>
            <a:r>
              <a:rPr lang="en-US" sz="2200" dirty="0"/>
              <a:t> </a:t>
            </a:r>
            <a:r>
              <a:rPr lang="en-US" sz="2200" dirty="0" err="1"/>
              <a:t>enkel</a:t>
            </a:r>
            <a:r>
              <a:rPr lang="en-US" sz="2200" dirty="0"/>
              <a:t> de </a:t>
            </a:r>
            <a:r>
              <a:rPr lang="en-US" sz="2200" dirty="0" err="1"/>
              <a:t>gebruikersnaam</a:t>
            </a:r>
            <a:r>
              <a:rPr lang="en-US" sz="2200" dirty="0"/>
              <a:t> </a:t>
            </a:r>
            <a:r>
              <a:rPr lang="en-US" sz="2200" dirty="0" err="1"/>
              <a:t>overeenkomt</a:t>
            </a:r>
            <a:r>
              <a:rPr lang="en-US" sz="2200" dirty="0"/>
              <a:t>: </a:t>
            </a:r>
          </a:p>
          <a:p>
            <a:pPr marL="57150">
              <a:lnSpc>
                <a:spcPct val="120000"/>
              </a:lnSpc>
              <a:spcAft>
                <a:spcPts val="600"/>
              </a:spcAft>
            </a:pPr>
            <a:r>
              <a:rPr lang="en-US" sz="2200" dirty="0"/>
              <a:t>Portier </a:t>
            </a:r>
            <a:r>
              <a:rPr lang="en-US" sz="2200" dirty="0" err="1"/>
              <a:t>meldt</a:t>
            </a:r>
            <a:r>
              <a:rPr lang="en-US" sz="2200" dirty="0"/>
              <a:t> </a:t>
            </a:r>
            <a:r>
              <a:rPr lang="en-US" sz="2200" dirty="0" err="1"/>
              <a:t>dat</a:t>
            </a:r>
            <a:r>
              <a:rPr lang="en-US" sz="2200" dirty="0"/>
              <a:t> </a:t>
            </a:r>
            <a:r>
              <a:rPr lang="en-US" sz="2200" dirty="0" err="1"/>
              <a:t>wachtwoord</a:t>
            </a:r>
            <a:r>
              <a:rPr lang="en-US" sz="2200" dirty="0"/>
              <a:t> </a:t>
            </a:r>
            <a:r>
              <a:rPr lang="en-US" sz="2200" dirty="0" err="1"/>
              <a:t>niet</a:t>
            </a:r>
            <a:r>
              <a:rPr lang="en-US" sz="2200" dirty="0"/>
              <a:t> </a:t>
            </a:r>
            <a:r>
              <a:rPr lang="en-US" sz="2200" dirty="0" err="1"/>
              <a:t>klopt</a:t>
            </a:r>
            <a:r>
              <a:rPr lang="en-US" sz="2200" dirty="0"/>
              <a:t>.</a:t>
            </a:r>
          </a:p>
          <a:p>
            <a:pPr marL="57150">
              <a:lnSpc>
                <a:spcPct val="120000"/>
              </a:lnSpc>
              <a:spcAft>
                <a:spcPts val="600"/>
              </a:spcAft>
            </a:pPr>
            <a:endParaRPr lang="en-US" sz="2200" dirty="0"/>
          </a:p>
          <a:p>
            <a:pPr marL="57150">
              <a:lnSpc>
                <a:spcPct val="120000"/>
              </a:lnSpc>
              <a:spcAft>
                <a:spcPts val="600"/>
              </a:spcAft>
            </a:pPr>
            <a:r>
              <a:rPr lang="en-US" sz="2200" dirty="0" err="1"/>
              <a:t>Indien</a:t>
            </a:r>
            <a:r>
              <a:rPr lang="en-US" sz="2200" dirty="0"/>
              <a:t> </a:t>
            </a:r>
            <a:r>
              <a:rPr lang="en-US" sz="2200" dirty="0" err="1"/>
              <a:t>niet</a:t>
            </a:r>
            <a:r>
              <a:rPr lang="en-US" sz="2200" dirty="0"/>
              <a:t> </a:t>
            </a:r>
            <a:r>
              <a:rPr lang="en-US" sz="2200" dirty="0" err="1"/>
              <a:t>gevonden</a:t>
            </a:r>
            <a:r>
              <a:rPr lang="en-US" sz="2200" dirty="0"/>
              <a:t>: Portier </a:t>
            </a:r>
            <a:r>
              <a:rPr lang="en-US" sz="2200" dirty="0" err="1"/>
              <a:t>weigert</a:t>
            </a:r>
            <a:r>
              <a:rPr lang="en-US" sz="2200" dirty="0"/>
              <a:t> alle </a:t>
            </a:r>
            <a:r>
              <a:rPr lang="en-US" sz="2200" dirty="0" err="1"/>
              <a:t>toegang</a:t>
            </a:r>
            <a:r>
              <a:rPr lang="en-US" sz="2200" dirty="0"/>
              <a:t> </a:t>
            </a:r>
            <a:r>
              <a:rPr lang="en-US" sz="2200" dirty="0" err="1"/>
              <a:t>en</a:t>
            </a:r>
            <a:r>
              <a:rPr lang="en-US" sz="2200" dirty="0"/>
              <a:t> </a:t>
            </a:r>
          </a:p>
          <a:p>
            <a:pPr marL="57150">
              <a:lnSpc>
                <a:spcPct val="120000"/>
              </a:lnSpc>
              <a:spcAft>
                <a:spcPts val="600"/>
              </a:spcAft>
            </a:pPr>
            <a:r>
              <a:rPr lang="en-US" sz="2200" dirty="0" err="1"/>
              <a:t>Noemt</a:t>
            </a:r>
            <a:r>
              <a:rPr lang="en-US" sz="2200" dirty="0"/>
              <a:t> de </a:t>
            </a:r>
            <a:r>
              <a:rPr lang="en-US" sz="2200" dirty="0" err="1"/>
              <a:t>klant</a:t>
            </a:r>
            <a:r>
              <a:rPr lang="en-US" sz="2200" dirty="0"/>
              <a:t> </a:t>
            </a:r>
            <a:r>
              <a:rPr lang="en-US" sz="2200" dirty="0" err="1"/>
              <a:t>een</a:t>
            </a:r>
            <a:r>
              <a:rPr lang="en-US" sz="2200" dirty="0"/>
              <a:t> "leugenaar".</a:t>
            </a:r>
          </a:p>
        </p:txBody>
      </p:sp>
      <p:pic>
        <p:nvPicPr>
          <p:cNvPr id="4" name="Afbeelding 3" descr="Bank Employee PNG Transparent Images Free Download | Vector Files | Pngtree">
            <a:extLst>
              <a:ext uri="{FF2B5EF4-FFF2-40B4-BE49-F238E27FC236}">
                <a16:creationId xmlns:a16="http://schemas.microsoft.com/office/drawing/2014/main" id="{488317F7-080E-91FE-FC26-0DBB0ABB25C9}"/>
              </a:ext>
            </a:extLst>
          </p:cNvPr>
          <p:cNvPicPr>
            <a:picLocks noChangeAspect="1"/>
          </p:cNvPicPr>
          <p:nvPr/>
        </p:nvPicPr>
        <p:blipFill>
          <a:blip r:embed="rId2"/>
          <a:stretch>
            <a:fillRect/>
          </a:stretch>
        </p:blipFill>
        <p:spPr>
          <a:xfrm>
            <a:off x="6458802" y="0"/>
            <a:ext cx="7678168" cy="6858000"/>
          </a:xfrm>
          <a:prstGeom prst="rect">
            <a:avLst/>
          </a:prstGeom>
        </p:spPr>
      </p:pic>
    </p:spTree>
    <p:extLst>
      <p:ext uri="{BB962C8B-B14F-4D97-AF65-F5344CB8AC3E}">
        <p14:creationId xmlns:p14="http://schemas.microsoft.com/office/powerpoint/2010/main" val="1409164143"/>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8844524-415F-D674-47AD-72F890BE1E1E}"/>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90965340-B6F1-4CD8-87A4-315B558009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kstvak 2">
            <a:extLst>
              <a:ext uri="{FF2B5EF4-FFF2-40B4-BE49-F238E27FC236}">
                <a16:creationId xmlns:a16="http://schemas.microsoft.com/office/drawing/2014/main" id="{9850E99F-325A-6541-82DF-47696E30BA20}"/>
              </a:ext>
            </a:extLst>
          </p:cNvPr>
          <p:cNvSpPr txBox="1"/>
          <p:nvPr/>
        </p:nvSpPr>
        <p:spPr>
          <a:xfrm>
            <a:off x="612648" y="261667"/>
            <a:ext cx="3553412" cy="6073601"/>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fontScale="92500" lnSpcReduction="10000"/>
          </a:bodyPr>
          <a:lstStyle/>
          <a:p>
            <a:pPr marL="57150">
              <a:lnSpc>
                <a:spcPct val="120000"/>
              </a:lnSpc>
              <a:spcAft>
                <a:spcPts val="600"/>
              </a:spcAft>
            </a:pPr>
            <a:r>
              <a:rPr lang="en-US"/>
              <a:t>Scenario: </a:t>
            </a:r>
            <a:endParaRPr lang="en-US" dirty="0"/>
          </a:p>
          <a:p>
            <a:pPr marL="57150">
              <a:lnSpc>
                <a:spcPct val="120000"/>
              </a:lnSpc>
              <a:spcAft>
                <a:spcPts val="600"/>
              </a:spcAft>
            </a:pPr>
            <a:r>
              <a:rPr lang="en-US" dirty="0"/>
              <a:t>In de </a:t>
            </a:r>
            <a:r>
              <a:rPr lang="en-US" dirty="0" err="1"/>
              <a:t>middeleeuwen</a:t>
            </a:r>
            <a:r>
              <a:rPr lang="en-US" dirty="0"/>
              <a:t>: Een </a:t>
            </a:r>
            <a:r>
              <a:rPr lang="en-US" dirty="0" err="1"/>
              <a:t>klant</a:t>
            </a:r>
            <a:r>
              <a:rPr lang="en-US" dirty="0"/>
              <a:t> </a:t>
            </a:r>
            <a:r>
              <a:rPr lang="en-US" dirty="0" err="1"/>
              <a:t>wil</a:t>
            </a:r>
            <a:r>
              <a:rPr lang="en-US" dirty="0"/>
              <a:t> </a:t>
            </a:r>
            <a:r>
              <a:rPr lang="en-US" dirty="0" err="1"/>
              <a:t>toegang</a:t>
            </a:r>
            <a:r>
              <a:rPr lang="en-US" dirty="0"/>
              <a:t> </a:t>
            </a:r>
            <a:r>
              <a:rPr lang="en-US" dirty="0" err="1"/>
              <a:t>krijgen</a:t>
            </a:r>
            <a:r>
              <a:rPr lang="en-US" dirty="0"/>
              <a:t> tot </a:t>
            </a:r>
            <a:r>
              <a:rPr lang="en-US" dirty="0" err="1"/>
              <a:t>zijn</a:t>
            </a:r>
            <a:r>
              <a:rPr lang="en-US" dirty="0"/>
              <a:t> </a:t>
            </a:r>
            <a:r>
              <a:rPr lang="en-US" dirty="0" err="1"/>
              <a:t>kluis</a:t>
            </a:r>
            <a:r>
              <a:rPr lang="en-US" dirty="0"/>
              <a:t> </a:t>
            </a:r>
            <a:r>
              <a:rPr lang="en-US" dirty="0" err="1"/>
              <a:t>bij</a:t>
            </a:r>
            <a:r>
              <a:rPr lang="en-US" dirty="0"/>
              <a:t> de bank.</a:t>
            </a:r>
          </a:p>
          <a:p>
            <a:pPr marL="57150">
              <a:lnSpc>
                <a:spcPct val="120000"/>
              </a:lnSpc>
              <a:spcAft>
                <a:spcPts val="600"/>
              </a:spcAft>
            </a:pPr>
            <a:endParaRPr lang="en-US" dirty="0"/>
          </a:p>
          <a:p>
            <a:pPr marL="285750" indent="-228600">
              <a:lnSpc>
                <a:spcPct val="120000"/>
              </a:lnSpc>
              <a:spcAft>
                <a:spcPts val="600"/>
              </a:spcAft>
              <a:buFont typeface="Arial" panose="020B0604020202020204" pitchFamily="34" charset="0"/>
              <a:buChar char="•"/>
            </a:pPr>
            <a:r>
              <a:rPr lang="en-US" dirty="0" err="1"/>
              <a:t>Klant</a:t>
            </a:r>
            <a:r>
              <a:rPr lang="en-US" dirty="0"/>
              <a:t> (</a:t>
            </a:r>
            <a:r>
              <a:rPr lang="en-US" dirty="0" err="1"/>
              <a:t>blauw</a:t>
            </a:r>
            <a:r>
              <a:rPr lang="en-US" dirty="0"/>
              <a:t>)</a:t>
            </a:r>
          </a:p>
          <a:p>
            <a:pPr marL="285750" indent="-228600">
              <a:lnSpc>
                <a:spcPct val="120000"/>
              </a:lnSpc>
              <a:spcAft>
                <a:spcPts val="600"/>
              </a:spcAft>
              <a:buFont typeface="Arial" panose="020B0604020202020204" pitchFamily="34" charset="0"/>
              <a:buChar char="•"/>
            </a:pPr>
            <a:r>
              <a:rPr lang="en-US" dirty="0"/>
              <a:t>Portier </a:t>
            </a:r>
            <a:r>
              <a:rPr lang="en-US" b="1" dirty="0" err="1"/>
              <a:t>aan</a:t>
            </a:r>
            <a:r>
              <a:rPr lang="en-US" dirty="0"/>
              <a:t> de </a:t>
            </a:r>
            <a:r>
              <a:rPr lang="en-US" dirty="0" err="1"/>
              <a:t>kluis</a:t>
            </a:r>
            <a:r>
              <a:rPr lang="en-US" dirty="0"/>
              <a:t> (rood)</a:t>
            </a:r>
          </a:p>
          <a:p>
            <a:pPr marL="285750" indent="-228600">
              <a:lnSpc>
                <a:spcPct val="120000"/>
              </a:lnSpc>
              <a:spcAft>
                <a:spcPts val="600"/>
              </a:spcAft>
              <a:buFont typeface="Arial" panose="020B0604020202020204" pitchFamily="34" charset="0"/>
              <a:buChar char="•"/>
            </a:pPr>
            <a:r>
              <a:rPr lang="en-US" dirty="0"/>
              <a:t>Operator </a:t>
            </a:r>
            <a:r>
              <a:rPr lang="en-US" b="1" dirty="0"/>
              <a:t>in</a:t>
            </a:r>
            <a:r>
              <a:rPr lang="en-US" dirty="0"/>
              <a:t> de </a:t>
            </a:r>
            <a:r>
              <a:rPr lang="en-US" dirty="0" err="1"/>
              <a:t>kluis</a:t>
            </a:r>
            <a:r>
              <a:rPr lang="en-US" dirty="0"/>
              <a:t> (</a:t>
            </a:r>
            <a:r>
              <a:rPr lang="en-US" dirty="0" err="1"/>
              <a:t>groen</a:t>
            </a:r>
            <a:r>
              <a:rPr lang="en-US" dirty="0"/>
              <a:t>)</a:t>
            </a:r>
          </a:p>
          <a:p>
            <a:pPr marL="285750" indent="-228600">
              <a:lnSpc>
                <a:spcPct val="120000"/>
              </a:lnSpc>
              <a:spcAft>
                <a:spcPts val="600"/>
              </a:spcAft>
              <a:buFont typeface="Arial" panose="020B0604020202020204" pitchFamily="34" charset="0"/>
              <a:buChar char="•"/>
            </a:pPr>
            <a:endParaRPr lang="en-US"/>
          </a:p>
          <a:p>
            <a:pPr marL="285750" indent="-228600">
              <a:lnSpc>
                <a:spcPct val="120000"/>
              </a:lnSpc>
              <a:spcAft>
                <a:spcPts val="600"/>
              </a:spcAft>
              <a:buFont typeface="Arial" panose="020B0604020202020204" pitchFamily="34" charset="0"/>
              <a:buChar char="•"/>
            </a:pPr>
            <a:r>
              <a:rPr lang="en-US" dirty="0"/>
              <a:t>Merk op: </a:t>
            </a:r>
            <a:r>
              <a:rPr lang="en-US" err="1"/>
              <a:t>elke</a:t>
            </a:r>
            <a:r>
              <a:rPr lang="en-US" dirty="0"/>
              <a:t> </a:t>
            </a:r>
            <a:r>
              <a:rPr lang="en-US" err="1"/>
              <a:t>persoon</a:t>
            </a:r>
            <a:r>
              <a:rPr lang="en-US" dirty="0"/>
              <a:t> </a:t>
            </a:r>
            <a:r>
              <a:rPr lang="en-US" err="1"/>
              <a:t>heeft</a:t>
            </a:r>
            <a:r>
              <a:rPr lang="en-US" dirty="0"/>
              <a:t> </a:t>
            </a:r>
            <a:r>
              <a:rPr lang="en-US" err="1"/>
              <a:t>zijn</a:t>
            </a:r>
            <a:r>
              <a:rPr lang="en-US" dirty="0"/>
              <a:t> eigen </a:t>
            </a:r>
            <a:r>
              <a:rPr lang="en-US" err="1"/>
              <a:t>bevoegdheid</a:t>
            </a:r>
            <a:r>
              <a:rPr lang="en-US" dirty="0"/>
              <a:t> ; ze </a:t>
            </a:r>
            <a:r>
              <a:rPr lang="en-US" err="1"/>
              <a:t>mogen</a:t>
            </a:r>
            <a:r>
              <a:rPr lang="en-US" dirty="0"/>
              <a:t> </a:t>
            </a:r>
            <a:r>
              <a:rPr lang="en-US" err="1"/>
              <a:t>zich</a:t>
            </a:r>
            <a:r>
              <a:rPr lang="en-US" dirty="0"/>
              <a:t> </a:t>
            </a:r>
            <a:r>
              <a:rPr lang="en-US" err="1"/>
              <a:t>niet</a:t>
            </a:r>
            <a:r>
              <a:rPr lang="en-US" dirty="0"/>
              <a:t> </a:t>
            </a:r>
            <a:r>
              <a:rPr lang="en-US" err="1"/>
              <a:t>bemoeien</a:t>
            </a:r>
            <a:r>
              <a:rPr lang="en-US" dirty="0"/>
              <a:t> met </a:t>
            </a:r>
            <a:r>
              <a:rPr lang="en-US" err="1"/>
              <a:t>elkaar</a:t>
            </a:r>
            <a:endParaRPr lang="en-US" dirty="0" err="1"/>
          </a:p>
          <a:p>
            <a:pPr marL="285750" indent="-228600">
              <a:lnSpc>
                <a:spcPct val="120000"/>
              </a:lnSpc>
              <a:spcAft>
                <a:spcPts val="600"/>
              </a:spcAft>
              <a:buFont typeface="Arial" panose="020B0604020202020204" pitchFamily="34" charset="0"/>
              <a:buChar char="•"/>
            </a:pPr>
            <a:r>
              <a:rPr lang="en-US" dirty="0"/>
              <a:t>Zo </a:t>
            </a:r>
            <a:r>
              <a:rPr lang="en-US" dirty="0" err="1"/>
              <a:t>mogen</a:t>
            </a:r>
            <a:r>
              <a:rPr lang="en-US" dirty="0"/>
              <a:t> de </a:t>
            </a:r>
            <a:r>
              <a:rPr lang="en-US" dirty="0" err="1"/>
              <a:t>klant</a:t>
            </a:r>
            <a:r>
              <a:rPr lang="en-US" dirty="0"/>
              <a:t> </a:t>
            </a:r>
            <a:r>
              <a:rPr lang="en-US" dirty="0" err="1"/>
              <a:t>en</a:t>
            </a:r>
            <a:r>
              <a:rPr lang="en-US" dirty="0"/>
              <a:t> de portier </a:t>
            </a:r>
            <a:r>
              <a:rPr lang="en-US" b="1" dirty="0"/>
              <a:t>nooit</a:t>
            </a:r>
            <a:r>
              <a:rPr lang="en-US" dirty="0"/>
              <a:t> in de </a:t>
            </a:r>
            <a:r>
              <a:rPr lang="en-US" dirty="0" err="1"/>
              <a:t>kluis</a:t>
            </a:r>
            <a:r>
              <a:rPr lang="en-US" dirty="0"/>
              <a:t>, </a:t>
            </a:r>
            <a:r>
              <a:rPr lang="en-US" dirty="0" err="1"/>
              <a:t>enkel</a:t>
            </a:r>
            <a:r>
              <a:rPr lang="en-US" dirty="0"/>
              <a:t> de operator</a:t>
            </a:r>
          </a:p>
          <a:p>
            <a:pPr marL="57150">
              <a:lnSpc>
                <a:spcPct val="120000"/>
              </a:lnSpc>
              <a:spcAft>
                <a:spcPts val="600"/>
              </a:spcAft>
            </a:pPr>
            <a:r>
              <a:rPr lang="en-US" dirty="0"/>
              <a:t>Principe: </a:t>
            </a:r>
            <a:r>
              <a:rPr lang="en-US" b="1" dirty="0"/>
              <a:t>Scheiding van </a:t>
            </a:r>
            <a:r>
              <a:rPr lang="en-US" b="1" dirty="0" err="1"/>
              <a:t>verantwoordelijkheden</a:t>
            </a:r>
            <a:endParaRPr lang="en-US" b="1" dirty="0"/>
          </a:p>
          <a:p>
            <a:pPr marL="285750" indent="-228600">
              <a:lnSpc>
                <a:spcPct val="120000"/>
              </a:lnSpc>
              <a:spcAft>
                <a:spcPts val="600"/>
              </a:spcAft>
              <a:buFont typeface="Arial" panose="020B0604020202020204" pitchFamily="34" charset="0"/>
              <a:buChar char="•"/>
            </a:pPr>
            <a:endParaRPr lang="en-US"/>
          </a:p>
        </p:txBody>
      </p:sp>
      <p:pic>
        <p:nvPicPr>
          <p:cNvPr id="6" name="Afbeelding 5" descr="Afbeelding met tekst, schermopname, software, Lettertype&#10;&#10;Door AI gegenereerde inhoud is mogelijk onjuist.">
            <a:extLst>
              <a:ext uri="{FF2B5EF4-FFF2-40B4-BE49-F238E27FC236}">
                <a16:creationId xmlns:a16="http://schemas.microsoft.com/office/drawing/2014/main" id="{F6801ACB-2232-6FA4-4F3C-59B289A02B48}"/>
              </a:ext>
            </a:extLst>
          </p:cNvPr>
          <p:cNvPicPr>
            <a:picLocks noChangeAspect="1"/>
          </p:cNvPicPr>
          <p:nvPr/>
        </p:nvPicPr>
        <p:blipFill>
          <a:blip r:embed="rId2"/>
          <a:srcRect r="3183"/>
          <a:stretch>
            <a:fillRect/>
          </a:stretch>
        </p:blipFill>
        <p:spPr>
          <a:xfrm>
            <a:off x="4752550" y="10"/>
            <a:ext cx="7439450" cy="6857990"/>
          </a:xfrm>
          <a:prstGeom prst="rect">
            <a:avLst/>
          </a:prstGeom>
        </p:spPr>
      </p:pic>
    </p:spTree>
    <p:extLst>
      <p:ext uri="{BB962C8B-B14F-4D97-AF65-F5344CB8AC3E}">
        <p14:creationId xmlns:p14="http://schemas.microsoft.com/office/powerpoint/2010/main" val="182162415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74D649-B5B8-7C2D-5561-327D26CA695B}"/>
            </a:ext>
          </a:extLst>
        </p:cNvPr>
        <p:cNvGrpSpPr/>
        <p:nvPr/>
      </p:nvGrpSpPr>
      <p:grpSpPr>
        <a:xfrm>
          <a:off x="0" y="0"/>
          <a:ext cx="0" cy="0"/>
          <a:chOff x="0" y="0"/>
          <a:chExt cx="0" cy="0"/>
        </a:xfrm>
      </p:grpSpPr>
      <p:sp>
        <p:nvSpPr>
          <p:cNvPr id="1063" name="Rectangle 1062">
            <a:extLst>
              <a:ext uri="{FF2B5EF4-FFF2-40B4-BE49-F238E27FC236}">
                <a16:creationId xmlns:a16="http://schemas.microsoft.com/office/drawing/2014/main" id="{DE4C4D99-DB5B-CDFE-4CF6-70A59E686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kstvak 7">
            <a:extLst>
              <a:ext uri="{FF2B5EF4-FFF2-40B4-BE49-F238E27FC236}">
                <a16:creationId xmlns:a16="http://schemas.microsoft.com/office/drawing/2014/main" id="{2FB2393B-D75D-E0DF-3C02-C25E060ECE4A}"/>
              </a:ext>
            </a:extLst>
          </p:cNvPr>
          <p:cNvSpPr txBox="1"/>
          <p:nvPr/>
        </p:nvSpPr>
        <p:spPr>
          <a:xfrm>
            <a:off x="1524000" y="548640"/>
            <a:ext cx="9160475" cy="1132258"/>
          </a:xfrm>
          <a:prstGeom prst="rect">
            <a:avLst/>
          </a:prstGeom>
        </p:spPr>
        <p:txBody>
          <a:bodyPr vert="horz" lIns="91440" tIns="45720" rIns="91440" bIns="45720" rtlCol="0" anchor="ctr">
            <a:normAutofit/>
          </a:bodyPr>
          <a:lstStyle/>
          <a:p>
            <a:pPr algn="ctr">
              <a:lnSpc>
                <a:spcPct val="90000"/>
              </a:lnSpc>
              <a:spcBef>
                <a:spcPct val="0"/>
              </a:spcBef>
              <a:spcAft>
                <a:spcPts val="600"/>
              </a:spcAft>
            </a:pPr>
            <a:r>
              <a:rPr lang="en-US" sz="3600" b="1">
                <a:latin typeface="+mj-lt"/>
                <a:ea typeface="+mj-ea"/>
                <a:cs typeface="+mj-cs"/>
              </a:rPr>
              <a:t>Time to exercise!</a:t>
            </a:r>
            <a:endParaRPr lang="nl-NL">
              <a:ea typeface="+mj-ea"/>
              <a:cs typeface="+mj-cs"/>
            </a:endParaRPr>
          </a:p>
        </p:txBody>
      </p:sp>
      <p:sp>
        <p:nvSpPr>
          <p:cNvPr id="2" name="Tekstvak 1">
            <a:extLst>
              <a:ext uri="{FF2B5EF4-FFF2-40B4-BE49-F238E27FC236}">
                <a16:creationId xmlns:a16="http://schemas.microsoft.com/office/drawing/2014/main" id="{92D4698D-422D-6048-19B5-EEBCE41B5B8C}"/>
              </a:ext>
            </a:extLst>
          </p:cNvPr>
          <p:cNvSpPr txBox="1"/>
          <p:nvPr/>
        </p:nvSpPr>
        <p:spPr>
          <a:xfrm>
            <a:off x="755374" y="1828800"/>
            <a:ext cx="10998813" cy="2031325"/>
          </a:xfrm>
          <a:prstGeom prst="rect">
            <a:avLst/>
          </a:prstGeom>
          <a:noFill/>
        </p:spPr>
        <p:txBody>
          <a:bodyPr wrap="square" lIns="91440" tIns="45720" rIns="91440" bIns="45720" rtlCol="0" anchor="t">
            <a:spAutoFit/>
          </a:bodyPr>
          <a:lstStyle/>
          <a:p>
            <a:pPr marL="342900" indent="-342900">
              <a:buAutoNum type="arabicParenR"/>
            </a:pPr>
            <a:r>
              <a:rPr lang="nl-BE"/>
              <a:t>Open in </a:t>
            </a:r>
            <a:r>
              <a:rPr lang="nl-BE" err="1"/>
              <a:t>VSCode</a:t>
            </a:r>
            <a:r>
              <a:rPr lang="nl-BE"/>
              <a:t> de folder: "C:\</a:t>
            </a:r>
            <a:r>
              <a:rPr lang="nl-BE" err="1"/>
              <a:t>xampp</a:t>
            </a:r>
            <a:r>
              <a:rPr lang="nl-BE"/>
              <a:t>\</a:t>
            </a:r>
            <a:r>
              <a:rPr lang="nl-BE" err="1"/>
              <a:t>htdocs</a:t>
            </a:r>
            <a:r>
              <a:rPr lang="nl-BE"/>
              <a:t>"</a:t>
            </a:r>
          </a:p>
          <a:p>
            <a:pPr marL="342900" indent="-342900">
              <a:buAutoNum type="arabicParenR"/>
            </a:pPr>
            <a:r>
              <a:rPr lang="nl-BE"/>
              <a:t>Maak in </a:t>
            </a:r>
            <a:r>
              <a:rPr lang="nl-BE" err="1"/>
              <a:t>htdocs</a:t>
            </a:r>
            <a:r>
              <a:rPr lang="nl-BE"/>
              <a:t> voor elke oefening een apart mapje aan</a:t>
            </a:r>
          </a:p>
          <a:p>
            <a:pPr marL="342900" indent="-342900">
              <a:buAutoNum type="arabicParenR"/>
            </a:pPr>
            <a:r>
              <a:rPr lang="nl-BE"/>
              <a:t>Ga in je browser (Chrome, </a:t>
            </a:r>
            <a:r>
              <a:rPr lang="nl-BE" err="1"/>
              <a:t>Edge</a:t>
            </a:r>
            <a:r>
              <a:rPr lang="nl-BE"/>
              <a:t>, Brave, ...) naar "</a:t>
            </a:r>
            <a:r>
              <a:rPr lang="nl-BE" err="1"/>
              <a:t>localhost</a:t>
            </a:r>
            <a:r>
              <a:rPr lang="nl-BE"/>
              <a:t>"</a:t>
            </a:r>
          </a:p>
          <a:p>
            <a:pPr marL="342900" indent="-342900">
              <a:buAutoNum type="arabicParenR"/>
            </a:pPr>
            <a:r>
              <a:rPr lang="nl-BE"/>
              <a:t>Maak de file: "</a:t>
            </a:r>
            <a:r>
              <a:rPr lang="nl-BE" err="1"/>
              <a:t>index.php</a:t>
            </a:r>
            <a:r>
              <a:rPr lang="nl-BE"/>
              <a:t>" aan in het mapje van de oefening</a:t>
            </a:r>
          </a:p>
          <a:p>
            <a:pPr marL="342900" indent="-342900">
              <a:buAutoNum type="arabicParenR"/>
            </a:pPr>
            <a:endParaRPr lang="nl-BE"/>
          </a:p>
          <a:p>
            <a:r>
              <a:rPr lang="nl-BE"/>
              <a:t>💡Tip over werkwijze! Begin gewoon met je HTML code te schrijven en voeg PHP pas toe als het nodig is.</a:t>
            </a:r>
          </a:p>
        </p:txBody>
      </p:sp>
      <p:sp>
        <p:nvSpPr>
          <p:cNvPr id="4" name="Tekstvak 3">
            <a:extLst>
              <a:ext uri="{FF2B5EF4-FFF2-40B4-BE49-F238E27FC236}">
                <a16:creationId xmlns:a16="http://schemas.microsoft.com/office/drawing/2014/main" id="{56E0308D-B4D2-E795-9BD0-B5BFC4D4D357}"/>
              </a:ext>
            </a:extLst>
          </p:cNvPr>
          <p:cNvSpPr txBox="1"/>
          <p:nvPr/>
        </p:nvSpPr>
        <p:spPr>
          <a:xfrm>
            <a:off x="640148" y="4700277"/>
            <a:ext cx="11218946" cy="646331"/>
          </a:xfrm>
          <a:prstGeom prst="rect">
            <a:avLst/>
          </a:prstGeom>
          <a:noFill/>
        </p:spPr>
        <p:txBody>
          <a:bodyPr wrap="square" lIns="91440" tIns="45720" rIns="91440" bIns="45720" rtlCol="0" anchor="t">
            <a:spAutoFit/>
          </a:bodyPr>
          <a:lstStyle/>
          <a:p>
            <a:r>
              <a:rPr lang="nl-BE"/>
              <a:t>Sommige oefeningen hebben extra: ➕Toevoeging of ⭐Uitdaging </a:t>
            </a:r>
            <a:r>
              <a:rPr lang="nl-BE" i="1"/>
              <a:t>(aantal sterren toont moeilijkheidsgraad)</a:t>
            </a:r>
            <a:endParaRPr lang="nl-NL" i="1"/>
          </a:p>
        </p:txBody>
      </p:sp>
    </p:spTree>
    <p:extLst>
      <p:ext uri="{BB962C8B-B14F-4D97-AF65-F5344CB8AC3E}">
        <p14:creationId xmlns:p14="http://schemas.microsoft.com/office/powerpoint/2010/main" val="74452290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1998</Words>
  <Application>Microsoft Office PowerPoint</Application>
  <PresentationFormat>Breedbeeld</PresentationFormat>
  <Paragraphs>238</Paragraphs>
  <Slides>35</Slides>
  <Notes>5</Notes>
  <HiddenSlides>0</HiddenSlides>
  <MMClips>0</MMClips>
  <ScaleCrop>false</ScaleCrop>
  <HeadingPairs>
    <vt:vector size="6" baseType="variant">
      <vt:variant>
        <vt:lpstr>Gebruikte lettertypen</vt:lpstr>
      </vt:variant>
      <vt:variant>
        <vt:i4>5</vt:i4>
      </vt:variant>
      <vt:variant>
        <vt:lpstr>Thema</vt:lpstr>
      </vt:variant>
      <vt:variant>
        <vt:i4>1</vt:i4>
      </vt:variant>
      <vt:variant>
        <vt:lpstr>Diatitels</vt:lpstr>
      </vt:variant>
      <vt:variant>
        <vt:i4>35</vt:i4>
      </vt:variant>
    </vt:vector>
  </HeadingPairs>
  <TitlesOfParts>
    <vt:vector size="41" baseType="lpstr">
      <vt:lpstr>Aptos</vt:lpstr>
      <vt:lpstr>Arial</vt:lpstr>
      <vt:lpstr>Calibri</vt:lpstr>
      <vt:lpstr>Calibri,Sans-Serif</vt:lpstr>
      <vt:lpstr>Neue Haas Grotesk Text Pro</vt:lpstr>
      <vt:lpstr>VanillaVTI</vt:lpstr>
      <vt:lpstr>Webdesign: Dynamische Websites  H3 Databases en Beveiliging</vt:lpstr>
      <vt:lpstr>Overzicht</vt:lpstr>
      <vt:lpstr>Wat is een database? </vt:lpstr>
      <vt:lpstr>MySQL/MariaDB</vt:lpstr>
      <vt:lpstr>PhpMyAdmin (PMA)</vt:lpstr>
      <vt:lpstr>Prepared Statements met Prepared Data Objects (PDO)</vt:lpstr>
      <vt:lpstr>PDO: Ophalen van één rij</vt:lpstr>
      <vt:lpstr>PDO: Ophalen van meerdere rijen</vt:lpstr>
      <vt:lpstr>CRUD  Create, Read, Update, Delete</vt:lpstr>
      <vt:lpstr>Security: SQL Injections</vt:lpstr>
      <vt:lpstr>Hoe wordt SQLi uitgevoerd?</vt:lpstr>
      <vt:lpstr>Types van SQLi: #1 In-Band</vt:lpstr>
      <vt:lpstr>Types van SQLi: #2 Inferential/Blind</vt:lpstr>
      <vt:lpstr>Types van SQLi: #3 Out-of-band</vt:lpstr>
      <vt:lpstr>Hoe kwetsbaarheid tegen SQLi voorkomen?</vt:lpstr>
      <vt:lpstr>Visueel: Hoe PDO SQL injecties voorkomt</vt:lpstr>
      <vt:lpstr>🔐Password Hashing🔑</vt:lpstr>
      <vt:lpstr>🔐Waarom Password Hashing?🔑</vt:lpstr>
      <vt:lpstr>Hashing Algoritmes</vt:lpstr>
      <vt:lpstr>Voorbeeld: Anneke maakt een account op CoolsteWebshop.BE</vt:lpstr>
      <vt:lpstr>Wachtwoordhashes "kraken"</vt:lpstr>
      <vt:lpstr>Wachtwoordhashes "kraken": In de praktijk</vt:lpstr>
      <vt:lpstr>Wachtwoorden "kraken": In de praktijk Overzicht architectuur Fitcrack</vt:lpstr>
      <vt:lpstr>2 methoden samengevat</vt:lpstr>
      <vt:lpstr>Let op bij Password Hashing</vt:lpstr>
      <vt:lpstr>Sessies uitgebreid</vt:lpstr>
      <vt:lpstr>Sessions vs Storage</vt:lpstr>
      <vt:lpstr>Syntax: Sessions</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Jarne Verlinden</dc:creator>
  <cp:lastModifiedBy>Jarne Verlinden</cp:lastModifiedBy>
  <cp:revision>224</cp:revision>
  <dcterms:created xsi:type="dcterms:W3CDTF">2025-10-16T12:22:40Z</dcterms:created>
  <dcterms:modified xsi:type="dcterms:W3CDTF">2026-04-30T12:15:56Z</dcterms:modified>
</cp:coreProperties>
</file>