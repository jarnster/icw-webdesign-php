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8"/>
  </p:notesMasterIdLst>
  <p:sldIdLst>
    <p:sldId id="256" r:id="rId2"/>
    <p:sldId id="272" r:id="rId3"/>
    <p:sldId id="274" r:id="rId4"/>
    <p:sldId id="275" r:id="rId5"/>
    <p:sldId id="276" r:id="rId6"/>
    <p:sldId id="273" r:id="rId7"/>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8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C28637-DE99-210A-D035-93FAC56CC1C9}" v="27" dt="2026-04-30T11:35:57.2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06355E-35B0-47A6-8E00-D68DE081856C}" type="datetimeFigureOut">
              <a:rPr lang="nl-BE" smtClean="0"/>
              <a:t>30/04/2026</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DBD449-D42A-4711-8837-53EC15580D9C}" type="slidenum">
              <a:rPr lang="nl-BE" smtClean="0"/>
              <a:t>‹nr.›</a:t>
            </a:fld>
            <a:endParaRPr lang="nl-BE"/>
          </a:p>
        </p:txBody>
      </p:sp>
    </p:spTree>
    <p:extLst>
      <p:ext uri="{BB962C8B-B14F-4D97-AF65-F5344CB8AC3E}">
        <p14:creationId xmlns:p14="http://schemas.microsoft.com/office/powerpoint/2010/main" val="1580896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github.com/jarnster"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a:latin typeface="Calibri"/>
                <a:ea typeface="Calibri"/>
                <a:cs typeface="Calibri"/>
              </a:rPr>
              <a:t>(2025-2026) Jarne Verlinden – 6icw</a:t>
            </a:r>
          </a:p>
          <a:p>
            <a:r>
              <a:rPr lang="en-US">
                <a:hlinkClick r:id="rId3"/>
              </a:rPr>
              <a:t>https://github.com/jarnster</a:t>
            </a:r>
            <a:endParaRPr lang="en-US"/>
          </a:p>
          <a:p>
            <a:endParaRPr lang="en-US"/>
          </a:p>
        </p:txBody>
      </p:sp>
      <p:sp>
        <p:nvSpPr>
          <p:cNvPr id="4" name="Tijdelijke aanduiding voor dianummer 3"/>
          <p:cNvSpPr>
            <a:spLocks noGrp="1"/>
          </p:cNvSpPr>
          <p:nvPr>
            <p:ph type="sldNum" sz="quarter" idx="5"/>
          </p:nvPr>
        </p:nvSpPr>
        <p:spPr/>
        <p:txBody>
          <a:bodyPr/>
          <a:lstStyle/>
          <a:p>
            <a:fld id="{39DBD449-D42A-4711-8837-53EC15580D9C}" type="slidenum">
              <a:rPr lang="nl-BE" smtClean="0"/>
              <a:t>1</a:t>
            </a:fld>
            <a:endParaRPr lang="nl-BE"/>
          </a:p>
        </p:txBody>
      </p:sp>
    </p:spTree>
    <p:extLst>
      <p:ext uri="{BB962C8B-B14F-4D97-AF65-F5344CB8AC3E}">
        <p14:creationId xmlns:p14="http://schemas.microsoft.com/office/powerpoint/2010/main" val="4105967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3B55E-F384-3346-9D31-E8B7123F526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2AAB5098-42BE-D401-BBD2-3842E3F4E93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EE397478-9C48-B92A-FF6E-08E1953502F1}"/>
              </a:ext>
            </a:extLst>
          </p:cNvPr>
          <p:cNvSpPr>
            <a:spLocks noGrp="1"/>
          </p:cNvSpPr>
          <p:nvPr>
            <p:ph type="body" idx="1"/>
          </p:nvPr>
        </p:nvSpPr>
        <p:spPr/>
        <p:txBody>
          <a:bodyPr/>
          <a:lstStyle/>
          <a:p>
            <a:endParaRPr lang="nl-BE"/>
          </a:p>
        </p:txBody>
      </p:sp>
      <p:sp>
        <p:nvSpPr>
          <p:cNvPr id="4" name="Tijdelijke aanduiding voor dianummer 3">
            <a:extLst>
              <a:ext uri="{FF2B5EF4-FFF2-40B4-BE49-F238E27FC236}">
                <a16:creationId xmlns:a16="http://schemas.microsoft.com/office/drawing/2014/main" id="{929D769E-B26B-DBE5-0148-598E0463C603}"/>
              </a:ext>
            </a:extLst>
          </p:cNvPr>
          <p:cNvSpPr>
            <a:spLocks noGrp="1"/>
          </p:cNvSpPr>
          <p:nvPr>
            <p:ph type="sldNum" sz="quarter" idx="5"/>
          </p:nvPr>
        </p:nvSpPr>
        <p:spPr/>
        <p:txBody>
          <a:bodyPr/>
          <a:lstStyle/>
          <a:p>
            <a:fld id="{39DBD449-D42A-4711-8837-53EC15580D9C}" type="slidenum">
              <a:rPr lang="nl-BE" smtClean="0"/>
              <a:t>2</a:t>
            </a:fld>
            <a:endParaRPr lang="nl-BE"/>
          </a:p>
        </p:txBody>
      </p:sp>
    </p:spTree>
    <p:extLst>
      <p:ext uri="{BB962C8B-B14F-4D97-AF65-F5344CB8AC3E}">
        <p14:creationId xmlns:p14="http://schemas.microsoft.com/office/powerpoint/2010/main" val="1586652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2E169-30F7-3A6C-17A6-D4B54C1B9EB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BD82649-139C-5B69-8653-197D34A4A7C6}"/>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B2CD43A-8477-BF04-8C15-5568D45B6F90}"/>
              </a:ext>
            </a:extLst>
          </p:cNvPr>
          <p:cNvSpPr>
            <a:spLocks noGrp="1"/>
          </p:cNvSpPr>
          <p:nvPr>
            <p:ph type="body" idx="1"/>
          </p:nvPr>
        </p:nvSpPr>
        <p:spPr/>
        <p:txBody>
          <a:bodyPr/>
          <a:lstStyle/>
          <a:p>
            <a:endParaRPr lang="nl-BE"/>
          </a:p>
        </p:txBody>
      </p:sp>
      <p:sp>
        <p:nvSpPr>
          <p:cNvPr id="4" name="Tijdelijke aanduiding voor dianummer 3">
            <a:extLst>
              <a:ext uri="{FF2B5EF4-FFF2-40B4-BE49-F238E27FC236}">
                <a16:creationId xmlns:a16="http://schemas.microsoft.com/office/drawing/2014/main" id="{ADA03720-C89D-0138-674D-228DFD273AD1}"/>
              </a:ext>
            </a:extLst>
          </p:cNvPr>
          <p:cNvSpPr>
            <a:spLocks noGrp="1"/>
          </p:cNvSpPr>
          <p:nvPr>
            <p:ph type="sldNum" sz="quarter" idx="5"/>
          </p:nvPr>
        </p:nvSpPr>
        <p:spPr/>
        <p:txBody>
          <a:bodyPr/>
          <a:lstStyle/>
          <a:p>
            <a:fld id="{39DBD449-D42A-4711-8837-53EC15580D9C}" type="slidenum">
              <a:rPr lang="nl-BE" smtClean="0"/>
              <a:t>3</a:t>
            </a:fld>
            <a:endParaRPr lang="nl-BE"/>
          </a:p>
        </p:txBody>
      </p:sp>
    </p:spTree>
    <p:extLst>
      <p:ext uri="{BB962C8B-B14F-4D97-AF65-F5344CB8AC3E}">
        <p14:creationId xmlns:p14="http://schemas.microsoft.com/office/powerpoint/2010/main" val="559865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FCF15-D3F3-047D-5BEC-27F32C2D53B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1DD502C-7BE0-F6C3-3A9B-87EF8EA55664}"/>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F1D36E3B-76AE-FC38-F67E-B03AB9FE5CF6}"/>
              </a:ext>
            </a:extLst>
          </p:cNvPr>
          <p:cNvSpPr>
            <a:spLocks noGrp="1"/>
          </p:cNvSpPr>
          <p:nvPr>
            <p:ph type="body" idx="1"/>
          </p:nvPr>
        </p:nvSpPr>
        <p:spPr/>
        <p:txBody>
          <a:bodyPr/>
          <a:lstStyle/>
          <a:p>
            <a:endParaRPr lang="nl-BE"/>
          </a:p>
        </p:txBody>
      </p:sp>
      <p:sp>
        <p:nvSpPr>
          <p:cNvPr id="4" name="Tijdelijke aanduiding voor dianummer 3">
            <a:extLst>
              <a:ext uri="{FF2B5EF4-FFF2-40B4-BE49-F238E27FC236}">
                <a16:creationId xmlns:a16="http://schemas.microsoft.com/office/drawing/2014/main" id="{3C1CCEDF-37D6-382A-1397-41FB524968C5}"/>
              </a:ext>
            </a:extLst>
          </p:cNvPr>
          <p:cNvSpPr>
            <a:spLocks noGrp="1"/>
          </p:cNvSpPr>
          <p:nvPr>
            <p:ph type="sldNum" sz="quarter" idx="5"/>
          </p:nvPr>
        </p:nvSpPr>
        <p:spPr/>
        <p:txBody>
          <a:bodyPr/>
          <a:lstStyle/>
          <a:p>
            <a:fld id="{39DBD449-D42A-4711-8837-53EC15580D9C}" type="slidenum">
              <a:rPr lang="nl-BE" smtClean="0"/>
              <a:t>4</a:t>
            </a:fld>
            <a:endParaRPr lang="nl-BE"/>
          </a:p>
        </p:txBody>
      </p:sp>
    </p:spTree>
    <p:extLst>
      <p:ext uri="{BB962C8B-B14F-4D97-AF65-F5344CB8AC3E}">
        <p14:creationId xmlns:p14="http://schemas.microsoft.com/office/powerpoint/2010/main" val="21028909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C2A6E-8708-A8D5-835F-62640A5F293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DD216AAF-6665-8B44-BA2C-C9C16162AC2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0A3BBBAA-ECBF-8796-4D4C-83DAF289E3B3}"/>
              </a:ext>
            </a:extLst>
          </p:cNvPr>
          <p:cNvSpPr>
            <a:spLocks noGrp="1"/>
          </p:cNvSpPr>
          <p:nvPr>
            <p:ph type="body" idx="1"/>
          </p:nvPr>
        </p:nvSpPr>
        <p:spPr/>
        <p:txBody>
          <a:bodyPr/>
          <a:lstStyle/>
          <a:p>
            <a:endParaRPr lang="nl-BE"/>
          </a:p>
        </p:txBody>
      </p:sp>
      <p:sp>
        <p:nvSpPr>
          <p:cNvPr id="4" name="Tijdelijke aanduiding voor dianummer 3">
            <a:extLst>
              <a:ext uri="{FF2B5EF4-FFF2-40B4-BE49-F238E27FC236}">
                <a16:creationId xmlns:a16="http://schemas.microsoft.com/office/drawing/2014/main" id="{8355E583-A9D0-ABC2-D190-833621FBCA5F}"/>
              </a:ext>
            </a:extLst>
          </p:cNvPr>
          <p:cNvSpPr>
            <a:spLocks noGrp="1"/>
          </p:cNvSpPr>
          <p:nvPr>
            <p:ph type="sldNum" sz="quarter" idx="5"/>
          </p:nvPr>
        </p:nvSpPr>
        <p:spPr/>
        <p:txBody>
          <a:bodyPr/>
          <a:lstStyle/>
          <a:p>
            <a:fld id="{39DBD449-D42A-4711-8837-53EC15580D9C}" type="slidenum">
              <a:rPr lang="nl-BE" smtClean="0"/>
              <a:t>5</a:t>
            </a:fld>
            <a:endParaRPr lang="nl-BE"/>
          </a:p>
        </p:txBody>
      </p:sp>
    </p:spTree>
    <p:extLst>
      <p:ext uri="{BB962C8B-B14F-4D97-AF65-F5344CB8AC3E}">
        <p14:creationId xmlns:p14="http://schemas.microsoft.com/office/powerpoint/2010/main" val="26227654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81ACE-D8B9-ACB4-0ACA-07A96E60B7C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493290FA-1B67-1F9C-8CE9-265BB38579A6}"/>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1862AA3-7141-96DB-6BAA-38846E15F0CE}"/>
              </a:ext>
            </a:extLst>
          </p:cNvPr>
          <p:cNvSpPr>
            <a:spLocks noGrp="1"/>
          </p:cNvSpPr>
          <p:nvPr>
            <p:ph type="body" idx="1"/>
          </p:nvPr>
        </p:nvSpPr>
        <p:spPr/>
        <p:txBody>
          <a:bodyPr/>
          <a:lstStyle/>
          <a:p>
            <a:endParaRPr lang="nl-BE"/>
          </a:p>
        </p:txBody>
      </p:sp>
      <p:sp>
        <p:nvSpPr>
          <p:cNvPr id="4" name="Tijdelijke aanduiding voor dianummer 3">
            <a:extLst>
              <a:ext uri="{FF2B5EF4-FFF2-40B4-BE49-F238E27FC236}">
                <a16:creationId xmlns:a16="http://schemas.microsoft.com/office/drawing/2014/main" id="{0C4F2E4C-BBC3-DAA6-6A37-7343E5169FFB}"/>
              </a:ext>
            </a:extLst>
          </p:cNvPr>
          <p:cNvSpPr>
            <a:spLocks noGrp="1"/>
          </p:cNvSpPr>
          <p:nvPr>
            <p:ph type="sldNum" sz="quarter" idx="5"/>
          </p:nvPr>
        </p:nvSpPr>
        <p:spPr/>
        <p:txBody>
          <a:bodyPr/>
          <a:lstStyle/>
          <a:p>
            <a:fld id="{39DBD449-D42A-4711-8837-53EC15580D9C}" type="slidenum">
              <a:rPr lang="nl-BE" smtClean="0"/>
              <a:t>4</a:t>
            </a:fld>
            <a:endParaRPr lang="nl-BE"/>
          </a:p>
        </p:txBody>
      </p:sp>
    </p:spTree>
    <p:extLst>
      <p:ext uri="{BB962C8B-B14F-4D97-AF65-F5344CB8AC3E}">
        <p14:creationId xmlns:p14="http://schemas.microsoft.com/office/powerpoint/2010/main" val="4395888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4/30/2026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83350823"/>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4/30/2026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1988315195"/>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4/30/2026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717680957"/>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4/30/2026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2565349516"/>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4/30/2026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1527849559"/>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4/30/2026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373402457"/>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4/30/2026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401280066"/>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4/30/2026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027183594"/>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4/30/2026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1161222181"/>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4/30/2026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36729628"/>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4/30/2026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2411458757"/>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4/30/2026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‹nr.›</a:t>
            </a:fld>
            <a:endParaRPr lang="en-US"/>
          </a:p>
        </p:txBody>
      </p:sp>
    </p:spTree>
    <p:extLst>
      <p:ext uri="{BB962C8B-B14F-4D97-AF65-F5344CB8AC3E}">
        <p14:creationId xmlns:p14="http://schemas.microsoft.com/office/powerpoint/2010/main" val="345686417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89" r:id="rId6"/>
    <p:sldLayoutId id="2147483685" r:id="rId7"/>
    <p:sldLayoutId id="2147483686" r:id="rId8"/>
    <p:sldLayoutId id="2147483687" r:id="rId9"/>
    <p:sldLayoutId id="2147483688" r:id="rId10"/>
    <p:sldLayoutId id="2147483690" r:id="rId11"/>
  </p:sldLayoutIdLst>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1A32057F-F015-B1B2-4E3E-2307F8EFC9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546DA711-7BD0-BB8C-2A0C-0814AB4FBDF5}"/>
              </a:ext>
            </a:extLst>
          </p:cNvPr>
          <p:cNvSpPr>
            <a:spLocks noGrp="1"/>
          </p:cNvSpPr>
          <p:nvPr>
            <p:ph type="ctrTitle"/>
          </p:nvPr>
        </p:nvSpPr>
        <p:spPr>
          <a:xfrm>
            <a:off x="7168896" y="1361467"/>
            <a:ext cx="4465597" cy="3381869"/>
          </a:xfrm>
        </p:spPr>
        <p:txBody>
          <a:bodyPr vert="horz" lIns="91440" tIns="45720" rIns="91440" bIns="45720" rtlCol="0" anchor="b">
            <a:noAutofit/>
          </a:bodyPr>
          <a:lstStyle/>
          <a:p>
            <a:pPr algn="l"/>
            <a:r>
              <a:rPr lang="nl-BE" sz="3500" b="0" dirty="0"/>
              <a:t>Webdesign:</a:t>
            </a:r>
            <a:r>
              <a:rPr lang="nl-BE" sz="3500" dirty="0"/>
              <a:t> </a:t>
            </a:r>
            <a:r>
              <a:rPr lang="nl-BE" sz="3500" b="0" dirty="0">
                <a:solidFill>
                  <a:schemeClr val="accent3"/>
                </a:solidFill>
              </a:rPr>
              <a:t>Dynamische Websites</a:t>
            </a:r>
            <a:br>
              <a:rPr lang="nl-BE" sz="3500" b="0" dirty="0"/>
            </a:br>
            <a:br>
              <a:rPr lang="nl-BE" sz="3500" b="0" dirty="0"/>
            </a:br>
            <a:r>
              <a:rPr lang="nl-BE" sz="3500">
                <a:solidFill>
                  <a:schemeClr val="accent3"/>
                </a:solidFill>
              </a:rPr>
              <a:t>H5 Object Oriented Programming</a:t>
            </a:r>
            <a:endParaRPr lang="nl-BE" sz="3500" dirty="0">
              <a:solidFill>
                <a:schemeClr val="accent3"/>
              </a:solidFill>
            </a:endParaRPr>
          </a:p>
        </p:txBody>
      </p:sp>
      <p:sp>
        <p:nvSpPr>
          <p:cNvPr id="3" name="Ondertitel 2">
            <a:extLst>
              <a:ext uri="{FF2B5EF4-FFF2-40B4-BE49-F238E27FC236}">
                <a16:creationId xmlns:a16="http://schemas.microsoft.com/office/drawing/2014/main" id="{B9F38A38-247B-CA6E-A49D-55F15E60FA51}"/>
              </a:ext>
            </a:extLst>
          </p:cNvPr>
          <p:cNvSpPr>
            <a:spLocks noGrp="1"/>
          </p:cNvSpPr>
          <p:nvPr>
            <p:ph type="subTitle" idx="1"/>
          </p:nvPr>
        </p:nvSpPr>
        <p:spPr>
          <a:xfrm>
            <a:off x="7168896" y="4754016"/>
            <a:ext cx="4597136" cy="1636917"/>
          </a:xfrm>
        </p:spPr>
        <p:txBody>
          <a:bodyPr vert="horz" lIns="91440" tIns="45720" rIns="91440" bIns="45720" rtlCol="0" anchor="t">
            <a:normAutofit fontScale="70000" lnSpcReduction="20000"/>
          </a:bodyPr>
          <a:lstStyle/>
          <a:p>
            <a:pPr algn="l"/>
            <a:r>
              <a:rPr lang="nl-BE"/>
              <a:t>Met PHP</a:t>
            </a:r>
          </a:p>
          <a:p>
            <a:pPr algn="l"/>
            <a:endParaRPr lang="nl-BE"/>
          </a:p>
          <a:p>
            <a:pPr algn="l"/>
            <a:r>
              <a:rPr lang="nl-BE"/>
              <a:t>2025-2026</a:t>
            </a:r>
          </a:p>
          <a:p>
            <a:pPr algn="l"/>
            <a:r>
              <a:rPr lang="nl-BE"/>
              <a:t>Jarne Verlinden – 6icw</a:t>
            </a:r>
          </a:p>
          <a:p>
            <a:pPr algn="l"/>
            <a:r>
              <a:rPr lang="nl-BE"/>
              <a:t>(https://github.com/Jarnster)</a:t>
            </a:r>
          </a:p>
        </p:txBody>
      </p:sp>
      <p:sp>
        <p:nvSpPr>
          <p:cNvPr id="4" name="Tekstvak 3">
            <a:extLst>
              <a:ext uri="{FF2B5EF4-FFF2-40B4-BE49-F238E27FC236}">
                <a16:creationId xmlns:a16="http://schemas.microsoft.com/office/drawing/2014/main" id="{85895E27-575A-AEC4-37EC-5F4FFEB01E62}"/>
              </a:ext>
            </a:extLst>
          </p:cNvPr>
          <p:cNvSpPr txBox="1"/>
          <p:nvPr/>
        </p:nvSpPr>
        <p:spPr>
          <a:xfrm>
            <a:off x="6731393" y="147903"/>
            <a:ext cx="502990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sz="1200" b="1" i="1">
                <a:solidFill>
                  <a:srgbClr val="FF0000"/>
                </a:solidFill>
                <a:ea typeface="+mn-lt"/>
                <a:cs typeface="+mn-lt"/>
              </a:rPr>
              <a:t>Disclaimer:</a:t>
            </a:r>
            <a:r>
              <a:rPr lang="nl-NL" sz="1200" i="1">
                <a:ea typeface="+mn-lt"/>
                <a:cs typeface="+mn-lt"/>
              </a:rPr>
              <a:t> Sommige afbeeldingen en diagrammen in deze presentatie zijn afkomstig van het internet en zijn niet door mijzelf gemaakt. Alle rechten behoren toe aan de respectieve eigenaars. Deze presentatie is uitsluitend bedoeld voor educatief gebruik.</a:t>
            </a:r>
            <a:endParaRPr lang="nl-NL" sz="1200" i="1"/>
          </a:p>
        </p:txBody>
      </p:sp>
      <p:pic>
        <p:nvPicPr>
          <p:cNvPr id="6" name="Afbeelding 5" descr="Database - Overview, Roles and Components, DBMS">
            <a:extLst>
              <a:ext uri="{FF2B5EF4-FFF2-40B4-BE49-F238E27FC236}">
                <a16:creationId xmlns:a16="http://schemas.microsoft.com/office/drawing/2014/main" id="{00E33693-A3BD-A5DB-9617-7C34F7DDD589}"/>
              </a:ext>
            </a:extLst>
          </p:cNvPr>
          <p:cNvPicPr>
            <a:picLocks noChangeAspect="1"/>
          </p:cNvPicPr>
          <p:nvPr/>
        </p:nvPicPr>
        <p:blipFill>
          <a:blip r:embed="rId3"/>
          <a:srcRect l="8324" r="17815" b="-1"/>
          <a:stretch>
            <a:fillRect/>
          </a:stretch>
        </p:blipFill>
        <p:spPr>
          <a:xfrm>
            <a:off x="-1752" y="1"/>
            <a:ext cx="6723681" cy="6858000"/>
          </a:xfrm>
          <a:prstGeom prst="rect">
            <a:avLst/>
          </a:prstGeom>
        </p:spPr>
      </p:pic>
    </p:spTree>
    <p:extLst>
      <p:ext uri="{BB962C8B-B14F-4D97-AF65-F5344CB8AC3E}">
        <p14:creationId xmlns:p14="http://schemas.microsoft.com/office/powerpoint/2010/main" val="2297990671"/>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74D649-B5B8-7C2D-5561-327D26CA695B}"/>
            </a:ext>
          </a:extLst>
        </p:cNvPr>
        <p:cNvGrpSpPr/>
        <p:nvPr/>
      </p:nvGrpSpPr>
      <p:grpSpPr>
        <a:xfrm>
          <a:off x="0" y="0"/>
          <a:ext cx="0" cy="0"/>
          <a:chOff x="0" y="0"/>
          <a:chExt cx="0" cy="0"/>
        </a:xfrm>
      </p:grpSpPr>
      <p:sp useBgFill="1">
        <p:nvSpPr>
          <p:cNvPr id="1068" name="Rectangle 1067">
            <a:extLst>
              <a:ext uri="{FF2B5EF4-FFF2-40B4-BE49-F238E27FC236}">
                <a16:creationId xmlns:a16="http://schemas.microsoft.com/office/drawing/2014/main" id="{01187F7A-920C-B377-65E8-1CF4CBCE3C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2FB2393B-D75D-E0DF-3C02-C25E060ECE4A}"/>
              </a:ext>
            </a:extLst>
          </p:cNvPr>
          <p:cNvSpPr txBox="1"/>
          <p:nvPr/>
        </p:nvSpPr>
        <p:spPr>
          <a:xfrm>
            <a:off x="609599" y="5293849"/>
            <a:ext cx="7202558" cy="117868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a:latin typeface="+mj-lt"/>
                <a:ea typeface="+mj-ea"/>
                <a:cs typeface="+mj-cs"/>
              </a:rPr>
              <a:t>Doel</a:t>
            </a:r>
          </a:p>
        </p:txBody>
      </p:sp>
      <p:pic>
        <p:nvPicPr>
          <p:cNvPr id="3" name="Afbeelding 2" descr="Afbeelding met tekst, schermopname, Lettertype&#10;&#10;Door AI gegenereerde inhoud is mogelijk onjuist.">
            <a:extLst>
              <a:ext uri="{FF2B5EF4-FFF2-40B4-BE49-F238E27FC236}">
                <a16:creationId xmlns:a16="http://schemas.microsoft.com/office/drawing/2014/main" id="{59F52A48-0DD0-3B5C-D93C-E469361523BC}"/>
              </a:ext>
            </a:extLst>
          </p:cNvPr>
          <p:cNvPicPr>
            <a:picLocks noChangeAspect="1"/>
          </p:cNvPicPr>
          <p:nvPr/>
        </p:nvPicPr>
        <p:blipFill>
          <a:blip r:embed="rId3"/>
          <a:srcRect r="3749"/>
          <a:stretch>
            <a:fillRect/>
          </a:stretch>
        </p:blipFill>
        <p:spPr>
          <a:xfrm>
            <a:off x="20" y="10"/>
            <a:ext cx="12191980" cy="4908375"/>
          </a:xfrm>
          <a:prstGeom prst="rect">
            <a:avLst/>
          </a:prstGeom>
        </p:spPr>
      </p:pic>
    </p:spTree>
    <p:extLst>
      <p:ext uri="{BB962C8B-B14F-4D97-AF65-F5344CB8AC3E}">
        <p14:creationId xmlns:p14="http://schemas.microsoft.com/office/powerpoint/2010/main" val="744522909"/>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8DFE22-220B-E44E-4C85-49DB62B375D3}"/>
            </a:ext>
          </a:extLst>
        </p:cNvPr>
        <p:cNvGrpSpPr/>
        <p:nvPr/>
      </p:nvGrpSpPr>
      <p:grpSpPr>
        <a:xfrm>
          <a:off x="0" y="0"/>
          <a:ext cx="0" cy="0"/>
          <a:chOff x="0" y="0"/>
          <a:chExt cx="0" cy="0"/>
        </a:xfrm>
      </p:grpSpPr>
      <p:sp useBgFill="1">
        <p:nvSpPr>
          <p:cNvPr id="1068" name="Rectangle 1067">
            <a:extLst>
              <a:ext uri="{FF2B5EF4-FFF2-40B4-BE49-F238E27FC236}">
                <a16:creationId xmlns:a16="http://schemas.microsoft.com/office/drawing/2014/main" id="{5FBD060C-7CEE-E28A-4E49-21A3CDF24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895DE44D-92F4-B0DD-23D5-667632F27CE1}"/>
              </a:ext>
            </a:extLst>
          </p:cNvPr>
          <p:cNvSpPr txBox="1"/>
          <p:nvPr/>
        </p:nvSpPr>
        <p:spPr>
          <a:xfrm>
            <a:off x="729342" y="340849"/>
            <a:ext cx="7202558" cy="117868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dirty="0" err="1">
                <a:latin typeface="+mj-lt"/>
                <a:ea typeface="+mj-ea"/>
                <a:cs typeface="+mj-cs"/>
              </a:rPr>
              <a:t>Opdracht</a:t>
            </a:r>
          </a:p>
        </p:txBody>
      </p:sp>
      <p:sp>
        <p:nvSpPr>
          <p:cNvPr id="2" name="Tekstvak 1">
            <a:extLst>
              <a:ext uri="{FF2B5EF4-FFF2-40B4-BE49-F238E27FC236}">
                <a16:creationId xmlns:a16="http://schemas.microsoft.com/office/drawing/2014/main" id="{C109D331-AB12-0D37-38C7-63F646967C1E}"/>
              </a:ext>
            </a:extLst>
          </p:cNvPr>
          <p:cNvSpPr txBox="1"/>
          <p:nvPr/>
        </p:nvSpPr>
        <p:spPr>
          <a:xfrm>
            <a:off x="884464" y="1306285"/>
            <a:ext cx="947057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a:t>-   Principes OOP zelfde als C#</a:t>
            </a:r>
            <a:endParaRPr lang="nl-NL" dirty="0"/>
          </a:p>
          <a:p>
            <a:pPr marL="285750" indent="-285750">
              <a:buFont typeface="Calibri"/>
              <a:buChar char="-"/>
            </a:pPr>
            <a:r>
              <a:rPr lang="nl-NL"/>
              <a:t>Syntax ook vergelijkbaar, zoek eventueel op W3Schools</a:t>
            </a:r>
          </a:p>
          <a:p>
            <a:pPr marL="285750" indent="-285750">
              <a:buFont typeface="Calibri"/>
              <a:buChar char="-"/>
            </a:pPr>
            <a:r>
              <a:rPr lang="nl-NL"/>
              <a:t>Neem "Garage" opdracht er weer bij en vorm deze om naar de OOP structuur zo ver mogelijk</a:t>
            </a:r>
            <a:endParaRPr lang="nl-NL" dirty="0"/>
          </a:p>
        </p:txBody>
      </p:sp>
    </p:spTree>
    <p:extLst>
      <p:ext uri="{BB962C8B-B14F-4D97-AF65-F5344CB8AC3E}">
        <p14:creationId xmlns:p14="http://schemas.microsoft.com/office/powerpoint/2010/main" val="4141691088"/>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ED9F8B-F192-3E72-CC51-43A57800AD25}"/>
            </a:ext>
          </a:extLst>
        </p:cNvPr>
        <p:cNvGrpSpPr/>
        <p:nvPr/>
      </p:nvGrpSpPr>
      <p:grpSpPr>
        <a:xfrm>
          <a:off x="0" y="0"/>
          <a:ext cx="0" cy="0"/>
          <a:chOff x="0" y="0"/>
          <a:chExt cx="0" cy="0"/>
        </a:xfrm>
      </p:grpSpPr>
      <p:sp useBgFill="1">
        <p:nvSpPr>
          <p:cNvPr id="1068" name="Rectangle 1067">
            <a:extLst>
              <a:ext uri="{FF2B5EF4-FFF2-40B4-BE49-F238E27FC236}">
                <a16:creationId xmlns:a16="http://schemas.microsoft.com/office/drawing/2014/main" id="{33679FD5-3EEE-CA49-FDE1-8173D1FE65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907EE97C-BD18-8DDF-36C5-4F20E2DF62C8}"/>
              </a:ext>
            </a:extLst>
          </p:cNvPr>
          <p:cNvSpPr txBox="1"/>
          <p:nvPr/>
        </p:nvSpPr>
        <p:spPr>
          <a:xfrm>
            <a:off x="729342" y="340849"/>
            <a:ext cx="7202558" cy="117868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dirty="0">
                <a:latin typeface="+mj-lt"/>
                <a:ea typeface="+mj-ea"/>
                <a:cs typeface="+mj-cs"/>
              </a:rPr>
              <a:t>UML </a:t>
            </a:r>
            <a:r>
              <a:rPr lang="en-US" sz="4000" b="1" dirty="0" err="1">
                <a:latin typeface="+mj-lt"/>
                <a:ea typeface="+mj-ea"/>
                <a:cs typeface="+mj-cs"/>
              </a:rPr>
              <a:t>Diagrammen</a:t>
            </a:r>
          </a:p>
        </p:txBody>
      </p:sp>
      <p:pic>
        <p:nvPicPr>
          <p:cNvPr id="3" name="Afbeelding 2" descr="Afbeelding met tekst, schermopname, diagram, Lettertype&#10;&#10;Door AI gegenereerde inhoud is mogelijk onjuist.">
            <a:extLst>
              <a:ext uri="{FF2B5EF4-FFF2-40B4-BE49-F238E27FC236}">
                <a16:creationId xmlns:a16="http://schemas.microsoft.com/office/drawing/2014/main" id="{B5581D95-2F65-6551-5F20-8B0898B4EEA1}"/>
              </a:ext>
            </a:extLst>
          </p:cNvPr>
          <p:cNvPicPr>
            <a:picLocks noChangeAspect="1"/>
          </p:cNvPicPr>
          <p:nvPr/>
        </p:nvPicPr>
        <p:blipFill>
          <a:blip r:embed="rId3"/>
          <a:stretch>
            <a:fillRect/>
          </a:stretch>
        </p:blipFill>
        <p:spPr>
          <a:xfrm>
            <a:off x="5745645" y="790575"/>
            <a:ext cx="6134100" cy="5276850"/>
          </a:xfrm>
          <a:prstGeom prst="rect">
            <a:avLst/>
          </a:prstGeom>
        </p:spPr>
      </p:pic>
    </p:spTree>
    <p:extLst>
      <p:ext uri="{BB962C8B-B14F-4D97-AF65-F5344CB8AC3E}">
        <p14:creationId xmlns:p14="http://schemas.microsoft.com/office/powerpoint/2010/main" val="2588575420"/>
      </p:ext>
    </p:extLst>
  </p:cSld>
  <p:clrMapOvr>
    <a:masterClrMapping/>
  </p:clrMapOvr>
  <mc:AlternateContent xmlns:mc="http://schemas.openxmlformats.org/markup-compatibility/2006">
    <mc:Choice xmlns:p14="http://schemas.microsoft.com/office/powerpoint/2010/main" Requires="p14">
      <p:transition spd="slow" p14:dur="4000">
        <p14:vortex dir="u"/>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E39ACE-D63D-8910-2E0A-67750CCD6D0D}"/>
            </a:ext>
          </a:extLst>
        </p:cNvPr>
        <p:cNvGrpSpPr/>
        <p:nvPr/>
      </p:nvGrpSpPr>
      <p:grpSpPr>
        <a:xfrm>
          <a:off x="0" y="0"/>
          <a:ext cx="0" cy="0"/>
          <a:chOff x="0" y="0"/>
          <a:chExt cx="0" cy="0"/>
        </a:xfrm>
      </p:grpSpPr>
      <p:sp useBgFill="1">
        <p:nvSpPr>
          <p:cNvPr id="1068" name="Rectangle 1067">
            <a:extLst>
              <a:ext uri="{FF2B5EF4-FFF2-40B4-BE49-F238E27FC236}">
                <a16:creationId xmlns:a16="http://schemas.microsoft.com/office/drawing/2014/main" id="{2AE700A8-197C-9513-54C1-B9FD167322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7C1BD879-D1FC-35DB-23B3-A4FE4CA55C43}"/>
              </a:ext>
            </a:extLst>
          </p:cNvPr>
          <p:cNvSpPr txBox="1"/>
          <p:nvPr/>
        </p:nvSpPr>
        <p:spPr>
          <a:xfrm>
            <a:off x="729342" y="340849"/>
            <a:ext cx="7202558" cy="117868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dirty="0">
                <a:latin typeface="+mj-lt"/>
                <a:ea typeface="+mj-ea"/>
                <a:cs typeface="+mj-cs"/>
              </a:rPr>
              <a:t>UML </a:t>
            </a:r>
            <a:r>
              <a:rPr lang="en-US" sz="4000" b="1" dirty="0" err="1">
                <a:latin typeface="+mj-lt"/>
                <a:ea typeface="+mj-ea"/>
                <a:cs typeface="+mj-cs"/>
              </a:rPr>
              <a:t>Diagrammen</a:t>
            </a:r>
          </a:p>
        </p:txBody>
      </p:sp>
      <p:pic>
        <p:nvPicPr>
          <p:cNvPr id="2" name="Afbeelding 1" descr="Afbeelding met tekst, diagram, Lettertype, Plan&#10;&#10;Door AI gegenereerde inhoud is mogelijk onjuist.">
            <a:extLst>
              <a:ext uri="{FF2B5EF4-FFF2-40B4-BE49-F238E27FC236}">
                <a16:creationId xmlns:a16="http://schemas.microsoft.com/office/drawing/2014/main" id="{C35862B2-F732-5A2D-813E-C864572FE191}"/>
              </a:ext>
            </a:extLst>
          </p:cNvPr>
          <p:cNvPicPr>
            <a:picLocks noChangeAspect="1"/>
          </p:cNvPicPr>
          <p:nvPr/>
        </p:nvPicPr>
        <p:blipFill>
          <a:blip r:embed="rId3"/>
          <a:stretch>
            <a:fillRect/>
          </a:stretch>
        </p:blipFill>
        <p:spPr>
          <a:xfrm>
            <a:off x="5944428" y="481358"/>
            <a:ext cx="6045752" cy="5586067"/>
          </a:xfrm>
          <a:prstGeom prst="rect">
            <a:avLst/>
          </a:prstGeom>
        </p:spPr>
      </p:pic>
      <p:sp>
        <p:nvSpPr>
          <p:cNvPr id="4" name="Tekstvak 3">
            <a:extLst>
              <a:ext uri="{FF2B5EF4-FFF2-40B4-BE49-F238E27FC236}">
                <a16:creationId xmlns:a16="http://schemas.microsoft.com/office/drawing/2014/main" id="{3DB84EC6-9BC6-CBEB-36C9-AEB738EFD916}"/>
              </a:ext>
            </a:extLst>
          </p:cNvPr>
          <p:cNvSpPr txBox="1"/>
          <p:nvPr/>
        </p:nvSpPr>
        <p:spPr>
          <a:xfrm>
            <a:off x="724727" y="1354799"/>
            <a:ext cx="382360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a:t>Met overerving van "Persoon"</a:t>
            </a:r>
          </a:p>
        </p:txBody>
      </p:sp>
    </p:spTree>
    <p:extLst>
      <p:ext uri="{BB962C8B-B14F-4D97-AF65-F5344CB8AC3E}">
        <p14:creationId xmlns:p14="http://schemas.microsoft.com/office/powerpoint/2010/main" val="1263648550"/>
      </p:ext>
    </p:extLst>
  </p:cSld>
  <p:clrMapOvr>
    <a:masterClrMapping/>
  </p:clrMapOvr>
  <mc:AlternateContent xmlns:mc="http://schemas.openxmlformats.org/markup-compatibility/2006">
    <mc:Choice xmlns:p14="http://schemas.microsoft.com/office/powerpoint/2010/main" Requires="p14">
      <p:transition spd="slow" p14:dur="4000">
        <p14:vortex dir="u"/>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3C3296-A865-488A-C104-0E4C8BFAC37A}"/>
            </a:ext>
          </a:extLst>
        </p:cNvPr>
        <p:cNvGrpSpPr/>
        <p:nvPr/>
      </p:nvGrpSpPr>
      <p:grpSpPr>
        <a:xfrm>
          <a:off x="0" y="0"/>
          <a:ext cx="0" cy="0"/>
          <a:chOff x="0" y="0"/>
          <a:chExt cx="0" cy="0"/>
        </a:xfrm>
      </p:grpSpPr>
      <p:sp>
        <p:nvSpPr>
          <p:cNvPr id="1063" name="Rectangle 1062">
            <a:extLst>
              <a:ext uri="{FF2B5EF4-FFF2-40B4-BE49-F238E27FC236}">
                <a16:creationId xmlns:a16="http://schemas.microsoft.com/office/drawing/2014/main" id="{7CA113DD-3F12-EC81-112B-0D146922B9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2300F17D-1371-9F03-06DC-157BA2D2F131}"/>
              </a:ext>
            </a:extLst>
          </p:cNvPr>
          <p:cNvSpPr txBox="1"/>
          <p:nvPr/>
        </p:nvSpPr>
        <p:spPr>
          <a:xfrm>
            <a:off x="1524000" y="548640"/>
            <a:ext cx="9160475" cy="113225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600" b="1">
                <a:latin typeface="+mj-lt"/>
                <a:ea typeface="+mj-ea"/>
                <a:cs typeface="+mj-cs"/>
              </a:rPr>
              <a:t>Time to exercise!</a:t>
            </a:r>
            <a:endParaRPr lang="nl-NL">
              <a:ea typeface="+mj-ea"/>
              <a:cs typeface="+mj-cs"/>
            </a:endParaRPr>
          </a:p>
        </p:txBody>
      </p:sp>
      <p:sp>
        <p:nvSpPr>
          <p:cNvPr id="2" name="Tekstvak 1">
            <a:extLst>
              <a:ext uri="{FF2B5EF4-FFF2-40B4-BE49-F238E27FC236}">
                <a16:creationId xmlns:a16="http://schemas.microsoft.com/office/drawing/2014/main" id="{00EFBEFB-1741-DE01-DDC1-96798EC1BDAD}"/>
              </a:ext>
            </a:extLst>
          </p:cNvPr>
          <p:cNvSpPr txBox="1"/>
          <p:nvPr/>
        </p:nvSpPr>
        <p:spPr>
          <a:xfrm>
            <a:off x="755374" y="1828800"/>
            <a:ext cx="10998813" cy="2031325"/>
          </a:xfrm>
          <a:prstGeom prst="rect">
            <a:avLst/>
          </a:prstGeom>
          <a:noFill/>
        </p:spPr>
        <p:txBody>
          <a:bodyPr wrap="square" lIns="91440" tIns="45720" rIns="91440" bIns="45720" rtlCol="0" anchor="t">
            <a:spAutoFit/>
          </a:bodyPr>
          <a:lstStyle/>
          <a:p>
            <a:pPr marL="342900" indent="-342900">
              <a:buAutoNum type="arabicParenR"/>
            </a:pPr>
            <a:r>
              <a:rPr lang="nl-BE"/>
              <a:t>Open in </a:t>
            </a:r>
            <a:r>
              <a:rPr lang="nl-BE" err="1"/>
              <a:t>VSCode</a:t>
            </a:r>
            <a:r>
              <a:rPr lang="nl-BE"/>
              <a:t> de folder: "C:\</a:t>
            </a:r>
            <a:r>
              <a:rPr lang="nl-BE" err="1"/>
              <a:t>xampp</a:t>
            </a:r>
            <a:r>
              <a:rPr lang="nl-BE"/>
              <a:t>\</a:t>
            </a:r>
            <a:r>
              <a:rPr lang="nl-BE" err="1"/>
              <a:t>htdocs</a:t>
            </a:r>
            <a:r>
              <a:rPr lang="nl-BE"/>
              <a:t>"</a:t>
            </a:r>
          </a:p>
          <a:p>
            <a:pPr marL="342900" indent="-342900">
              <a:buAutoNum type="arabicParenR"/>
            </a:pPr>
            <a:r>
              <a:rPr lang="nl-BE"/>
              <a:t>Maak in </a:t>
            </a:r>
            <a:r>
              <a:rPr lang="nl-BE" err="1"/>
              <a:t>htdocs</a:t>
            </a:r>
            <a:r>
              <a:rPr lang="nl-BE"/>
              <a:t> voor elke oefening een apart mapje aan</a:t>
            </a:r>
          </a:p>
          <a:p>
            <a:pPr marL="342900" indent="-342900">
              <a:buAutoNum type="arabicParenR"/>
            </a:pPr>
            <a:r>
              <a:rPr lang="nl-BE"/>
              <a:t>Ga in je browser (Chrome, </a:t>
            </a:r>
            <a:r>
              <a:rPr lang="nl-BE" err="1"/>
              <a:t>Edge</a:t>
            </a:r>
            <a:r>
              <a:rPr lang="nl-BE"/>
              <a:t>, Brave, ...) naar "</a:t>
            </a:r>
            <a:r>
              <a:rPr lang="nl-BE" err="1"/>
              <a:t>localhost</a:t>
            </a:r>
            <a:r>
              <a:rPr lang="nl-BE"/>
              <a:t>"</a:t>
            </a:r>
          </a:p>
          <a:p>
            <a:pPr marL="342900" indent="-342900">
              <a:buAutoNum type="arabicParenR"/>
            </a:pPr>
            <a:r>
              <a:rPr lang="nl-BE"/>
              <a:t>Maak de file: "</a:t>
            </a:r>
            <a:r>
              <a:rPr lang="nl-BE" err="1"/>
              <a:t>index.php</a:t>
            </a:r>
            <a:r>
              <a:rPr lang="nl-BE"/>
              <a:t>" aan in het mapje van de oefening</a:t>
            </a:r>
          </a:p>
          <a:p>
            <a:pPr marL="342900" indent="-342900">
              <a:buAutoNum type="arabicParenR"/>
            </a:pPr>
            <a:endParaRPr lang="nl-BE"/>
          </a:p>
          <a:p>
            <a:r>
              <a:rPr lang="nl-BE"/>
              <a:t>💡Tip over werkwijze! Begin gewoon met je HTML code te schrijven en voeg PHP pas toe als het nodig is.</a:t>
            </a:r>
          </a:p>
        </p:txBody>
      </p:sp>
      <p:sp>
        <p:nvSpPr>
          <p:cNvPr id="4" name="Tekstvak 3">
            <a:extLst>
              <a:ext uri="{FF2B5EF4-FFF2-40B4-BE49-F238E27FC236}">
                <a16:creationId xmlns:a16="http://schemas.microsoft.com/office/drawing/2014/main" id="{9BD7767A-3AE4-5812-DC0C-279B1E6887F0}"/>
              </a:ext>
            </a:extLst>
          </p:cNvPr>
          <p:cNvSpPr txBox="1"/>
          <p:nvPr/>
        </p:nvSpPr>
        <p:spPr>
          <a:xfrm>
            <a:off x="640148" y="4700277"/>
            <a:ext cx="11218946" cy="646331"/>
          </a:xfrm>
          <a:prstGeom prst="rect">
            <a:avLst/>
          </a:prstGeom>
          <a:noFill/>
        </p:spPr>
        <p:txBody>
          <a:bodyPr wrap="square" lIns="91440" tIns="45720" rIns="91440" bIns="45720" rtlCol="0" anchor="t">
            <a:spAutoFit/>
          </a:bodyPr>
          <a:lstStyle/>
          <a:p>
            <a:r>
              <a:rPr lang="nl-BE"/>
              <a:t>Sommige oefeningen hebben extra: ➕Toevoeging of ⭐Uitdaging </a:t>
            </a:r>
            <a:r>
              <a:rPr lang="nl-BE" i="1"/>
              <a:t>(aantal sterren toont moeilijkheidsgraad)</a:t>
            </a:r>
            <a:endParaRPr lang="nl-NL" i="1"/>
          </a:p>
        </p:txBody>
      </p:sp>
    </p:spTree>
    <p:extLst>
      <p:ext uri="{BB962C8B-B14F-4D97-AF65-F5344CB8AC3E}">
        <p14:creationId xmlns:p14="http://schemas.microsoft.com/office/powerpoint/2010/main" val="2384022908"/>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Breedbeeld</PresentationFormat>
  <Slides>6</Slides>
  <Notes>6</Notes>
  <HiddenSlides>0</HiddenSlides>
  <ScaleCrop>false</ScaleCrop>
  <HeadingPairs>
    <vt:vector size="4" baseType="variant">
      <vt:variant>
        <vt:lpstr>Thema</vt:lpstr>
      </vt:variant>
      <vt:variant>
        <vt:i4>1</vt:i4>
      </vt:variant>
      <vt:variant>
        <vt:lpstr>Diatitels</vt:lpstr>
      </vt:variant>
      <vt:variant>
        <vt:i4>6</vt:i4>
      </vt:variant>
    </vt:vector>
  </HeadingPairs>
  <TitlesOfParts>
    <vt:vector size="7" baseType="lpstr">
      <vt:lpstr>VanillaVTI</vt:lpstr>
      <vt:lpstr>Webdesign: Dynamische Websites  H5 Object Oriented Programming</vt:lpstr>
      <vt:lpstr>PowerPoint-presentatie</vt:lpstr>
      <vt:lpstr>PowerPoint-presentatie</vt:lpstr>
      <vt:lpstr>PowerPoint-presentatie</vt:lpstr>
      <vt:lpstr>PowerPoint-presentatie</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Jarne Verlinden</dc:creator>
  <cp:revision>191</cp:revision>
  <dcterms:created xsi:type="dcterms:W3CDTF">2025-10-16T12:22:40Z</dcterms:created>
  <dcterms:modified xsi:type="dcterms:W3CDTF">2026-04-30T11:36:04Z</dcterms:modified>
</cp:coreProperties>
</file>