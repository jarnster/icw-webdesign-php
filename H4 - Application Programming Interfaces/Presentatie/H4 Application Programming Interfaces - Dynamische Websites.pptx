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7"/>
  </p:notesMasterIdLst>
  <p:sldIdLst>
    <p:sldId id="256" r:id="rId2"/>
    <p:sldId id="273" r:id="rId3"/>
    <p:sldId id="275" r:id="rId4"/>
    <p:sldId id="274" r:id="rId5"/>
    <p:sldId id="272" r:id="rId6"/>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FF463E-B11A-78E2-C9E0-45860F4C75E4}" v="296" dt="2026-03-02T17:50:28.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06355E-35B0-47A6-8E00-D68DE081856C}" type="datetimeFigureOut">
              <a:rPr lang="nl-BE" smtClean="0"/>
              <a:t>2/03/2026</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DBD449-D42A-4711-8837-53EC15580D9C}" type="slidenum">
              <a:rPr lang="nl-BE" smtClean="0"/>
              <a:t>‹nr.›</a:t>
            </a:fld>
            <a:endParaRPr lang="nl-BE"/>
          </a:p>
        </p:txBody>
      </p:sp>
    </p:spTree>
    <p:extLst>
      <p:ext uri="{BB962C8B-B14F-4D97-AF65-F5344CB8AC3E}">
        <p14:creationId xmlns:p14="http://schemas.microsoft.com/office/powerpoint/2010/main" val="1580896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github.com/jarnster"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a:latin typeface="Calibri"/>
                <a:ea typeface="Calibri"/>
                <a:cs typeface="Calibri"/>
              </a:rPr>
              <a:t>(2025-2026) Jarne Verlinden – 6icw</a:t>
            </a:r>
          </a:p>
          <a:p>
            <a:r>
              <a:rPr lang="en-US">
                <a:hlinkClick r:id="rId3"/>
              </a:rPr>
              <a:t>https://github.com/jarnster</a:t>
            </a:r>
            <a:endParaRPr lang="en-US"/>
          </a:p>
          <a:p>
            <a:endParaRPr lang="en-US"/>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1</a:t>
            </a:fld>
            <a:endParaRPr lang="nl-BE"/>
          </a:p>
        </p:txBody>
      </p:sp>
    </p:spTree>
    <p:extLst>
      <p:ext uri="{BB962C8B-B14F-4D97-AF65-F5344CB8AC3E}">
        <p14:creationId xmlns:p14="http://schemas.microsoft.com/office/powerpoint/2010/main" val="41059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a:latin typeface="Calibri"/>
                <a:ea typeface="Calibri"/>
                <a:cs typeface="Calibri"/>
              </a:rPr>
              <a:t>Een Application Programming Interface of API </a:t>
            </a:r>
            <a:r>
              <a:rPr lang="en-US" dirty="0" err="1">
                <a:latin typeface="Calibri"/>
                <a:ea typeface="Calibri"/>
                <a:cs typeface="Calibri"/>
              </a:rPr>
              <a:t>fungeert</a:t>
            </a:r>
            <a:r>
              <a:rPr lang="en-US" dirty="0">
                <a:latin typeface="Calibri"/>
                <a:ea typeface="Calibri"/>
                <a:cs typeface="Calibri"/>
              </a:rPr>
              <a:t> </a:t>
            </a:r>
            <a:r>
              <a:rPr lang="en-US" dirty="0" err="1">
                <a:latin typeface="Calibri"/>
                <a:ea typeface="Calibri"/>
                <a:cs typeface="Calibri"/>
              </a:rPr>
              <a:t>vaak</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a:t>
            </a:r>
            <a:r>
              <a:rPr lang="en-US" dirty="0" err="1">
                <a:latin typeface="Calibri"/>
                <a:ea typeface="Calibri"/>
                <a:cs typeface="Calibri"/>
              </a:rPr>
              <a:t>tussenlaag</a:t>
            </a:r>
            <a:r>
              <a:rPr lang="en-US" dirty="0">
                <a:latin typeface="Calibri"/>
                <a:ea typeface="Calibri"/>
                <a:cs typeface="Calibri"/>
              </a:rPr>
              <a:t> die </a:t>
            </a:r>
            <a:r>
              <a:rPr lang="en-US" dirty="0" err="1">
                <a:latin typeface="Calibri"/>
                <a:ea typeface="Calibri"/>
                <a:cs typeface="Calibri"/>
              </a:rPr>
              <a:t>een</a:t>
            </a:r>
            <a:r>
              <a:rPr lang="en-US" dirty="0">
                <a:latin typeface="Calibri"/>
                <a:ea typeface="Calibri"/>
                <a:cs typeface="Calibri"/>
              </a:rPr>
              <a:t> developer </a:t>
            </a:r>
            <a:r>
              <a:rPr lang="en-US" dirty="0" err="1">
                <a:latin typeface="Calibri"/>
                <a:ea typeface="Calibri"/>
                <a:cs typeface="Calibri"/>
              </a:rPr>
              <a:t>heeft</a:t>
            </a:r>
            <a:r>
              <a:rPr lang="en-US" dirty="0">
                <a:latin typeface="Calibri"/>
                <a:ea typeface="Calibri"/>
                <a:cs typeface="Calibri"/>
              </a:rPr>
              <a:t> </a:t>
            </a:r>
            <a:r>
              <a:rPr lang="en-US" dirty="0" err="1">
                <a:latin typeface="Calibri"/>
                <a:ea typeface="Calibri"/>
                <a:cs typeface="Calibri"/>
              </a:rPr>
              <a:t>gemaakt</a:t>
            </a:r>
            <a:r>
              <a:rPr lang="en-US" dirty="0">
                <a:latin typeface="Calibri"/>
                <a:ea typeface="Calibri"/>
                <a:cs typeface="Calibri"/>
              </a:rPr>
              <a:t> om </a:t>
            </a:r>
            <a:r>
              <a:rPr lang="en-US" dirty="0" err="1">
                <a:latin typeface="Calibri"/>
                <a:ea typeface="Calibri"/>
                <a:cs typeface="Calibri"/>
              </a:rPr>
              <a:t>gegevens</a:t>
            </a:r>
            <a:r>
              <a:rPr lang="en-US" dirty="0">
                <a:latin typeface="Calibri"/>
                <a:ea typeface="Calibri"/>
                <a:cs typeface="Calibri"/>
              </a:rPr>
              <a:t> </a:t>
            </a:r>
            <a:r>
              <a:rPr lang="en-US" dirty="0" err="1">
                <a:latin typeface="Calibri"/>
                <a:ea typeface="Calibri"/>
                <a:cs typeface="Calibri"/>
              </a:rPr>
              <a:t>uit</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wisselen</a:t>
            </a:r>
            <a:r>
              <a:rPr lang="en-US" dirty="0">
                <a:latin typeface="Calibri"/>
                <a:ea typeface="Calibri"/>
                <a:cs typeface="Calibri"/>
              </a:rPr>
              <a:t> met </a:t>
            </a:r>
            <a:r>
              <a:rPr lang="en-US" dirty="0" err="1">
                <a:latin typeface="Calibri"/>
                <a:ea typeface="Calibri"/>
                <a:cs typeface="Calibri"/>
              </a:rPr>
              <a:t>andere</a:t>
            </a:r>
            <a:r>
              <a:rPr lang="en-US" dirty="0">
                <a:latin typeface="Calibri"/>
                <a:ea typeface="Calibri"/>
                <a:cs typeface="Calibri"/>
              </a:rPr>
              <a:t> </a:t>
            </a:r>
            <a:r>
              <a:rPr lang="en-US" dirty="0" err="1">
                <a:latin typeface="Calibri"/>
                <a:ea typeface="Calibri"/>
                <a:cs typeface="Calibri"/>
              </a:rPr>
              <a:t>applicaties</a:t>
            </a:r>
            <a:r>
              <a:rPr lang="en-US" dirty="0">
                <a:latin typeface="Calibri"/>
                <a:ea typeface="Calibri"/>
                <a:cs typeface="Calibri"/>
              </a:rPr>
              <a:t>.</a:t>
            </a:r>
          </a:p>
          <a:p>
            <a:endParaRPr lang="en-US" dirty="0">
              <a:latin typeface="Calibri"/>
              <a:ea typeface="Calibri"/>
              <a:cs typeface="Calibri"/>
            </a:endParaRPr>
          </a:p>
          <a:p>
            <a:r>
              <a:rPr lang="en-US" dirty="0">
                <a:latin typeface="Calibri"/>
                <a:ea typeface="Calibri"/>
                <a:cs typeface="Calibri"/>
              </a:rPr>
              <a:t>Als </a:t>
            </a:r>
            <a:r>
              <a:rPr lang="en-US" dirty="0" err="1">
                <a:latin typeface="Calibri"/>
                <a:ea typeface="Calibri"/>
                <a:cs typeface="Calibri"/>
              </a:rPr>
              <a:t>jij</a:t>
            </a:r>
            <a:r>
              <a:rPr lang="en-US" dirty="0">
                <a:latin typeface="Calibri"/>
                <a:ea typeface="Calibri"/>
                <a:cs typeface="Calibri"/>
              </a:rPr>
              <a:t> </a:t>
            </a:r>
            <a:r>
              <a:rPr lang="en-US" dirty="0" err="1">
                <a:latin typeface="Calibri"/>
                <a:ea typeface="Calibri"/>
                <a:cs typeface="Calibri"/>
              </a:rPr>
              <a:t>dus</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applicatie</a:t>
            </a:r>
            <a:r>
              <a:rPr lang="en-US" dirty="0">
                <a:latin typeface="Calibri"/>
                <a:ea typeface="Calibri"/>
                <a:cs typeface="Calibri"/>
              </a:rPr>
              <a:t> </a:t>
            </a:r>
            <a:r>
              <a:rPr lang="en-US" dirty="0" err="1">
                <a:latin typeface="Calibri"/>
                <a:ea typeface="Calibri"/>
                <a:cs typeface="Calibri"/>
              </a:rPr>
              <a:t>maakt</a:t>
            </a:r>
            <a:r>
              <a:rPr lang="en-US" dirty="0">
                <a:latin typeface="Calibri"/>
                <a:ea typeface="Calibri"/>
                <a:cs typeface="Calibri"/>
              </a:rPr>
              <a:t> om je </a:t>
            </a:r>
            <a:r>
              <a:rPr lang="en-US" dirty="0" err="1">
                <a:latin typeface="Calibri"/>
                <a:ea typeface="Calibri"/>
                <a:cs typeface="Calibri"/>
              </a:rPr>
              <a:t>vrienden</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zoeken</a:t>
            </a:r>
            <a:r>
              <a:rPr lang="en-US" dirty="0">
                <a:latin typeface="Calibri"/>
                <a:ea typeface="Calibri"/>
                <a:cs typeface="Calibri"/>
              </a:rPr>
              <a:t>: dan is het </a:t>
            </a:r>
            <a:r>
              <a:rPr lang="en-US" dirty="0" err="1">
                <a:latin typeface="Calibri"/>
                <a:ea typeface="Calibri"/>
                <a:cs typeface="Calibri"/>
              </a:rPr>
              <a:t>handig</a:t>
            </a:r>
            <a:r>
              <a:rPr lang="en-US" dirty="0">
                <a:latin typeface="Calibri"/>
                <a:ea typeface="Calibri"/>
                <a:cs typeface="Calibri"/>
              </a:rPr>
              <a:t> om Facebook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gebruiken</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a:t>
            </a:r>
            <a:r>
              <a:rPr lang="en-US" dirty="0" err="1">
                <a:latin typeface="Calibri"/>
                <a:ea typeface="Calibri"/>
                <a:cs typeface="Calibri"/>
              </a:rPr>
              <a:t>contactenboek</a:t>
            </a:r>
            <a:r>
              <a:rPr lang="en-US" dirty="0">
                <a:latin typeface="Calibri"/>
                <a:ea typeface="Calibri"/>
                <a:cs typeface="Calibri"/>
              </a:rPr>
              <a:t>. Je </a:t>
            </a:r>
            <a:r>
              <a:rPr lang="en-US" dirty="0" err="1">
                <a:latin typeface="Calibri"/>
                <a:ea typeface="Calibri"/>
                <a:cs typeface="Calibri"/>
              </a:rPr>
              <a:t>kan</a:t>
            </a:r>
            <a:r>
              <a:rPr lang="en-US" dirty="0">
                <a:latin typeface="Calibri"/>
                <a:ea typeface="Calibri"/>
                <a:cs typeface="Calibri"/>
              </a:rPr>
              <a:t> </a:t>
            </a:r>
            <a:r>
              <a:rPr lang="en-US" dirty="0" err="1">
                <a:latin typeface="Calibri"/>
                <a:ea typeface="Calibri"/>
                <a:cs typeface="Calibri"/>
              </a:rPr>
              <a:t>dit</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combineren</a:t>
            </a:r>
            <a:r>
              <a:rPr lang="en-US" dirty="0">
                <a:latin typeface="Calibri"/>
                <a:ea typeface="Calibri"/>
                <a:cs typeface="Calibri"/>
              </a:rPr>
              <a:t>: </a:t>
            </a:r>
            <a:r>
              <a:rPr lang="en-US" dirty="0" err="1">
                <a:latin typeface="Calibri"/>
                <a:ea typeface="Calibri"/>
                <a:cs typeface="Calibri"/>
              </a:rPr>
              <a:t>bijvoorbeeld</a:t>
            </a:r>
            <a:r>
              <a:rPr lang="en-US" dirty="0">
                <a:latin typeface="Calibri"/>
                <a:ea typeface="Calibri"/>
                <a:cs typeface="Calibri"/>
              </a:rPr>
              <a:t> de Facebook API </a:t>
            </a:r>
            <a:r>
              <a:rPr lang="en-US" dirty="0" err="1">
                <a:latin typeface="Calibri"/>
                <a:ea typeface="Calibri"/>
                <a:cs typeface="Calibri"/>
              </a:rPr>
              <a:t>én</a:t>
            </a:r>
            <a:r>
              <a:rPr lang="en-US" dirty="0">
                <a:latin typeface="Calibri"/>
                <a:ea typeface="Calibri"/>
                <a:cs typeface="Calibri"/>
              </a:rPr>
              <a:t> de Snapchat API: je </a:t>
            </a:r>
            <a:r>
              <a:rPr lang="en-US" dirty="0" err="1">
                <a:latin typeface="Calibri"/>
                <a:ea typeface="Calibri"/>
                <a:cs typeface="Calibri"/>
              </a:rPr>
              <a:t>maakt</a:t>
            </a:r>
            <a:r>
              <a:rPr lang="en-US" dirty="0">
                <a:latin typeface="Calibri"/>
                <a:ea typeface="Calibri"/>
                <a:cs typeface="Calibri"/>
              </a:rPr>
              <a:t> </a:t>
            </a:r>
            <a:r>
              <a:rPr lang="en-US" dirty="0" err="1">
                <a:latin typeface="Calibri"/>
                <a:ea typeface="Calibri"/>
                <a:cs typeface="Calibri"/>
              </a:rPr>
              <a:t>meer</a:t>
            </a:r>
            <a:r>
              <a:rPr lang="en-US" dirty="0">
                <a:latin typeface="Calibri"/>
                <a:ea typeface="Calibri"/>
                <a:cs typeface="Calibri"/>
              </a:rPr>
              <a:t> </a:t>
            </a:r>
            <a:r>
              <a:rPr lang="en-US" dirty="0" err="1">
                <a:latin typeface="Calibri"/>
                <a:ea typeface="Calibri"/>
                <a:cs typeface="Calibri"/>
              </a:rPr>
              <a:t>kans</a:t>
            </a:r>
            <a:r>
              <a:rPr lang="en-US" dirty="0">
                <a:latin typeface="Calibri"/>
                <a:ea typeface="Calibri"/>
                <a:cs typeface="Calibri"/>
              </a:rPr>
              <a:t> om </a:t>
            </a:r>
            <a:r>
              <a:rPr lang="en-US" dirty="0" err="1">
                <a:latin typeface="Calibri"/>
                <a:ea typeface="Calibri"/>
                <a:cs typeface="Calibri"/>
              </a:rPr>
              <a:t>mensen</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vinden</a:t>
            </a:r>
            <a:r>
              <a:rPr lang="en-US" dirty="0">
                <a:latin typeface="Calibri"/>
                <a:ea typeface="Calibri"/>
                <a:cs typeface="Calibri"/>
              </a:rPr>
              <a:t> die je </a:t>
            </a:r>
            <a:r>
              <a:rPr lang="en-US" dirty="0" err="1">
                <a:latin typeface="Calibri"/>
                <a:ea typeface="Calibri"/>
                <a:cs typeface="Calibri"/>
              </a:rPr>
              <a:t>zoekt</a:t>
            </a:r>
            <a:r>
              <a:rPr lang="en-US" dirty="0">
                <a:latin typeface="Calibri"/>
                <a:ea typeface="Calibri"/>
                <a:cs typeface="Calibri"/>
              </a:rPr>
              <a:t> (</a:t>
            </a:r>
            <a:r>
              <a:rPr lang="en-US" dirty="0" err="1">
                <a:latin typeface="Calibri"/>
                <a:ea typeface="Calibri"/>
                <a:cs typeface="Calibri"/>
              </a:rPr>
              <a:t>voor</a:t>
            </a:r>
            <a:r>
              <a:rPr lang="en-US" dirty="0">
                <a:latin typeface="Calibri"/>
                <a:ea typeface="Calibri"/>
                <a:cs typeface="Calibri"/>
              </a:rPr>
              <a:t> het </a:t>
            </a:r>
            <a:r>
              <a:rPr lang="en-US" dirty="0" err="1">
                <a:latin typeface="Calibri"/>
                <a:ea typeface="Calibri"/>
                <a:cs typeface="Calibri"/>
              </a:rPr>
              <a:t>geval</a:t>
            </a:r>
            <a:r>
              <a:rPr lang="en-US" dirty="0">
                <a:latin typeface="Calibri"/>
                <a:ea typeface="Calibri"/>
                <a:cs typeface="Calibri"/>
              </a:rPr>
              <a:t> </a:t>
            </a:r>
            <a:r>
              <a:rPr lang="en-US" dirty="0" err="1">
                <a:latin typeface="Calibri"/>
                <a:ea typeface="Calibri"/>
                <a:cs typeface="Calibri"/>
              </a:rPr>
              <a:t>dat</a:t>
            </a:r>
            <a:r>
              <a:rPr lang="en-US" dirty="0">
                <a:latin typeface="Calibri"/>
                <a:ea typeface="Calibri"/>
                <a:cs typeface="Calibri"/>
              </a:rPr>
              <a:t> ze </a:t>
            </a:r>
            <a:r>
              <a:rPr lang="en-US" dirty="0" err="1">
                <a:latin typeface="Calibri"/>
                <a:ea typeface="Calibri"/>
                <a:cs typeface="Calibri"/>
              </a:rPr>
              <a:t>geen</a:t>
            </a:r>
            <a:r>
              <a:rPr lang="en-US" dirty="0">
                <a:latin typeface="Calibri"/>
                <a:ea typeface="Calibri"/>
                <a:cs typeface="Calibri"/>
              </a:rPr>
              <a:t> account </a:t>
            </a:r>
            <a:r>
              <a:rPr lang="en-US" dirty="0" err="1">
                <a:latin typeface="Calibri"/>
                <a:ea typeface="Calibri"/>
                <a:cs typeface="Calibri"/>
              </a:rPr>
              <a:t>hebben</a:t>
            </a:r>
            <a:r>
              <a:rPr lang="en-US" dirty="0">
                <a:latin typeface="Calibri"/>
                <a:ea typeface="Calibri"/>
                <a:cs typeface="Calibri"/>
              </a:rPr>
              <a:t> op het platform).</a:t>
            </a:r>
          </a:p>
          <a:p>
            <a:endParaRPr lang="en-US" dirty="0">
              <a:latin typeface="Calibri"/>
              <a:ea typeface="Calibri"/>
              <a:cs typeface="Calibri"/>
            </a:endParaRPr>
          </a:p>
          <a:p>
            <a:r>
              <a:rPr lang="en-US" dirty="0">
                <a:latin typeface="Calibri"/>
                <a:ea typeface="Calibri"/>
                <a:cs typeface="Calibri"/>
              </a:rPr>
              <a:t>Een API </a:t>
            </a:r>
            <a:r>
              <a:rPr lang="en-US" dirty="0" err="1">
                <a:latin typeface="Calibri"/>
                <a:ea typeface="Calibri"/>
                <a:cs typeface="Calibri"/>
              </a:rPr>
              <a:t>binnen</a:t>
            </a:r>
            <a:r>
              <a:rPr lang="en-US" dirty="0">
                <a:latin typeface="Calibri"/>
                <a:ea typeface="Calibri"/>
                <a:cs typeface="Calibri"/>
              </a:rPr>
              <a:t> de </a:t>
            </a:r>
            <a:r>
              <a:rPr lang="en-US" dirty="0" err="1">
                <a:latin typeface="Calibri"/>
                <a:ea typeface="Calibri"/>
                <a:cs typeface="Calibri"/>
              </a:rPr>
              <a:t>webtoepassingen</a:t>
            </a:r>
            <a:r>
              <a:rPr lang="en-US" dirty="0">
                <a:latin typeface="Calibri"/>
                <a:ea typeface="Calibri"/>
                <a:cs typeface="Calibri"/>
              </a:rPr>
              <a:t> is </a:t>
            </a:r>
            <a:r>
              <a:rPr lang="en-US" dirty="0" err="1">
                <a:latin typeface="Calibri"/>
                <a:ea typeface="Calibri"/>
                <a:cs typeface="Calibri"/>
              </a:rPr>
              <a:t>aanroepbaar</a:t>
            </a:r>
            <a:r>
              <a:rPr lang="en-US" dirty="0">
                <a:latin typeface="Calibri"/>
                <a:ea typeface="Calibri"/>
                <a:cs typeface="Calibri"/>
              </a:rPr>
              <a:t> </a:t>
            </a:r>
            <a:r>
              <a:rPr lang="en-US" dirty="0" err="1">
                <a:latin typeface="Calibri"/>
                <a:ea typeface="Calibri"/>
                <a:cs typeface="Calibri"/>
              </a:rPr>
              <a:t>binnen</a:t>
            </a:r>
            <a:r>
              <a:rPr lang="en-US" dirty="0">
                <a:latin typeface="Calibri"/>
                <a:ea typeface="Calibri"/>
                <a:cs typeface="Calibri"/>
              </a:rPr>
              <a:t> </a:t>
            </a:r>
            <a:r>
              <a:rPr lang="en-US" dirty="0" err="1">
                <a:latin typeface="Calibri"/>
                <a:ea typeface="Calibri"/>
                <a:cs typeface="Calibri"/>
              </a:rPr>
              <a:t>alles</a:t>
            </a:r>
            <a:r>
              <a:rPr lang="en-US" dirty="0">
                <a:latin typeface="Calibri"/>
                <a:ea typeface="Calibri"/>
                <a:cs typeface="Calibri"/>
              </a:rPr>
              <a:t> wat </a:t>
            </a:r>
            <a:r>
              <a:rPr lang="en-US" dirty="0" err="1">
                <a:latin typeface="Calibri"/>
                <a:ea typeface="Calibri"/>
                <a:cs typeface="Calibri"/>
              </a:rPr>
              <a:t>bereikbaar</a:t>
            </a:r>
            <a:r>
              <a:rPr lang="en-US" dirty="0">
                <a:latin typeface="Calibri"/>
                <a:ea typeface="Calibri"/>
                <a:cs typeface="Calibri"/>
              </a:rPr>
              <a:t> is via HTTP protocol. Je </a:t>
            </a:r>
            <a:r>
              <a:rPr lang="en-US" dirty="0" err="1">
                <a:latin typeface="Calibri"/>
                <a:ea typeface="Calibri"/>
                <a:cs typeface="Calibri"/>
              </a:rPr>
              <a:t>moet</a:t>
            </a:r>
            <a:r>
              <a:rPr lang="en-US" dirty="0">
                <a:latin typeface="Calibri"/>
                <a:ea typeface="Calibri"/>
                <a:cs typeface="Calibri"/>
              </a:rPr>
              <a:t> het </a:t>
            </a:r>
            <a:r>
              <a:rPr lang="en-US" dirty="0" err="1">
                <a:latin typeface="Calibri"/>
                <a:ea typeface="Calibri"/>
                <a:cs typeface="Calibri"/>
              </a:rPr>
              <a:t>eindpunt</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kunnen</a:t>
            </a:r>
            <a:r>
              <a:rPr lang="en-US" dirty="0">
                <a:latin typeface="Calibri"/>
                <a:ea typeface="Calibri"/>
                <a:cs typeface="Calibri"/>
              </a:rPr>
              <a:t> </a:t>
            </a:r>
            <a:r>
              <a:rPr lang="en-US" dirty="0" err="1">
                <a:latin typeface="Calibri"/>
                <a:ea typeface="Calibri"/>
                <a:cs typeface="Calibri"/>
              </a:rPr>
              <a:t>bereiken</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de server plat </a:t>
            </a:r>
            <a:r>
              <a:rPr lang="en-US" dirty="0" err="1">
                <a:latin typeface="Calibri"/>
                <a:ea typeface="Calibri"/>
                <a:cs typeface="Calibri"/>
              </a:rPr>
              <a:t>ligt</a:t>
            </a:r>
            <a:r>
              <a:rPr lang="en-US" dirty="0">
                <a:latin typeface="Calibri"/>
                <a:ea typeface="Calibri"/>
                <a:cs typeface="Calibri"/>
              </a:rPr>
              <a:t>, of je </a:t>
            </a:r>
            <a:r>
              <a:rPr lang="en-US" dirty="0" err="1">
                <a:latin typeface="Calibri"/>
                <a:ea typeface="Calibri"/>
                <a:cs typeface="Calibri"/>
              </a:rPr>
              <a:t>hebt</a:t>
            </a:r>
            <a:r>
              <a:rPr lang="en-US" dirty="0">
                <a:latin typeface="Calibri"/>
                <a:ea typeface="Calibri"/>
                <a:cs typeface="Calibri"/>
              </a:rPr>
              <a:t> </a:t>
            </a:r>
            <a:r>
              <a:rPr lang="en-US" dirty="0" err="1">
                <a:latin typeface="Calibri"/>
                <a:ea typeface="Calibri"/>
                <a:cs typeface="Calibri"/>
              </a:rPr>
              <a:t>geen</a:t>
            </a:r>
            <a:r>
              <a:rPr lang="en-US" dirty="0">
                <a:latin typeface="Calibri"/>
                <a:ea typeface="Calibri"/>
                <a:cs typeface="Calibri"/>
              </a:rPr>
              <a:t> internet op het </a:t>
            </a:r>
            <a:r>
              <a:rPr lang="en-US" dirty="0" err="1">
                <a:latin typeface="Calibri"/>
                <a:ea typeface="Calibri"/>
                <a:cs typeface="Calibri"/>
              </a:rPr>
              <a:t>toestel</a:t>
            </a:r>
            <a:r>
              <a:rPr lang="en-US" dirty="0">
                <a:latin typeface="Calibri"/>
                <a:ea typeface="Calibri"/>
                <a:cs typeface="Calibri"/>
              </a:rPr>
              <a:t> </a:t>
            </a:r>
            <a:r>
              <a:rPr lang="en-US" dirty="0" err="1">
                <a:latin typeface="Calibri"/>
                <a:ea typeface="Calibri"/>
                <a:cs typeface="Calibri"/>
              </a:rPr>
              <a:t>waarop</a:t>
            </a:r>
            <a:r>
              <a:rPr lang="en-US" dirty="0">
                <a:latin typeface="Calibri"/>
                <a:ea typeface="Calibri"/>
                <a:cs typeface="Calibri"/>
              </a:rPr>
              <a:t> je </a:t>
            </a:r>
            <a:r>
              <a:rPr lang="en-US" dirty="0" err="1">
                <a:latin typeface="Calibri"/>
                <a:ea typeface="Calibri"/>
                <a:cs typeface="Calibri"/>
              </a:rPr>
              <a:t>een</a:t>
            </a:r>
            <a:r>
              <a:rPr lang="en-US" dirty="0">
                <a:latin typeface="Calibri"/>
                <a:ea typeface="Calibri"/>
                <a:cs typeface="Calibri"/>
              </a:rPr>
              <a:t> API request </a:t>
            </a:r>
            <a:r>
              <a:rPr lang="en-US" dirty="0" err="1">
                <a:latin typeface="Calibri"/>
                <a:ea typeface="Calibri"/>
                <a:cs typeface="Calibri"/>
              </a:rPr>
              <a:t>maakt</a:t>
            </a:r>
            <a:r>
              <a:rPr lang="en-US" dirty="0">
                <a:latin typeface="Calibri"/>
                <a:ea typeface="Calibri"/>
                <a:cs typeface="Calibri"/>
              </a:rPr>
              <a:t>: dan </a:t>
            </a:r>
            <a:r>
              <a:rPr lang="en-US" dirty="0" err="1">
                <a:latin typeface="Calibri"/>
                <a:ea typeface="Calibri"/>
                <a:cs typeface="Calibri"/>
              </a:rPr>
              <a:t>mislukt</a:t>
            </a:r>
            <a:r>
              <a:rPr lang="en-US" dirty="0">
                <a:latin typeface="Calibri"/>
                <a:ea typeface="Calibri"/>
                <a:cs typeface="Calibri"/>
              </a:rPr>
              <a:t> deze.</a:t>
            </a:r>
          </a:p>
        </p:txBody>
      </p:sp>
      <p:sp>
        <p:nvSpPr>
          <p:cNvPr id="4" name="Tijdelijke aanduiding voor dianummer 3"/>
          <p:cNvSpPr>
            <a:spLocks noGrp="1"/>
          </p:cNvSpPr>
          <p:nvPr>
            <p:ph type="sldNum" sz="quarter" idx="5"/>
          </p:nvPr>
        </p:nvSpPr>
        <p:spPr/>
        <p:txBody>
          <a:bodyPr/>
          <a:lstStyle/>
          <a:p>
            <a:fld id="{39DBD449-D42A-4711-8837-53EC15580D9C}" type="slidenum">
              <a:rPr lang="nl-BE" smtClean="0"/>
              <a:t>2</a:t>
            </a:fld>
            <a:endParaRPr lang="nl-BE"/>
          </a:p>
        </p:txBody>
      </p:sp>
    </p:spTree>
    <p:extLst>
      <p:ext uri="{BB962C8B-B14F-4D97-AF65-F5344CB8AC3E}">
        <p14:creationId xmlns:p14="http://schemas.microsoft.com/office/powerpoint/2010/main" val="5868645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B485F-B587-3C71-78FE-EE04E6DDCD2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6EA302D3-36AA-6ABE-95B9-D9C24B26BA1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EC89270-86CD-84C9-38D5-BB49B4626566}"/>
              </a:ext>
            </a:extLst>
          </p:cNvPr>
          <p:cNvSpPr>
            <a:spLocks noGrp="1"/>
          </p:cNvSpPr>
          <p:nvPr>
            <p:ph type="body" idx="1"/>
          </p:nvPr>
        </p:nvSpPr>
        <p:spPr/>
        <p:txBody>
          <a:bodyPr/>
          <a:lstStyle/>
          <a:p>
            <a:r>
              <a:rPr lang="en-US" dirty="0">
                <a:latin typeface="Calibri"/>
                <a:ea typeface="Calibri"/>
                <a:cs typeface="Calibri"/>
              </a:rPr>
              <a:t>Een Application Programming Interface of API </a:t>
            </a:r>
            <a:r>
              <a:rPr lang="en-US" dirty="0" err="1">
                <a:latin typeface="Calibri"/>
                <a:ea typeface="Calibri"/>
                <a:cs typeface="Calibri"/>
              </a:rPr>
              <a:t>fungeert</a:t>
            </a:r>
            <a:r>
              <a:rPr lang="en-US" dirty="0">
                <a:latin typeface="Calibri"/>
                <a:ea typeface="Calibri"/>
                <a:cs typeface="Calibri"/>
              </a:rPr>
              <a:t> </a:t>
            </a:r>
            <a:r>
              <a:rPr lang="en-US" dirty="0" err="1">
                <a:latin typeface="Calibri"/>
                <a:ea typeface="Calibri"/>
                <a:cs typeface="Calibri"/>
              </a:rPr>
              <a:t>vaak</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a:t>
            </a:r>
            <a:r>
              <a:rPr lang="en-US" dirty="0" err="1">
                <a:latin typeface="Calibri"/>
                <a:ea typeface="Calibri"/>
                <a:cs typeface="Calibri"/>
              </a:rPr>
              <a:t>tussenlaag</a:t>
            </a:r>
            <a:r>
              <a:rPr lang="en-US" dirty="0">
                <a:latin typeface="Calibri"/>
                <a:ea typeface="Calibri"/>
                <a:cs typeface="Calibri"/>
              </a:rPr>
              <a:t> die </a:t>
            </a:r>
            <a:r>
              <a:rPr lang="en-US" dirty="0" err="1">
                <a:latin typeface="Calibri"/>
                <a:ea typeface="Calibri"/>
                <a:cs typeface="Calibri"/>
              </a:rPr>
              <a:t>een</a:t>
            </a:r>
            <a:r>
              <a:rPr lang="en-US" dirty="0">
                <a:latin typeface="Calibri"/>
                <a:ea typeface="Calibri"/>
                <a:cs typeface="Calibri"/>
              </a:rPr>
              <a:t> developer </a:t>
            </a:r>
            <a:r>
              <a:rPr lang="en-US" dirty="0" err="1">
                <a:latin typeface="Calibri"/>
                <a:ea typeface="Calibri"/>
                <a:cs typeface="Calibri"/>
              </a:rPr>
              <a:t>heeft</a:t>
            </a:r>
            <a:r>
              <a:rPr lang="en-US" dirty="0">
                <a:latin typeface="Calibri"/>
                <a:ea typeface="Calibri"/>
                <a:cs typeface="Calibri"/>
              </a:rPr>
              <a:t> </a:t>
            </a:r>
            <a:r>
              <a:rPr lang="en-US" dirty="0" err="1">
                <a:latin typeface="Calibri"/>
                <a:ea typeface="Calibri"/>
                <a:cs typeface="Calibri"/>
              </a:rPr>
              <a:t>gemaakt</a:t>
            </a:r>
            <a:r>
              <a:rPr lang="en-US" dirty="0">
                <a:latin typeface="Calibri"/>
                <a:ea typeface="Calibri"/>
                <a:cs typeface="Calibri"/>
              </a:rPr>
              <a:t> om </a:t>
            </a:r>
            <a:r>
              <a:rPr lang="en-US" dirty="0" err="1">
                <a:latin typeface="Calibri"/>
                <a:ea typeface="Calibri"/>
                <a:cs typeface="Calibri"/>
              </a:rPr>
              <a:t>gegevens</a:t>
            </a:r>
            <a:r>
              <a:rPr lang="en-US" dirty="0">
                <a:latin typeface="Calibri"/>
                <a:ea typeface="Calibri"/>
                <a:cs typeface="Calibri"/>
              </a:rPr>
              <a:t> </a:t>
            </a:r>
            <a:r>
              <a:rPr lang="en-US" dirty="0" err="1">
                <a:latin typeface="Calibri"/>
                <a:ea typeface="Calibri"/>
                <a:cs typeface="Calibri"/>
              </a:rPr>
              <a:t>uit</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wisselen</a:t>
            </a:r>
            <a:r>
              <a:rPr lang="en-US" dirty="0">
                <a:latin typeface="Calibri"/>
                <a:ea typeface="Calibri"/>
                <a:cs typeface="Calibri"/>
              </a:rPr>
              <a:t> met </a:t>
            </a:r>
            <a:r>
              <a:rPr lang="en-US" dirty="0" err="1">
                <a:latin typeface="Calibri"/>
                <a:ea typeface="Calibri"/>
                <a:cs typeface="Calibri"/>
              </a:rPr>
              <a:t>andere</a:t>
            </a:r>
            <a:r>
              <a:rPr lang="en-US" dirty="0">
                <a:latin typeface="Calibri"/>
                <a:ea typeface="Calibri"/>
                <a:cs typeface="Calibri"/>
              </a:rPr>
              <a:t> </a:t>
            </a:r>
            <a:r>
              <a:rPr lang="en-US" dirty="0" err="1">
                <a:latin typeface="Calibri"/>
                <a:ea typeface="Calibri"/>
                <a:cs typeface="Calibri"/>
              </a:rPr>
              <a:t>applicaties</a:t>
            </a:r>
            <a:r>
              <a:rPr lang="en-US" dirty="0">
                <a:latin typeface="Calibri"/>
                <a:ea typeface="Calibri"/>
                <a:cs typeface="Calibri"/>
              </a:rPr>
              <a:t>.</a:t>
            </a:r>
          </a:p>
          <a:p>
            <a:endParaRPr lang="en-US" dirty="0">
              <a:latin typeface="Calibri"/>
              <a:ea typeface="Calibri"/>
              <a:cs typeface="Calibri"/>
            </a:endParaRPr>
          </a:p>
          <a:p>
            <a:r>
              <a:rPr lang="en-US" dirty="0">
                <a:latin typeface="Calibri"/>
                <a:ea typeface="Calibri"/>
                <a:cs typeface="Calibri"/>
              </a:rPr>
              <a:t>Als </a:t>
            </a:r>
            <a:r>
              <a:rPr lang="en-US" dirty="0" err="1">
                <a:latin typeface="Calibri"/>
                <a:ea typeface="Calibri"/>
                <a:cs typeface="Calibri"/>
              </a:rPr>
              <a:t>jij</a:t>
            </a:r>
            <a:r>
              <a:rPr lang="en-US" dirty="0">
                <a:latin typeface="Calibri"/>
                <a:ea typeface="Calibri"/>
                <a:cs typeface="Calibri"/>
              </a:rPr>
              <a:t> </a:t>
            </a:r>
            <a:r>
              <a:rPr lang="en-US" dirty="0" err="1">
                <a:latin typeface="Calibri"/>
                <a:ea typeface="Calibri"/>
                <a:cs typeface="Calibri"/>
              </a:rPr>
              <a:t>dus</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applicatie</a:t>
            </a:r>
            <a:r>
              <a:rPr lang="en-US" dirty="0">
                <a:latin typeface="Calibri"/>
                <a:ea typeface="Calibri"/>
                <a:cs typeface="Calibri"/>
              </a:rPr>
              <a:t> </a:t>
            </a:r>
            <a:r>
              <a:rPr lang="en-US" dirty="0" err="1">
                <a:latin typeface="Calibri"/>
                <a:ea typeface="Calibri"/>
                <a:cs typeface="Calibri"/>
              </a:rPr>
              <a:t>maakt</a:t>
            </a:r>
            <a:r>
              <a:rPr lang="en-US" dirty="0">
                <a:latin typeface="Calibri"/>
                <a:ea typeface="Calibri"/>
                <a:cs typeface="Calibri"/>
              </a:rPr>
              <a:t> om je </a:t>
            </a:r>
            <a:r>
              <a:rPr lang="en-US" dirty="0" err="1">
                <a:latin typeface="Calibri"/>
                <a:ea typeface="Calibri"/>
                <a:cs typeface="Calibri"/>
              </a:rPr>
              <a:t>vrienden</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zoeken</a:t>
            </a:r>
            <a:r>
              <a:rPr lang="en-US" dirty="0">
                <a:latin typeface="Calibri"/>
                <a:ea typeface="Calibri"/>
                <a:cs typeface="Calibri"/>
              </a:rPr>
              <a:t>: dan is het </a:t>
            </a:r>
            <a:r>
              <a:rPr lang="en-US" dirty="0" err="1">
                <a:latin typeface="Calibri"/>
                <a:ea typeface="Calibri"/>
                <a:cs typeface="Calibri"/>
              </a:rPr>
              <a:t>handig</a:t>
            </a:r>
            <a:r>
              <a:rPr lang="en-US" dirty="0">
                <a:latin typeface="Calibri"/>
                <a:ea typeface="Calibri"/>
                <a:cs typeface="Calibri"/>
              </a:rPr>
              <a:t> om Facebook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gebruiken</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a:t>
            </a:r>
            <a:r>
              <a:rPr lang="en-US" dirty="0" err="1">
                <a:latin typeface="Calibri"/>
                <a:ea typeface="Calibri"/>
                <a:cs typeface="Calibri"/>
              </a:rPr>
              <a:t>contactenboek</a:t>
            </a:r>
            <a:r>
              <a:rPr lang="en-US" dirty="0">
                <a:latin typeface="Calibri"/>
                <a:ea typeface="Calibri"/>
                <a:cs typeface="Calibri"/>
              </a:rPr>
              <a:t>. Je </a:t>
            </a:r>
            <a:r>
              <a:rPr lang="en-US" dirty="0" err="1">
                <a:latin typeface="Calibri"/>
                <a:ea typeface="Calibri"/>
                <a:cs typeface="Calibri"/>
              </a:rPr>
              <a:t>kan</a:t>
            </a:r>
            <a:r>
              <a:rPr lang="en-US" dirty="0">
                <a:latin typeface="Calibri"/>
                <a:ea typeface="Calibri"/>
                <a:cs typeface="Calibri"/>
              </a:rPr>
              <a:t> </a:t>
            </a:r>
            <a:r>
              <a:rPr lang="en-US" dirty="0" err="1">
                <a:latin typeface="Calibri"/>
                <a:ea typeface="Calibri"/>
                <a:cs typeface="Calibri"/>
              </a:rPr>
              <a:t>dit</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combineren</a:t>
            </a:r>
            <a:r>
              <a:rPr lang="en-US" dirty="0">
                <a:latin typeface="Calibri"/>
                <a:ea typeface="Calibri"/>
                <a:cs typeface="Calibri"/>
              </a:rPr>
              <a:t>: </a:t>
            </a:r>
            <a:r>
              <a:rPr lang="en-US" dirty="0" err="1">
                <a:latin typeface="Calibri"/>
                <a:ea typeface="Calibri"/>
                <a:cs typeface="Calibri"/>
              </a:rPr>
              <a:t>bijvoorbeeld</a:t>
            </a:r>
            <a:r>
              <a:rPr lang="en-US" dirty="0">
                <a:latin typeface="Calibri"/>
                <a:ea typeface="Calibri"/>
                <a:cs typeface="Calibri"/>
              </a:rPr>
              <a:t> de Facebook API </a:t>
            </a:r>
            <a:r>
              <a:rPr lang="en-US" dirty="0" err="1">
                <a:latin typeface="Calibri"/>
                <a:ea typeface="Calibri"/>
                <a:cs typeface="Calibri"/>
              </a:rPr>
              <a:t>én</a:t>
            </a:r>
            <a:r>
              <a:rPr lang="en-US" dirty="0">
                <a:latin typeface="Calibri"/>
                <a:ea typeface="Calibri"/>
                <a:cs typeface="Calibri"/>
              </a:rPr>
              <a:t> de Snapchat API: je </a:t>
            </a:r>
            <a:r>
              <a:rPr lang="en-US" dirty="0" err="1">
                <a:latin typeface="Calibri"/>
                <a:ea typeface="Calibri"/>
                <a:cs typeface="Calibri"/>
              </a:rPr>
              <a:t>maakt</a:t>
            </a:r>
            <a:r>
              <a:rPr lang="en-US" dirty="0">
                <a:latin typeface="Calibri"/>
                <a:ea typeface="Calibri"/>
                <a:cs typeface="Calibri"/>
              </a:rPr>
              <a:t> </a:t>
            </a:r>
            <a:r>
              <a:rPr lang="en-US" dirty="0" err="1">
                <a:latin typeface="Calibri"/>
                <a:ea typeface="Calibri"/>
                <a:cs typeface="Calibri"/>
              </a:rPr>
              <a:t>meer</a:t>
            </a:r>
            <a:r>
              <a:rPr lang="en-US" dirty="0">
                <a:latin typeface="Calibri"/>
                <a:ea typeface="Calibri"/>
                <a:cs typeface="Calibri"/>
              </a:rPr>
              <a:t> </a:t>
            </a:r>
            <a:r>
              <a:rPr lang="en-US" dirty="0" err="1">
                <a:latin typeface="Calibri"/>
                <a:ea typeface="Calibri"/>
                <a:cs typeface="Calibri"/>
              </a:rPr>
              <a:t>kans</a:t>
            </a:r>
            <a:r>
              <a:rPr lang="en-US" dirty="0">
                <a:latin typeface="Calibri"/>
                <a:ea typeface="Calibri"/>
                <a:cs typeface="Calibri"/>
              </a:rPr>
              <a:t> om </a:t>
            </a:r>
            <a:r>
              <a:rPr lang="en-US" dirty="0" err="1">
                <a:latin typeface="Calibri"/>
                <a:ea typeface="Calibri"/>
                <a:cs typeface="Calibri"/>
              </a:rPr>
              <a:t>mensen</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vinden</a:t>
            </a:r>
            <a:r>
              <a:rPr lang="en-US" dirty="0">
                <a:latin typeface="Calibri"/>
                <a:ea typeface="Calibri"/>
                <a:cs typeface="Calibri"/>
              </a:rPr>
              <a:t> die je </a:t>
            </a:r>
            <a:r>
              <a:rPr lang="en-US" dirty="0" err="1">
                <a:latin typeface="Calibri"/>
                <a:ea typeface="Calibri"/>
                <a:cs typeface="Calibri"/>
              </a:rPr>
              <a:t>zoekt</a:t>
            </a:r>
            <a:r>
              <a:rPr lang="en-US" dirty="0">
                <a:latin typeface="Calibri"/>
                <a:ea typeface="Calibri"/>
                <a:cs typeface="Calibri"/>
              </a:rPr>
              <a:t> (</a:t>
            </a:r>
            <a:r>
              <a:rPr lang="en-US" dirty="0" err="1">
                <a:latin typeface="Calibri"/>
                <a:ea typeface="Calibri"/>
                <a:cs typeface="Calibri"/>
              </a:rPr>
              <a:t>voor</a:t>
            </a:r>
            <a:r>
              <a:rPr lang="en-US" dirty="0">
                <a:latin typeface="Calibri"/>
                <a:ea typeface="Calibri"/>
                <a:cs typeface="Calibri"/>
              </a:rPr>
              <a:t> het </a:t>
            </a:r>
            <a:r>
              <a:rPr lang="en-US" dirty="0" err="1">
                <a:latin typeface="Calibri"/>
                <a:ea typeface="Calibri"/>
                <a:cs typeface="Calibri"/>
              </a:rPr>
              <a:t>geval</a:t>
            </a:r>
            <a:r>
              <a:rPr lang="en-US" dirty="0">
                <a:latin typeface="Calibri"/>
                <a:ea typeface="Calibri"/>
                <a:cs typeface="Calibri"/>
              </a:rPr>
              <a:t> </a:t>
            </a:r>
            <a:r>
              <a:rPr lang="en-US" dirty="0" err="1">
                <a:latin typeface="Calibri"/>
                <a:ea typeface="Calibri"/>
                <a:cs typeface="Calibri"/>
              </a:rPr>
              <a:t>dat</a:t>
            </a:r>
            <a:r>
              <a:rPr lang="en-US" dirty="0">
                <a:latin typeface="Calibri"/>
                <a:ea typeface="Calibri"/>
                <a:cs typeface="Calibri"/>
              </a:rPr>
              <a:t> ze </a:t>
            </a:r>
            <a:r>
              <a:rPr lang="en-US" dirty="0" err="1">
                <a:latin typeface="Calibri"/>
                <a:ea typeface="Calibri"/>
                <a:cs typeface="Calibri"/>
              </a:rPr>
              <a:t>geen</a:t>
            </a:r>
            <a:r>
              <a:rPr lang="en-US" dirty="0">
                <a:latin typeface="Calibri"/>
                <a:ea typeface="Calibri"/>
                <a:cs typeface="Calibri"/>
              </a:rPr>
              <a:t> account </a:t>
            </a:r>
            <a:r>
              <a:rPr lang="en-US" dirty="0" err="1">
                <a:latin typeface="Calibri"/>
                <a:ea typeface="Calibri"/>
                <a:cs typeface="Calibri"/>
              </a:rPr>
              <a:t>hebben</a:t>
            </a:r>
            <a:r>
              <a:rPr lang="en-US" dirty="0">
                <a:latin typeface="Calibri"/>
                <a:ea typeface="Calibri"/>
                <a:cs typeface="Calibri"/>
              </a:rPr>
              <a:t> op het platform).</a:t>
            </a:r>
          </a:p>
          <a:p>
            <a:endParaRPr lang="en-US" dirty="0">
              <a:latin typeface="Calibri"/>
              <a:ea typeface="Calibri"/>
              <a:cs typeface="Calibri"/>
            </a:endParaRPr>
          </a:p>
          <a:p>
            <a:r>
              <a:rPr lang="en-US" dirty="0">
                <a:latin typeface="Calibri"/>
                <a:ea typeface="Calibri"/>
                <a:cs typeface="Calibri"/>
              </a:rPr>
              <a:t>Een API </a:t>
            </a:r>
            <a:r>
              <a:rPr lang="en-US" dirty="0" err="1">
                <a:latin typeface="Calibri"/>
                <a:ea typeface="Calibri"/>
                <a:cs typeface="Calibri"/>
              </a:rPr>
              <a:t>binnen</a:t>
            </a:r>
            <a:r>
              <a:rPr lang="en-US" dirty="0">
                <a:latin typeface="Calibri"/>
                <a:ea typeface="Calibri"/>
                <a:cs typeface="Calibri"/>
              </a:rPr>
              <a:t> de </a:t>
            </a:r>
            <a:r>
              <a:rPr lang="en-US" dirty="0" err="1">
                <a:latin typeface="Calibri"/>
                <a:ea typeface="Calibri"/>
                <a:cs typeface="Calibri"/>
              </a:rPr>
              <a:t>webtoepassingen</a:t>
            </a:r>
            <a:r>
              <a:rPr lang="en-US" dirty="0">
                <a:latin typeface="Calibri"/>
                <a:ea typeface="Calibri"/>
                <a:cs typeface="Calibri"/>
              </a:rPr>
              <a:t> is </a:t>
            </a:r>
            <a:r>
              <a:rPr lang="en-US" dirty="0" err="1">
                <a:latin typeface="Calibri"/>
                <a:ea typeface="Calibri"/>
                <a:cs typeface="Calibri"/>
              </a:rPr>
              <a:t>aanroepbaar</a:t>
            </a:r>
            <a:r>
              <a:rPr lang="en-US" dirty="0">
                <a:latin typeface="Calibri"/>
                <a:ea typeface="Calibri"/>
                <a:cs typeface="Calibri"/>
              </a:rPr>
              <a:t> </a:t>
            </a:r>
            <a:r>
              <a:rPr lang="en-US" dirty="0" err="1">
                <a:latin typeface="Calibri"/>
                <a:ea typeface="Calibri"/>
                <a:cs typeface="Calibri"/>
              </a:rPr>
              <a:t>binnen</a:t>
            </a:r>
            <a:r>
              <a:rPr lang="en-US" dirty="0">
                <a:latin typeface="Calibri"/>
                <a:ea typeface="Calibri"/>
                <a:cs typeface="Calibri"/>
              </a:rPr>
              <a:t> </a:t>
            </a:r>
            <a:r>
              <a:rPr lang="en-US" dirty="0" err="1">
                <a:latin typeface="Calibri"/>
                <a:ea typeface="Calibri"/>
                <a:cs typeface="Calibri"/>
              </a:rPr>
              <a:t>alles</a:t>
            </a:r>
            <a:r>
              <a:rPr lang="en-US" dirty="0">
                <a:latin typeface="Calibri"/>
                <a:ea typeface="Calibri"/>
                <a:cs typeface="Calibri"/>
              </a:rPr>
              <a:t> wat </a:t>
            </a:r>
            <a:r>
              <a:rPr lang="en-US" dirty="0" err="1">
                <a:latin typeface="Calibri"/>
                <a:ea typeface="Calibri"/>
                <a:cs typeface="Calibri"/>
              </a:rPr>
              <a:t>bereikbaar</a:t>
            </a:r>
            <a:r>
              <a:rPr lang="en-US" dirty="0">
                <a:latin typeface="Calibri"/>
                <a:ea typeface="Calibri"/>
                <a:cs typeface="Calibri"/>
              </a:rPr>
              <a:t> is via HTTP protocol. Je </a:t>
            </a:r>
            <a:r>
              <a:rPr lang="en-US" dirty="0" err="1">
                <a:latin typeface="Calibri"/>
                <a:ea typeface="Calibri"/>
                <a:cs typeface="Calibri"/>
              </a:rPr>
              <a:t>moet</a:t>
            </a:r>
            <a:r>
              <a:rPr lang="en-US" dirty="0">
                <a:latin typeface="Calibri"/>
                <a:ea typeface="Calibri"/>
                <a:cs typeface="Calibri"/>
              </a:rPr>
              <a:t> het </a:t>
            </a:r>
            <a:r>
              <a:rPr lang="en-US" dirty="0" err="1">
                <a:latin typeface="Calibri"/>
                <a:ea typeface="Calibri"/>
                <a:cs typeface="Calibri"/>
              </a:rPr>
              <a:t>eindpunt</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kunnen</a:t>
            </a:r>
            <a:r>
              <a:rPr lang="en-US" dirty="0">
                <a:latin typeface="Calibri"/>
                <a:ea typeface="Calibri"/>
                <a:cs typeface="Calibri"/>
              </a:rPr>
              <a:t> </a:t>
            </a:r>
            <a:r>
              <a:rPr lang="en-US" dirty="0" err="1">
                <a:latin typeface="Calibri"/>
                <a:ea typeface="Calibri"/>
                <a:cs typeface="Calibri"/>
              </a:rPr>
              <a:t>bereiken</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de server plat </a:t>
            </a:r>
            <a:r>
              <a:rPr lang="en-US" dirty="0" err="1">
                <a:latin typeface="Calibri"/>
                <a:ea typeface="Calibri"/>
                <a:cs typeface="Calibri"/>
              </a:rPr>
              <a:t>ligt</a:t>
            </a:r>
            <a:r>
              <a:rPr lang="en-US" dirty="0">
                <a:latin typeface="Calibri"/>
                <a:ea typeface="Calibri"/>
                <a:cs typeface="Calibri"/>
              </a:rPr>
              <a:t>, of je </a:t>
            </a:r>
            <a:r>
              <a:rPr lang="en-US" dirty="0" err="1">
                <a:latin typeface="Calibri"/>
                <a:ea typeface="Calibri"/>
                <a:cs typeface="Calibri"/>
              </a:rPr>
              <a:t>hebt</a:t>
            </a:r>
            <a:r>
              <a:rPr lang="en-US" dirty="0">
                <a:latin typeface="Calibri"/>
                <a:ea typeface="Calibri"/>
                <a:cs typeface="Calibri"/>
              </a:rPr>
              <a:t> </a:t>
            </a:r>
            <a:r>
              <a:rPr lang="en-US" dirty="0" err="1">
                <a:latin typeface="Calibri"/>
                <a:ea typeface="Calibri"/>
                <a:cs typeface="Calibri"/>
              </a:rPr>
              <a:t>geen</a:t>
            </a:r>
            <a:r>
              <a:rPr lang="en-US" dirty="0">
                <a:latin typeface="Calibri"/>
                <a:ea typeface="Calibri"/>
                <a:cs typeface="Calibri"/>
              </a:rPr>
              <a:t> internet op het </a:t>
            </a:r>
            <a:r>
              <a:rPr lang="en-US" dirty="0" err="1">
                <a:latin typeface="Calibri"/>
                <a:ea typeface="Calibri"/>
                <a:cs typeface="Calibri"/>
              </a:rPr>
              <a:t>toestel</a:t>
            </a:r>
            <a:r>
              <a:rPr lang="en-US" dirty="0">
                <a:latin typeface="Calibri"/>
                <a:ea typeface="Calibri"/>
                <a:cs typeface="Calibri"/>
              </a:rPr>
              <a:t> </a:t>
            </a:r>
            <a:r>
              <a:rPr lang="en-US" dirty="0" err="1">
                <a:latin typeface="Calibri"/>
                <a:ea typeface="Calibri"/>
                <a:cs typeface="Calibri"/>
              </a:rPr>
              <a:t>waarop</a:t>
            </a:r>
            <a:r>
              <a:rPr lang="en-US" dirty="0">
                <a:latin typeface="Calibri"/>
                <a:ea typeface="Calibri"/>
                <a:cs typeface="Calibri"/>
              </a:rPr>
              <a:t> je </a:t>
            </a:r>
            <a:r>
              <a:rPr lang="en-US" dirty="0" err="1">
                <a:latin typeface="Calibri"/>
                <a:ea typeface="Calibri"/>
                <a:cs typeface="Calibri"/>
              </a:rPr>
              <a:t>een</a:t>
            </a:r>
            <a:r>
              <a:rPr lang="en-US" dirty="0">
                <a:latin typeface="Calibri"/>
                <a:ea typeface="Calibri"/>
                <a:cs typeface="Calibri"/>
              </a:rPr>
              <a:t> API request </a:t>
            </a:r>
            <a:r>
              <a:rPr lang="en-US" dirty="0" err="1">
                <a:latin typeface="Calibri"/>
                <a:ea typeface="Calibri"/>
                <a:cs typeface="Calibri"/>
              </a:rPr>
              <a:t>maakt</a:t>
            </a:r>
            <a:r>
              <a:rPr lang="en-US" dirty="0">
                <a:latin typeface="Calibri"/>
                <a:ea typeface="Calibri"/>
                <a:cs typeface="Calibri"/>
              </a:rPr>
              <a:t>: dan </a:t>
            </a:r>
            <a:r>
              <a:rPr lang="en-US" dirty="0" err="1">
                <a:latin typeface="Calibri"/>
                <a:ea typeface="Calibri"/>
                <a:cs typeface="Calibri"/>
              </a:rPr>
              <a:t>mislukt</a:t>
            </a:r>
            <a:r>
              <a:rPr lang="en-US" dirty="0">
                <a:latin typeface="Calibri"/>
                <a:ea typeface="Calibri"/>
                <a:cs typeface="Calibri"/>
              </a:rPr>
              <a:t> deze.</a:t>
            </a:r>
          </a:p>
        </p:txBody>
      </p:sp>
      <p:sp>
        <p:nvSpPr>
          <p:cNvPr id="4" name="Tijdelijke aanduiding voor dianummer 3">
            <a:extLst>
              <a:ext uri="{FF2B5EF4-FFF2-40B4-BE49-F238E27FC236}">
                <a16:creationId xmlns:a16="http://schemas.microsoft.com/office/drawing/2014/main" id="{A5EC17E2-3BF9-36C4-7FAA-07BDFE413CB6}"/>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1996461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62EC6-D121-2868-18F2-F3CE7D5435F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DD2AACB-04DA-DC2B-57F4-49F93708A28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05E0426-F68D-9E07-AE25-15276A3272AA}"/>
              </a:ext>
            </a:extLst>
          </p:cNvPr>
          <p:cNvSpPr>
            <a:spLocks noGrp="1"/>
          </p:cNvSpPr>
          <p:nvPr>
            <p:ph type="body" idx="1"/>
          </p:nvPr>
        </p:nvSpPr>
        <p:spPr/>
        <p:txBody>
          <a:bodyPr/>
          <a:lstStyle/>
          <a:p>
            <a:r>
              <a:rPr lang="en-US" dirty="0">
                <a:latin typeface="Calibri"/>
                <a:ea typeface="Calibri"/>
                <a:cs typeface="Calibri"/>
              </a:rPr>
              <a:t>Een Application Programming Interface of API </a:t>
            </a:r>
            <a:r>
              <a:rPr lang="en-US" dirty="0" err="1">
                <a:latin typeface="Calibri"/>
                <a:ea typeface="Calibri"/>
                <a:cs typeface="Calibri"/>
              </a:rPr>
              <a:t>fungeert</a:t>
            </a:r>
            <a:r>
              <a:rPr lang="en-US" dirty="0">
                <a:latin typeface="Calibri"/>
                <a:ea typeface="Calibri"/>
                <a:cs typeface="Calibri"/>
              </a:rPr>
              <a:t> </a:t>
            </a:r>
            <a:r>
              <a:rPr lang="en-US" dirty="0" err="1">
                <a:latin typeface="Calibri"/>
                <a:ea typeface="Calibri"/>
                <a:cs typeface="Calibri"/>
              </a:rPr>
              <a:t>vaak</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a:t>
            </a:r>
            <a:r>
              <a:rPr lang="en-US" dirty="0" err="1">
                <a:latin typeface="Calibri"/>
                <a:ea typeface="Calibri"/>
                <a:cs typeface="Calibri"/>
              </a:rPr>
              <a:t>tussenlaag</a:t>
            </a:r>
            <a:r>
              <a:rPr lang="en-US" dirty="0">
                <a:latin typeface="Calibri"/>
                <a:ea typeface="Calibri"/>
                <a:cs typeface="Calibri"/>
              </a:rPr>
              <a:t> die </a:t>
            </a:r>
            <a:r>
              <a:rPr lang="en-US" dirty="0" err="1">
                <a:latin typeface="Calibri"/>
                <a:ea typeface="Calibri"/>
                <a:cs typeface="Calibri"/>
              </a:rPr>
              <a:t>een</a:t>
            </a:r>
            <a:r>
              <a:rPr lang="en-US" dirty="0">
                <a:latin typeface="Calibri"/>
                <a:ea typeface="Calibri"/>
                <a:cs typeface="Calibri"/>
              </a:rPr>
              <a:t> developer </a:t>
            </a:r>
            <a:r>
              <a:rPr lang="en-US" dirty="0" err="1">
                <a:latin typeface="Calibri"/>
                <a:ea typeface="Calibri"/>
                <a:cs typeface="Calibri"/>
              </a:rPr>
              <a:t>heeft</a:t>
            </a:r>
            <a:r>
              <a:rPr lang="en-US" dirty="0">
                <a:latin typeface="Calibri"/>
                <a:ea typeface="Calibri"/>
                <a:cs typeface="Calibri"/>
              </a:rPr>
              <a:t> </a:t>
            </a:r>
            <a:r>
              <a:rPr lang="en-US" dirty="0" err="1">
                <a:latin typeface="Calibri"/>
                <a:ea typeface="Calibri"/>
                <a:cs typeface="Calibri"/>
              </a:rPr>
              <a:t>gemaakt</a:t>
            </a:r>
            <a:r>
              <a:rPr lang="en-US" dirty="0">
                <a:latin typeface="Calibri"/>
                <a:ea typeface="Calibri"/>
                <a:cs typeface="Calibri"/>
              </a:rPr>
              <a:t> om </a:t>
            </a:r>
            <a:r>
              <a:rPr lang="en-US" dirty="0" err="1">
                <a:latin typeface="Calibri"/>
                <a:ea typeface="Calibri"/>
                <a:cs typeface="Calibri"/>
              </a:rPr>
              <a:t>gegevens</a:t>
            </a:r>
            <a:r>
              <a:rPr lang="en-US" dirty="0">
                <a:latin typeface="Calibri"/>
                <a:ea typeface="Calibri"/>
                <a:cs typeface="Calibri"/>
              </a:rPr>
              <a:t> </a:t>
            </a:r>
            <a:r>
              <a:rPr lang="en-US" dirty="0" err="1">
                <a:latin typeface="Calibri"/>
                <a:ea typeface="Calibri"/>
                <a:cs typeface="Calibri"/>
              </a:rPr>
              <a:t>uit</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wisselen</a:t>
            </a:r>
            <a:r>
              <a:rPr lang="en-US" dirty="0">
                <a:latin typeface="Calibri"/>
                <a:ea typeface="Calibri"/>
                <a:cs typeface="Calibri"/>
              </a:rPr>
              <a:t> met </a:t>
            </a:r>
            <a:r>
              <a:rPr lang="en-US" dirty="0" err="1">
                <a:latin typeface="Calibri"/>
                <a:ea typeface="Calibri"/>
                <a:cs typeface="Calibri"/>
              </a:rPr>
              <a:t>andere</a:t>
            </a:r>
            <a:r>
              <a:rPr lang="en-US" dirty="0">
                <a:latin typeface="Calibri"/>
                <a:ea typeface="Calibri"/>
                <a:cs typeface="Calibri"/>
              </a:rPr>
              <a:t> </a:t>
            </a:r>
            <a:r>
              <a:rPr lang="en-US" dirty="0" err="1">
                <a:latin typeface="Calibri"/>
                <a:ea typeface="Calibri"/>
                <a:cs typeface="Calibri"/>
              </a:rPr>
              <a:t>applicaties</a:t>
            </a:r>
            <a:r>
              <a:rPr lang="en-US" dirty="0">
                <a:latin typeface="Calibri"/>
                <a:ea typeface="Calibri"/>
                <a:cs typeface="Calibri"/>
              </a:rPr>
              <a:t>.</a:t>
            </a:r>
          </a:p>
          <a:p>
            <a:endParaRPr lang="en-US" dirty="0">
              <a:latin typeface="Calibri"/>
              <a:ea typeface="Calibri"/>
              <a:cs typeface="Calibri"/>
            </a:endParaRPr>
          </a:p>
          <a:p>
            <a:r>
              <a:rPr lang="en-US" dirty="0">
                <a:latin typeface="Calibri"/>
                <a:ea typeface="Calibri"/>
                <a:cs typeface="Calibri"/>
              </a:rPr>
              <a:t>Als </a:t>
            </a:r>
            <a:r>
              <a:rPr lang="en-US" dirty="0" err="1">
                <a:latin typeface="Calibri"/>
                <a:ea typeface="Calibri"/>
                <a:cs typeface="Calibri"/>
              </a:rPr>
              <a:t>jij</a:t>
            </a:r>
            <a:r>
              <a:rPr lang="en-US" dirty="0">
                <a:latin typeface="Calibri"/>
                <a:ea typeface="Calibri"/>
                <a:cs typeface="Calibri"/>
              </a:rPr>
              <a:t> </a:t>
            </a:r>
            <a:r>
              <a:rPr lang="en-US" dirty="0" err="1">
                <a:latin typeface="Calibri"/>
                <a:ea typeface="Calibri"/>
                <a:cs typeface="Calibri"/>
              </a:rPr>
              <a:t>dus</a:t>
            </a:r>
            <a:r>
              <a:rPr lang="en-US" dirty="0">
                <a:latin typeface="Calibri"/>
                <a:ea typeface="Calibri"/>
                <a:cs typeface="Calibri"/>
              </a:rPr>
              <a:t> </a:t>
            </a:r>
            <a:r>
              <a:rPr lang="en-US" dirty="0" err="1">
                <a:latin typeface="Calibri"/>
                <a:ea typeface="Calibri"/>
                <a:cs typeface="Calibri"/>
              </a:rPr>
              <a:t>een</a:t>
            </a:r>
            <a:r>
              <a:rPr lang="en-US" dirty="0">
                <a:latin typeface="Calibri"/>
                <a:ea typeface="Calibri"/>
                <a:cs typeface="Calibri"/>
              </a:rPr>
              <a:t> </a:t>
            </a:r>
            <a:r>
              <a:rPr lang="en-US" dirty="0" err="1">
                <a:latin typeface="Calibri"/>
                <a:ea typeface="Calibri"/>
                <a:cs typeface="Calibri"/>
              </a:rPr>
              <a:t>applicatie</a:t>
            </a:r>
            <a:r>
              <a:rPr lang="en-US" dirty="0">
                <a:latin typeface="Calibri"/>
                <a:ea typeface="Calibri"/>
                <a:cs typeface="Calibri"/>
              </a:rPr>
              <a:t> </a:t>
            </a:r>
            <a:r>
              <a:rPr lang="en-US" dirty="0" err="1">
                <a:latin typeface="Calibri"/>
                <a:ea typeface="Calibri"/>
                <a:cs typeface="Calibri"/>
              </a:rPr>
              <a:t>maakt</a:t>
            </a:r>
            <a:r>
              <a:rPr lang="en-US" dirty="0">
                <a:latin typeface="Calibri"/>
                <a:ea typeface="Calibri"/>
                <a:cs typeface="Calibri"/>
              </a:rPr>
              <a:t> om je </a:t>
            </a:r>
            <a:r>
              <a:rPr lang="en-US" dirty="0" err="1">
                <a:latin typeface="Calibri"/>
                <a:ea typeface="Calibri"/>
                <a:cs typeface="Calibri"/>
              </a:rPr>
              <a:t>vrienden</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zoeken</a:t>
            </a:r>
            <a:r>
              <a:rPr lang="en-US" dirty="0">
                <a:latin typeface="Calibri"/>
                <a:ea typeface="Calibri"/>
                <a:cs typeface="Calibri"/>
              </a:rPr>
              <a:t>: dan is het </a:t>
            </a:r>
            <a:r>
              <a:rPr lang="en-US" dirty="0" err="1">
                <a:latin typeface="Calibri"/>
                <a:ea typeface="Calibri"/>
                <a:cs typeface="Calibri"/>
              </a:rPr>
              <a:t>handig</a:t>
            </a:r>
            <a:r>
              <a:rPr lang="en-US" dirty="0">
                <a:latin typeface="Calibri"/>
                <a:ea typeface="Calibri"/>
                <a:cs typeface="Calibri"/>
              </a:rPr>
              <a:t> om Facebook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gebruiken</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a:t>
            </a:r>
            <a:r>
              <a:rPr lang="en-US" dirty="0" err="1">
                <a:latin typeface="Calibri"/>
                <a:ea typeface="Calibri"/>
                <a:cs typeface="Calibri"/>
              </a:rPr>
              <a:t>contactenboek</a:t>
            </a:r>
            <a:r>
              <a:rPr lang="en-US" dirty="0">
                <a:latin typeface="Calibri"/>
                <a:ea typeface="Calibri"/>
                <a:cs typeface="Calibri"/>
              </a:rPr>
              <a:t>. Je </a:t>
            </a:r>
            <a:r>
              <a:rPr lang="en-US" dirty="0" err="1">
                <a:latin typeface="Calibri"/>
                <a:ea typeface="Calibri"/>
                <a:cs typeface="Calibri"/>
              </a:rPr>
              <a:t>kan</a:t>
            </a:r>
            <a:r>
              <a:rPr lang="en-US" dirty="0">
                <a:latin typeface="Calibri"/>
                <a:ea typeface="Calibri"/>
                <a:cs typeface="Calibri"/>
              </a:rPr>
              <a:t> </a:t>
            </a:r>
            <a:r>
              <a:rPr lang="en-US" dirty="0" err="1">
                <a:latin typeface="Calibri"/>
                <a:ea typeface="Calibri"/>
                <a:cs typeface="Calibri"/>
              </a:rPr>
              <a:t>dit</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combineren</a:t>
            </a:r>
            <a:r>
              <a:rPr lang="en-US" dirty="0">
                <a:latin typeface="Calibri"/>
                <a:ea typeface="Calibri"/>
                <a:cs typeface="Calibri"/>
              </a:rPr>
              <a:t>: </a:t>
            </a:r>
            <a:r>
              <a:rPr lang="en-US" dirty="0" err="1">
                <a:latin typeface="Calibri"/>
                <a:ea typeface="Calibri"/>
                <a:cs typeface="Calibri"/>
              </a:rPr>
              <a:t>bijvoorbeeld</a:t>
            </a:r>
            <a:r>
              <a:rPr lang="en-US" dirty="0">
                <a:latin typeface="Calibri"/>
                <a:ea typeface="Calibri"/>
                <a:cs typeface="Calibri"/>
              </a:rPr>
              <a:t> de Facebook API </a:t>
            </a:r>
            <a:r>
              <a:rPr lang="en-US" dirty="0" err="1">
                <a:latin typeface="Calibri"/>
                <a:ea typeface="Calibri"/>
                <a:cs typeface="Calibri"/>
              </a:rPr>
              <a:t>én</a:t>
            </a:r>
            <a:r>
              <a:rPr lang="en-US" dirty="0">
                <a:latin typeface="Calibri"/>
                <a:ea typeface="Calibri"/>
                <a:cs typeface="Calibri"/>
              </a:rPr>
              <a:t> de Snapchat API: je </a:t>
            </a:r>
            <a:r>
              <a:rPr lang="en-US" dirty="0" err="1">
                <a:latin typeface="Calibri"/>
                <a:ea typeface="Calibri"/>
                <a:cs typeface="Calibri"/>
              </a:rPr>
              <a:t>maakt</a:t>
            </a:r>
            <a:r>
              <a:rPr lang="en-US" dirty="0">
                <a:latin typeface="Calibri"/>
                <a:ea typeface="Calibri"/>
                <a:cs typeface="Calibri"/>
              </a:rPr>
              <a:t> </a:t>
            </a:r>
            <a:r>
              <a:rPr lang="en-US" dirty="0" err="1">
                <a:latin typeface="Calibri"/>
                <a:ea typeface="Calibri"/>
                <a:cs typeface="Calibri"/>
              </a:rPr>
              <a:t>meer</a:t>
            </a:r>
            <a:r>
              <a:rPr lang="en-US" dirty="0">
                <a:latin typeface="Calibri"/>
                <a:ea typeface="Calibri"/>
                <a:cs typeface="Calibri"/>
              </a:rPr>
              <a:t> </a:t>
            </a:r>
            <a:r>
              <a:rPr lang="en-US" dirty="0" err="1">
                <a:latin typeface="Calibri"/>
                <a:ea typeface="Calibri"/>
                <a:cs typeface="Calibri"/>
              </a:rPr>
              <a:t>kans</a:t>
            </a:r>
            <a:r>
              <a:rPr lang="en-US" dirty="0">
                <a:latin typeface="Calibri"/>
                <a:ea typeface="Calibri"/>
                <a:cs typeface="Calibri"/>
              </a:rPr>
              <a:t> om </a:t>
            </a:r>
            <a:r>
              <a:rPr lang="en-US" dirty="0" err="1">
                <a:latin typeface="Calibri"/>
                <a:ea typeface="Calibri"/>
                <a:cs typeface="Calibri"/>
              </a:rPr>
              <a:t>mensen</a:t>
            </a:r>
            <a:r>
              <a:rPr lang="en-US" dirty="0">
                <a:latin typeface="Calibri"/>
                <a:ea typeface="Calibri"/>
                <a:cs typeface="Calibri"/>
              </a:rPr>
              <a:t> </a:t>
            </a:r>
            <a:r>
              <a:rPr lang="en-US" dirty="0" err="1">
                <a:latin typeface="Calibri"/>
                <a:ea typeface="Calibri"/>
                <a:cs typeface="Calibri"/>
              </a:rPr>
              <a:t>te</a:t>
            </a:r>
            <a:r>
              <a:rPr lang="en-US" dirty="0">
                <a:latin typeface="Calibri"/>
                <a:ea typeface="Calibri"/>
                <a:cs typeface="Calibri"/>
              </a:rPr>
              <a:t> </a:t>
            </a:r>
            <a:r>
              <a:rPr lang="en-US" dirty="0" err="1">
                <a:latin typeface="Calibri"/>
                <a:ea typeface="Calibri"/>
                <a:cs typeface="Calibri"/>
              </a:rPr>
              <a:t>vinden</a:t>
            </a:r>
            <a:r>
              <a:rPr lang="en-US" dirty="0">
                <a:latin typeface="Calibri"/>
                <a:ea typeface="Calibri"/>
                <a:cs typeface="Calibri"/>
              </a:rPr>
              <a:t> die je </a:t>
            </a:r>
            <a:r>
              <a:rPr lang="en-US" dirty="0" err="1">
                <a:latin typeface="Calibri"/>
                <a:ea typeface="Calibri"/>
                <a:cs typeface="Calibri"/>
              </a:rPr>
              <a:t>zoekt</a:t>
            </a:r>
            <a:r>
              <a:rPr lang="en-US" dirty="0">
                <a:latin typeface="Calibri"/>
                <a:ea typeface="Calibri"/>
                <a:cs typeface="Calibri"/>
              </a:rPr>
              <a:t> (</a:t>
            </a:r>
            <a:r>
              <a:rPr lang="en-US" dirty="0" err="1">
                <a:latin typeface="Calibri"/>
                <a:ea typeface="Calibri"/>
                <a:cs typeface="Calibri"/>
              </a:rPr>
              <a:t>voor</a:t>
            </a:r>
            <a:r>
              <a:rPr lang="en-US" dirty="0">
                <a:latin typeface="Calibri"/>
                <a:ea typeface="Calibri"/>
                <a:cs typeface="Calibri"/>
              </a:rPr>
              <a:t> het </a:t>
            </a:r>
            <a:r>
              <a:rPr lang="en-US" dirty="0" err="1">
                <a:latin typeface="Calibri"/>
                <a:ea typeface="Calibri"/>
                <a:cs typeface="Calibri"/>
              </a:rPr>
              <a:t>geval</a:t>
            </a:r>
            <a:r>
              <a:rPr lang="en-US" dirty="0">
                <a:latin typeface="Calibri"/>
                <a:ea typeface="Calibri"/>
                <a:cs typeface="Calibri"/>
              </a:rPr>
              <a:t> </a:t>
            </a:r>
            <a:r>
              <a:rPr lang="en-US" dirty="0" err="1">
                <a:latin typeface="Calibri"/>
                <a:ea typeface="Calibri"/>
                <a:cs typeface="Calibri"/>
              </a:rPr>
              <a:t>dat</a:t>
            </a:r>
            <a:r>
              <a:rPr lang="en-US" dirty="0">
                <a:latin typeface="Calibri"/>
                <a:ea typeface="Calibri"/>
                <a:cs typeface="Calibri"/>
              </a:rPr>
              <a:t> ze </a:t>
            </a:r>
            <a:r>
              <a:rPr lang="en-US" dirty="0" err="1">
                <a:latin typeface="Calibri"/>
                <a:ea typeface="Calibri"/>
                <a:cs typeface="Calibri"/>
              </a:rPr>
              <a:t>geen</a:t>
            </a:r>
            <a:r>
              <a:rPr lang="en-US" dirty="0">
                <a:latin typeface="Calibri"/>
                <a:ea typeface="Calibri"/>
                <a:cs typeface="Calibri"/>
              </a:rPr>
              <a:t> account </a:t>
            </a:r>
            <a:r>
              <a:rPr lang="en-US" dirty="0" err="1">
                <a:latin typeface="Calibri"/>
                <a:ea typeface="Calibri"/>
                <a:cs typeface="Calibri"/>
              </a:rPr>
              <a:t>hebben</a:t>
            </a:r>
            <a:r>
              <a:rPr lang="en-US" dirty="0">
                <a:latin typeface="Calibri"/>
                <a:ea typeface="Calibri"/>
                <a:cs typeface="Calibri"/>
              </a:rPr>
              <a:t> op het platform).</a:t>
            </a:r>
          </a:p>
          <a:p>
            <a:endParaRPr lang="en-US" dirty="0">
              <a:latin typeface="Calibri"/>
              <a:ea typeface="Calibri"/>
              <a:cs typeface="Calibri"/>
            </a:endParaRPr>
          </a:p>
          <a:p>
            <a:r>
              <a:rPr lang="en-US" dirty="0">
                <a:latin typeface="Calibri"/>
                <a:ea typeface="Calibri"/>
                <a:cs typeface="Calibri"/>
              </a:rPr>
              <a:t>Een API </a:t>
            </a:r>
            <a:r>
              <a:rPr lang="en-US" dirty="0" err="1">
                <a:latin typeface="Calibri"/>
                <a:ea typeface="Calibri"/>
                <a:cs typeface="Calibri"/>
              </a:rPr>
              <a:t>binnen</a:t>
            </a:r>
            <a:r>
              <a:rPr lang="en-US" dirty="0">
                <a:latin typeface="Calibri"/>
                <a:ea typeface="Calibri"/>
                <a:cs typeface="Calibri"/>
              </a:rPr>
              <a:t> de </a:t>
            </a:r>
            <a:r>
              <a:rPr lang="en-US" dirty="0" err="1">
                <a:latin typeface="Calibri"/>
                <a:ea typeface="Calibri"/>
                <a:cs typeface="Calibri"/>
              </a:rPr>
              <a:t>webtoepassingen</a:t>
            </a:r>
            <a:r>
              <a:rPr lang="en-US" dirty="0">
                <a:latin typeface="Calibri"/>
                <a:ea typeface="Calibri"/>
                <a:cs typeface="Calibri"/>
              </a:rPr>
              <a:t> is </a:t>
            </a:r>
            <a:r>
              <a:rPr lang="en-US" dirty="0" err="1">
                <a:latin typeface="Calibri"/>
                <a:ea typeface="Calibri"/>
                <a:cs typeface="Calibri"/>
              </a:rPr>
              <a:t>aanroepbaar</a:t>
            </a:r>
            <a:r>
              <a:rPr lang="en-US" dirty="0">
                <a:latin typeface="Calibri"/>
                <a:ea typeface="Calibri"/>
                <a:cs typeface="Calibri"/>
              </a:rPr>
              <a:t> </a:t>
            </a:r>
            <a:r>
              <a:rPr lang="en-US" dirty="0" err="1">
                <a:latin typeface="Calibri"/>
                <a:ea typeface="Calibri"/>
                <a:cs typeface="Calibri"/>
              </a:rPr>
              <a:t>binnen</a:t>
            </a:r>
            <a:r>
              <a:rPr lang="en-US" dirty="0">
                <a:latin typeface="Calibri"/>
                <a:ea typeface="Calibri"/>
                <a:cs typeface="Calibri"/>
              </a:rPr>
              <a:t> </a:t>
            </a:r>
            <a:r>
              <a:rPr lang="en-US" dirty="0" err="1">
                <a:latin typeface="Calibri"/>
                <a:ea typeface="Calibri"/>
                <a:cs typeface="Calibri"/>
              </a:rPr>
              <a:t>alles</a:t>
            </a:r>
            <a:r>
              <a:rPr lang="en-US" dirty="0">
                <a:latin typeface="Calibri"/>
                <a:ea typeface="Calibri"/>
                <a:cs typeface="Calibri"/>
              </a:rPr>
              <a:t> wat </a:t>
            </a:r>
            <a:r>
              <a:rPr lang="en-US" dirty="0" err="1">
                <a:latin typeface="Calibri"/>
                <a:ea typeface="Calibri"/>
                <a:cs typeface="Calibri"/>
              </a:rPr>
              <a:t>bereikbaar</a:t>
            </a:r>
            <a:r>
              <a:rPr lang="en-US" dirty="0">
                <a:latin typeface="Calibri"/>
                <a:ea typeface="Calibri"/>
                <a:cs typeface="Calibri"/>
              </a:rPr>
              <a:t> is via HTTP protocol. Je </a:t>
            </a:r>
            <a:r>
              <a:rPr lang="en-US" dirty="0" err="1">
                <a:latin typeface="Calibri"/>
                <a:ea typeface="Calibri"/>
                <a:cs typeface="Calibri"/>
              </a:rPr>
              <a:t>moet</a:t>
            </a:r>
            <a:r>
              <a:rPr lang="en-US" dirty="0">
                <a:latin typeface="Calibri"/>
                <a:ea typeface="Calibri"/>
                <a:cs typeface="Calibri"/>
              </a:rPr>
              <a:t> het </a:t>
            </a:r>
            <a:r>
              <a:rPr lang="en-US" dirty="0" err="1">
                <a:latin typeface="Calibri"/>
                <a:ea typeface="Calibri"/>
                <a:cs typeface="Calibri"/>
              </a:rPr>
              <a:t>eindpunt</a:t>
            </a:r>
            <a:r>
              <a:rPr lang="en-US" dirty="0">
                <a:latin typeface="Calibri"/>
                <a:ea typeface="Calibri"/>
                <a:cs typeface="Calibri"/>
              </a:rPr>
              <a:t> </a:t>
            </a:r>
            <a:r>
              <a:rPr lang="en-US" dirty="0" err="1">
                <a:latin typeface="Calibri"/>
                <a:ea typeface="Calibri"/>
                <a:cs typeface="Calibri"/>
              </a:rPr>
              <a:t>ook</a:t>
            </a:r>
            <a:r>
              <a:rPr lang="en-US" dirty="0">
                <a:latin typeface="Calibri"/>
                <a:ea typeface="Calibri"/>
                <a:cs typeface="Calibri"/>
              </a:rPr>
              <a:t> </a:t>
            </a:r>
            <a:r>
              <a:rPr lang="en-US" dirty="0" err="1">
                <a:latin typeface="Calibri"/>
                <a:ea typeface="Calibri"/>
                <a:cs typeface="Calibri"/>
              </a:rPr>
              <a:t>kunnen</a:t>
            </a:r>
            <a:r>
              <a:rPr lang="en-US" dirty="0">
                <a:latin typeface="Calibri"/>
                <a:ea typeface="Calibri"/>
                <a:cs typeface="Calibri"/>
              </a:rPr>
              <a:t> </a:t>
            </a:r>
            <a:r>
              <a:rPr lang="en-US" dirty="0" err="1">
                <a:latin typeface="Calibri"/>
                <a:ea typeface="Calibri"/>
                <a:cs typeface="Calibri"/>
              </a:rPr>
              <a:t>bereiken</a:t>
            </a:r>
            <a:r>
              <a:rPr lang="en-US" dirty="0">
                <a:latin typeface="Calibri"/>
                <a:ea typeface="Calibri"/>
                <a:cs typeface="Calibri"/>
              </a:rPr>
              <a:t>: </a:t>
            </a:r>
            <a:r>
              <a:rPr lang="en-US" dirty="0" err="1">
                <a:latin typeface="Calibri"/>
                <a:ea typeface="Calibri"/>
                <a:cs typeface="Calibri"/>
              </a:rPr>
              <a:t>als</a:t>
            </a:r>
            <a:r>
              <a:rPr lang="en-US" dirty="0">
                <a:latin typeface="Calibri"/>
                <a:ea typeface="Calibri"/>
                <a:cs typeface="Calibri"/>
              </a:rPr>
              <a:t> de server plat </a:t>
            </a:r>
            <a:r>
              <a:rPr lang="en-US" dirty="0" err="1">
                <a:latin typeface="Calibri"/>
                <a:ea typeface="Calibri"/>
                <a:cs typeface="Calibri"/>
              </a:rPr>
              <a:t>ligt</a:t>
            </a:r>
            <a:r>
              <a:rPr lang="en-US" dirty="0">
                <a:latin typeface="Calibri"/>
                <a:ea typeface="Calibri"/>
                <a:cs typeface="Calibri"/>
              </a:rPr>
              <a:t>, of je </a:t>
            </a:r>
            <a:r>
              <a:rPr lang="en-US" dirty="0" err="1">
                <a:latin typeface="Calibri"/>
                <a:ea typeface="Calibri"/>
                <a:cs typeface="Calibri"/>
              </a:rPr>
              <a:t>hebt</a:t>
            </a:r>
            <a:r>
              <a:rPr lang="en-US" dirty="0">
                <a:latin typeface="Calibri"/>
                <a:ea typeface="Calibri"/>
                <a:cs typeface="Calibri"/>
              </a:rPr>
              <a:t> </a:t>
            </a:r>
            <a:r>
              <a:rPr lang="en-US" dirty="0" err="1">
                <a:latin typeface="Calibri"/>
                <a:ea typeface="Calibri"/>
                <a:cs typeface="Calibri"/>
              </a:rPr>
              <a:t>geen</a:t>
            </a:r>
            <a:r>
              <a:rPr lang="en-US" dirty="0">
                <a:latin typeface="Calibri"/>
                <a:ea typeface="Calibri"/>
                <a:cs typeface="Calibri"/>
              </a:rPr>
              <a:t> internet op het </a:t>
            </a:r>
            <a:r>
              <a:rPr lang="en-US" dirty="0" err="1">
                <a:latin typeface="Calibri"/>
                <a:ea typeface="Calibri"/>
                <a:cs typeface="Calibri"/>
              </a:rPr>
              <a:t>toestel</a:t>
            </a:r>
            <a:r>
              <a:rPr lang="en-US" dirty="0">
                <a:latin typeface="Calibri"/>
                <a:ea typeface="Calibri"/>
                <a:cs typeface="Calibri"/>
              </a:rPr>
              <a:t> </a:t>
            </a:r>
            <a:r>
              <a:rPr lang="en-US" dirty="0" err="1">
                <a:latin typeface="Calibri"/>
                <a:ea typeface="Calibri"/>
                <a:cs typeface="Calibri"/>
              </a:rPr>
              <a:t>waarop</a:t>
            </a:r>
            <a:r>
              <a:rPr lang="en-US" dirty="0">
                <a:latin typeface="Calibri"/>
                <a:ea typeface="Calibri"/>
                <a:cs typeface="Calibri"/>
              </a:rPr>
              <a:t> je </a:t>
            </a:r>
            <a:r>
              <a:rPr lang="en-US" dirty="0" err="1">
                <a:latin typeface="Calibri"/>
                <a:ea typeface="Calibri"/>
                <a:cs typeface="Calibri"/>
              </a:rPr>
              <a:t>een</a:t>
            </a:r>
            <a:r>
              <a:rPr lang="en-US" dirty="0">
                <a:latin typeface="Calibri"/>
                <a:ea typeface="Calibri"/>
                <a:cs typeface="Calibri"/>
              </a:rPr>
              <a:t> API request </a:t>
            </a:r>
            <a:r>
              <a:rPr lang="en-US" dirty="0" err="1">
                <a:latin typeface="Calibri"/>
                <a:ea typeface="Calibri"/>
                <a:cs typeface="Calibri"/>
              </a:rPr>
              <a:t>maakt</a:t>
            </a:r>
            <a:r>
              <a:rPr lang="en-US" dirty="0">
                <a:latin typeface="Calibri"/>
                <a:ea typeface="Calibri"/>
                <a:cs typeface="Calibri"/>
              </a:rPr>
              <a:t>: dan </a:t>
            </a:r>
            <a:r>
              <a:rPr lang="en-US" dirty="0" err="1">
                <a:latin typeface="Calibri"/>
                <a:ea typeface="Calibri"/>
                <a:cs typeface="Calibri"/>
              </a:rPr>
              <a:t>mislukt</a:t>
            </a:r>
            <a:r>
              <a:rPr lang="en-US" dirty="0">
                <a:latin typeface="Calibri"/>
                <a:ea typeface="Calibri"/>
                <a:cs typeface="Calibri"/>
              </a:rPr>
              <a:t> deze.</a:t>
            </a:r>
          </a:p>
        </p:txBody>
      </p:sp>
      <p:sp>
        <p:nvSpPr>
          <p:cNvPr id="4" name="Tijdelijke aanduiding voor dianummer 3">
            <a:extLst>
              <a:ext uri="{FF2B5EF4-FFF2-40B4-BE49-F238E27FC236}">
                <a16:creationId xmlns:a16="http://schemas.microsoft.com/office/drawing/2014/main" id="{E5C562AF-BF8D-ADF5-A7EC-48F9BE409D12}"/>
              </a:ext>
            </a:extLst>
          </p:cNvPr>
          <p:cNvSpPr>
            <a:spLocks noGrp="1"/>
          </p:cNvSpPr>
          <p:nvPr>
            <p:ph type="sldNum" sz="quarter" idx="5"/>
          </p:nvPr>
        </p:nvSpPr>
        <p:spPr/>
        <p:txBody>
          <a:bodyPr/>
          <a:lstStyle/>
          <a:p>
            <a:fld id="{39DBD449-D42A-4711-8837-53EC15580D9C}" type="slidenum">
              <a:rPr lang="nl-BE" smtClean="0"/>
              <a:t>3</a:t>
            </a:fld>
            <a:endParaRPr lang="nl-BE"/>
          </a:p>
        </p:txBody>
      </p:sp>
    </p:spTree>
    <p:extLst>
      <p:ext uri="{BB962C8B-B14F-4D97-AF65-F5344CB8AC3E}">
        <p14:creationId xmlns:p14="http://schemas.microsoft.com/office/powerpoint/2010/main" val="3257331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3B55E-F384-3346-9D31-E8B7123F5263}"/>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AAB5098-42BE-D401-BBD2-3842E3F4E93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EE397478-9C48-B92A-FF6E-08E1953502F1}"/>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929D769E-B26B-DBE5-0148-598E0463C603}"/>
              </a:ext>
            </a:extLst>
          </p:cNvPr>
          <p:cNvSpPr>
            <a:spLocks noGrp="1"/>
          </p:cNvSpPr>
          <p:nvPr>
            <p:ph type="sldNum" sz="quarter" idx="5"/>
          </p:nvPr>
        </p:nvSpPr>
        <p:spPr/>
        <p:txBody>
          <a:bodyPr/>
          <a:lstStyle/>
          <a:p>
            <a:fld id="{39DBD449-D42A-4711-8837-53EC15580D9C}" type="slidenum">
              <a:rPr lang="nl-BE" smtClean="0"/>
              <a:t>4</a:t>
            </a:fld>
            <a:endParaRPr lang="nl-BE"/>
          </a:p>
        </p:txBody>
      </p:sp>
    </p:spTree>
    <p:extLst>
      <p:ext uri="{BB962C8B-B14F-4D97-AF65-F5344CB8AC3E}">
        <p14:creationId xmlns:p14="http://schemas.microsoft.com/office/powerpoint/2010/main" val="15866522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83350823"/>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988315195"/>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3/2/2026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7176809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56534951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3/2/2026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52784955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734024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401280066"/>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027183594"/>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3/2/2026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116122218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3/2/2026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336729628"/>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3/2/2026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‹nr.›</a:t>
            </a:fld>
            <a:endParaRPr lang="en-US"/>
          </a:p>
        </p:txBody>
      </p:sp>
    </p:spTree>
    <p:extLst>
      <p:ext uri="{BB962C8B-B14F-4D97-AF65-F5344CB8AC3E}">
        <p14:creationId xmlns:p14="http://schemas.microsoft.com/office/powerpoint/2010/main" val="241145875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‹nr.›</a:t>
            </a:fld>
            <a:endParaRPr lang="en-US"/>
          </a:p>
        </p:txBody>
      </p:sp>
    </p:spTree>
    <p:extLst>
      <p:ext uri="{BB962C8B-B14F-4D97-AF65-F5344CB8AC3E}">
        <p14:creationId xmlns:p14="http://schemas.microsoft.com/office/powerpoint/2010/main" val="3456864172"/>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EbbDrop/SmarterSmartchoo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school_naam.smartschool.be/results/api/v1/evaluation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546DA711-7BD0-BB8C-2A0C-0814AB4FBDF5}"/>
              </a:ext>
            </a:extLst>
          </p:cNvPr>
          <p:cNvSpPr>
            <a:spLocks noGrp="1"/>
          </p:cNvSpPr>
          <p:nvPr>
            <p:ph type="ctrTitle"/>
          </p:nvPr>
        </p:nvSpPr>
        <p:spPr>
          <a:xfrm>
            <a:off x="7168896" y="1361467"/>
            <a:ext cx="4465597" cy="3381869"/>
          </a:xfrm>
        </p:spPr>
        <p:txBody>
          <a:bodyPr vert="horz" lIns="91440" tIns="45720" rIns="91440" bIns="45720" rtlCol="0" anchor="b">
            <a:noAutofit/>
          </a:bodyPr>
          <a:lstStyle/>
          <a:p>
            <a:pPr algn="l"/>
            <a:r>
              <a:rPr lang="nl-BE" sz="3500" b="0" dirty="0"/>
              <a:t>Webdesign:</a:t>
            </a:r>
            <a:r>
              <a:rPr lang="nl-BE" sz="3500" dirty="0"/>
              <a:t> </a:t>
            </a:r>
            <a:r>
              <a:rPr lang="nl-BE" sz="3500" b="0" dirty="0">
                <a:solidFill>
                  <a:schemeClr val="accent3"/>
                </a:solidFill>
              </a:rPr>
              <a:t>Dynamische Websites</a:t>
            </a:r>
            <a:br>
              <a:rPr lang="nl-BE" sz="3500" b="0" dirty="0"/>
            </a:br>
            <a:br>
              <a:rPr lang="nl-BE" sz="3500" b="0" dirty="0"/>
            </a:br>
            <a:r>
              <a:rPr lang="nl-BE" sz="3500" dirty="0">
                <a:solidFill>
                  <a:schemeClr val="accent3"/>
                </a:solidFill>
              </a:rPr>
              <a:t>H4 Application Programming </a:t>
            </a:r>
            <a:r>
              <a:rPr lang="nl-BE" sz="3500">
                <a:solidFill>
                  <a:schemeClr val="accent3"/>
                </a:solidFill>
              </a:rPr>
              <a:t>Interfaces</a:t>
            </a:r>
            <a:endParaRPr lang="nl-BE" sz="3500" dirty="0">
              <a:solidFill>
                <a:schemeClr val="accent3"/>
              </a:solidFill>
            </a:endParaRPr>
          </a:p>
        </p:txBody>
      </p:sp>
      <p:sp>
        <p:nvSpPr>
          <p:cNvPr id="3" name="Ondertitel 2">
            <a:extLst>
              <a:ext uri="{FF2B5EF4-FFF2-40B4-BE49-F238E27FC236}">
                <a16:creationId xmlns:a16="http://schemas.microsoft.com/office/drawing/2014/main" id="{B9F38A38-247B-CA6E-A49D-55F15E60FA51}"/>
              </a:ext>
            </a:extLst>
          </p:cNvPr>
          <p:cNvSpPr>
            <a:spLocks noGrp="1"/>
          </p:cNvSpPr>
          <p:nvPr>
            <p:ph type="subTitle" idx="1"/>
          </p:nvPr>
        </p:nvSpPr>
        <p:spPr>
          <a:xfrm>
            <a:off x="7168896" y="4754016"/>
            <a:ext cx="4597136" cy="1636917"/>
          </a:xfrm>
        </p:spPr>
        <p:txBody>
          <a:bodyPr vert="horz" lIns="91440" tIns="45720" rIns="91440" bIns="45720" rtlCol="0" anchor="t">
            <a:normAutofit fontScale="70000" lnSpcReduction="20000"/>
          </a:bodyPr>
          <a:lstStyle/>
          <a:p>
            <a:pPr algn="l"/>
            <a:r>
              <a:rPr lang="nl-BE"/>
              <a:t>Met PHP</a:t>
            </a:r>
          </a:p>
          <a:p>
            <a:pPr algn="l"/>
            <a:endParaRPr lang="nl-BE"/>
          </a:p>
          <a:p>
            <a:pPr algn="l"/>
            <a:r>
              <a:rPr lang="nl-BE"/>
              <a:t>2025-2026</a:t>
            </a:r>
          </a:p>
          <a:p>
            <a:pPr algn="l"/>
            <a:r>
              <a:rPr lang="nl-BE"/>
              <a:t>Jarne Verlinden – 6icw</a:t>
            </a:r>
          </a:p>
          <a:p>
            <a:pPr algn="l"/>
            <a:r>
              <a:rPr lang="nl-BE"/>
              <a:t>(https://github.com/Jarnster)</a:t>
            </a:r>
          </a:p>
        </p:txBody>
      </p:sp>
      <p:sp>
        <p:nvSpPr>
          <p:cNvPr id="4" name="Tekstvak 3">
            <a:extLst>
              <a:ext uri="{FF2B5EF4-FFF2-40B4-BE49-F238E27FC236}">
                <a16:creationId xmlns:a16="http://schemas.microsoft.com/office/drawing/2014/main" id="{85895E27-575A-AEC4-37EC-5F4FFEB01E62}"/>
              </a:ext>
            </a:extLst>
          </p:cNvPr>
          <p:cNvSpPr txBox="1"/>
          <p:nvPr/>
        </p:nvSpPr>
        <p:spPr>
          <a:xfrm>
            <a:off x="6731393" y="147903"/>
            <a:ext cx="502990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NL" sz="1200" b="1" i="1">
                <a:solidFill>
                  <a:srgbClr val="FF0000"/>
                </a:solidFill>
                <a:ea typeface="+mn-lt"/>
                <a:cs typeface="+mn-lt"/>
              </a:rPr>
              <a:t>Disclaimer:</a:t>
            </a:r>
            <a:r>
              <a:rPr lang="nl-NL" sz="1200" i="1">
                <a:ea typeface="+mn-lt"/>
                <a:cs typeface="+mn-lt"/>
              </a:rPr>
              <a:t> Sommige afbeeldingen en diagrammen in deze presentatie zijn afkomstig van het internet en zijn niet door mijzelf gemaakt. Alle rechten behoren toe aan de respectieve eigenaars. Deze presentatie is uitsluitend bedoeld voor educatief gebruik.</a:t>
            </a:r>
            <a:endParaRPr lang="nl-NL" sz="1200" i="1"/>
          </a:p>
        </p:txBody>
      </p:sp>
      <p:pic>
        <p:nvPicPr>
          <p:cNvPr id="6" name="Afbeelding 5" descr="Database - Overview, Roles and Components, DBMS">
            <a:extLst>
              <a:ext uri="{FF2B5EF4-FFF2-40B4-BE49-F238E27FC236}">
                <a16:creationId xmlns:a16="http://schemas.microsoft.com/office/drawing/2014/main" id="{00E33693-A3BD-A5DB-9617-7C34F7DDD589}"/>
              </a:ext>
            </a:extLst>
          </p:cNvPr>
          <p:cNvPicPr>
            <a:picLocks noChangeAspect="1"/>
          </p:cNvPicPr>
          <p:nvPr/>
        </p:nvPicPr>
        <p:blipFill>
          <a:blip r:embed="rId3"/>
          <a:srcRect l="8324" r="17815" b="-1"/>
          <a:stretch>
            <a:fillRect/>
          </a:stretch>
        </p:blipFill>
        <p:spPr>
          <a:xfrm>
            <a:off x="-1752" y="1"/>
            <a:ext cx="6723681" cy="6858000"/>
          </a:xfrm>
          <a:prstGeom prst="rect">
            <a:avLst/>
          </a:prstGeom>
        </p:spPr>
      </p:pic>
    </p:spTree>
    <p:extLst>
      <p:ext uri="{BB962C8B-B14F-4D97-AF65-F5344CB8AC3E}">
        <p14:creationId xmlns:p14="http://schemas.microsoft.com/office/powerpoint/2010/main" val="2297990671"/>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7694A73-250F-5B68-3E87-0A401AB44577}"/>
              </a:ext>
            </a:extLst>
          </p:cNvPr>
          <p:cNvSpPr>
            <a:spLocks noGrp="1"/>
          </p:cNvSpPr>
          <p:nvPr>
            <p:ph type="title"/>
          </p:nvPr>
        </p:nvSpPr>
        <p:spPr/>
        <p:txBody>
          <a:bodyPr/>
          <a:lstStyle/>
          <a:p>
            <a:r>
              <a:rPr lang="nl-NL"/>
              <a:t>API?</a:t>
            </a:r>
          </a:p>
        </p:txBody>
      </p:sp>
      <p:sp>
        <p:nvSpPr>
          <p:cNvPr id="3" name="Tijdelijke aanduiding voor inhoud 2">
            <a:extLst>
              <a:ext uri="{FF2B5EF4-FFF2-40B4-BE49-F238E27FC236}">
                <a16:creationId xmlns:a16="http://schemas.microsoft.com/office/drawing/2014/main" id="{14E83AB8-F25E-C41D-87C7-D90ADE497B3C}"/>
              </a:ext>
            </a:extLst>
          </p:cNvPr>
          <p:cNvSpPr>
            <a:spLocks noGrp="1"/>
          </p:cNvSpPr>
          <p:nvPr>
            <p:ph idx="1"/>
          </p:nvPr>
        </p:nvSpPr>
        <p:spPr/>
        <p:txBody>
          <a:bodyPr vert="horz" lIns="91440" tIns="45720" rIns="91440" bIns="45720" rtlCol="0" anchor="t">
            <a:normAutofit/>
          </a:bodyPr>
          <a:lstStyle/>
          <a:p>
            <a:pPr marL="0" indent="0">
              <a:buNone/>
            </a:pPr>
            <a:r>
              <a:rPr lang="nl-NL" b="1"/>
              <a:t>Doel: Externe gegevens aanbieden of ophalen</a:t>
            </a:r>
            <a:endParaRPr lang="nl-NL" b="1" dirty="0"/>
          </a:p>
          <a:p>
            <a:pPr marL="0" indent="0">
              <a:buNone/>
            </a:pPr>
            <a:r>
              <a:rPr lang="nl-NL" dirty="0"/>
              <a:t>Een dienst host een webpagina (bijvoorbeeld met PHP) die informatie teruggeeft op </a:t>
            </a:r>
            <a:r>
              <a:rPr lang="nl-NL"/>
              <a:t>basis van het verzoek: deze webpagina die dient als een API: noemen we een "endpoint"</a:t>
            </a:r>
          </a:p>
          <a:p>
            <a:pPr marL="0" indent="0">
              <a:buNone/>
            </a:pPr>
            <a:r>
              <a:rPr lang="nl-NL"/>
              <a:t>Voorbeeld fictief endpoint: </a:t>
            </a:r>
            <a:r>
              <a:rPr lang="nl-NL" i="1" dirty="0"/>
              <a:t>https://facebook.com/api/search_people.php?limit=500&amp;firstname=Mark&amp;city=Brusssels</a:t>
            </a:r>
            <a:endParaRPr lang="nl-NL" dirty="0"/>
          </a:p>
          <a:p>
            <a:pPr marL="0" indent="0">
              <a:buNone/>
            </a:pPr>
            <a:r>
              <a:rPr lang="nl-NL"/>
              <a:t>Aanroepbaar via het HTTP-protocol.</a:t>
            </a:r>
          </a:p>
          <a:p>
            <a:pPr marL="0" indent="0">
              <a:buNone/>
            </a:pPr>
            <a:r>
              <a:rPr lang="nl-NL" b="1"/>
              <a:t>Hoe API aanroepen?</a:t>
            </a:r>
            <a:endParaRPr lang="nl-NL"/>
          </a:p>
          <a:p>
            <a:pPr marL="0" indent="0">
              <a:buNone/>
            </a:pPr>
            <a:r>
              <a:rPr lang="nl-NL"/>
              <a:t>Kan binnen alles wat HTTP requests kan maken én het eindpunt kan bereiken.</a:t>
            </a:r>
            <a:endParaRPr lang="nl-NL" b="1" dirty="0"/>
          </a:p>
          <a:p>
            <a:pPr marL="0" indent="0">
              <a:buNone/>
            </a:pPr>
            <a:endParaRPr lang="nl-NL" b="1" dirty="0"/>
          </a:p>
          <a:p>
            <a:pPr marL="0" indent="0">
              <a:buNone/>
            </a:pPr>
            <a:endParaRPr lang="nl-NL" dirty="0"/>
          </a:p>
        </p:txBody>
      </p:sp>
    </p:spTree>
    <p:extLst>
      <p:ext uri="{BB962C8B-B14F-4D97-AF65-F5344CB8AC3E}">
        <p14:creationId xmlns:p14="http://schemas.microsoft.com/office/powerpoint/2010/main" val="3677459880"/>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832A6-D17A-7922-AC4E-7A9C4E7738F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94D8369-41B1-50CD-8C01-EDAA8E417E97}"/>
              </a:ext>
            </a:extLst>
          </p:cNvPr>
          <p:cNvSpPr>
            <a:spLocks noGrp="1"/>
          </p:cNvSpPr>
          <p:nvPr>
            <p:ph type="title"/>
          </p:nvPr>
        </p:nvSpPr>
        <p:spPr/>
        <p:txBody>
          <a:bodyPr/>
          <a:lstStyle/>
          <a:p>
            <a:r>
              <a:rPr lang="nl-NL"/>
              <a:t>SmarterSmartschool-extensie</a:t>
            </a:r>
            <a:endParaRPr lang="nl-NL" dirty="0"/>
          </a:p>
        </p:txBody>
      </p:sp>
      <p:sp>
        <p:nvSpPr>
          <p:cNvPr id="3" name="Tijdelijke aanduiding voor inhoud 2">
            <a:extLst>
              <a:ext uri="{FF2B5EF4-FFF2-40B4-BE49-F238E27FC236}">
                <a16:creationId xmlns:a16="http://schemas.microsoft.com/office/drawing/2014/main" id="{6369D60A-957D-9D74-E0D6-26AE91CF291B}"/>
              </a:ext>
            </a:extLst>
          </p:cNvPr>
          <p:cNvSpPr>
            <a:spLocks noGrp="1"/>
          </p:cNvSpPr>
          <p:nvPr>
            <p:ph idx="1"/>
          </p:nvPr>
        </p:nvSpPr>
        <p:spPr>
          <a:xfrm>
            <a:off x="612647" y="1695740"/>
            <a:ext cx="10653579" cy="4846178"/>
          </a:xfrm>
        </p:spPr>
        <p:txBody>
          <a:bodyPr vert="horz" lIns="91440" tIns="45720" rIns="91440" bIns="45720" rtlCol="0" anchor="t">
            <a:normAutofit fontScale="92500" lnSpcReduction="10000"/>
          </a:bodyPr>
          <a:lstStyle/>
          <a:p>
            <a:pPr marL="0" indent="0">
              <a:buNone/>
            </a:pPr>
            <a:r>
              <a:rPr lang="nl-NL" b="1"/>
              <a:t>Dit is een populaire extensie.</a:t>
            </a:r>
            <a:endParaRPr lang="nl-NL" b="1" dirty="0"/>
          </a:p>
          <a:p>
            <a:pPr marL="0" indent="0">
              <a:buNone/>
            </a:pPr>
            <a:r>
              <a:rPr lang="nl-NL" b="1"/>
              <a:t>Ook dit maakt gebruik van een API.</a:t>
            </a:r>
            <a:endParaRPr lang="nl-NL" b="1" dirty="0"/>
          </a:p>
          <a:p>
            <a:pPr marL="0" indent="0">
              <a:buNone/>
            </a:pPr>
            <a:r>
              <a:rPr lang="nl-NL" dirty="0">
                <a:ea typeface="+mn-lt"/>
                <a:cs typeface="+mn-lt"/>
                <a:hlinkClick r:id="rId3"/>
              </a:rPr>
              <a:t>https://github.com/EbbDrop/SmarterSmartchool</a:t>
            </a:r>
            <a:endParaRPr lang="nl-NL">
              <a:ea typeface="+mn-lt"/>
              <a:cs typeface="+mn-lt"/>
            </a:endParaRPr>
          </a:p>
          <a:p>
            <a:pPr marL="0" indent="0">
              <a:buNone/>
            </a:pPr>
            <a:r>
              <a:rPr lang="nl-NL">
                <a:ea typeface="+mn-lt"/>
                <a:cs typeface="+mn-lt"/>
              </a:rPr>
              <a:t>Probeer gerust zelf in een aangemelde browser: </a:t>
            </a:r>
            <a:r>
              <a:rPr lang="nl-NL" dirty="0">
                <a:ea typeface="+mn-lt"/>
                <a:cs typeface="+mn-lt"/>
                <a:hlinkClick r:id="rId4"/>
              </a:rPr>
              <a:t>https://school_naam.smartschool.be/results/api/v1/evaluations</a:t>
            </a:r>
          </a:p>
          <a:p>
            <a:pPr marL="0" indent="0">
              <a:buNone/>
            </a:pPr>
            <a:endParaRPr lang="nl-NL" dirty="0">
              <a:ea typeface="+mn-lt"/>
              <a:cs typeface="+mn-lt"/>
            </a:endParaRPr>
          </a:p>
          <a:p>
            <a:pPr marL="0" indent="0">
              <a:buNone/>
            </a:pPr>
            <a:endParaRPr lang="nl-NL" dirty="0">
              <a:ea typeface="+mn-lt"/>
              <a:cs typeface="+mn-lt"/>
            </a:endParaRPr>
          </a:p>
          <a:p>
            <a:pPr marL="0" indent="0">
              <a:buNone/>
            </a:pPr>
            <a:endParaRPr lang="nl-NL" dirty="0">
              <a:ea typeface="+mn-lt"/>
              <a:cs typeface="+mn-lt"/>
            </a:endParaRPr>
          </a:p>
          <a:p>
            <a:pPr marL="0" indent="0">
              <a:buNone/>
            </a:pPr>
            <a:r>
              <a:rPr lang="nl-NL" dirty="0">
                <a:ea typeface="+mn-lt"/>
                <a:cs typeface="+mn-lt"/>
              </a:rPr>
              <a:t>Hoe vond de developer van SmarterSmartschool deze specifieke URL? Simpel! CTRL + SHIFT + I opent de devtools, vervolgens: Network, vervolgens duid je vb. een vak aan of </a:t>
            </a:r>
            <a:r>
              <a:rPr lang="nl-NL">
                <a:ea typeface="+mn-lt"/>
                <a:cs typeface="+mn-lt"/>
              </a:rPr>
              <a:t>je refresht: je ziet een lijst met netwerkverzoeken vanuit browser: dus ook je resultaten uit de Smartschool API.</a:t>
            </a:r>
            <a:endParaRPr lang="nl-NL" dirty="0">
              <a:ea typeface="+mn-lt"/>
              <a:cs typeface="+mn-lt"/>
            </a:endParaRPr>
          </a:p>
          <a:p>
            <a:pPr marL="0" indent="0">
              <a:buNone/>
            </a:pPr>
            <a:endParaRPr lang="nl-NL" dirty="0">
              <a:ea typeface="+mn-lt"/>
              <a:cs typeface="+mn-lt"/>
            </a:endParaRPr>
          </a:p>
        </p:txBody>
      </p:sp>
      <p:pic>
        <p:nvPicPr>
          <p:cNvPr id="4" name="Afbeelding 3" descr="Afbeelding met tekst, schermopname, Lettertype&#10;&#10;Door AI gegenereerde inhoud is mogelijk onjuist.">
            <a:extLst>
              <a:ext uri="{FF2B5EF4-FFF2-40B4-BE49-F238E27FC236}">
                <a16:creationId xmlns:a16="http://schemas.microsoft.com/office/drawing/2014/main" id="{3FC83537-9227-66BC-AC54-B76FB6E6283C}"/>
              </a:ext>
            </a:extLst>
          </p:cNvPr>
          <p:cNvPicPr>
            <a:picLocks noChangeAspect="1"/>
          </p:cNvPicPr>
          <p:nvPr/>
        </p:nvPicPr>
        <p:blipFill>
          <a:blip r:embed="rId5"/>
          <a:stretch>
            <a:fillRect/>
          </a:stretch>
        </p:blipFill>
        <p:spPr>
          <a:xfrm>
            <a:off x="613559" y="3770038"/>
            <a:ext cx="8263248" cy="1242717"/>
          </a:xfrm>
          <a:prstGeom prst="rect">
            <a:avLst/>
          </a:prstGeom>
        </p:spPr>
      </p:pic>
    </p:spTree>
    <p:extLst>
      <p:ext uri="{BB962C8B-B14F-4D97-AF65-F5344CB8AC3E}">
        <p14:creationId xmlns:p14="http://schemas.microsoft.com/office/powerpoint/2010/main" val="2784823820"/>
      </p:ext>
    </p:extLst>
  </p:cSld>
  <p:clrMapOvr>
    <a:masterClrMapping/>
  </p:clrMapOvr>
  <mc:AlternateContent xmlns:mc="http://schemas.openxmlformats.org/markup-compatibility/2006">
    <mc:Choice xmlns:p14="http://schemas.microsoft.com/office/powerpoint/2010/main" Requires="p14">
      <p:transition spd="slow" p14:dur="4000">
        <p14:vortex dir="u"/>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AEC67-4F42-CDBA-F3A8-1C5D66CA353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19BD527-236C-A155-6AA2-2BF14B2A10EB}"/>
              </a:ext>
            </a:extLst>
          </p:cNvPr>
          <p:cNvSpPr>
            <a:spLocks noGrp="1"/>
          </p:cNvSpPr>
          <p:nvPr>
            <p:ph type="title"/>
          </p:nvPr>
        </p:nvSpPr>
        <p:spPr/>
        <p:txBody>
          <a:bodyPr/>
          <a:lstStyle/>
          <a:p>
            <a:r>
              <a:rPr lang="nl-NL"/>
              <a:t>Opdracht: Verzin een onderwerp</a:t>
            </a:r>
          </a:p>
        </p:txBody>
      </p:sp>
      <p:sp>
        <p:nvSpPr>
          <p:cNvPr id="3" name="Tijdelijke aanduiding voor inhoud 2">
            <a:extLst>
              <a:ext uri="{FF2B5EF4-FFF2-40B4-BE49-F238E27FC236}">
                <a16:creationId xmlns:a16="http://schemas.microsoft.com/office/drawing/2014/main" id="{4401C6EE-2DDA-3228-B51D-EF72E8ED003E}"/>
              </a:ext>
            </a:extLst>
          </p:cNvPr>
          <p:cNvSpPr>
            <a:spLocks noGrp="1"/>
          </p:cNvSpPr>
          <p:nvPr>
            <p:ph idx="1"/>
          </p:nvPr>
        </p:nvSpPr>
        <p:spPr/>
        <p:txBody>
          <a:bodyPr vert="horz" lIns="91440" tIns="45720" rIns="91440" bIns="45720" rtlCol="0" anchor="t">
            <a:normAutofit fontScale="92500"/>
          </a:bodyPr>
          <a:lstStyle/>
          <a:p>
            <a:pPr marL="0" indent="0">
              <a:buNone/>
            </a:pPr>
            <a:r>
              <a:rPr lang="nl-NL"/>
              <a:t>Bedenk een concept waarvoor je een API (of een combinatie van API's) kan gebruiken.</a:t>
            </a:r>
          </a:p>
          <a:p>
            <a:pPr marL="0" indent="0">
              <a:buNone/>
            </a:pPr>
            <a:r>
              <a:rPr lang="nl-NL"/>
              <a:t>Je mag deze ook uitwerken in een webapplicatie.</a:t>
            </a:r>
            <a:endParaRPr lang="nl-NL" dirty="0"/>
          </a:p>
          <a:p>
            <a:pPr marL="0" indent="0">
              <a:buNone/>
            </a:pPr>
            <a:r>
              <a:rPr lang="nl-NL"/>
              <a:t>Tip: Om een API verzoek op te stellen, en het resultaat op te halen binnen PHP – heb je nodig:</a:t>
            </a:r>
            <a:endParaRPr lang="nl-NL" dirty="0"/>
          </a:p>
          <a:p>
            <a:pPr marL="0" indent="0">
              <a:buNone/>
            </a:pPr>
            <a:endParaRPr lang="nl-NL" dirty="0"/>
          </a:p>
          <a:p>
            <a:pPr marL="342900" indent="-342900">
              <a:buFont typeface="Calibri" panose="020B0604020202020204" pitchFamily="34" charset="0"/>
              <a:buChar char="-"/>
            </a:pPr>
            <a:r>
              <a:rPr lang="nl-NL"/>
              <a:t>file_get_contents(string $url)</a:t>
            </a:r>
            <a:endParaRPr lang="nl-NL" dirty="0"/>
          </a:p>
          <a:p>
            <a:pPr marL="0" indent="0">
              <a:buNone/>
            </a:pPr>
            <a:r>
              <a:rPr lang="nl-NL" dirty="0"/>
              <a:t>Vaak geeft een API endpoint het resultaat terug in een JSON structuur (als string): om </a:t>
            </a:r>
            <a:r>
              <a:rPr lang="nl-NL"/>
              <a:t>deze in bruikbare PHP-waarden om te zetten: json_decode($result_of_file_get_contents)</a:t>
            </a:r>
            <a:endParaRPr lang="nl-NL" dirty="0"/>
          </a:p>
          <a:p>
            <a:pPr marL="0" indent="0">
              <a:buNone/>
            </a:pPr>
            <a:endParaRPr lang="nl-NL" dirty="0"/>
          </a:p>
          <a:p>
            <a:pPr marL="0" indent="0">
              <a:buNone/>
            </a:pPr>
            <a:r>
              <a:rPr lang="nl-NL" dirty="0"/>
              <a:t>Er zijn veel API's voor veel onderwerpen: sportwedstrijden, grapjes, quizvragen, en zelfs </a:t>
            </a:r>
            <a:r>
              <a:rPr lang="nl-NL"/>
              <a:t>Smartschool-resultaten (ook hoe SmarterSmartschool-extensie werkt)</a:t>
            </a:r>
            <a:endParaRPr lang="nl-NL" dirty="0"/>
          </a:p>
          <a:p>
            <a:pPr marL="0" indent="0">
              <a:buNone/>
            </a:pPr>
            <a:endParaRPr lang="nl-NL" dirty="0"/>
          </a:p>
        </p:txBody>
      </p:sp>
    </p:spTree>
    <p:extLst>
      <p:ext uri="{BB962C8B-B14F-4D97-AF65-F5344CB8AC3E}">
        <p14:creationId xmlns:p14="http://schemas.microsoft.com/office/powerpoint/2010/main" val="3360324917"/>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74D649-B5B8-7C2D-5561-327D26CA695B}"/>
            </a:ext>
          </a:extLst>
        </p:cNvPr>
        <p:cNvGrpSpPr/>
        <p:nvPr/>
      </p:nvGrpSpPr>
      <p:grpSpPr>
        <a:xfrm>
          <a:off x="0" y="0"/>
          <a:ext cx="0" cy="0"/>
          <a:chOff x="0" y="0"/>
          <a:chExt cx="0" cy="0"/>
        </a:xfrm>
      </p:grpSpPr>
      <p:sp>
        <p:nvSpPr>
          <p:cNvPr id="1063" name="Rectangle 1062">
            <a:extLst>
              <a:ext uri="{FF2B5EF4-FFF2-40B4-BE49-F238E27FC236}">
                <a16:creationId xmlns:a16="http://schemas.microsoft.com/office/drawing/2014/main" id="{DE4C4D99-DB5B-CDFE-4CF6-70A59E686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kstvak 7">
            <a:extLst>
              <a:ext uri="{FF2B5EF4-FFF2-40B4-BE49-F238E27FC236}">
                <a16:creationId xmlns:a16="http://schemas.microsoft.com/office/drawing/2014/main" id="{2FB2393B-D75D-E0DF-3C02-C25E060ECE4A}"/>
              </a:ext>
            </a:extLst>
          </p:cNvPr>
          <p:cNvSpPr txBox="1"/>
          <p:nvPr/>
        </p:nvSpPr>
        <p:spPr>
          <a:xfrm>
            <a:off x="1524000" y="548640"/>
            <a:ext cx="9160475" cy="1132258"/>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3600" b="1">
                <a:latin typeface="+mj-lt"/>
                <a:ea typeface="+mj-ea"/>
                <a:cs typeface="+mj-cs"/>
              </a:rPr>
              <a:t>Time to exercise!</a:t>
            </a:r>
            <a:endParaRPr lang="nl-NL">
              <a:ea typeface="+mj-ea"/>
              <a:cs typeface="+mj-cs"/>
            </a:endParaRPr>
          </a:p>
        </p:txBody>
      </p:sp>
      <p:sp>
        <p:nvSpPr>
          <p:cNvPr id="2" name="Tekstvak 1">
            <a:extLst>
              <a:ext uri="{FF2B5EF4-FFF2-40B4-BE49-F238E27FC236}">
                <a16:creationId xmlns:a16="http://schemas.microsoft.com/office/drawing/2014/main" id="{92D4698D-422D-6048-19B5-EEBCE41B5B8C}"/>
              </a:ext>
            </a:extLst>
          </p:cNvPr>
          <p:cNvSpPr txBox="1"/>
          <p:nvPr/>
        </p:nvSpPr>
        <p:spPr>
          <a:xfrm>
            <a:off x="755374" y="1828800"/>
            <a:ext cx="10998813" cy="2031325"/>
          </a:xfrm>
          <a:prstGeom prst="rect">
            <a:avLst/>
          </a:prstGeom>
          <a:noFill/>
        </p:spPr>
        <p:txBody>
          <a:bodyPr wrap="square" lIns="91440" tIns="45720" rIns="91440" bIns="45720" rtlCol="0" anchor="t">
            <a:spAutoFit/>
          </a:bodyPr>
          <a:lstStyle/>
          <a:p>
            <a:pPr marL="342900" indent="-342900">
              <a:buAutoNum type="arabicParenR"/>
            </a:pPr>
            <a:r>
              <a:rPr lang="nl-BE"/>
              <a:t>Open in </a:t>
            </a:r>
            <a:r>
              <a:rPr lang="nl-BE" err="1"/>
              <a:t>VSCode</a:t>
            </a:r>
            <a:r>
              <a:rPr lang="nl-BE"/>
              <a:t> de folder: "C:\</a:t>
            </a:r>
            <a:r>
              <a:rPr lang="nl-BE" err="1"/>
              <a:t>xampp</a:t>
            </a:r>
            <a:r>
              <a:rPr lang="nl-BE"/>
              <a:t>\</a:t>
            </a:r>
            <a:r>
              <a:rPr lang="nl-BE" err="1"/>
              <a:t>htdocs</a:t>
            </a:r>
            <a:r>
              <a:rPr lang="nl-BE"/>
              <a:t>"</a:t>
            </a:r>
          </a:p>
          <a:p>
            <a:pPr marL="342900" indent="-342900">
              <a:buAutoNum type="arabicParenR"/>
            </a:pPr>
            <a:r>
              <a:rPr lang="nl-BE"/>
              <a:t>Maak in </a:t>
            </a:r>
            <a:r>
              <a:rPr lang="nl-BE" err="1"/>
              <a:t>htdocs</a:t>
            </a:r>
            <a:r>
              <a:rPr lang="nl-BE"/>
              <a:t> voor elke oefening een apart mapje aan</a:t>
            </a:r>
          </a:p>
          <a:p>
            <a:pPr marL="342900" indent="-342900">
              <a:buAutoNum type="arabicParenR"/>
            </a:pPr>
            <a:r>
              <a:rPr lang="nl-BE"/>
              <a:t>Ga in je browser (Chrome, </a:t>
            </a:r>
            <a:r>
              <a:rPr lang="nl-BE" err="1"/>
              <a:t>Edge</a:t>
            </a:r>
            <a:r>
              <a:rPr lang="nl-BE"/>
              <a:t>, Brave, ...) naar "</a:t>
            </a:r>
            <a:r>
              <a:rPr lang="nl-BE" err="1"/>
              <a:t>localhost</a:t>
            </a:r>
            <a:r>
              <a:rPr lang="nl-BE"/>
              <a:t>"</a:t>
            </a:r>
          </a:p>
          <a:p>
            <a:pPr marL="342900" indent="-342900">
              <a:buAutoNum type="arabicParenR"/>
            </a:pPr>
            <a:r>
              <a:rPr lang="nl-BE"/>
              <a:t>Maak de file: "</a:t>
            </a:r>
            <a:r>
              <a:rPr lang="nl-BE" err="1"/>
              <a:t>index.php</a:t>
            </a:r>
            <a:r>
              <a:rPr lang="nl-BE"/>
              <a:t>" aan in het mapje van de oefening</a:t>
            </a:r>
          </a:p>
          <a:p>
            <a:pPr marL="342900" indent="-342900">
              <a:buAutoNum type="arabicParenR"/>
            </a:pPr>
            <a:endParaRPr lang="nl-BE"/>
          </a:p>
          <a:p>
            <a:r>
              <a:rPr lang="nl-BE"/>
              <a:t>💡Tip over werkwijze! Begin gewoon met je HTML code te schrijven en voeg PHP pas toe als het nodig is.</a:t>
            </a:r>
          </a:p>
        </p:txBody>
      </p:sp>
      <p:sp>
        <p:nvSpPr>
          <p:cNvPr id="4" name="Tekstvak 3">
            <a:extLst>
              <a:ext uri="{FF2B5EF4-FFF2-40B4-BE49-F238E27FC236}">
                <a16:creationId xmlns:a16="http://schemas.microsoft.com/office/drawing/2014/main" id="{56E0308D-B4D2-E795-9BD0-B5BFC4D4D357}"/>
              </a:ext>
            </a:extLst>
          </p:cNvPr>
          <p:cNvSpPr txBox="1"/>
          <p:nvPr/>
        </p:nvSpPr>
        <p:spPr>
          <a:xfrm>
            <a:off x="640148" y="4700277"/>
            <a:ext cx="11218946" cy="646331"/>
          </a:xfrm>
          <a:prstGeom prst="rect">
            <a:avLst/>
          </a:prstGeom>
          <a:noFill/>
        </p:spPr>
        <p:txBody>
          <a:bodyPr wrap="square" lIns="91440" tIns="45720" rIns="91440" bIns="45720" rtlCol="0" anchor="t">
            <a:spAutoFit/>
          </a:bodyPr>
          <a:lstStyle/>
          <a:p>
            <a:r>
              <a:rPr lang="nl-BE"/>
              <a:t>Sommige oefeningen hebben extra: ➕Toevoeging of ⭐Uitdaging </a:t>
            </a:r>
            <a:r>
              <a:rPr lang="nl-BE" i="1"/>
              <a:t>(aantal sterren toont moeilijkheidsgraad)</a:t>
            </a:r>
            <a:endParaRPr lang="nl-NL" i="1"/>
          </a:p>
        </p:txBody>
      </p:sp>
    </p:spTree>
    <p:extLst>
      <p:ext uri="{BB962C8B-B14F-4D97-AF65-F5344CB8AC3E}">
        <p14:creationId xmlns:p14="http://schemas.microsoft.com/office/powerpoint/2010/main" val="744522909"/>
      </p:ext>
    </p:extLst>
  </p:cSld>
  <p:clrMapOvr>
    <a:masterClrMapping/>
  </p:clrMapOvr>
  <mc:AlternateContent xmlns:mc="http://schemas.openxmlformats.org/markup-compatibility/2006" xmlns:p14="http://schemas.microsoft.com/office/powerpoint/2010/main">
    <mc:Choice Requires="p14">
      <p:transition spd="slow" p14:dur="4000">
        <p14:vortex dir="u"/>
      </p:transition>
    </mc:Choice>
    <mc:Fallback xmlns="">
      <p:transition spd="slow">
        <p:fade/>
      </p:transition>
    </mc:Fallback>
  </mc:AlternateContent>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Breedbeeld</PresentationFormat>
  <Slides>5</Slides>
  <Notes>5</Notes>
  <HiddenSlides>0</HiddenSlides>
  <ScaleCrop>false</ScaleCrop>
  <HeadingPairs>
    <vt:vector size="4" baseType="variant">
      <vt:variant>
        <vt:lpstr>Thema</vt:lpstr>
      </vt:variant>
      <vt:variant>
        <vt:i4>1</vt:i4>
      </vt:variant>
      <vt:variant>
        <vt:lpstr>Diatitels</vt:lpstr>
      </vt:variant>
      <vt:variant>
        <vt:i4>5</vt:i4>
      </vt:variant>
    </vt:vector>
  </HeadingPairs>
  <TitlesOfParts>
    <vt:vector size="6" baseType="lpstr">
      <vt:lpstr>VanillaVTI</vt:lpstr>
      <vt:lpstr>Webdesign: Dynamische Websites  H4 Application Programming Interfaces</vt:lpstr>
      <vt:lpstr>API?</vt:lpstr>
      <vt:lpstr>SmarterSmartschool-extensie</vt:lpstr>
      <vt:lpstr>Opdracht: Verzin een onderwerp</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Jarne Verlinden</dc:creator>
  <cp:revision>128</cp:revision>
  <dcterms:created xsi:type="dcterms:W3CDTF">2025-10-16T12:22:40Z</dcterms:created>
  <dcterms:modified xsi:type="dcterms:W3CDTF">2026-03-02T17:50:58Z</dcterms:modified>
</cp:coreProperties>
</file>