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8"/>
  </p:notesMasterIdLst>
  <p:sldIdLst>
    <p:sldId id="256" r:id="rId2"/>
    <p:sldId id="273" r:id="rId3"/>
    <p:sldId id="275" r:id="rId4"/>
    <p:sldId id="274" r:id="rId5"/>
    <p:sldId id="276" r:id="rId6"/>
    <p:sldId id="272" r:id="rId7"/>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FF463E-B11A-78E2-C9E0-45860F4C75E4}" v="296" dt="2026-03-02T17:50:28.862"/>
    <p1510:client id="{B62DBB2E-7CB5-5C85-4417-1BE7428C5980}" v="284" dt="2026-03-03T07:33:59.3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2/03/2026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latin typeface="Calibri"/>
                <a:ea typeface="Calibri"/>
                <a:cs typeface="Calibri"/>
              </a:rPr>
              <a:t>Een Application Programming Interface of API </a:t>
            </a:r>
            <a:r>
              <a:rPr lang="en-US" dirty="0" err="1">
                <a:latin typeface="Calibri"/>
                <a:ea typeface="Calibri"/>
                <a:cs typeface="Calibri"/>
              </a:rPr>
              <a:t>fungeert</a:t>
            </a:r>
            <a:r>
              <a:rPr lang="en-US" dirty="0">
                <a:latin typeface="Calibri"/>
                <a:ea typeface="Calibri"/>
                <a:cs typeface="Calibri"/>
              </a:rPr>
              <a:t> </a:t>
            </a:r>
            <a:r>
              <a:rPr lang="en-US" dirty="0" err="1">
                <a:latin typeface="Calibri"/>
                <a:ea typeface="Calibri"/>
                <a:cs typeface="Calibri"/>
              </a:rPr>
              <a:t>vaak</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tussenlaag</a:t>
            </a:r>
            <a:r>
              <a:rPr lang="en-US" dirty="0">
                <a:latin typeface="Calibri"/>
                <a:ea typeface="Calibri"/>
                <a:cs typeface="Calibri"/>
              </a:rPr>
              <a:t> die </a:t>
            </a:r>
            <a:r>
              <a:rPr lang="en-US" dirty="0" err="1">
                <a:latin typeface="Calibri"/>
                <a:ea typeface="Calibri"/>
                <a:cs typeface="Calibri"/>
              </a:rPr>
              <a:t>een</a:t>
            </a:r>
            <a:r>
              <a:rPr lang="en-US" dirty="0">
                <a:latin typeface="Calibri"/>
                <a:ea typeface="Calibri"/>
                <a:cs typeface="Calibri"/>
              </a:rPr>
              <a:t> developer </a:t>
            </a:r>
            <a:r>
              <a:rPr lang="en-US" dirty="0" err="1">
                <a:latin typeface="Calibri"/>
                <a:ea typeface="Calibri"/>
                <a:cs typeface="Calibri"/>
              </a:rPr>
              <a:t>heeft</a:t>
            </a:r>
            <a:r>
              <a:rPr lang="en-US" dirty="0">
                <a:latin typeface="Calibri"/>
                <a:ea typeface="Calibri"/>
                <a:cs typeface="Calibri"/>
              </a:rPr>
              <a:t> </a:t>
            </a:r>
            <a:r>
              <a:rPr lang="en-US" dirty="0" err="1">
                <a:latin typeface="Calibri"/>
                <a:ea typeface="Calibri"/>
                <a:cs typeface="Calibri"/>
              </a:rPr>
              <a:t>gemaakt</a:t>
            </a:r>
            <a:r>
              <a:rPr lang="en-US" dirty="0">
                <a:latin typeface="Calibri"/>
                <a:ea typeface="Calibri"/>
                <a:cs typeface="Calibri"/>
              </a:rPr>
              <a:t> om </a:t>
            </a:r>
            <a:r>
              <a:rPr lang="en-US" dirty="0" err="1">
                <a:latin typeface="Calibri"/>
                <a:ea typeface="Calibri"/>
                <a:cs typeface="Calibri"/>
              </a:rPr>
              <a:t>gegevens</a:t>
            </a:r>
            <a:r>
              <a:rPr lang="en-US" dirty="0">
                <a:latin typeface="Calibri"/>
                <a:ea typeface="Calibri"/>
                <a:cs typeface="Calibri"/>
              </a:rPr>
              <a:t> </a:t>
            </a:r>
            <a:r>
              <a:rPr lang="en-US" dirty="0" err="1">
                <a:latin typeface="Calibri"/>
                <a:ea typeface="Calibri"/>
                <a:cs typeface="Calibri"/>
              </a:rPr>
              <a:t>uit</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wisselen</a:t>
            </a:r>
            <a:r>
              <a:rPr lang="en-US" dirty="0">
                <a:latin typeface="Calibri"/>
                <a:ea typeface="Calibri"/>
                <a:cs typeface="Calibri"/>
              </a:rPr>
              <a:t> met </a:t>
            </a:r>
            <a:r>
              <a:rPr lang="en-US" dirty="0" err="1">
                <a:latin typeface="Calibri"/>
                <a:ea typeface="Calibri"/>
                <a:cs typeface="Calibri"/>
              </a:rPr>
              <a:t>andere</a:t>
            </a:r>
            <a:r>
              <a:rPr lang="en-US" dirty="0">
                <a:latin typeface="Calibri"/>
                <a:ea typeface="Calibri"/>
                <a:cs typeface="Calibri"/>
              </a:rPr>
              <a:t> </a:t>
            </a:r>
            <a:r>
              <a:rPr lang="en-US" dirty="0" err="1">
                <a:latin typeface="Calibri"/>
                <a:ea typeface="Calibri"/>
                <a:cs typeface="Calibri"/>
              </a:rPr>
              <a:t>applicaties</a:t>
            </a:r>
            <a:r>
              <a:rPr lang="en-US" dirty="0">
                <a:latin typeface="Calibri"/>
                <a:ea typeface="Calibri"/>
                <a:cs typeface="Calibri"/>
              </a:rPr>
              <a:t>.</a:t>
            </a:r>
          </a:p>
          <a:p>
            <a:endParaRPr lang="en-US" dirty="0">
              <a:latin typeface="Calibri"/>
              <a:ea typeface="Calibri"/>
              <a:cs typeface="Calibri"/>
            </a:endParaRPr>
          </a:p>
          <a:p>
            <a:r>
              <a:rPr lang="en-US" dirty="0">
                <a:latin typeface="Calibri"/>
                <a:ea typeface="Calibri"/>
                <a:cs typeface="Calibri"/>
              </a:rPr>
              <a:t>Als </a:t>
            </a:r>
            <a:r>
              <a:rPr lang="en-US" dirty="0" err="1">
                <a:latin typeface="Calibri"/>
                <a:ea typeface="Calibri"/>
                <a:cs typeface="Calibri"/>
              </a:rPr>
              <a:t>jij</a:t>
            </a:r>
            <a:r>
              <a:rPr lang="en-US" dirty="0">
                <a:latin typeface="Calibri"/>
                <a:ea typeface="Calibri"/>
                <a:cs typeface="Calibri"/>
              </a:rPr>
              <a:t> </a:t>
            </a:r>
            <a:r>
              <a:rPr lang="en-US" dirty="0" err="1">
                <a:latin typeface="Calibri"/>
                <a:ea typeface="Calibri"/>
                <a:cs typeface="Calibri"/>
              </a:rPr>
              <a:t>dus</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applicatie</a:t>
            </a:r>
            <a:r>
              <a:rPr lang="en-US" dirty="0">
                <a:latin typeface="Calibri"/>
                <a:ea typeface="Calibri"/>
                <a:cs typeface="Calibri"/>
              </a:rPr>
              <a:t> </a:t>
            </a:r>
            <a:r>
              <a:rPr lang="en-US" dirty="0" err="1">
                <a:latin typeface="Calibri"/>
                <a:ea typeface="Calibri"/>
                <a:cs typeface="Calibri"/>
              </a:rPr>
              <a:t>maakt</a:t>
            </a:r>
            <a:r>
              <a:rPr lang="en-US" dirty="0">
                <a:latin typeface="Calibri"/>
                <a:ea typeface="Calibri"/>
                <a:cs typeface="Calibri"/>
              </a:rPr>
              <a:t> om je </a:t>
            </a:r>
            <a:r>
              <a:rPr lang="en-US" dirty="0" err="1">
                <a:latin typeface="Calibri"/>
                <a:ea typeface="Calibri"/>
                <a:cs typeface="Calibri"/>
              </a:rPr>
              <a:t>vrienden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zoeken</a:t>
            </a:r>
            <a:r>
              <a:rPr lang="en-US" dirty="0">
                <a:latin typeface="Calibri"/>
                <a:ea typeface="Calibri"/>
                <a:cs typeface="Calibri"/>
              </a:rPr>
              <a:t>: dan is het </a:t>
            </a:r>
            <a:r>
              <a:rPr lang="en-US" dirty="0" err="1">
                <a:latin typeface="Calibri"/>
                <a:ea typeface="Calibri"/>
                <a:cs typeface="Calibri"/>
              </a:rPr>
              <a:t>handig</a:t>
            </a:r>
            <a:r>
              <a:rPr lang="en-US" dirty="0">
                <a:latin typeface="Calibri"/>
                <a:ea typeface="Calibri"/>
                <a:cs typeface="Calibri"/>
              </a:rPr>
              <a:t> om Facebook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gebruiken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contactenboek</a:t>
            </a:r>
            <a:r>
              <a:rPr lang="en-US" dirty="0">
                <a:latin typeface="Calibri"/>
                <a:ea typeface="Calibri"/>
                <a:cs typeface="Calibri"/>
              </a:rPr>
              <a:t>. Je </a:t>
            </a:r>
            <a:r>
              <a:rPr lang="en-US" dirty="0" err="1">
                <a:latin typeface="Calibri"/>
                <a:ea typeface="Calibri"/>
                <a:cs typeface="Calibri"/>
              </a:rPr>
              <a:t>kan</a:t>
            </a:r>
            <a:r>
              <a:rPr lang="en-US" dirty="0">
                <a:latin typeface="Calibri"/>
                <a:ea typeface="Calibri"/>
                <a:cs typeface="Calibri"/>
              </a:rPr>
              <a:t> </a:t>
            </a:r>
            <a:r>
              <a:rPr lang="en-US" dirty="0" err="1">
                <a:latin typeface="Calibri"/>
                <a:ea typeface="Calibri"/>
                <a:cs typeface="Calibri"/>
              </a:rPr>
              <a:t>dit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combineren</a:t>
            </a:r>
            <a:r>
              <a:rPr lang="en-US" dirty="0">
                <a:latin typeface="Calibri"/>
                <a:ea typeface="Calibri"/>
                <a:cs typeface="Calibri"/>
              </a:rPr>
              <a:t>: </a:t>
            </a:r>
            <a:r>
              <a:rPr lang="en-US" dirty="0" err="1">
                <a:latin typeface="Calibri"/>
                <a:ea typeface="Calibri"/>
                <a:cs typeface="Calibri"/>
              </a:rPr>
              <a:t>bijvoorbeeld</a:t>
            </a:r>
            <a:r>
              <a:rPr lang="en-US" dirty="0">
                <a:latin typeface="Calibri"/>
                <a:ea typeface="Calibri"/>
                <a:cs typeface="Calibri"/>
              </a:rPr>
              <a:t> de Facebook API </a:t>
            </a:r>
            <a:r>
              <a:rPr lang="en-US" dirty="0" err="1">
                <a:latin typeface="Calibri"/>
                <a:ea typeface="Calibri"/>
                <a:cs typeface="Calibri"/>
              </a:rPr>
              <a:t>én</a:t>
            </a:r>
            <a:r>
              <a:rPr lang="en-US" dirty="0">
                <a:latin typeface="Calibri"/>
                <a:ea typeface="Calibri"/>
                <a:cs typeface="Calibri"/>
              </a:rPr>
              <a:t> de Snapchat API: je </a:t>
            </a:r>
            <a:r>
              <a:rPr lang="en-US" dirty="0" err="1">
                <a:latin typeface="Calibri"/>
                <a:ea typeface="Calibri"/>
                <a:cs typeface="Calibri"/>
              </a:rPr>
              <a:t>maakt</a:t>
            </a:r>
            <a:r>
              <a:rPr lang="en-US" dirty="0">
                <a:latin typeface="Calibri"/>
                <a:ea typeface="Calibri"/>
                <a:cs typeface="Calibri"/>
              </a:rPr>
              <a:t> </a:t>
            </a:r>
            <a:r>
              <a:rPr lang="en-US" dirty="0" err="1">
                <a:latin typeface="Calibri"/>
                <a:ea typeface="Calibri"/>
                <a:cs typeface="Calibri"/>
              </a:rPr>
              <a:t>meer</a:t>
            </a:r>
            <a:r>
              <a:rPr lang="en-US" dirty="0">
                <a:latin typeface="Calibri"/>
                <a:ea typeface="Calibri"/>
                <a:cs typeface="Calibri"/>
              </a:rPr>
              <a:t> </a:t>
            </a:r>
            <a:r>
              <a:rPr lang="en-US" dirty="0" err="1">
                <a:latin typeface="Calibri"/>
                <a:ea typeface="Calibri"/>
                <a:cs typeface="Calibri"/>
              </a:rPr>
              <a:t>kans</a:t>
            </a:r>
            <a:r>
              <a:rPr lang="en-US" dirty="0">
                <a:latin typeface="Calibri"/>
                <a:ea typeface="Calibri"/>
                <a:cs typeface="Calibri"/>
              </a:rPr>
              <a:t> om </a:t>
            </a:r>
            <a:r>
              <a:rPr lang="en-US" dirty="0" err="1">
                <a:latin typeface="Calibri"/>
                <a:ea typeface="Calibri"/>
                <a:cs typeface="Calibri"/>
              </a:rPr>
              <a:t>mensen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vinden</a:t>
            </a:r>
            <a:r>
              <a:rPr lang="en-US" dirty="0">
                <a:latin typeface="Calibri"/>
                <a:ea typeface="Calibri"/>
                <a:cs typeface="Calibri"/>
              </a:rPr>
              <a:t> die je </a:t>
            </a:r>
            <a:r>
              <a:rPr lang="en-US" dirty="0" err="1">
                <a:latin typeface="Calibri"/>
                <a:ea typeface="Calibri"/>
                <a:cs typeface="Calibri"/>
              </a:rPr>
              <a:t>zoekt</a:t>
            </a:r>
            <a:r>
              <a:rPr lang="en-US" dirty="0">
                <a:latin typeface="Calibri"/>
                <a:ea typeface="Calibri"/>
                <a:cs typeface="Calibri"/>
              </a:rPr>
              <a:t> (</a:t>
            </a:r>
            <a:r>
              <a:rPr lang="en-US" dirty="0" err="1">
                <a:latin typeface="Calibri"/>
                <a:ea typeface="Calibri"/>
                <a:cs typeface="Calibri"/>
              </a:rPr>
              <a:t>voor</a:t>
            </a:r>
            <a:r>
              <a:rPr lang="en-US" dirty="0">
                <a:latin typeface="Calibri"/>
                <a:ea typeface="Calibri"/>
                <a:cs typeface="Calibri"/>
              </a:rPr>
              <a:t> het </a:t>
            </a:r>
            <a:r>
              <a:rPr lang="en-US" dirty="0" err="1">
                <a:latin typeface="Calibri"/>
                <a:ea typeface="Calibri"/>
                <a:cs typeface="Calibri"/>
              </a:rPr>
              <a:t>geval</a:t>
            </a:r>
            <a:r>
              <a:rPr lang="en-US" dirty="0">
                <a:latin typeface="Calibri"/>
                <a:ea typeface="Calibri"/>
                <a:cs typeface="Calibri"/>
              </a:rPr>
              <a:t> </a:t>
            </a:r>
            <a:r>
              <a:rPr lang="en-US" dirty="0" err="1">
                <a:latin typeface="Calibri"/>
                <a:ea typeface="Calibri"/>
                <a:cs typeface="Calibri"/>
              </a:rPr>
              <a:t>dat</a:t>
            </a:r>
            <a:r>
              <a:rPr lang="en-US" dirty="0">
                <a:latin typeface="Calibri"/>
                <a:ea typeface="Calibri"/>
                <a:cs typeface="Calibri"/>
              </a:rPr>
              <a:t> ze </a:t>
            </a:r>
            <a:r>
              <a:rPr lang="en-US" dirty="0" err="1">
                <a:latin typeface="Calibri"/>
                <a:ea typeface="Calibri"/>
                <a:cs typeface="Calibri"/>
              </a:rPr>
              <a:t>geen</a:t>
            </a:r>
            <a:r>
              <a:rPr lang="en-US" dirty="0">
                <a:latin typeface="Calibri"/>
                <a:ea typeface="Calibri"/>
                <a:cs typeface="Calibri"/>
              </a:rPr>
              <a:t> account </a:t>
            </a:r>
            <a:r>
              <a:rPr lang="en-US" dirty="0" err="1">
                <a:latin typeface="Calibri"/>
                <a:ea typeface="Calibri"/>
                <a:cs typeface="Calibri"/>
              </a:rPr>
              <a:t>hebben</a:t>
            </a:r>
            <a:r>
              <a:rPr lang="en-US" dirty="0">
                <a:latin typeface="Calibri"/>
                <a:ea typeface="Calibri"/>
                <a:cs typeface="Calibri"/>
              </a:rPr>
              <a:t> op het platform).</a:t>
            </a:r>
          </a:p>
          <a:p>
            <a:endParaRPr lang="en-US" dirty="0">
              <a:latin typeface="Calibri"/>
              <a:ea typeface="Calibri"/>
              <a:cs typeface="Calibri"/>
            </a:endParaRPr>
          </a:p>
          <a:p>
            <a:r>
              <a:rPr lang="en-US" dirty="0">
                <a:latin typeface="Calibri"/>
                <a:ea typeface="Calibri"/>
                <a:cs typeface="Calibri"/>
              </a:rPr>
              <a:t>Een API </a:t>
            </a:r>
            <a:r>
              <a:rPr lang="en-US" dirty="0" err="1">
                <a:latin typeface="Calibri"/>
                <a:ea typeface="Calibri"/>
                <a:cs typeface="Calibri"/>
              </a:rPr>
              <a:t>binnen</a:t>
            </a:r>
            <a:r>
              <a:rPr lang="en-US" dirty="0">
                <a:latin typeface="Calibri"/>
                <a:ea typeface="Calibri"/>
                <a:cs typeface="Calibri"/>
              </a:rPr>
              <a:t> de </a:t>
            </a:r>
            <a:r>
              <a:rPr lang="en-US" dirty="0" err="1">
                <a:latin typeface="Calibri"/>
                <a:ea typeface="Calibri"/>
                <a:cs typeface="Calibri"/>
              </a:rPr>
              <a:t>webtoepassingen</a:t>
            </a:r>
            <a:r>
              <a:rPr lang="en-US" dirty="0">
                <a:latin typeface="Calibri"/>
                <a:ea typeface="Calibri"/>
                <a:cs typeface="Calibri"/>
              </a:rPr>
              <a:t> is </a:t>
            </a:r>
            <a:r>
              <a:rPr lang="en-US" dirty="0" err="1">
                <a:latin typeface="Calibri"/>
                <a:ea typeface="Calibri"/>
                <a:cs typeface="Calibri"/>
              </a:rPr>
              <a:t>aanroepbaar</a:t>
            </a:r>
            <a:r>
              <a:rPr lang="en-US" dirty="0">
                <a:latin typeface="Calibri"/>
                <a:ea typeface="Calibri"/>
                <a:cs typeface="Calibri"/>
              </a:rPr>
              <a:t> </a:t>
            </a:r>
            <a:r>
              <a:rPr lang="en-US" dirty="0" err="1">
                <a:latin typeface="Calibri"/>
                <a:ea typeface="Calibri"/>
                <a:cs typeface="Calibri"/>
              </a:rPr>
              <a:t>binnen</a:t>
            </a:r>
            <a:r>
              <a:rPr lang="en-US" dirty="0">
                <a:latin typeface="Calibri"/>
                <a:ea typeface="Calibri"/>
                <a:cs typeface="Calibri"/>
              </a:rPr>
              <a:t> </a:t>
            </a:r>
            <a:r>
              <a:rPr lang="en-US" dirty="0" err="1">
                <a:latin typeface="Calibri"/>
                <a:ea typeface="Calibri"/>
                <a:cs typeface="Calibri"/>
              </a:rPr>
              <a:t>alles</a:t>
            </a:r>
            <a:r>
              <a:rPr lang="en-US" dirty="0">
                <a:latin typeface="Calibri"/>
                <a:ea typeface="Calibri"/>
                <a:cs typeface="Calibri"/>
              </a:rPr>
              <a:t> wat </a:t>
            </a:r>
            <a:r>
              <a:rPr lang="en-US" dirty="0" err="1">
                <a:latin typeface="Calibri"/>
                <a:ea typeface="Calibri"/>
                <a:cs typeface="Calibri"/>
              </a:rPr>
              <a:t>bereikbaar</a:t>
            </a:r>
            <a:r>
              <a:rPr lang="en-US" dirty="0">
                <a:latin typeface="Calibri"/>
                <a:ea typeface="Calibri"/>
                <a:cs typeface="Calibri"/>
              </a:rPr>
              <a:t> is via HTTP protocol. Je </a:t>
            </a:r>
            <a:r>
              <a:rPr lang="en-US" dirty="0" err="1">
                <a:latin typeface="Calibri"/>
                <a:ea typeface="Calibri"/>
                <a:cs typeface="Calibri"/>
              </a:rPr>
              <a:t>moet</a:t>
            </a:r>
            <a:r>
              <a:rPr lang="en-US" dirty="0">
                <a:latin typeface="Calibri"/>
                <a:ea typeface="Calibri"/>
                <a:cs typeface="Calibri"/>
              </a:rPr>
              <a:t> het </a:t>
            </a:r>
            <a:r>
              <a:rPr lang="en-US" dirty="0" err="1">
                <a:latin typeface="Calibri"/>
                <a:ea typeface="Calibri"/>
                <a:cs typeface="Calibri"/>
              </a:rPr>
              <a:t>eindpunt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kunnen</a:t>
            </a:r>
            <a:r>
              <a:rPr lang="en-US" dirty="0">
                <a:latin typeface="Calibri"/>
                <a:ea typeface="Calibri"/>
                <a:cs typeface="Calibri"/>
              </a:rPr>
              <a:t> </a:t>
            </a:r>
            <a:r>
              <a:rPr lang="en-US" dirty="0" err="1">
                <a:latin typeface="Calibri"/>
                <a:ea typeface="Calibri"/>
                <a:cs typeface="Calibri"/>
              </a:rPr>
              <a:t>bereiken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de server plat </a:t>
            </a:r>
            <a:r>
              <a:rPr lang="en-US" dirty="0" err="1">
                <a:latin typeface="Calibri"/>
                <a:ea typeface="Calibri"/>
                <a:cs typeface="Calibri"/>
              </a:rPr>
              <a:t>ligt</a:t>
            </a:r>
            <a:r>
              <a:rPr lang="en-US" dirty="0">
                <a:latin typeface="Calibri"/>
                <a:ea typeface="Calibri"/>
                <a:cs typeface="Calibri"/>
              </a:rPr>
              <a:t>, of je </a:t>
            </a:r>
            <a:r>
              <a:rPr lang="en-US" dirty="0" err="1">
                <a:latin typeface="Calibri"/>
                <a:ea typeface="Calibri"/>
                <a:cs typeface="Calibri"/>
              </a:rPr>
              <a:t>hebt</a:t>
            </a:r>
            <a:r>
              <a:rPr lang="en-US" dirty="0">
                <a:latin typeface="Calibri"/>
                <a:ea typeface="Calibri"/>
                <a:cs typeface="Calibri"/>
              </a:rPr>
              <a:t> </a:t>
            </a:r>
            <a:r>
              <a:rPr lang="en-US" dirty="0" err="1">
                <a:latin typeface="Calibri"/>
                <a:ea typeface="Calibri"/>
                <a:cs typeface="Calibri"/>
              </a:rPr>
              <a:t>geen</a:t>
            </a:r>
            <a:r>
              <a:rPr lang="en-US" dirty="0">
                <a:latin typeface="Calibri"/>
                <a:ea typeface="Calibri"/>
                <a:cs typeface="Calibri"/>
              </a:rPr>
              <a:t> internet op het </a:t>
            </a:r>
            <a:r>
              <a:rPr lang="en-US" dirty="0" err="1">
                <a:latin typeface="Calibri"/>
                <a:ea typeface="Calibri"/>
                <a:cs typeface="Calibri"/>
              </a:rPr>
              <a:t>toestel</a:t>
            </a:r>
            <a:r>
              <a:rPr lang="en-US" dirty="0">
                <a:latin typeface="Calibri"/>
                <a:ea typeface="Calibri"/>
                <a:cs typeface="Calibri"/>
              </a:rPr>
              <a:t> </a:t>
            </a:r>
            <a:r>
              <a:rPr lang="en-US" dirty="0" err="1">
                <a:latin typeface="Calibri"/>
                <a:ea typeface="Calibri"/>
                <a:cs typeface="Calibri"/>
              </a:rPr>
              <a:t>waarop</a:t>
            </a:r>
            <a:r>
              <a:rPr lang="en-US" dirty="0">
                <a:latin typeface="Calibri"/>
                <a:ea typeface="Calibri"/>
                <a:cs typeface="Calibri"/>
              </a:rPr>
              <a:t> je </a:t>
            </a:r>
            <a:r>
              <a:rPr lang="en-US" dirty="0" err="1">
                <a:latin typeface="Calibri"/>
                <a:ea typeface="Calibri"/>
                <a:cs typeface="Calibri"/>
              </a:rPr>
              <a:t>een</a:t>
            </a:r>
            <a:r>
              <a:rPr lang="en-US" dirty="0">
                <a:latin typeface="Calibri"/>
                <a:ea typeface="Calibri"/>
                <a:cs typeface="Calibri"/>
              </a:rPr>
              <a:t> API request </a:t>
            </a:r>
            <a:r>
              <a:rPr lang="en-US" dirty="0" err="1">
                <a:latin typeface="Calibri"/>
                <a:ea typeface="Calibri"/>
                <a:cs typeface="Calibri"/>
              </a:rPr>
              <a:t>maakt</a:t>
            </a:r>
            <a:r>
              <a:rPr lang="en-US" dirty="0">
                <a:latin typeface="Calibri"/>
                <a:ea typeface="Calibri"/>
                <a:cs typeface="Calibri"/>
              </a:rPr>
              <a:t>: dan </a:t>
            </a:r>
            <a:r>
              <a:rPr lang="en-US" dirty="0" err="1">
                <a:latin typeface="Calibri"/>
                <a:ea typeface="Calibri"/>
                <a:cs typeface="Calibri"/>
              </a:rPr>
              <a:t>mislukt</a:t>
            </a:r>
            <a:r>
              <a:rPr lang="en-US" dirty="0">
                <a:latin typeface="Calibri"/>
                <a:ea typeface="Calibri"/>
                <a:cs typeface="Calibri"/>
              </a:rPr>
              <a:t> deze.</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2</a:t>
            </a:fld>
            <a:endParaRPr lang="nl-BE"/>
          </a:p>
        </p:txBody>
      </p:sp>
    </p:spTree>
    <p:extLst>
      <p:ext uri="{BB962C8B-B14F-4D97-AF65-F5344CB8AC3E}">
        <p14:creationId xmlns:p14="http://schemas.microsoft.com/office/powerpoint/2010/main" val="5868645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B485F-B587-3C71-78FE-EE04E6DDCD2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EA302D3-36AA-6ABE-95B9-D9C24B26BA1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EC89270-86CD-84C9-38D5-BB49B4626566}"/>
              </a:ext>
            </a:extLst>
          </p:cNvPr>
          <p:cNvSpPr>
            <a:spLocks noGrp="1"/>
          </p:cNvSpPr>
          <p:nvPr>
            <p:ph type="body" idx="1"/>
          </p:nvPr>
        </p:nvSpPr>
        <p:spPr/>
        <p:txBody>
          <a:bodyPr/>
          <a:lstStyle/>
          <a:p>
            <a:r>
              <a:rPr lang="en-US" dirty="0">
                <a:latin typeface="Calibri"/>
                <a:ea typeface="Calibri"/>
                <a:cs typeface="Calibri"/>
              </a:rPr>
              <a:t>Een Application Programming Interface of API </a:t>
            </a:r>
            <a:r>
              <a:rPr lang="en-US" dirty="0" err="1">
                <a:latin typeface="Calibri"/>
                <a:ea typeface="Calibri"/>
                <a:cs typeface="Calibri"/>
              </a:rPr>
              <a:t>fungeert</a:t>
            </a:r>
            <a:r>
              <a:rPr lang="en-US" dirty="0">
                <a:latin typeface="Calibri"/>
                <a:ea typeface="Calibri"/>
                <a:cs typeface="Calibri"/>
              </a:rPr>
              <a:t> </a:t>
            </a:r>
            <a:r>
              <a:rPr lang="en-US" dirty="0" err="1">
                <a:latin typeface="Calibri"/>
                <a:ea typeface="Calibri"/>
                <a:cs typeface="Calibri"/>
              </a:rPr>
              <a:t>vaak</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tussenlaag</a:t>
            </a:r>
            <a:r>
              <a:rPr lang="en-US" dirty="0">
                <a:latin typeface="Calibri"/>
                <a:ea typeface="Calibri"/>
                <a:cs typeface="Calibri"/>
              </a:rPr>
              <a:t> die </a:t>
            </a:r>
            <a:r>
              <a:rPr lang="en-US" dirty="0" err="1">
                <a:latin typeface="Calibri"/>
                <a:ea typeface="Calibri"/>
                <a:cs typeface="Calibri"/>
              </a:rPr>
              <a:t>een</a:t>
            </a:r>
            <a:r>
              <a:rPr lang="en-US" dirty="0">
                <a:latin typeface="Calibri"/>
                <a:ea typeface="Calibri"/>
                <a:cs typeface="Calibri"/>
              </a:rPr>
              <a:t> developer </a:t>
            </a:r>
            <a:r>
              <a:rPr lang="en-US" dirty="0" err="1">
                <a:latin typeface="Calibri"/>
                <a:ea typeface="Calibri"/>
                <a:cs typeface="Calibri"/>
              </a:rPr>
              <a:t>heeft</a:t>
            </a:r>
            <a:r>
              <a:rPr lang="en-US" dirty="0">
                <a:latin typeface="Calibri"/>
                <a:ea typeface="Calibri"/>
                <a:cs typeface="Calibri"/>
              </a:rPr>
              <a:t> </a:t>
            </a:r>
            <a:r>
              <a:rPr lang="en-US" dirty="0" err="1">
                <a:latin typeface="Calibri"/>
                <a:ea typeface="Calibri"/>
                <a:cs typeface="Calibri"/>
              </a:rPr>
              <a:t>gemaakt</a:t>
            </a:r>
            <a:r>
              <a:rPr lang="en-US" dirty="0">
                <a:latin typeface="Calibri"/>
                <a:ea typeface="Calibri"/>
                <a:cs typeface="Calibri"/>
              </a:rPr>
              <a:t> om </a:t>
            </a:r>
            <a:r>
              <a:rPr lang="en-US" dirty="0" err="1">
                <a:latin typeface="Calibri"/>
                <a:ea typeface="Calibri"/>
                <a:cs typeface="Calibri"/>
              </a:rPr>
              <a:t>gegevens</a:t>
            </a:r>
            <a:r>
              <a:rPr lang="en-US" dirty="0">
                <a:latin typeface="Calibri"/>
                <a:ea typeface="Calibri"/>
                <a:cs typeface="Calibri"/>
              </a:rPr>
              <a:t> </a:t>
            </a:r>
            <a:r>
              <a:rPr lang="en-US" dirty="0" err="1">
                <a:latin typeface="Calibri"/>
                <a:ea typeface="Calibri"/>
                <a:cs typeface="Calibri"/>
              </a:rPr>
              <a:t>uit</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wisselen</a:t>
            </a:r>
            <a:r>
              <a:rPr lang="en-US" dirty="0">
                <a:latin typeface="Calibri"/>
                <a:ea typeface="Calibri"/>
                <a:cs typeface="Calibri"/>
              </a:rPr>
              <a:t> met </a:t>
            </a:r>
            <a:r>
              <a:rPr lang="en-US" dirty="0" err="1">
                <a:latin typeface="Calibri"/>
                <a:ea typeface="Calibri"/>
                <a:cs typeface="Calibri"/>
              </a:rPr>
              <a:t>andere</a:t>
            </a:r>
            <a:r>
              <a:rPr lang="en-US" dirty="0">
                <a:latin typeface="Calibri"/>
                <a:ea typeface="Calibri"/>
                <a:cs typeface="Calibri"/>
              </a:rPr>
              <a:t> </a:t>
            </a:r>
            <a:r>
              <a:rPr lang="en-US" dirty="0" err="1">
                <a:latin typeface="Calibri"/>
                <a:ea typeface="Calibri"/>
                <a:cs typeface="Calibri"/>
              </a:rPr>
              <a:t>applicaties</a:t>
            </a:r>
            <a:r>
              <a:rPr lang="en-US" dirty="0">
                <a:latin typeface="Calibri"/>
                <a:ea typeface="Calibri"/>
                <a:cs typeface="Calibri"/>
              </a:rPr>
              <a:t>.</a:t>
            </a:r>
          </a:p>
          <a:p>
            <a:endParaRPr lang="en-US" dirty="0">
              <a:latin typeface="Calibri"/>
              <a:ea typeface="Calibri"/>
              <a:cs typeface="Calibri"/>
            </a:endParaRPr>
          </a:p>
          <a:p>
            <a:r>
              <a:rPr lang="en-US" dirty="0">
                <a:latin typeface="Calibri"/>
                <a:ea typeface="Calibri"/>
                <a:cs typeface="Calibri"/>
              </a:rPr>
              <a:t>Als </a:t>
            </a:r>
            <a:r>
              <a:rPr lang="en-US" dirty="0" err="1">
                <a:latin typeface="Calibri"/>
                <a:ea typeface="Calibri"/>
                <a:cs typeface="Calibri"/>
              </a:rPr>
              <a:t>jij</a:t>
            </a:r>
            <a:r>
              <a:rPr lang="en-US" dirty="0">
                <a:latin typeface="Calibri"/>
                <a:ea typeface="Calibri"/>
                <a:cs typeface="Calibri"/>
              </a:rPr>
              <a:t> </a:t>
            </a:r>
            <a:r>
              <a:rPr lang="en-US" dirty="0" err="1">
                <a:latin typeface="Calibri"/>
                <a:ea typeface="Calibri"/>
                <a:cs typeface="Calibri"/>
              </a:rPr>
              <a:t>dus</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applicatie</a:t>
            </a:r>
            <a:r>
              <a:rPr lang="en-US" dirty="0">
                <a:latin typeface="Calibri"/>
                <a:ea typeface="Calibri"/>
                <a:cs typeface="Calibri"/>
              </a:rPr>
              <a:t> </a:t>
            </a:r>
            <a:r>
              <a:rPr lang="en-US" dirty="0" err="1">
                <a:latin typeface="Calibri"/>
                <a:ea typeface="Calibri"/>
                <a:cs typeface="Calibri"/>
              </a:rPr>
              <a:t>maakt</a:t>
            </a:r>
            <a:r>
              <a:rPr lang="en-US" dirty="0">
                <a:latin typeface="Calibri"/>
                <a:ea typeface="Calibri"/>
                <a:cs typeface="Calibri"/>
              </a:rPr>
              <a:t> om je </a:t>
            </a:r>
            <a:r>
              <a:rPr lang="en-US" dirty="0" err="1">
                <a:latin typeface="Calibri"/>
                <a:ea typeface="Calibri"/>
                <a:cs typeface="Calibri"/>
              </a:rPr>
              <a:t>vrienden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zoeken</a:t>
            </a:r>
            <a:r>
              <a:rPr lang="en-US" dirty="0">
                <a:latin typeface="Calibri"/>
                <a:ea typeface="Calibri"/>
                <a:cs typeface="Calibri"/>
              </a:rPr>
              <a:t>: dan is het </a:t>
            </a:r>
            <a:r>
              <a:rPr lang="en-US" dirty="0" err="1">
                <a:latin typeface="Calibri"/>
                <a:ea typeface="Calibri"/>
                <a:cs typeface="Calibri"/>
              </a:rPr>
              <a:t>handig</a:t>
            </a:r>
            <a:r>
              <a:rPr lang="en-US" dirty="0">
                <a:latin typeface="Calibri"/>
                <a:ea typeface="Calibri"/>
                <a:cs typeface="Calibri"/>
              </a:rPr>
              <a:t> om Facebook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gebruiken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contactenboek</a:t>
            </a:r>
            <a:r>
              <a:rPr lang="en-US" dirty="0">
                <a:latin typeface="Calibri"/>
                <a:ea typeface="Calibri"/>
                <a:cs typeface="Calibri"/>
              </a:rPr>
              <a:t>. Je </a:t>
            </a:r>
            <a:r>
              <a:rPr lang="en-US" dirty="0" err="1">
                <a:latin typeface="Calibri"/>
                <a:ea typeface="Calibri"/>
                <a:cs typeface="Calibri"/>
              </a:rPr>
              <a:t>kan</a:t>
            </a:r>
            <a:r>
              <a:rPr lang="en-US" dirty="0">
                <a:latin typeface="Calibri"/>
                <a:ea typeface="Calibri"/>
                <a:cs typeface="Calibri"/>
              </a:rPr>
              <a:t> </a:t>
            </a:r>
            <a:r>
              <a:rPr lang="en-US" dirty="0" err="1">
                <a:latin typeface="Calibri"/>
                <a:ea typeface="Calibri"/>
                <a:cs typeface="Calibri"/>
              </a:rPr>
              <a:t>dit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combineren</a:t>
            </a:r>
            <a:r>
              <a:rPr lang="en-US" dirty="0">
                <a:latin typeface="Calibri"/>
                <a:ea typeface="Calibri"/>
                <a:cs typeface="Calibri"/>
              </a:rPr>
              <a:t>: </a:t>
            </a:r>
            <a:r>
              <a:rPr lang="en-US" dirty="0" err="1">
                <a:latin typeface="Calibri"/>
                <a:ea typeface="Calibri"/>
                <a:cs typeface="Calibri"/>
              </a:rPr>
              <a:t>bijvoorbeeld</a:t>
            </a:r>
            <a:r>
              <a:rPr lang="en-US" dirty="0">
                <a:latin typeface="Calibri"/>
                <a:ea typeface="Calibri"/>
                <a:cs typeface="Calibri"/>
              </a:rPr>
              <a:t> de Facebook API </a:t>
            </a:r>
            <a:r>
              <a:rPr lang="en-US" dirty="0" err="1">
                <a:latin typeface="Calibri"/>
                <a:ea typeface="Calibri"/>
                <a:cs typeface="Calibri"/>
              </a:rPr>
              <a:t>én</a:t>
            </a:r>
            <a:r>
              <a:rPr lang="en-US" dirty="0">
                <a:latin typeface="Calibri"/>
                <a:ea typeface="Calibri"/>
                <a:cs typeface="Calibri"/>
              </a:rPr>
              <a:t> de Snapchat API: je </a:t>
            </a:r>
            <a:r>
              <a:rPr lang="en-US" dirty="0" err="1">
                <a:latin typeface="Calibri"/>
                <a:ea typeface="Calibri"/>
                <a:cs typeface="Calibri"/>
              </a:rPr>
              <a:t>maakt</a:t>
            </a:r>
            <a:r>
              <a:rPr lang="en-US" dirty="0">
                <a:latin typeface="Calibri"/>
                <a:ea typeface="Calibri"/>
                <a:cs typeface="Calibri"/>
              </a:rPr>
              <a:t> </a:t>
            </a:r>
            <a:r>
              <a:rPr lang="en-US" dirty="0" err="1">
                <a:latin typeface="Calibri"/>
                <a:ea typeface="Calibri"/>
                <a:cs typeface="Calibri"/>
              </a:rPr>
              <a:t>meer</a:t>
            </a:r>
            <a:r>
              <a:rPr lang="en-US" dirty="0">
                <a:latin typeface="Calibri"/>
                <a:ea typeface="Calibri"/>
                <a:cs typeface="Calibri"/>
              </a:rPr>
              <a:t> </a:t>
            </a:r>
            <a:r>
              <a:rPr lang="en-US" dirty="0" err="1">
                <a:latin typeface="Calibri"/>
                <a:ea typeface="Calibri"/>
                <a:cs typeface="Calibri"/>
              </a:rPr>
              <a:t>kans</a:t>
            </a:r>
            <a:r>
              <a:rPr lang="en-US" dirty="0">
                <a:latin typeface="Calibri"/>
                <a:ea typeface="Calibri"/>
                <a:cs typeface="Calibri"/>
              </a:rPr>
              <a:t> om </a:t>
            </a:r>
            <a:r>
              <a:rPr lang="en-US" dirty="0" err="1">
                <a:latin typeface="Calibri"/>
                <a:ea typeface="Calibri"/>
                <a:cs typeface="Calibri"/>
              </a:rPr>
              <a:t>mensen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vinden</a:t>
            </a:r>
            <a:r>
              <a:rPr lang="en-US" dirty="0">
                <a:latin typeface="Calibri"/>
                <a:ea typeface="Calibri"/>
                <a:cs typeface="Calibri"/>
              </a:rPr>
              <a:t> die je </a:t>
            </a:r>
            <a:r>
              <a:rPr lang="en-US" dirty="0" err="1">
                <a:latin typeface="Calibri"/>
                <a:ea typeface="Calibri"/>
                <a:cs typeface="Calibri"/>
              </a:rPr>
              <a:t>zoekt</a:t>
            </a:r>
            <a:r>
              <a:rPr lang="en-US" dirty="0">
                <a:latin typeface="Calibri"/>
                <a:ea typeface="Calibri"/>
                <a:cs typeface="Calibri"/>
              </a:rPr>
              <a:t> (</a:t>
            </a:r>
            <a:r>
              <a:rPr lang="en-US" dirty="0" err="1">
                <a:latin typeface="Calibri"/>
                <a:ea typeface="Calibri"/>
                <a:cs typeface="Calibri"/>
              </a:rPr>
              <a:t>voor</a:t>
            </a:r>
            <a:r>
              <a:rPr lang="en-US" dirty="0">
                <a:latin typeface="Calibri"/>
                <a:ea typeface="Calibri"/>
                <a:cs typeface="Calibri"/>
              </a:rPr>
              <a:t> het </a:t>
            </a:r>
            <a:r>
              <a:rPr lang="en-US" dirty="0" err="1">
                <a:latin typeface="Calibri"/>
                <a:ea typeface="Calibri"/>
                <a:cs typeface="Calibri"/>
              </a:rPr>
              <a:t>geval</a:t>
            </a:r>
            <a:r>
              <a:rPr lang="en-US" dirty="0">
                <a:latin typeface="Calibri"/>
                <a:ea typeface="Calibri"/>
                <a:cs typeface="Calibri"/>
              </a:rPr>
              <a:t> </a:t>
            </a:r>
            <a:r>
              <a:rPr lang="en-US" dirty="0" err="1">
                <a:latin typeface="Calibri"/>
                <a:ea typeface="Calibri"/>
                <a:cs typeface="Calibri"/>
              </a:rPr>
              <a:t>dat</a:t>
            </a:r>
            <a:r>
              <a:rPr lang="en-US" dirty="0">
                <a:latin typeface="Calibri"/>
                <a:ea typeface="Calibri"/>
                <a:cs typeface="Calibri"/>
              </a:rPr>
              <a:t> ze </a:t>
            </a:r>
            <a:r>
              <a:rPr lang="en-US" dirty="0" err="1">
                <a:latin typeface="Calibri"/>
                <a:ea typeface="Calibri"/>
                <a:cs typeface="Calibri"/>
              </a:rPr>
              <a:t>geen</a:t>
            </a:r>
            <a:r>
              <a:rPr lang="en-US" dirty="0">
                <a:latin typeface="Calibri"/>
                <a:ea typeface="Calibri"/>
                <a:cs typeface="Calibri"/>
              </a:rPr>
              <a:t> account </a:t>
            </a:r>
            <a:r>
              <a:rPr lang="en-US" dirty="0" err="1">
                <a:latin typeface="Calibri"/>
                <a:ea typeface="Calibri"/>
                <a:cs typeface="Calibri"/>
              </a:rPr>
              <a:t>hebben</a:t>
            </a:r>
            <a:r>
              <a:rPr lang="en-US" dirty="0">
                <a:latin typeface="Calibri"/>
                <a:ea typeface="Calibri"/>
                <a:cs typeface="Calibri"/>
              </a:rPr>
              <a:t> op het platform).</a:t>
            </a:r>
          </a:p>
          <a:p>
            <a:endParaRPr lang="en-US" dirty="0">
              <a:latin typeface="Calibri"/>
              <a:ea typeface="Calibri"/>
              <a:cs typeface="Calibri"/>
            </a:endParaRPr>
          </a:p>
          <a:p>
            <a:r>
              <a:rPr lang="en-US" dirty="0">
                <a:latin typeface="Calibri"/>
                <a:ea typeface="Calibri"/>
                <a:cs typeface="Calibri"/>
              </a:rPr>
              <a:t>Een API </a:t>
            </a:r>
            <a:r>
              <a:rPr lang="en-US" dirty="0" err="1">
                <a:latin typeface="Calibri"/>
                <a:ea typeface="Calibri"/>
                <a:cs typeface="Calibri"/>
              </a:rPr>
              <a:t>binnen</a:t>
            </a:r>
            <a:r>
              <a:rPr lang="en-US" dirty="0">
                <a:latin typeface="Calibri"/>
                <a:ea typeface="Calibri"/>
                <a:cs typeface="Calibri"/>
              </a:rPr>
              <a:t> de </a:t>
            </a:r>
            <a:r>
              <a:rPr lang="en-US" dirty="0" err="1">
                <a:latin typeface="Calibri"/>
                <a:ea typeface="Calibri"/>
                <a:cs typeface="Calibri"/>
              </a:rPr>
              <a:t>webtoepassingen</a:t>
            </a:r>
            <a:r>
              <a:rPr lang="en-US" dirty="0">
                <a:latin typeface="Calibri"/>
                <a:ea typeface="Calibri"/>
                <a:cs typeface="Calibri"/>
              </a:rPr>
              <a:t> is </a:t>
            </a:r>
            <a:r>
              <a:rPr lang="en-US" dirty="0" err="1">
                <a:latin typeface="Calibri"/>
                <a:ea typeface="Calibri"/>
                <a:cs typeface="Calibri"/>
              </a:rPr>
              <a:t>aanroepbaar</a:t>
            </a:r>
            <a:r>
              <a:rPr lang="en-US" dirty="0">
                <a:latin typeface="Calibri"/>
                <a:ea typeface="Calibri"/>
                <a:cs typeface="Calibri"/>
              </a:rPr>
              <a:t> </a:t>
            </a:r>
            <a:r>
              <a:rPr lang="en-US" dirty="0" err="1">
                <a:latin typeface="Calibri"/>
                <a:ea typeface="Calibri"/>
                <a:cs typeface="Calibri"/>
              </a:rPr>
              <a:t>binnen</a:t>
            </a:r>
            <a:r>
              <a:rPr lang="en-US" dirty="0">
                <a:latin typeface="Calibri"/>
                <a:ea typeface="Calibri"/>
                <a:cs typeface="Calibri"/>
              </a:rPr>
              <a:t> </a:t>
            </a:r>
            <a:r>
              <a:rPr lang="en-US" dirty="0" err="1">
                <a:latin typeface="Calibri"/>
                <a:ea typeface="Calibri"/>
                <a:cs typeface="Calibri"/>
              </a:rPr>
              <a:t>alles</a:t>
            </a:r>
            <a:r>
              <a:rPr lang="en-US" dirty="0">
                <a:latin typeface="Calibri"/>
                <a:ea typeface="Calibri"/>
                <a:cs typeface="Calibri"/>
              </a:rPr>
              <a:t> wat </a:t>
            </a:r>
            <a:r>
              <a:rPr lang="en-US" dirty="0" err="1">
                <a:latin typeface="Calibri"/>
                <a:ea typeface="Calibri"/>
                <a:cs typeface="Calibri"/>
              </a:rPr>
              <a:t>bereikbaar</a:t>
            </a:r>
            <a:r>
              <a:rPr lang="en-US" dirty="0">
                <a:latin typeface="Calibri"/>
                <a:ea typeface="Calibri"/>
                <a:cs typeface="Calibri"/>
              </a:rPr>
              <a:t> is via HTTP protocol. Je </a:t>
            </a:r>
            <a:r>
              <a:rPr lang="en-US" dirty="0" err="1">
                <a:latin typeface="Calibri"/>
                <a:ea typeface="Calibri"/>
                <a:cs typeface="Calibri"/>
              </a:rPr>
              <a:t>moet</a:t>
            </a:r>
            <a:r>
              <a:rPr lang="en-US" dirty="0">
                <a:latin typeface="Calibri"/>
                <a:ea typeface="Calibri"/>
                <a:cs typeface="Calibri"/>
              </a:rPr>
              <a:t> het </a:t>
            </a:r>
            <a:r>
              <a:rPr lang="en-US" dirty="0" err="1">
                <a:latin typeface="Calibri"/>
                <a:ea typeface="Calibri"/>
                <a:cs typeface="Calibri"/>
              </a:rPr>
              <a:t>eindpunt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kunnen</a:t>
            </a:r>
            <a:r>
              <a:rPr lang="en-US" dirty="0">
                <a:latin typeface="Calibri"/>
                <a:ea typeface="Calibri"/>
                <a:cs typeface="Calibri"/>
              </a:rPr>
              <a:t> </a:t>
            </a:r>
            <a:r>
              <a:rPr lang="en-US" dirty="0" err="1">
                <a:latin typeface="Calibri"/>
                <a:ea typeface="Calibri"/>
                <a:cs typeface="Calibri"/>
              </a:rPr>
              <a:t>bereiken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de server plat </a:t>
            </a:r>
            <a:r>
              <a:rPr lang="en-US" dirty="0" err="1">
                <a:latin typeface="Calibri"/>
                <a:ea typeface="Calibri"/>
                <a:cs typeface="Calibri"/>
              </a:rPr>
              <a:t>ligt</a:t>
            </a:r>
            <a:r>
              <a:rPr lang="en-US" dirty="0">
                <a:latin typeface="Calibri"/>
                <a:ea typeface="Calibri"/>
                <a:cs typeface="Calibri"/>
              </a:rPr>
              <a:t>, of je </a:t>
            </a:r>
            <a:r>
              <a:rPr lang="en-US" dirty="0" err="1">
                <a:latin typeface="Calibri"/>
                <a:ea typeface="Calibri"/>
                <a:cs typeface="Calibri"/>
              </a:rPr>
              <a:t>hebt</a:t>
            </a:r>
            <a:r>
              <a:rPr lang="en-US" dirty="0">
                <a:latin typeface="Calibri"/>
                <a:ea typeface="Calibri"/>
                <a:cs typeface="Calibri"/>
              </a:rPr>
              <a:t> </a:t>
            </a:r>
            <a:r>
              <a:rPr lang="en-US" dirty="0" err="1">
                <a:latin typeface="Calibri"/>
                <a:ea typeface="Calibri"/>
                <a:cs typeface="Calibri"/>
              </a:rPr>
              <a:t>geen</a:t>
            </a:r>
            <a:r>
              <a:rPr lang="en-US" dirty="0">
                <a:latin typeface="Calibri"/>
                <a:ea typeface="Calibri"/>
                <a:cs typeface="Calibri"/>
              </a:rPr>
              <a:t> internet op het </a:t>
            </a:r>
            <a:r>
              <a:rPr lang="en-US" dirty="0" err="1">
                <a:latin typeface="Calibri"/>
                <a:ea typeface="Calibri"/>
                <a:cs typeface="Calibri"/>
              </a:rPr>
              <a:t>toestel</a:t>
            </a:r>
            <a:r>
              <a:rPr lang="en-US" dirty="0">
                <a:latin typeface="Calibri"/>
                <a:ea typeface="Calibri"/>
                <a:cs typeface="Calibri"/>
              </a:rPr>
              <a:t> </a:t>
            </a:r>
            <a:r>
              <a:rPr lang="en-US" dirty="0" err="1">
                <a:latin typeface="Calibri"/>
                <a:ea typeface="Calibri"/>
                <a:cs typeface="Calibri"/>
              </a:rPr>
              <a:t>waarop</a:t>
            </a:r>
            <a:r>
              <a:rPr lang="en-US" dirty="0">
                <a:latin typeface="Calibri"/>
                <a:ea typeface="Calibri"/>
                <a:cs typeface="Calibri"/>
              </a:rPr>
              <a:t> je </a:t>
            </a:r>
            <a:r>
              <a:rPr lang="en-US" dirty="0" err="1">
                <a:latin typeface="Calibri"/>
                <a:ea typeface="Calibri"/>
                <a:cs typeface="Calibri"/>
              </a:rPr>
              <a:t>een</a:t>
            </a:r>
            <a:r>
              <a:rPr lang="en-US" dirty="0">
                <a:latin typeface="Calibri"/>
                <a:ea typeface="Calibri"/>
                <a:cs typeface="Calibri"/>
              </a:rPr>
              <a:t> API request </a:t>
            </a:r>
            <a:r>
              <a:rPr lang="en-US" dirty="0" err="1">
                <a:latin typeface="Calibri"/>
                <a:ea typeface="Calibri"/>
                <a:cs typeface="Calibri"/>
              </a:rPr>
              <a:t>maakt</a:t>
            </a:r>
            <a:r>
              <a:rPr lang="en-US" dirty="0">
                <a:latin typeface="Calibri"/>
                <a:ea typeface="Calibri"/>
                <a:cs typeface="Calibri"/>
              </a:rPr>
              <a:t>: dan </a:t>
            </a:r>
            <a:r>
              <a:rPr lang="en-US" dirty="0" err="1">
                <a:latin typeface="Calibri"/>
                <a:ea typeface="Calibri"/>
                <a:cs typeface="Calibri"/>
              </a:rPr>
              <a:t>mislukt</a:t>
            </a:r>
            <a:r>
              <a:rPr lang="en-US" dirty="0">
                <a:latin typeface="Calibri"/>
                <a:ea typeface="Calibri"/>
                <a:cs typeface="Calibri"/>
              </a:rPr>
              <a:t> deze.</a:t>
            </a:r>
          </a:p>
        </p:txBody>
      </p:sp>
      <p:sp>
        <p:nvSpPr>
          <p:cNvPr id="4" name="Tijdelijke aanduiding voor dianummer 3">
            <a:extLst>
              <a:ext uri="{FF2B5EF4-FFF2-40B4-BE49-F238E27FC236}">
                <a16:creationId xmlns:a16="http://schemas.microsoft.com/office/drawing/2014/main" id="{A5EC17E2-3BF9-36C4-7FAA-07BDFE413CB6}"/>
              </a:ext>
            </a:extLst>
          </p:cNvPr>
          <p:cNvSpPr>
            <a:spLocks noGrp="1"/>
          </p:cNvSpPr>
          <p:nvPr>
            <p:ph type="sldNum" sz="quarter" idx="5"/>
          </p:nvPr>
        </p:nvSpPr>
        <p:spPr/>
        <p:txBody>
          <a:bodyPr/>
          <a:lstStyle/>
          <a:p>
            <a:fld id="{39DBD449-D42A-4711-8837-53EC15580D9C}" type="slidenum">
              <a:rPr lang="nl-BE" smtClean="0"/>
              <a:t>3</a:t>
            </a:fld>
            <a:endParaRPr lang="nl-BE"/>
          </a:p>
        </p:txBody>
      </p:sp>
    </p:spTree>
    <p:extLst>
      <p:ext uri="{BB962C8B-B14F-4D97-AF65-F5344CB8AC3E}">
        <p14:creationId xmlns:p14="http://schemas.microsoft.com/office/powerpoint/2010/main" val="19964610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62EC6-D121-2868-18F2-F3CE7D5435F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DD2AACB-04DA-DC2B-57F4-49F93708A28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05E0426-F68D-9E07-AE25-15276A3272AA}"/>
              </a:ext>
            </a:extLst>
          </p:cNvPr>
          <p:cNvSpPr>
            <a:spLocks noGrp="1"/>
          </p:cNvSpPr>
          <p:nvPr>
            <p:ph type="body" idx="1"/>
          </p:nvPr>
        </p:nvSpPr>
        <p:spPr/>
        <p:txBody>
          <a:bodyPr/>
          <a:lstStyle/>
          <a:p>
            <a:r>
              <a:rPr lang="en-US" dirty="0">
                <a:latin typeface="Calibri"/>
                <a:ea typeface="Calibri"/>
                <a:cs typeface="Calibri"/>
              </a:rPr>
              <a:t>Een Application Programming Interface of API </a:t>
            </a:r>
            <a:r>
              <a:rPr lang="en-US" dirty="0" err="1">
                <a:latin typeface="Calibri"/>
                <a:ea typeface="Calibri"/>
                <a:cs typeface="Calibri"/>
              </a:rPr>
              <a:t>fungeert</a:t>
            </a:r>
            <a:r>
              <a:rPr lang="en-US" dirty="0">
                <a:latin typeface="Calibri"/>
                <a:ea typeface="Calibri"/>
                <a:cs typeface="Calibri"/>
              </a:rPr>
              <a:t> </a:t>
            </a:r>
            <a:r>
              <a:rPr lang="en-US" dirty="0" err="1">
                <a:latin typeface="Calibri"/>
                <a:ea typeface="Calibri"/>
                <a:cs typeface="Calibri"/>
              </a:rPr>
              <a:t>vaak</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tussenlaag</a:t>
            </a:r>
            <a:r>
              <a:rPr lang="en-US" dirty="0">
                <a:latin typeface="Calibri"/>
                <a:ea typeface="Calibri"/>
                <a:cs typeface="Calibri"/>
              </a:rPr>
              <a:t> die </a:t>
            </a:r>
            <a:r>
              <a:rPr lang="en-US" dirty="0" err="1">
                <a:latin typeface="Calibri"/>
                <a:ea typeface="Calibri"/>
                <a:cs typeface="Calibri"/>
              </a:rPr>
              <a:t>een</a:t>
            </a:r>
            <a:r>
              <a:rPr lang="en-US" dirty="0">
                <a:latin typeface="Calibri"/>
                <a:ea typeface="Calibri"/>
                <a:cs typeface="Calibri"/>
              </a:rPr>
              <a:t> developer </a:t>
            </a:r>
            <a:r>
              <a:rPr lang="en-US" dirty="0" err="1">
                <a:latin typeface="Calibri"/>
                <a:ea typeface="Calibri"/>
                <a:cs typeface="Calibri"/>
              </a:rPr>
              <a:t>heeft</a:t>
            </a:r>
            <a:r>
              <a:rPr lang="en-US" dirty="0">
                <a:latin typeface="Calibri"/>
                <a:ea typeface="Calibri"/>
                <a:cs typeface="Calibri"/>
              </a:rPr>
              <a:t> </a:t>
            </a:r>
            <a:r>
              <a:rPr lang="en-US" dirty="0" err="1">
                <a:latin typeface="Calibri"/>
                <a:ea typeface="Calibri"/>
                <a:cs typeface="Calibri"/>
              </a:rPr>
              <a:t>gemaakt</a:t>
            </a:r>
            <a:r>
              <a:rPr lang="en-US" dirty="0">
                <a:latin typeface="Calibri"/>
                <a:ea typeface="Calibri"/>
                <a:cs typeface="Calibri"/>
              </a:rPr>
              <a:t> om </a:t>
            </a:r>
            <a:r>
              <a:rPr lang="en-US" dirty="0" err="1">
                <a:latin typeface="Calibri"/>
                <a:ea typeface="Calibri"/>
                <a:cs typeface="Calibri"/>
              </a:rPr>
              <a:t>gegevens</a:t>
            </a:r>
            <a:r>
              <a:rPr lang="en-US" dirty="0">
                <a:latin typeface="Calibri"/>
                <a:ea typeface="Calibri"/>
                <a:cs typeface="Calibri"/>
              </a:rPr>
              <a:t> </a:t>
            </a:r>
            <a:r>
              <a:rPr lang="en-US" dirty="0" err="1">
                <a:latin typeface="Calibri"/>
                <a:ea typeface="Calibri"/>
                <a:cs typeface="Calibri"/>
              </a:rPr>
              <a:t>uit</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wisselen</a:t>
            </a:r>
            <a:r>
              <a:rPr lang="en-US" dirty="0">
                <a:latin typeface="Calibri"/>
                <a:ea typeface="Calibri"/>
                <a:cs typeface="Calibri"/>
              </a:rPr>
              <a:t> met </a:t>
            </a:r>
            <a:r>
              <a:rPr lang="en-US" dirty="0" err="1">
                <a:latin typeface="Calibri"/>
                <a:ea typeface="Calibri"/>
                <a:cs typeface="Calibri"/>
              </a:rPr>
              <a:t>andere</a:t>
            </a:r>
            <a:r>
              <a:rPr lang="en-US" dirty="0">
                <a:latin typeface="Calibri"/>
                <a:ea typeface="Calibri"/>
                <a:cs typeface="Calibri"/>
              </a:rPr>
              <a:t> </a:t>
            </a:r>
            <a:r>
              <a:rPr lang="en-US" dirty="0" err="1">
                <a:latin typeface="Calibri"/>
                <a:ea typeface="Calibri"/>
                <a:cs typeface="Calibri"/>
              </a:rPr>
              <a:t>applicaties</a:t>
            </a:r>
            <a:r>
              <a:rPr lang="en-US" dirty="0">
                <a:latin typeface="Calibri"/>
                <a:ea typeface="Calibri"/>
                <a:cs typeface="Calibri"/>
              </a:rPr>
              <a:t>.</a:t>
            </a:r>
          </a:p>
          <a:p>
            <a:endParaRPr lang="en-US" dirty="0">
              <a:latin typeface="Calibri"/>
              <a:ea typeface="Calibri"/>
              <a:cs typeface="Calibri"/>
            </a:endParaRPr>
          </a:p>
          <a:p>
            <a:r>
              <a:rPr lang="en-US" dirty="0">
                <a:latin typeface="Calibri"/>
                <a:ea typeface="Calibri"/>
                <a:cs typeface="Calibri"/>
              </a:rPr>
              <a:t>Als </a:t>
            </a:r>
            <a:r>
              <a:rPr lang="en-US" dirty="0" err="1">
                <a:latin typeface="Calibri"/>
                <a:ea typeface="Calibri"/>
                <a:cs typeface="Calibri"/>
              </a:rPr>
              <a:t>jij</a:t>
            </a:r>
            <a:r>
              <a:rPr lang="en-US" dirty="0">
                <a:latin typeface="Calibri"/>
                <a:ea typeface="Calibri"/>
                <a:cs typeface="Calibri"/>
              </a:rPr>
              <a:t> </a:t>
            </a:r>
            <a:r>
              <a:rPr lang="en-US" dirty="0" err="1">
                <a:latin typeface="Calibri"/>
                <a:ea typeface="Calibri"/>
                <a:cs typeface="Calibri"/>
              </a:rPr>
              <a:t>dus</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applicatie</a:t>
            </a:r>
            <a:r>
              <a:rPr lang="en-US" dirty="0">
                <a:latin typeface="Calibri"/>
                <a:ea typeface="Calibri"/>
                <a:cs typeface="Calibri"/>
              </a:rPr>
              <a:t> </a:t>
            </a:r>
            <a:r>
              <a:rPr lang="en-US" dirty="0" err="1">
                <a:latin typeface="Calibri"/>
                <a:ea typeface="Calibri"/>
                <a:cs typeface="Calibri"/>
              </a:rPr>
              <a:t>maakt</a:t>
            </a:r>
            <a:r>
              <a:rPr lang="en-US" dirty="0">
                <a:latin typeface="Calibri"/>
                <a:ea typeface="Calibri"/>
                <a:cs typeface="Calibri"/>
              </a:rPr>
              <a:t> om je </a:t>
            </a:r>
            <a:r>
              <a:rPr lang="en-US" dirty="0" err="1">
                <a:latin typeface="Calibri"/>
                <a:ea typeface="Calibri"/>
                <a:cs typeface="Calibri"/>
              </a:rPr>
              <a:t>vrienden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zoeken</a:t>
            </a:r>
            <a:r>
              <a:rPr lang="en-US" dirty="0">
                <a:latin typeface="Calibri"/>
                <a:ea typeface="Calibri"/>
                <a:cs typeface="Calibri"/>
              </a:rPr>
              <a:t>: dan is het </a:t>
            </a:r>
            <a:r>
              <a:rPr lang="en-US" dirty="0" err="1">
                <a:latin typeface="Calibri"/>
                <a:ea typeface="Calibri"/>
                <a:cs typeface="Calibri"/>
              </a:rPr>
              <a:t>handig</a:t>
            </a:r>
            <a:r>
              <a:rPr lang="en-US" dirty="0">
                <a:latin typeface="Calibri"/>
                <a:ea typeface="Calibri"/>
                <a:cs typeface="Calibri"/>
              </a:rPr>
              <a:t> om Facebook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gebruiken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contactenboek</a:t>
            </a:r>
            <a:r>
              <a:rPr lang="en-US" dirty="0">
                <a:latin typeface="Calibri"/>
                <a:ea typeface="Calibri"/>
                <a:cs typeface="Calibri"/>
              </a:rPr>
              <a:t>. Je </a:t>
            </a:r>
            <a:r>
              <a:rPr lang="en-US" dirty="0" err="1">
                <a:latin typeface="Calibri"/>
                <a:ea typeface="Calibri"/>
                <a:cs typeface="Calibri"/>
              </a:rPr>
              <a:t>kan</a:t>
            </a:r>
            <a:r>
              <a:rPr lang="en-US" dirty="0">
                <a:latin typeface="Calibri"/>
                <a:ea typeface="Calibri"/>
                <a:cs typeface="Calibri"/>
              </a:rPr>
              <a:t> </a:t>
            </a:r>
            <a:r>
              <a:rPr lang="en-US" dirty="0" err="1">
                <a:latin typeface="Calibri"/>
                <a:ea typeface="Calibri"/>
                <a:cs typeface="Calibri"/>
              </a:rPr>
              <a:t>dit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combineren</a:t>
            </a:r>
            <a:r>
              <a:rPr lang="en-US" dirty="0">
                <a:latin typeface="Calibri"/>
                <a:ea typeface="Calibri"/>
                <a:cs typeface="Calibri"/>
              </a:rPr>
              <a:t>: </a:t>
            </a:r>
            <a:r>
              <a:rPr lang="en-US" dirty="0" err="1">
                <a:latin typeface="Calibri"/>
                <a:ea typeface="Calibri"/>
                <a:cs typeface="Calibri"/>
              </a:rPr>
              <a:t>bijvoorbeeld</a:t>
            </a:r>
            <a:r>
              <a:rPr lang="en-US" dirty="0">
                <a:latin typeface="Calibri"/>
                <a:ea typeface="Calibri"/>
                <a:cs typeface="Calibri"/>
              </a:rPr>
              <a:t> de Facebook API </a:t>
            </a:r>
            <a:r>
              <a:rPr lang="en-US" dirty="0" err="1">
                <a:latin typeface="Calibri"/>
                <a:ea typeface="Calibri"/>
                <a:cs typeface="Calibri"/>
              </a:rPr>
              <a:t>én</a:t>
            </a:r>
            <a:r>
              <a:rPr lang="en-US" dirty="0">
                <a:latin typeface="Calibri"/>
                <a:ea typeface="Calibri"/>
                <a:cs typeface="Calibri"/>
              </a:rPr>
              <a:t> de Snapchat API: je </a:t>
            </a:r>
            <a:r>
              <a:rPr lang="en-US" dirty="0" err="1">
                <a:latin typeface="Calibri"/>
                <a:ea typeface="Calibri"/>
                <a:cs typeface="Calibri"/>
              </a:rPr>
              <a:t>maakt</a:t>
            </a:r>
            <a:r>
              <a:rPr lang="en-US" dirty="0">
                <a:latin typeface="Calibri"/>
                <a:ea typeface="Calibri"/>
                <a:cs typeface="Calibri"/>
              </a:rPr>
              <a:t> </a:t>
            </a:r>
            <a:r>
              <a:rPr lang="en-US" dirty="0" err="1">
                <a:latin typeface="Calibri"/>
                <a:ea typeface="Calibri"/>
                <a:cs typeface="Calibri"/>
              </a:rPr>
              <a:t>meer</a:t>
            </a:r>
            <a:r>
              <a:rPr lang="en-US" dirty="0">
                <a:latin typeface="Calibri"/>
                <a:ea typeface="Calibri"/>
                <a:cs typeface="Calibri"/>
              </a:rPr>
              <a:t> </a:t>
            </a:r>
            <a:r>
              <a:rPr lang="en-US" dirty="0" err="1">
                <a:latin typeface="Calibri"/>
                <a:ea typeface="Calibri"/>
                <a:cs typeface="Calibri"/>
              </a:rPr>
              <a:t>kans</a:t>
            </a:r>
            <a:r>
              <a:rPr lang="en-US" dirty="0">
                <a:latin typeface="Calibri"/>
                <a:ea typeface="Calibri"/>
                <a:cs typeface="Calibri"/>
              </a:rPr>
              <a:t> om </a:t>
            </a:r>
            <a:r>
              <a:rPr lang="en-US" dirty="0" err="1">
                <a:latin typeface="Calibri"/>
                <a:ea typeface="Calibri"/>
                <a:cs typeface="Calibri"/>
              </a:rPr>
              <a:t>mensen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vinden</a:t>
            </a:r>
            <a:r>
              <a:rPr lang="en-US" dirty="0">
                <a:latin typeface="Calibri"/>
                <a:ea typeface="Calibri"/>
                <a:cs typeface="Calibri"/>
              </a:rPr>
              <a:t> die je </a:t>
            </a:r>
            <a:r>
              <a:rPr lang="en-US" dirty="0" err="1">
                <a:latin typeface="Calibri"/>
                <a:ea typeface="Calibri"/>
                <a:cs typeface="Calibri"/>
              </a:rPr>
              <a:t>zoekt</a:t>
            </a:r>
            <a:r>
              <a:rPr lang="en-US" dirty="0">
                <a:latin typeface="Calibri"/>
                <a:ea typeface="Calibri"/>
                <a:cs typeface="Calibri"/>
              </a:rPr>
              <a:t> (</a:t>
            </a:r>
            <a:r>
              <a:rPr lang="en-US" dirty="0" err="1">
                <a:latin typeface="Calibri"/>
                <a:ea typeface="Calibri"/>
                <a:cs typeface="Calibri"/>
              </a:rPr>
              <a:t>voor</a:t>
            </a:r>
            <a:r>
              <a:rPr lang="en-US" dirty="0">
                <a:latin typeface="Calibri"/>
                <a:ea typeface="Calibri"/>
                <a:cs typeface="Calibri"/>
              </a:rPr>
              <a:t> het </a:t>
            </a:r>
            <a:r>
              <a:rPr lang="en-US" dirty="0" err="1">
                <a:latin typeface="Calibri"/>
                <a:ea typeface="Calibri"/>
                <a:cs typeface="Calibri"/>
              </a:rPr>
              <a:t>geval</a:t>
            </a:r>
            <a:r>
              <a:rPr lang="en-US" dirty="0">
                <a:latin typeface="Calibri"/>
                <a:ea typeface="Calibri"/>
                <a:cs typeface="Calibri"/>
              </a:rPr>
              <a:t> </a:t>
            </a:r>
            <a:r>
              <a:rPr lang="en-US" dirty="0" err="1">
                <a:latin typeface="Calibri"/>
                <a:ea typeface="Calibri"/>
                <a:cs typeface="Calibri"/>
              </a:rPr>
              <a:t>dat</a:t>
            </a:r>
            <a:r>
              <a:rPr lang="en-US" dirty="0">
                <a:latin typeface="Calibri"/>
                <a:ea typeface="Calibri"/>
                <a:cs typeface="Calibri"/>
              </a:rPr>
              <a:t> ze </a:t>
            </a:r>
            <a:r>
              <a:rPr lang="en-US" dirty="0" err="1">
                <a:latin typeface="Calibri"/>
                <a:ea typeface="Calibri"/>
                <a:cs typeface="Calibri"/>
              </a:rPr>
              <a:t>geen</a:t>
            </a:r>
            <a:r>
              <a:rPr lang="en-US" dirty="0">
                <a:latin typeface="Calibri"/>
                <a:ea typeface="Calibri"/>
                <a:cs typeface="Calibri"/>
              </a:rPr>
              <a:t> account </a:t>
            </a:r>
            <a:r>
              <a:rPr lang="en-US" dirty="0" err="1">
                <a:latin typeface="Calibri"/>
                <a:ea typeface="Calibri"/>
                <a:cs typeface="Calibri"/>
              </a:rPr>
              <a:t>hebben</a:t>
            </a:r>
            <a:r>
              <a:rPr lang="en-US" dirty="0">
                <a:latin typeface="Calibri"/>
                <a:ea typeface="Calibri"/>
                <a:cs typeface="Calibri"/>
              </a:rPr>
              <a:t> op het platform).</a:t>
            </a:r>
          </a:p>
          <a:p>
            <a:endParaRPr lang="en-US" dirty="0">
              <a:latin typeface="Calibri"/>
              <a:ea typeface="Calibri"/>
              <a:cs typeface="Calibri"/>
            </a:endParaRPr>
          </a:p>
          <a:p>
            <a:r>
              <a:rPr lang="en-US" dirty="0">
                <a:latin typeface="Calibri"/>
                <a:ea typeface="Calibri"/>
                <a:cs typeface="Calibri"/>
              </a:rPr>
              <a:t>Een API </a:t>
            </a:r>
            <a:r>
              <a:rPr lang="en-US" dirty="0" err="1">
                <a:latin typeface="Calibri"/>
                <a:ea typeface="Calibri"/>
                <a:cs typeface="Calibri"/>
              </a:rPr>
              <a:t>binnen</a:t>
            </a:r>
            <a:r>
              <a:rPr lang="en-US" dirty="0">
                <a:latin typeface="Calibri"/>
                <a:ea typeface="Calibri"/>
                <a:cs typeface="Calibri"/>
              </a:rPr>
              <a:t> de </a:t>
            </a:r>
            <a:r>
              <a:rPr lang="en-US" dirty="0" err="1">
                <a:latin typeface="Calibri"/>
                <a:ea typeface="Calibri"/>
                <a:cs typeface="Calibri"/>
              </a:rPr>
              <a:t>webtoepassingen</a:t>
            </a:r>
            <a:r>
              <a:rPr lang="en-US" dirty="0">
                <a:latin typeface="Calibri"/>
                <a:ea typeface="Calibri"/>
                <a:cs typeface="Calibri"/>
              </a:rPr>
              <a:t> is </a:t>
            </a:r>
            <a:r>
              <a:rPr lang="en-US" dirty="0" err="1">
                <a:latin typeface="Calibri"/>
                <a:ea typeface="Calibri"/>
                <a:cs typeface="Calibri"/>
              </a:rPr>
              <a:t>aanroepbaar</a:t>
            </a:r>
            <a:r>
              <a:rPr lang="en-US" dirty="0">
                <a:latin typeface="Calibri"/>
                <a:ea typeface="Calibri"/>
                <a:cs typeface="Calibri"/>
              </a:rPr>
              <a:t> </a:t>
            </a:r>
            <a:r>
              <a:rPr lang="en-US" dirty="0" err="1">
                <a:latin typeface="Calibri"/>
                <a:ea typeface="Calibri"/>
                <a:cs typeface="Calibri"/>
              </a:rPr>
              <a:t>binnen</a:t>
            </a:r>
            <a:r>
              <a:rPr lang="en-US" dirty="0">
                <a:latin typeface="Calibri"/>
                <a:ea typeface="Calibri"/>
                <a:cs typeface="Calibri"/>
              </a:rPr>
              <a:t> </a:t>
            </a:r>
            <a:r>
              <a:rPr lang="en-US" dirty="0" err="1">
                <a:latin typeface="Calibri"/>
                <a:ea typeface="Calibri"/>
                <a:cs typeface="Calibri"/>
              </a:rPr>
              <a:t>alles</a:t>
            </a:r>
            <a:r>
              <a:rPr lang="en-US" dirty="0">
                <a:latin typeface="Calibri"/>
                <a:ea typeface="Calibri"/>
                <a:cs typeface="Calibri"/>
              </a:rPr>
              <a:t> wat </a:t>
            </a:r>
            <a:r>
              <a:rPr lang="en-US" dirty="0" err="1">
                <a:latin typeface="Calibri"/>
                <a:ea typeface="Calibri"/>
                <a:cs typeface="Calibri"/>
              </a:rPr>
              <a:t>bereikbaar</a:t>
            </a:r>
            <a:r>
              <a:rPr lang="en-US" dirty="0">
                <a:latin typeface="Calibri"/>
                <a:ea typeface="Calibri"/>
                <a:cs typeface="Calibri"/>
              </a:rPr>
              <a:t> is via HTTP protocol. Je </a:t>
            </a:r>
            <a:r>
              <a:rPr lang="en-US" dirty="0" err="1">
                <a:latin typeface="Calibri"/>
                <a:ea typeface="Calibri"/>
                <a:cs typeface="Calibri"/>
              </a:rPr>
              <a:t>moet</a:t>
            </a:r>
            <a:r>
              <a:rPr lang="en-US" dirty="0">
                <a:latin typeface="Calibri"/>
                <a:ea typeface="Calibri"/>
                <a:cs typeface="Calibri"/>
              </a:rPr>
              <a:t> het </a:t>
            </a:r>
            <a:r>
              <a:rPr lang="en-US" dirty="0" err="1">
                <a:latin typeface="Calibri"/>
                <a:ea typeface="Calibri"/>
                <a:cs typeface="Calibri"/>
              </a:rPr>
              <a:t>eindpunt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kunnen</a:t>
            </a:r>
            <a:r>
              <a:rPr lang="en-US" dirty="0">
                <a:latin typeface="Calibri"/>
                <a:ea typeface="Calibri"/>
                <a:cs typeface="Calibri"/>
              </a:rPr>
              <a:t> </a:t>
            </a:r>
            <a:r>
              <a:rPr lang="en-US" dirty="0" err="1">
                <a:latin typeface="Calibri"/>
                <a:ea typeface="Calibri"/>
                <a:cs typeface="Calibri"/>
              </a:rPr>
              <a:t>bereiken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de server plat </a:t>
            </a:r>
            <a:r>
              <a:rPr lang="en-US" dirty="0" err="1">
                <a:latin typeface="Calibri"/>
                <a:ea typeface="Calibri"/>
                <a:cs typeface="Calibri"/>
              </a:rPr>
              <a:t>ligt</a:t>
            </a:r>
            <a:r>
              <a:rPr lang="en-US" dirty="0">
                <a:latin typeface="Calibri"/>
                <a:ea typeface="Calibri"/>
                <a:cs typeface="Calibri"/>
              </a:rPr>
              <a:t>, of je </a:t>
            </a:r>
            <a:r>
              <a:rPr lang="en-US" dirty="0" err="1">
                <a:latin typeface="Calibri"/>
                <a:ea typeface="Calibri"/>
                <a:cs typeface="Calibri"/>
              </a:rPr>
              <a:t>hebt</a:t>
            </a:r>
            <a:r>
              <a:rPr lang="en-US" dirty="0">
                <a:latin typeface="Calibri"/>
                <a:ea typeface="Calibri"/>
                <a:cs typeface="Calibri"/>
              </a:rPr>
              <a:t> </a:t>
            </a:r>
            <a:r>
              <a:rPr lang="en-US" dirty="0" err="1">
                <a:latin typeface="Calibri"/>
                <a:ea typeface="Calibri"/>
                <a:cs typeface="Calibri"/>
              </a:rPr>
              <a:t>geen</a:t>
            </a:r>
            <a:r>
              <a:rPr lang="en-US" dirty="0">
                <a:latin typeface="Calibri"/>
                <a:ea typeface="Calibri"/>
                <a:cs typeface="Calibri"/>
              </a:rPr>
              <a:t> internet op het </a:t>
            </a:r>
            <a:r>
              <a:rPr lang="en-US" dirty="0" err="1">
                <a:latin typeface="Calibri"/>
                <a:ea typeface="Calibri"/>
                <a:cs typeface="Calibri"/>
              </a:rPr>
              <a:t>toestel</a:t>
            </a:r>
            <a:r>
              <a:rPr lang="en-US" dirty="0">
                <a:latin typeface="Calibri"/>
                <a:ea typeface="Calibri"/>
                <a:cs typeface="Calibri"/>
              </a:rPr>
              <a:t> </a:t>
            </a:r>
            <a:r>
              <a:rPr lang="en-US" dirty="0" err="1">
                <a:latin typeface="Calibri"/>
                <a:ea typeface="Calibri"/>
                <a:cs typeface="Calibri"/>
              </a:rPr>
              <a:t>waarop</a:t>
            </a:r>
            <a:r>
              <a:rPr lang="en-US" dirty="0">
                <a:latin typeface="Calibri"/>
                <a:ea typeface="Calibri"/>
                <a:cs typeface="Calibri"/>
              </a:rPr>
              <a:t> je </a:t>
            </a:r>
            <a:r>
              <a:rPr lang="en-US" dirty="0" err="1">
                <a:latin typeface="Calibri"/>
                <a:ea typeface="Calibri"/>
                <a:cs typeface="Calibri"/>
              </a:rPr>
              <a:t>een</a:t>
            </a:r>
            <a:r>
              <a:rPr lang="en-US" dirty="0">
                <a:latin typeface="Calibri"/>
                <a:ea typeface="Calibri"/>
                <a:cs typeface="Calibri"/>
              </a:rPr>
              <a:t> API request </a:t>
            </a:r>
            <a:r>
              <a:rPr lang="en-US" dirty="0" err="1">
                <a:latin typeface="Calibri"/>
                <a:ea typeface="Calibri"/>
                <a:cs typeface="Calibri"/>
              </a:rPr>
              <a:t>maakt</a:t>
            </a:r>
            <a:r>
              <a:rPr lang="en-US" dirty="0">
                <a:latin typeface="Calibri"/>
                <a:ea typeface="Calibri"/>
                <a:cs typeface="Calibri"/>
              </a:rPr>
              <a:t>: dan </a:t>
            </a:r>
            <a:r>
              <a:rPr lang="en-US" dirty="0" err="1">
                <a:latin typeface="Calibri"/>
                <a:ea typeface="Calibri"/>
                <a:cs typeface="Calibri"/>
              </a:rPr>
              <a:t>mislukt</a:t>
            </a:r>
            <a:r>
              <a:rPr lang="en-US" dirty="0">
                <a:latin typeface="Calibri"/>
                <a:ea typeface="Calibri"/>
                <a:cs typeface="Calibri"/>
              </a:rPr>
              <a:t> deze.</a:t>
            </a:r>
          </a:p>
        </p:txBody>
      </p:sp>
      <p:sp>
        <p:nvSpPr>
          <p:cNvPr id="4" name="Tijdelijke aanduiding voor dianummer 3">
            <a:extLst>
              <a:ext uri="{FF2B5EF4-FFF2-40B4-BE49-F238E27FC236}">
                <a16:creationId xmlns:a16="http://schemas.microsoft.com/office/drawing/2014/main" id="{E5C562AF-BF8D-ADF5-A7EC-48F9BE409D12}"/>
              </a:ext>
            </a:extLst>
          </p:cNvPr>
          <p:cNvSpPr>
            <a:spLocks noGrp="1"/>
          </p:cNvSpPr>
          <p:nvPr>
            <p:ph type="sldNum" sz="quarter" idx="5"/>
          </p:nvPr>
        </p:nvSpPr>
        <p:spPr/>
        <p:txBody>
          <a:bodyPr/>
          <a:lstStyle/>
          <a:p>
            <a:fld id="{39DBD449-D42A-4711-8837-53EC15580D9C}" type="slidenum">
              <a:rPr lang="nl-BE" smtClean="0"/>
              <a:t>4</a:t>
            </a:fld>
            <a:endParaRPr lang="nl-BE"/>
          </a:p>
        </p:txBody>
      </p:sp>
    </p:spTree>
    <p:extLst>
      <p:ext uri="{BB962C8B-B14F-4D97-AF65-F5344CB8AC3E}">
        <p14:creationId xmlns:p14="http://schemas.microsoft.com/office/powerpoint/2010/main" val="3257331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07289-4631-6BC9-7884-84D774A110D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EC33C88-A0ED-91FD-A375-1ED2EACA877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56DD2799-19BA-9345-3D1B-A870ECBF067A}"/>
              </a:ext>
            </a:extLst>
          </p:cNvPr>
          <p:cNvSpPr>
            <a:spLocks noGrp="1"/>
          </p:cNvSpPr>
          <p:nvPr>
            <p:ph type="body" idx="1"/>
          </p:nvPr>
        </p:nvSpPr>
        <p:spPr/>
        <p:txBody>
          <a:bodyPr/>
          <a:lstStyle/>
          <a:p>
            <a:r>
              <a:rPr lang="en-US" dirty="0">
                <a:latin typeface="Calibri"/>
                <a:ea typeface="Calibri"/>
                <a:cs typeface="Calibri"/>
              </a:rPr>
              <a:t>Een Application Programming Interface of API </a:t>
            </a:r>
            <a:r>
              <a:rPr lang="en-US" dirty="0" err="1">
                <a:latin typeface="Calibri"/>
                <a:ea typeface="Calibri"/>
                <a:cs typeface="Calibri"/>
              </a:rPr>
              <a:t>fungeert</a:t>
            </a:r>
            <a:r>
              <a:rPr lang="en-US" dirty="0">
                <a:latin typeface="Calibri"/>
                <a:ea typeface="Calibri"/>
                <a:cs typeface="Calibri"/>
              </a:rPr>
              <a:t> </a:t>
            </a:r>
            <a:r>
              <a:rPr lang="en-US" dirty="0" err="1">
                <a:latin typeface="Calibri"/>
                <a:ea typeface="Calibri"/>
                <a:cs typeface="Calibri"/>
              </a:rPr>
              <a:t>vaak</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tussenlaag</a:t>
            </a:r>
            <a:r>
              <a:rPr lang="en-US" dirty="0">
                <a:latin typeface="Calibri"/>
                <a:ea typeface="Calibri"/>
                <a:cs typeface="Calibri"/>
              </a:rPr>
              <a:t> die </a:t>
            </a:r>
            <a:r>
              <a:rPr lang="en-US" dirty="0" err="1">
                <a:latin typeface="Calibri"/>
                <a:ea typeface="Calibri"/>
                <a:cs typeface="Calibri"/>
              </a:rPr>
              <a:t>een</a:t>
            </a:r>
            <a:r>
              <a:rPr lang="en-US" dirty="0">
                <a:latin typeface="Calibri"/>
                <a:ea typeface="Calibri"/>
                <a:cs typeface="Calibri"/>
              </a:rPr>
              <a:t> developer </a:t>
            </a:r>
            <a:r>
              <a:rPr lang="en-US" dirty="0" err="1">
                <a:latin typeface="Calibri"/>
                <a:ea typeface="Calibri"/>
                <a:cs typeface="Calibri"/>
              </a:rPr>
              <a:t>heeft</a:t>
            </a:r>
            <a:r>
              <a:rPr lang="en-US" dirty="0">
                <a:latin typeface="Calibri"/>
                <a:ea typeface="Calibri"/>
                <a:cs typeface="Calibri"/>
              </a:rPr>
              <a:t> </a:t>
            </a:r>
            <a:r>
              <a:rPr lang="en-US" dirty="0" err="1">
                <a:latin typeface="Calibri"/>
                <a:ea typeface="Calibri"/>
                <a:cs typeface="Calibri"/>
              </a:rPr>
              <a:t>gemaakt</a:t>
            </a:r>
            <a:r>
              <a:rPr lang="en-US" dirty="0">
                <a:latin typeface="Calibri"/>
                <a:ea typeface="Calibri"/>
                <a:cs typeface="Calibri"/>
              </a:rPr>
              <a:t> om </a:t>
            </a:r>
            <a:r>
              <a:rPr lang="en-US" dirty="0" err="1">
                <a:latin typeface="Calibri"/>
                <a:ea typeface="Calibri"/>
                <a:cs typeface="Calibri"/>
              </a:rPr>
              <a:t>gegevens</a:t>
            </a:r>
            <a:r>
              <a:rPr lang="en-US" dirty="0">
                <a:latin typeface="Calibri"/>
                <a:ea typeface="Calibri"/>
                <a:cs typeface="Calibri"/>
              </a:rPr>
              <a:t> </a:t>
            </a:r>
            <a:r>
              <a:rPr lang="en-US" dirty="0" err="1">
                <a:latin typeface="Calibri"/>
                <a:ea typeface="Calibri"/>
                <a:cs typeface="Calibri"/>
              </a:rPr>
              <a:t>uit</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wisselen</a:t>
            </a:r>
            <a:r>
              <a:rPr lang="en-US" dirty="0">
                <a:latin typeface="Calibri"/>
                <a:ea typeface="Calibri"/>
                <a:cs typeface="Calibri"/>
              </a:rPr>
              <a:t> met </a:t>
            </a:r>
            <a:r>
              <a:rPr lang="en-US" dirty="0" err="1">
                <a:latin typeface="Calibri"/>
                <a:ea typeface="Calibri"/>
                <a:cs typeface="Calibri"/>
              </a:rPr>
              <a:t>andere</a:t>
            </a:r>
            <a:r>
              <a:rPr lang="en-US" dirty="0">
                <a:latin typeface="Calibri"/>
                <a:ea typeface="Calibri"/>
                <a:cs typeface="Calibri"/>
              </a:rPr>
              <a:t> </a:t>
            </a:r>
            <a:r>
              <a:rPr lang="en-US" dirty="0" err="1">
                <a:latin typeface="Calibri"/>
                <a:ea typeface="Calibri"/>
                <a:cs typeface="Calibri"/>
              </a:rPr>
              <a:t>applicaties</a:t>
            </a:r>
            <a:r>
              <a:rPr lang="en-US" dirty="0">
                <a:latin typeface="Calibri"/>
                <a:ea typeface="Calibri"/>
                <a:cs typeface="Calibri"/>
              </a:rPr>
              <a:t>.</a:t>
            </a:r>
          </a:p>
          <a:p>
            <a:endParaRPr lang="en-US" dirty="0">
              <a:latin typeface="Calibri"/>
              <a:ea typeface="Calibri"/>
              <a:cs typeface="Calibri"/>
            </a:endParaRPr>
          </a:p>
          <a:p>
            <a:r>
              <a:rPr lang="en-US" dirty="0">
                <a:latin typeface="Calibri"/>
                <a:ea typeface="Calibri"/>
                <a:cs typeface="Calibri"/>
              </a:rPr>
              <a:t>Als </a:t>
            </a:r>
            <a:r>
              <a:rPr lang="en-US" dirty="0" err="1">
                <a:latin typeface="Calibri"/>
                <a:ea typeface="Calibri"/>
                <a:cs typeface="Calibri"/>
              </a:rPr>
              <a:t>jij</a:t>
            </a:r>
            <a:r>
              <a:rPr lang="en-US" dirty="0">
                <a:latin typeface="Calibri"/>
                <a:ea typeface="Calibri"/>
                <a:cs typeface="Calibri"/>
              </a:rPr>
              <a:t> </a:t>
            </a:r>
            <a:r>
              <a:rPr lang="en-US" dirty="0" err="1">
                <a:latin typeface="Calibri"/>
                <a:ea typeface="Calibri"/>
                <a:cs typeface="Calibri"/>
              </a:rPr>
              <a:t>dus</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applicatie</a:t>
            </a:r>
            <a:r>
              <a:rPr lang="en-US" dirty="0">
                <a:latin typeface="Calibri"/>
                <a:ea typeface="Calibri"/>
                <a:cs typeface="Calibri"/>
              </a:rPr>
              <a:t> </a:t>
            </a:r>
            <a:r>
              <a:rPr lang="en-US" dirty="0" err="1">
                <a:latin typeface="Calibri"/>
                <a:ea typeface="Calibri"/>
                <a:cs typeface="Calibri"/>
              </a:rPr>
              <a:t>maakt</a:t>
            </a:r>
            <a:r>
              <a:rPr lang="en-US" dirty="0">
                <a:latin typeface="Calibri"/>
                <a:ea typeface="Calibri"/>
                <a:cs typeface="Calibri"/>
              </a:rPr>
              <a:t> om je </a:t>
            </a:r>
            <a:r>
              <a:rPr lang="en-US" dirty="0" err="1">
                <a:latin typeface="Calibri"/>
                <a:ea typeface="Calibri"/>
                <a:cs typeface="Calibri"/>
              </a:rPr>
              <a:t>vrienden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zoeken</a:t>
            </a:r>
            <a:r>
              <a:rPr lang="en-US" dirty="0">
                <a:latin typeface="Calibri"/>
                <a:ea typeface="Calibri"/>
                <a:cs typeface="Calibri"/>
              </a:rPr>
              <a:t>: dan is het </a:t>
            </a:r>
            <a:r>
              <a:rPr lang="en-US" dirty="0" err="1">
                <a:latin typeface="Calibri"/>
                <a:ea typeface="Calibri"/>
                <a:cs typeface="Calibri"/>
              </a:rPr>
              <a:t>handig</a:t>
            </a:r>
            <a:r>
              <a:rPr lang="en-US" dirty="0">
                <a:latin typeface="Calibri"/>
                <a:ea typeface="Calibri"/>
                <a:cs typeface="Calibri"/>
              </a:rPr>
              <a:t> om Facebook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gebruiken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a:t>
            </a:r>
            <a:r>
              <a:rPr lang="en-US" dirty="0" err="1">
                <a:latin typeface="Calibri"/>
                <a:ea typeface="Calibri"/>
                <a:cs typeface="Calibri"/>
              </a:rPr>
              <a:t>contactenboek</a:t>
            </a:r>
            <a:r>
              <a:rPr lang="en-US" dirty="0">
                <a:latin typeface="Calibri"/>
                <a:ea typeface="Calibri"/>
                <a:cs typeface="Calibri"/>
              </a:rPr>
              <a:t>. Je </a:t>
            </a:r>
            <a:r>
              <a:rPr lang="en-US" dirty="0" err="1">
                <a:latin typeface="Calibri"/>
                <a:ea typeface="Calibri"/>
                <a:cs typeface="Calibri"/>
              </a:rPr>
              <a:t>kan</a:t>
            </a:r>
            <a:r>
              <a:rPr lang="en-US" dirty="0">
                <a:latin typeface="Calibri"/>
                <a:ea typeface="Calibri"/>
                <a:cs typeface="Calibri"/>
              </a:rPr>
              <a:t> </a:t>
            </a:r>
            <a:r>
              <a:rPr lang="en-US" dirty="0" err="1">
                <a:latin typeface="Calibri"/>
                <a:ea typeface="Calibri"/>
                <a:cs typeface="Calibri"/>
              </a:rPr>
              <a:t>dit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combineren</a:t>
            </a:r>
            <a:r>
              <a:rPr lang="en-US" dirty="0">
                <a:latin typeface="Calibri"/>
                <a:ea typeface="Calibri"/>
                <a:cs typeface="Calibri"/>
              </a:rPr>
              <a:t>: </a:t>
            </a:r>
            <a:r>
              <a:rPr lang="en-US" dirty="0" err="1">
                <a:latin typeface="Calibri"/>
                <a:ea typeface="Calibri"/>
                <a:cs typeface="Calibri"/>
              </a:rPr>
              <a:t>bijvoorbeeld</a:t>
            </a:r>
            <a:r>
              <a:rPr lang="en-US" dirty="0">
                <a:latin typeface="Calibri"/>
                <a:ea typeface="Calibri"/>
                <a:cs typeface="Calibri"/>
              </a:rPr>
              <a:t> de Facebook API </a:t>
            </a:r>
            <a:r>
              <a:rPr lang="en-US" dirty="0" err="1">
                <a:latin typeface="Calibri"/>
                <a:ea typeface="Calibri"/>
                <a:cs typeface="Calibri"/>
              </a:rPr>
              <a:t>én</a:t>
            </a:r>
            <a:r>
              <a:rPr lang="en-US" dirty="0">
                <a:latin typeface="Calibri"/>
                <a:ea typeface="Calibri"/>
                <a:cs typeface="Calibri"/>
              </a:rPr>
              <a:t> de Snapchat API: je </a:t>
            </a:r>
            <a:r>
              <a:rPr lang="en-US" dirty="0" err="1">
                <a:latin typeface="Calibri"/>
                <a:ea typeface="Calibri"/>
                <a:cs typeface="Calibri"/>
              </a:rPr>
              <a:t>maakt</a:t>
            </a:r>
            <a:r>
              <a:rPr lang="en-US" dirty="0">
                <a:latin typeface="Calibri"/>
                <a:ea typeface="Calibri"/>
                <a:cs typeface="Calibri"/>
              </a:rPr>
              <a:t> </a:t>
            </a:r>
            <a:r>
              <a:rPr lang="en-US" dirty="0" err="1">
                <a:latin typeface="Calibri"/>
                <a:ea typeface="Calibri"/>
                <a:cs typeface="Calibri"/>
              </a:rPr>
              <a:t>meer</a:t>
            </a:r>
            <a:r>
              <a:rPr lang="en-US" dirty="0">
                <a:latin typeface="Calibri"/>
                <a:ea typeface="Calibri"/>
                <a:cs typeface="Calibri"/>
              </a:rPr>
              <a:t> </a:t>
            </a:r>
            <a:r>
              <a:rPr lang="en-US" dirty="0" err="1">
                <a:latin typeface="Calibri"/>
                <a:ea typeface="Calibri"/>
                <a:cs typeface="Calibri"/>
              </a:rPr>
              <a:t>kans</a:t>
            </a:r>
            <a:r>
              <a:rPr lang="en-US" dirty="0">
                <a:latin typeface="Calibri"/>
                <a:ea typeface="Calibri"/>
                <a:cs typeface="Calibri"/>
              </a:rPr>
              <a:t> om </a:t>
            </a:r>
            <a:r>
              <a:rPr lang="en-US" dirty="0" err="1">
                <a:latin typeface="Calibri"/>
                <a:ea typeface="Calibri"/>
                <a:cs typeface="Calibri"/>
              </a:rPr>
              <a:t>mensen</a:t>
            </a:r>
            <a:r>
              <a:rPr lang="en-US" dirty="0">
                <a:latin typeface="Calibri"/>
                <a:ea typeface="Calibri"/>
                <a:cs typeface="Calibri"/>
              </a:rPr>
              <a:t> </a:t>
            </a:r>
            <a:r>
              <a:rPr lang="en-US" dirty="0" err="1">
                <a:latin typeface="Calibri"/>
                <a:ea typeface="Calibri"/>
                <a:cs typeface="Calibri"/>
              </a:rPr>
              <a:t>te</a:t>
            </a:r>
            <a:r>
              <a:rPr lang="en-US" dirty="0">
                <a:latin typeface="Calibri"/>
                <a:ea typeface="Calibri"/>
                <a:cs typeface="Calibri"/>
              </a:rPr>
              <a:t> </a:t>
            </a:r>
            <a:r>
              <a:rPr lang="en-US" dirty="0" err="1">
                <a:latin typeface="Calibri"/>
                <a:ea typeface="Calibri"/>
                <a:cs typeface="Calibri"/>
              </a:rPr>
              <a:t>vinden</a:t>
            </a:r>
            <a:r>
              <a:rPr lang="en-US" dirty="0">
                <a:latin typeface="Calibri"/>
                <a:ea typeface="Calibri"/>
                <a:cs typeface="Calibri"/>
              </a:rPr>
              <a:t> die je </a:t>
            </a:r>
            <a:r>
              <a:rPr lang="en-US" dirty="0" err="1">
                <a:latin typeface="Calibri"/>
                <a:ea typeface="Calibri"/>
                <a:cs typeface="Calibri"/>
              </a:rPr>
              <a:t>zoekt</a:t>
            </a:r>
            <a:r>
              <a:rPr lang="en-US" dirty="0">
                <a:latin typeface="Calibri"/>
                <a:ea typeface="Calibri"/>
                <a:cs typeface="Calibri"/>
              </a:rPr>
              <a:t> (</a:t>
            </a:r>
            <a:r>
              <a:rPr lang="en-US" dirty="0" err="1">
                <a:latin typeface="Calibri"/>
                <a:ea typeface="Calibri"/>
                <a:cs typeface="Calibri"/>
              </a:rPr>
              <a:t>voor</a:t>
            </a:r>
            <a:r>
              <a:rPr lang="en-US" dirty="0">
                <a:latin typeface="Calibri"/>
                <a:ea typeface="Calibri"/>
                <a:cs typeface="Calibri"/>
              </a:rPr>
              <a:t> het </a:t>
            </a:r>
            <a:r>
              <a:rPr lang="en-US" dirty="0" err="1">
                <a:latin typeface="Calibri"/>
                <a:ea typeface="Calibri"/>
                <a:cs typeface="Calibri"/>
              </a:rPr>
              <a:t>geval</a:t>
            </a:r>
            <a:r>
              <a:rPr lang="en-US" dirty="0">
                <a:latin typeface="Calibri"/>
                <a:ea typeface="Calibri"/>
                <a:cs typeface="Calibri"/>
              </a:rPr>
              <a:t> </a:t>
            </a:r>
            <a:r>
              <a:rPr lang="en-US" dirty="0" err="1">
                <a:latin typeface="Calibri"/>
                <a:ea typeface="Calibri"/>
                <a:cs typeface="Calibri"/>
              </a:rPr>
              <a:t>dat</a:t>
            </a:r>
            <a:r>
              <a:rPr lang="en-US" dirty="0">
                <a:latin typeface="Calibri"/>
                <a:ea typeface="Calibri"/>
                <a:cs typeface="Calibri"/>
              </a:rPr>
              <a:t> ze </a:t>
            </a:r>
            <a:r>
              <a:rPr lang="en-US" dirty="0" err="1">
                <a:latin typeface="Calibri"/>
                <a:ea typeface="Calibri"/>
                <a:cs typeface="Calibri"/>
              </a:rPr>
              <a:t>geen</a:t>
            </a:r>
            <a:r>
              <a:rPr lang="en-US" dirty="0">
                <a:latin typeface="Calibri"/>
                <a:ea typeface="Calibri"/>
                <a:cs typeface="Calibri"/>
              </a:rPr>
              <a:t> account </a:t>
            </a:r>
            <a:r>
              <a:rPr lang="en-US" dirty="0" err="1">
                <a:latin typeface="Calibri"/>
                <a:ea typeface="Calibri"/>
                <a:cs typeface="Calibri"/>
              </a:rPr>
              <a:t>hebben</a:t>
            </a:r>
            <a:r>
              <a:rPr lang="en-US" dirty="0">
                <a:latin typeface="Calibri"/>
                <a:ea typeface="Calibri"/>
                <a:cs typeface="Calibri"/>
              </a:rPr>
              <a:t> op het platform).</a:t>
            </a:r>
          </a:p>
          <a:p>
            <a:endParaRPr lang="en-US" dirty="0">
              <a:latin typeface="Calibri"/>
              <a:ea typeface="Calibri"/>
              <a:cs typeface="Calibri"/>
            </a:endParaRPr>
          </a:p>
          <a:p>
            <a:r>
              <a:rPr lang="en-US" dirty="0">
                <a:latin typeface="Calibri"/>
                <a:ea typeface="Calibri"/>
                <a:cs typeface="Calibri"/>
              </a:rPr>
              <a:t>Een API </a:t>
            </a:r>
            <a:r>
              <a:rPr lang="en-US" dirty="0" err="1">
                <a:latin typeface="Calibri"/>
                <a:ea typeface="Calibri"/>
                <a:cs typeface="Calibri"/>
              </a:rPr>
              <a:t>binnen</a:t>
            </a:r>
            <a:r>
              <a:rPr lang="en-US" dirty="0">
                <a:latin typeface="Calibri"/>
                <a:ea typeface="Calibri"/>
                <a:cs typeface="Calibri"/>
              </a:rPr>
              <a:t> de </a:t>
            </a:r>
            <a:r>
              <a:rPr lang="en-US" dirty="0" err="1">
                <a:latin typeface="Calibri"/>
                <a:ea typeface="Calibri"/>
                <a:cs typeface="Calibri"/>
              </a:rPr>
              <a:t>webtoepassingen</a:t>
            </a:r>
            <a:r>
              <a:rPr lang="en-US" dirty="0">
                <a:latin typeface="Calibri"/>
                <a:ea typeface="Calibri"/>
                <a:cs typeface="Calibri"/>
              </a:rPr>
              <a:t> is </a:t>
            </a:r>
            <a:r>
              <a:rPr lang="en-US" dirty="0" err="1">
                <a:latin typeface="Calibri"/>
                <a:ea typeface="Calibri"/>
                <a:cs typeface="Calibri"/>
              </a:rPr>
              <a:t>aanroepbaar</a:t>
            </a:r>
            <a:r>
              <a:rPr lang="en-US" dirty="0">
                <a:latin typeface="Calibri"/>
                <a:ea typeface="Calibri"/>
                <a:cs typeface="Calibri"/>
              </a:rPr>
              <a:t> </a:t>
            </a:r>
            <a:r>
              <a:rPr lang="en-US" dirty="0" err="1">
                <a:latin typeface="Calibri"/>
                <a:ea typeface="Calibri"/>
                <a:cs typeface="Calibri"/>
              </a:rPr>
              <a:t>binnen</a:t>
            </a:r>
            <a:r>
              <a:rPr lang="en-US" dirty="0">
                <a:latin typeface="Calibri"/>
                <a:ea typeface="Calibri"/>
                <a:cs typeface="Calibri"/>
              </a:rPr>
              <a:t> </a:t>
            </a:r>
            <a:r>
              <a:rPr lang="en-US" dirty="0" err="1">
                <a:latin typeface="Calibri"/>
                <a:ea typeface="Calibri"/>
                <a:cs typeface="Calibri"/>
              </a:rPr>
              <a:t>alles</a:t>
            </a:r>
            <a:r>
              <a:rPr lang="en-US" dirty="0">
                <a:latin typeface="Calibri"/>
                <a:ea typeface="Calibri"/>
                <a:cs typeface="Calibri"/>
              </a:rPr>
              <a:t> wat </a:t>
            </a:r>
            <a:r>
              <a:rPr lang="en-US" dirty="0" err="1">
                <a:latin typeface="Calibri"/>
                <a:ea typeface="Calibri"/>
                <a:cs typeface="Calibri"/>
              </a:rPr>
              <a:t>bereikbaar</a:t>
            </a:r>
            <a:r>
              <a:rPr lang="en-US" dirty="0">
                <a:latin typeface="Calibri"/>
                <a:ea typeface="Calibri"/>
                <a:cs typeface="Calibri"/>
              </a:rPr>
              <a:t> is via HTTP protocol. Je </a:t>
            </a:r>
            <a:r>
              <a:rPr lang="en-US" dirty="0" err="1">
                <a:latin typeface="Calibri"/>
                <a:ea typeface="Calibri"/>
                <a:cs typeface="Calibri"/>
              </a:rPr>
              <a:t>moet</a:t>
            </a:r>
            <a:r>
              <a:rPr lang="en-US" dirty="0">
                <a:latin typeface="Calibri"/>
                <a:ea typeface="Calibri"/>
                <a:cs typeface="Calibri"/>
              </a:rPr>
              <a:t> het </a:t>
            </a:r>
            <a:r>
              <a:rPr lang="en-US" dirty="0" err="1">
                <a:latin typeface="Calibri"/>
                <a:ea typeface="Calibri"/>
                <a:cs typeface="Calibri"/>
              </a:rPr>
              <a:t>eindpunt</a:t>
            </a:r>
            <a:r>
              <a:rPr lang="en-US" dirty="0">
                <a:latin typeface="Calibri"/>
                <a:ea typeface="Calibri"/>
                <a:cs typeface="Calibri"/>
              </a:rPr>
              <a:t> </a:t>
            </a:r>
            <a:r>
              <a:rPr lang="en-US" dirty="0" err="1">
                <a:latin typeface="Calibri"/>
                <a:ea typeface="Calibri"/>
                <a:cs typeface="Calibri"/>
              </a:rPr>
              <a:t>ook</a:t>
            </a:r>
            <a:r>
              <a:rPr lang="en-US" dirty="0">
                <a:latin typeface="Calibri"/>
                <a:ea typeface="Calibri"/>
                <a:cs typeface="Calibri"/>
              </a:rPr>
              <a:t> </a:t>
            </a:r>
            <a:r>
              <a:rPr lang="en-US" dirty="0" err="1">
                <a:latin typeface="Calibri"/>
                <a:ea typeface="Calibri"/>
                <a:cs typeface="Calibri"/>
              </a:rPr>
              <a:t>kunnen</a:t>
            </a:r>
            <a:r>
              <a:rPr lang="en-US" dirty="0">
                <a:latin typeface="Calibri"/>
                <a:ea typeface="Calibri"/>
                <a:cs typeface="Calibri"/>
              </a:rPr>
              <a:t> </a:t>
            </a:r>
            <a:r>
              <a:rPr lang="en-US" dirty="0" err="1">
                <a:latin typeface="Calibri"/>
                <a:ea typeface="Calibri"/>
                <a:cs typeface="Calibri"/>
              </a:rPr>
              <a:t>bereiken</a:t>
            </a:r>
            <a:r>
              <a:rPr lang="en-US" dirty="0">
                <a:latin typeface="Calibri"/>
                <a:ea typeface="Calibri"/>
                <a:cs typeface="Calibri"/>
              </a:rPr>
              <a:t>: </a:t>
            </a:r>
            <a:r>
              <a:rPr lang="en-US" dirty="0" err="1">
                <a:latin typeface="Calibri"/>
                <a:ea typeface="Calibri"/>
                <a:cs typeface="Calibri"/>
              </a:rPr>
              <a:t>als</a:t>
            </a:r>
            <a:r>
              <a:rPr lang="en-US" dirty="0">
                <a:latin typeface="Calibri"/>
                <a:ea typeface="Calibri"/>
                <a:cs typeface="Calibri"/>
              </a:rPr>
              <a:t> de server plat </a:t>
            </a:r>
            <a:r>
              <a:rPr lang="en-US" dirty="0" err="1">
                <a:latin typeface="Calibri"/>
                <a:ea typeface="Calibri"/>
                <a:cs typeface="Calibri"/>
              </a:rPr>
              <a:t>ligt</a:t>
            </a:r>
            <a:r>
              <a:rPr lang="en-US" dirty="0">
                <a:latin typeface="Calibri"/>
                <a:ea typeface="Calibri"/>
                <a:cs typeface="Calibri"/>
              </a:rPr>
              <a:t>, of je </a:t>
            </a:r>
            <a:r>
              <a:rPr lang="en-US" dirty="0" err="1">
                <a:latin typeface="Calibri"/>
                <a:ea typeface="Calibri"/>
                <a:cs typeface="Calibri"/>
              </a:rPr>
              <a:t>hebt</a:t>
            </a:r>
            <a:r>
              <a:rPr lang="en-US" dirty="0">
                <a:latin typeface="Calibri"/>
                <a:ea typeface="Calibri"/>
                <a:cs typeface="Calibri"/>
              </a:rPr>
              <a:t> </a:t>
            </a:r>
            <a:r>
              <a:rPr lang="en-US" dirty="0" err="1">
                <a:latin typeface="Calibri"/>
                <a:ea typeface="Calibri"/>
                <a:cs typeface="Calibri"/>
              </a:rPr>
              <a:t>geen</a:t>
            </a:r>
            <a:r>
              <a:rPr lang="en-US" dirty="0">
                <a:latin typeface="Calibri"/>
                <a:ea typeface="Calibri"/>
                <a:cs typeface="Calibri"/>
              </a:rPr>
              <a:t> internet op het </a:t>
            </a:r>
            <a:r>
              <a:rPr lang="en-US" dirty="0" err="1">
                <a:latin typeface="Calibri"/>
                <a:ea typeface="Calibri"/>
                <a:cs typeface="Calibri"/>
              </a:rPr>
              <a:t>toestel</a:t>
            </a:r>
            <a:r>
              <a:rPr lang="en-US" dirty="0">
                <a:latin typeface="Calibri"/>
                <a:ea typeface="Calibri"/>
                <a:cs typeface="Calibri"/>
              </a:rPr>
              <a:t> </a:t>
            </a:r>
            <a:r>
              <a:rPr lang="en-US" dirty="0" err="1">
                <a:latin typeface="Calibri"/>
                <a:ea typeface="Calibri"/>
                <a:cs typeface="Calibri"/>
              </a:rPr>
              <a:t>waarop</a:t>
            </a:r>
            <a:r>
              <a:rPr lang="en-US" dirty="0">
                <a:latin typeface="Calibri"/>
                <a:ea typeface="Calibri"/>
                <a:cs typeface="Calibri"/>
              </a:rPr>
              <a:t> je </a:t>
            </a:r>
            <a:r>
              <a:rPr lang="en-US" dirty="0" err="1">
                <a:latin typeface="Calibri"/>
                <a:ea typeface="Calibri"/>
                <a:cs typeface="Calibri"/>
              </a:rPr>
              <a:t>een</a:t>
            </a:r>
            <a:r>
              <a:rPr lang="en-US" dirty="0">
                <a:latin typeface="Calibri"/>
                <a:ea typeface="Calibri"/>
                <a:cs typeface="Calibri"/>
              </a:rPr>
              <a:t> API request </a:t>
            </a:r>
            <a:r>
              <a:rPr lang="en-US" dirty="0" err="1">
                <a:latin typeface="Calibri"/>
                <a:ea typeface="Calibri"/>
                <a:cs typeface="Calibri"/>
              </a:rPr>
              <a:t>maakt</a:t>
            </a:r>
            <a:r>
              <a:rPr lang="en-US" dirty="0">
                <a:latin typeface="Calibri"/>
                <a:ea typeface="Calibri"/>
                <a:cs typeface="Calibri"/>
              </a:rPr>
              <a:t>: dan </a:t>
            </a:r>
            <a:r>
              <a:rPr lang="en-US" dirty="0" err="1">
                <a:latin typeface="Calibri"/>
                <a:ea typeface="Calibri"/>
                <a:cs typeface="Calibri"/>
              </a:rPr>
              <a:t>mislukt</a:t>
            </a:r>
            <a:r>
              <a:rPr lang="en-US" dirty="0">
                <a:latin typeface="Calibri"/>
                <a:ea typeface="Calibri"/>
                <a:cs typeface="Calibri"/>
              </a:rPr>
              <a:t> deze.</a:t>
            </a:r>
          </a:p>
        </p:txBody>
      </p:sp>
      <p:sp>
        <p:nvSpPr>
          <p:cNvPr id="4" name="Tijdelijke aanduiding voor dianummer 3">
            <a:extLst>
              <a:ext uri="{FF2B5EF4-FFF2-40B4-BE49-F238E27FC236}">
                <a16:creationId xmlns:a16="http://schemas.microsoft.com/office/drawing/2014/main" id="{5B0E9FE1-08F0-62CB-FA28-74A500BD6533}"/>
              </a:ext>
            </a:extLst>
          </p:cNvPr>
          <p:cNvSpPr>
            <a:spLocks noGrp="1"/>
          </p:cNvSpPr>
          <p:nvPr>
            <p:ph type="sldNum" sz="quarter" idx="5"/>
          </p:nvPr>
        </p:nvSpPr>
        <p:spPr/>
        <p:txBody>
          <a:bodyPr/>
          <a:lstStyle/>
          <a:p>
            <a:fld id="{39DBD449-D42A-4711-8837-53EC15580D9C}" type="slidenum">
              <a:rPr lang="nl-BE" smtClean="0"/>
              <a:t>5</a:t>
            </a:fld>
            <a:endParaRPr lang="nl-BE"/>
          </a:p>
        </p:txBody>
      </p:sp>
    </p:spTree>
    <p:extLst>
      <p:ext uri="{BB962C8B-B14F-4D97-AF65-F5344CB8AC3E}">
        <p14:creationId xmlns:p14="http://schemas.microsoft.com/office/powerpoint/2010/main" val="4000523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5</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3/2/2026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3/2/2026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3/2/2026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3/2/2026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3/2/2026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3/2/2026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3/2/2026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3/2/2026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3/2/2026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3/2/2026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3/2/2026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3/2/2026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EbbDrop/SmarterSmartchoo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hyperlink" Target="https://school_naam.smartschool.be/results/api/v1/evaluations"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361467"/>
            <a:ext cx="4465597" cy="3381869"/>
          </a:xfrm>
        </p:spPr>
        <p:txBody>
          <a:bodyPr vert="horz" lIns="91440" tIns="45720" rIns="91440" bIns="45720" rtlCol="0" anchor="b">
            <a:noAutofit/>
          </a:bodyPr>
          <a:lstStyle/>
          <a:p>
            <a:pPr algn="l"/>
            <a:r>
              <a:rPr lang="nl-BE" sz="3500" b="0" dirty="0"/>
              <a:t>Webdesign:</a:t>
            </a:r>
            <a:r>
              <a:rPr lang="nl-BE" sz="3500" dirty="0"/>
              <a:t> </a:t>
            </a:r>
            <a:r>
              <a:rPr lang="nl-BE" sz="3500" b="0" dirty="0">
                <a:solidFill>
                  <a:schemeClr val="accent3"/>
                </a:solidFill>
              </a:rPr>
              <a:t>Dynamische Websites</a:t>
            </a:r>
            <a:br>
              <a:rPr lang="nl-BE" sz="3500" b="0" dirty="0"/>
            </a:br>
            <a:br>
              <a:rPr lang="nl-BE" sz="3500" b="0" dirty="0"/>
            </a:br>
            <a:r>
              <a:rPr lang="nl-BE" sz="3500" dirty="0">
                <a:solidFill>
                  <a:schemeClr val="accent3"/>
                </a:solidFill>
              </a:rPr>
              <a:t>H4 Application Programming </a:t>
            </a:r>
            <a:r>
              <a:rPr lang="nl-BE" sz="3500">
                <a:solidFill>
                  <a:schemeClr val="accent3"/>
                </a:solidFill>
              </a:rPr>
              <a:t>Interfaces</a:t>
            </a:r>
            <a:endParaRPr lang="nl-BE" sz="3500" dirty="0">
              <a:solidFill>
                <a:schemeClr val="accent3"/>
              </a:solidFill>
            </a:endParaRP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694A73-250F-5B68-3E87-0A401AB44577}"/>
              </a:ext>
            </a:extLst>
          </p:cNvPr>
          <p:cNvSpPr>
            <a:spLocks noGrp="1"/>
          </p:cNvSpPr>
          <p:nvPr>
            <p:ph type="title"/>
          </p:nvPr>
        </p:nvSpPr>
        <p:spPr/>
        <p:txBody>
          <a:bodyPr/>
          <a:lstStyle/>
          <a:p>
            <a:r>
              <a:rPr lang="nl-NL"/>
              <a:t>API?</a:t>
            </a:r>
          </a:p>
        </p:txBody>
      </p:sp>
      <p:sp>
        <p:nvSpPr>
          <p:cNvPr id="3" name="Tijdelijke aanduiding voor inhoud 2">
            <a:extLst>
              <a:ext uri="{FF2B5EF4-FFF2-40B4-BE49-F238E27FC236}">
                <a16:creationId xmlns:a16="http://schemas.microsoft.com/office/drawing/2014/main" id="{14E83AB8-F25E-C41D-87C7-D90ADE497B3C}"/>
              </a:ext>
            </a:extLst>
          </p:cNvPr>
          <p:cNvSpPr>
            <a:spLocks noGrp="1"/>
          </p:cNvSpPr>
          <p:nvPr>
            <p:ph idx="1"/>
          </p:nvPr>
        </p:nvSpPr>
        <p:spPr/>
        <p:txBody>
          <a:bodyPr vert="horz" lIns="91440" tIns="45720" rIns="91440" bIns="45720" rtlCol="0" anchor="t">
            <a:normAutofit/>
          </a:bodyPr>
          <a:lstStyle/>
          <a:p>
            <a:pPr marL="0" indent="0">
              <a:buNone/>
            </a:pPr>
            <a:r>
              <a:rPr lang="nl-NL" b="1"/>
              <a:t>Doel: Externe gegevens aanbieden of ophalen</a:t>
            </a:r>
            <a:endParaRPr lang="nl-NL" b="1" dirty="0"/>
          </a:p>
          <a:p>
            <a:pPr marL="0" indent="0">
              <a:buNone/>
            </a:pPr>
            <a:r>
              <a:rPr lang="nl-NL" dirty="0"/>
              <a:t>Een dienst host een webpagina (bijvoorbeeld met PHP) die informatie teruggeeft op </a:t>
            </a:r>
            <a:r>
              <a:rPr lang="nl-NL"/>
              <a:t>basis van het verzoek: deze webpagina die dient als een API: noemen we een "endpoint"</a:t>
            </a:r>
          </a:p>
          <a:p>
            <a:pPr marL="0" indent="0">
              <a:buNone/>
            </a:pPr>
            <a:r>
              <a:rPr lang="nl-NL"/>
              <a:t>Voorbeeld fictief endpoint: </a:t>
            </a:r>
            <a:r>
              <a:rPr lang="nl-NL" i="1" dirty="0"/>
              <a:t>https://facebook.com/api/search_people.php?limit=500&amp;firstname=Mark&amp;city=Brusssels</a:t>
            </a:r>
            <a:endParaRPr lang="nl-NL" dirty="0"/>
          </a:p>
          <a:p>
            <a:pPr marL="0" indent="0">
              <a:buNone/>
            </a:pPr>
            <a:r>
              <a:rPr lang="nl-NL"/>
              <a:t>Aanroepbaar via het HTTP-protocol.</a:t>
            </a:r>
          </a:p>
          <a:p>
            <a:pPr marL="0" indent="0">
              <a:buNone/>
            </a:pPr>
            <a:r>
              <a:rPr lang="nl-NL" b="1"/>
              <a:t>Hoe API aanroepen?</a:t>
            </a:r>
            <a:endParaRPr lang="nl-NL"/>
          </a:p>
          <a:p>
            <a:pPr marL="0" indent="0">
              <a:buNone/>
            </a:pPr>
            <a:r>
              <a:rPr lang="nl-NL"/>
              <a:t>Kan binnen alles wat HTTP requests kan maken én het eindpunt kan bereiken.</a:t>
            </a:r>
            <a:endParaRPr lang="nl-NL" b="1" dirty="0"/>
          </a:p>
          <a:p>
            <a:pPr marL="0" indent="0">
              <a:buNone/>
            </a:pPr>
            <a:endParaRPr lang="nl-NL" b="1" dirty="0"/>
          </a:p>
          <a:p>
            <a:pPr marL="0" indent="0">
              <a:buNone/>
            </a:pPr>
            <a:endParaRPr lang="nl-NL" dirty="0"/>
          </a:p>
        </p:txBody>
      </p:sp>
    </p:spTree>
    <p:extLst>
      <p:ext uri="{BB962C8B-B14F-4D97-AF65-F5344CB8AC3E}">
        <p14:creationId xmlns:p14="http://schemas.microsoft.com/office/powerpoint/2010/main" val="367745988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832A6-D17A-7922-AC4E-7A9C4E7738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94D8369-41B1-50CD-8C01-EDAA8E417E97}"/>
              </a:ext>
            </a:extLst>
          </p:cNvPr>
          <p:cNvSpPr>
            <a:spLocks noGrp="1"/>
          </p:cNvSpPr>
          <p:nvPr>
            <p:ph type="title"/>
          </p:nvPr>
        </p:nvSpPr>
        <p:spPr/>
        <p:txBody>
          <a:bodyPr/>
          <a:lstStyle/>
          <a:p>
            <a:r>
              <a:rPr lang="nl-NL"/>
              <a:t>SmarterSmartschool-extensie</a:t>
            </a:r>
            <a:endParaRPr lang="nl-NL" dirty="0"/>
          </a:p>
        </p:txBody>
      </p:sp>
      <p:sp>
        <p:nvSpPr>
          <p:cNvPr id="3" name="Tijdelijke aanduiding voor inhoud 2">
            <a:extLst>
              <a:ext uri="{FF2B5EF4-FFF2-40B4-BE49-F238E27FC236}">
                <a16:creationId xmlns:a16="http://schemas.microsoft.com/office/drawing/2014/main" id="{6369D60A-957D-9D74-E0D6-26AE91CF291B}"/>
              </a:ext>
            </a:extLst>
          </p:cNvPr>
          <p:cNvSpPr>
            <a:spLocks noGrp="1"/>
          </p:cNvSpPr>
          <p:nvPr>
            <p:ph idx="1"/>
          </p:nvPr>
        </p:nvSpPr>
        <p:spPr>
          <a:xfrm>
            <a:off x="612647" y="1695740"/>
            <a:ext cx="10653579" cy="4846178"/>
          </a:xfrm>
        </p:spPr>
        <p:txBody>
          <a:bodyPr vert="horz" lIns="91440" tIns="45720" rIns="91440" bIns="45720" rtlCol="0" anchor="t">
            <a:normAutofit fontScale="92500" lnSpcReduction="10000"/>
          </a:bodyPr>
          <a:lstStyle/>
          <a:p>
            <a:pPr marL="0" indent="0">
              <a:buNone/>
            </a:pPr>
            <a:r>
              <a:rPr lang="nl-NL" b="1"/>
              <a:t>Dit is een populaire extensie.</a:t>
            </a:r>
            <a:endParaRPr lang="nl-NL" b="1" dirty="0"/>
          </a:p>
          <a:p>
            <a:pPr marL="0" indent="0">
              <a:buNone/>
            </a:pPr>
            <a:r>
              <a:rPr lang="nl-NL" b="1"/>
              <a:t>Ook dit maakt gebruik van een API.</a:t>
            </a:r>
            <a:endParaRPr lang="nl-NL" b="1" dirty="0"/>
          </a:p>
          <a:p>
            <a:pPr marL="0" indent="0">
              <a:buNone/>
            </a:pPr>
            <a:r>
              <a:rPr lang="nl-NL" dirty="0">
                <a:ea typeface="+mn-lt"/>
                <a:cs typeface="+mn-lt"/>
                <a:hlinkClick r:id="rId3"/>
              </a:rPr>
              <a:t>https://github.com/EbbDrop/SmarterSmartchool</a:t>
            </a:r>
            <a:endParaRPr lang="nl-NL">
              <a:ea typeface="+mn-lt"/>
              <a:cs typeface="+mn-lt"/>
            </a:endParaRPr>
          </a:p>
          <a:p>
            <a:pPr marL="0" indent="0">
              <a:buNone/>
            </a:pPr>
            <a:r>
              <a:rPr lang="nl-NL">
                <a:ea typeface="+mn-lt"/>
                <a:cs typeface="+mn-lt"/>
              </a:rPr>
              <a:t>Probeer gerust zelf in een aangemelde browser: </a:t>
            </a:r>
            <a:r>
              <a:rPr lang="nl-NL" dirty="0">
                <a:ea typeface="+mn-lt"/>
                <a:cs typeface="+mn-lt"/>
                <a:hlinkClick r:id="rId4"/>
              </a:rPr>
              <a:t>https://school_naam.smartschool.be/results/api/v1/evaluations</a:t>
            </a:r>
          </a:p>
          <a:p>
            <a:pPr marL="0" indent="0">
              <a:buNone/>
            </a:pPr>
            <a:endParaRPr lang="nl-NL" dirty="0">
              <a:ea typeface="+mn-lt"/>
              <a:cs typeface="+mn-lt"/>
            </a:endParaRPr>
          </a:p>
          <a:p>
            <a:pPr marL="0" indent="0">
              <a:buNone/>
            </a:pPr>
            <a:endParaRPr lang="nl-NL" dirty="0">
              <a:ea typeface="+mn-lt"/>
              <a:cs typeface="+mn-lt"/>
            </a:endParaRPr>
          </a:p>
          <a:p>
            <a:pPr marL="0" indent="0">
              <a:buNone/>
            </a:pPr>
            <a:endParaRPr lang="nl-NL" dirty="0">
              <a:ea typeface="+mn-lt"/>
              <a:cs typeface="+mn-lt"/>
            </a:endParaRPr>
          </a:p>
          <a:p>
            <a:pPr marL="0" indent="0">
              <a:buNone/>
            </a:pPr>
            <a:r>
              <a:rPr lang="nl-NL" dirty="0">
                <a:ea typeface="+mn-lt"/>
                <a:cs typeface="+mn-lt"/>
              </a:rPr>
              <a:t>Hoe vond de developer van SmarterSmartschool deze specifieke URL? Simpel! CTRL + SHIFT + I opent de devtools, vervolgens: Network, vervolgens duid je vb. een vak aan of </a:t>
            </a:r>
            <a:r>
              <a:rPr lang="nl-NL">
                <a:ea typeface="+mn-lt"/>
                <a:cs typeface="+mn-lt"/>
              </a:rPr>
              <a:t>je refresht: je ziet een lijst met netwerkverzoeken vanuit browser: dus ook je resultaten uit de Smartschool API.</a:t>
            </a:r>
            <a:endParaRPr lang="nl-NL" dirty="0">
              <a:ea typeface="+mn-lt"/>
              <a:cs typeface="+mn-lt"/>
            </a:endParaRPr>
          </a:p>
          <a:p>
            <a:pPr marL="0" indent="0">
              <a:buNone/>
            </a:pPr>
            <a:endParaRPr lang="nl-NL" dirty="0">
              <a:ea typeface="+mn-lt"/>
              <a:cs typeface="+mn-lt"/>
            </a:endParaRPr>
          </a:p>
        </p:txBody>
      </p:sp>
      <p:pic>
        <p:nvPicPr>
          <p:cNvPr id="4" name="Afbeelding 3" descr="Afbeelding met tekst, schermopname, Lettertype&#10;&#10;Door AI gegenereerde inhoud is mogelijk onjuist.">
            <a:extLst>
              <a:ext uri="{FF2B5EF4-FFF2-40B4-BE49-F238E27FC236}">
                <a16:creationId xmlns:a16="http://schemas.microsoft.com/office/drawing/2014/main" id="{3FC83537-9227-66BC-AC54-B76FB6E6283C}"/>
              </a:ext>
            </a:extLst>
          </p:cNvPr>
          <p:cNvPicPr>
            <a:picLocks noChangeAspect="1"/>
          </p:cNvPicPr>
          <p:nvPr/>
        </p:nvPicPr>
        <p:blipFill>
          <a:blip r:embed="rId5"/>
          <a:stretch>
            <a:fillRect/>
          </a:stretch>
        </p:blipFill>
        <p:spPr>
          <a:xfrm>
            <a:off x="613559" y="3770038"/>
            <a:ext cx="8263248" cy="1242717"/>
          </a:xfrm>
          <a:prstGeom prst="rect">
            <a:avLst/>
          </a:prstGeom>
        </p:spPr>
      </p:pic>
    </p:spTree>
    <p:extLst>
      <p:ext uri="{BB962C8B-B14F-4D97-AF65-F5344CB8AC3E}">
        <p14:creationId xmlns:p14="http://schemas.microsoft.com/office/powerpoint/2010/main" val="278482382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2AEC67-4F42-CDBA-F3A8-1C5D66CA353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19BD527-236C-A155-6AA2-2BF14B2A10EB}"/>
              </a:ext>
            </a:extLst>
          </p:cNvPr>
          <p:cNvSpPr>
            <a:spLocks noGrp="1"/>
          </p:cNvSpPr>
          <p:nvPr>
            <p:ph type="title"/>
          </p:nvPr>
        </p:nvSpPr>
        <p:spPr/>
        <p:txBody>
          <a:bodyPr/>
          <a:lstStyle/>
          <a:p>
            <a:r>
              <a:rPr lang="nl-NL"/>
              <a:t>Opdracht: Verzin een onderwerp</a:t>
            </a:r>
          </a:p>
        </p:txBody>
      </p:sp>
      <p:sp>
        <p:nvSpPr>
          <p:cNvPr id="3" name="Tijdelijke aanduiding voor inhoud 2">
            <a:extLst>
              <a:ext uri="{FF2B5EF4-FFF2-40B4-BE49-F238E27FC236}">
                <a16:creationId xmlns:a16="http://schemas.microsoft.com/office/drawing/2014/main" id="{4401C6EE-2DDA-3228-B51D-EF72E8ED003E}"/>
              </a:ext>
            </a:extLst>
          </p:cNvPr>
          <p:cNvSpPr>
            <a:spLocks noGrp="1"/>
          </p:cNvSpPr>
          <p:nvPr>
            <p:ph idx="1"/>
          </p:nvPr>
        </p:nvSpPr>
        <p:spPr/>
        <p:txBody>
          <a:bodyPr vert="horz" lIns="91440" tIns="45720" rIns="91440" bIns="45720" rtlCol="0" anchor="t">
            <a:normAutofit fontScale="92500" lnSpcReduction="10000"/>
          </a:bodyPr>
          <a:lstStyle/>
          <a:p>
            <a:pPr marL="0" indent="0">
              <a:buNone/>
            </a:pPr>
            <a:r>
              <a:rPr lang="nl-NL"/>
              <a:t>Bedenk een concept waarvoor je een API (of een combinatie van API's) kan gebruiken.</a:t>
            </a:r>
          </a:p>
          <a:p>
            <a:pPr marL="0" indent="0">
              <a:buNone/>
            </a:pPr>
            <a:r>
              <a:rPr lang="nl-NL"/>
              <a:t>Je mag deze ook uitwerken in een webapplicatie.</a:t>
            </a:r>
            <a:endParaRPr lang="nl-NL" dirty="0"/>
          </a:p>
          <a:p>
            <a:pPr marL="0" indent="0">
              <a:buNone/>
            </a:pPr>
            <a:r>
              <a:rPr lang="nl-NL"/>
              <a:t>Tip: Om een API verzoek op te stellen, en het resultaat op te halen binnen PHP – heb je nodig:</a:t>
            </a:r>
            <a:endParaRPr lang="nl-NL" dirty="0"/>
          </a:p>
          <a:p>
            <a:pPr marL="0" indent="0">
              <a:buNone/>
            </a:pPr>
            <a:endParaRPr lang="nl-NL" dirty="0"/>
          </a:p>
          <a:p>
            <a:pPr marL="342900" indent="-342900">
              <a:buFont typeface="Calibri" panose="020B0604020202020204" pitchFamily="34" charset="0"/>
              <a:buChar char="-"/>
            </a:pPr>
            <a:r>
              <a:rPr lang="nl-NL"/>
              <a:t>file_get_contents(string $url)</a:t>
            </a:r>
            <a:endParaRPr lang="nl-NL" dirty="0"/>
          </a:p>
          <a:p>
            <a:pPr marL="0" indent="0">
              <a:buNone/>
            </a:pPr>
            <a:r>
              <a:rPr lang="nl-NL" dirty="0"/>
              <a:t>Vaak geeft een API endpoint het resultaat terug in een JSON structuur (als string): om </a:t>
            </a:r>
            <a:r>
              <a:rPr lang="nl-NL"/>
              <a:t>deze in bruikbare PHP-waarden om te zetten: json_decode($result_of_file_get_contents)</a:t>
            </a:r>
            <a:endParaRPr lang="nl-NL" dirty="0"/>
          </a:p>
          <a:p>
            <a:pPr marL="0" indent="0">
              <a:buNone/>
            </a:pPr>
            <a:r>
              <a:rPr lang="nl-NL"/>
              <a:t>💡Tip! Experimenteer met de data die je terugkrijgt: dankzij print_r($result_of_json_decode) toon je (net zoals echo) wat in de array zit.</a:t>
            </a:r>
            <a:r>
              <a:rPr lang="nl-NL" dirty="0"/>
              <a:t> </a:t>
            </a:r>
          </a:p>
          <a:p>
            <a:pPr marL="0" indent="0">
              <a:buNone/>
            </a:pPr>
            <a:r>
              <a:rPr lang="nl-NL" dirty="0"/>
              <a:t>Er zijn veel API's voor veel onderwerpen: sportwedstrijden, grapjes, quizvragen, en zelfs </a:t>
            </a:r>
            <a:r>
              <a:rPr lang="nl-NL"/>
              <a:t>Smartschool-resultaten (ook hoe SmarterSmartschool-extensie werkt)</a:t>
            </a:r>
            <a:endParaRPr lang="nl-NL" dirty="0"/>
          </a:p>
          <a:p>
            <a:pPr marL="0" indent="0">
              <a:buNone/>
            </a:pPr>
            <a:endParaRPr lang="nl-NL" dirty="0"/>
          </a:p>
        </p:txBody>
      </p:sp>
    </p:spTree>
    <p:extLst>
      <p:ext uri="{BB962C8B-B14F-4D97-AF65-F5344CB8AC3E}">
        <p14:creationId xmlns:p14="http://schemas.microsoft.com/office/powerpoint/2010/main" val="336032491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B3BFC-5C8F-EEEE-346B-32AE0EB28DB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7D052B-08F8-E576-ADA8-0A35AFAAB5CE}"/>
              </a:ext>
            </a:extLst>
          </p:cNvPr>
          <p:cNvSpPr>
            <a:spLocks noGrp="1"/>
          </p:cNvSpPr>
          <p:nvPr>
            <p:ph type="title"/>
          </p:nvPr>
        </p:nvSpPr>
        <p:spPr/>
        <p:txBody>
          <a:bodyPr/>
          <a:lstStyle/>
          <a:p>
            <a:r>
              <a:rPr lang="nl-NL"/>
              <a:t>Opdracht: Maak zelf een eenvoudige API</a:t>
            </a:r>
          </a:p>
        </p:txBody>
      </p:sp>
      <p:sp>
        <p:nvSpPr>
          <p:cNvPr id="3" name="Tijdelijke aanduiding voor inhoud 2">
            <a:extLst>
              <a:ext uri="{FF2B5EF4-FFF2-40B4-BE49-F238E27FC236}">
                <a16:creationId xmlns:a16="http://schemas.microsoft.com/office/drawing/2014/main" id="{58982348-23F4-38E3-F446-E9192CA847C5}"/>
              </a:ext>
            </a:extLst>
          </p:cNvPr>
          <p:cNvSpPr>
            <a:spLocks noGrp="1"/>
          </p:cNvSpPr>
          <p:nvPr>
            <p:ph idx="1"/>
          </p:nvPr>
        </p:nvSpPr>
        <p:spPr/>
        <p:txBody>
          <a:bodyPr vert="horz" lIns="91440" tIns="45720" rIns="91440" bIns="45720" rtlCol="0" anchor="t">
            <a:normAutofit/>
          </a:bodyPr>
          <a:lstStyle/>
          <a:p>
            <a:pPr>
              <a:buNone/>
            </a:pPr>
            <a:r>
              <a:rPr lang="nl-NL"/>
              <a:t>Uit eerdere oefeningen (zoals de garage) hebben we al bestaande databases. =&gt; Ideale basis</a:t>
            </a:r>
          </a:p>
          <a:p>
            <a:pPr>
              <a:buNone/>
            </a:pPr>
            <a:endParaRPr lang="nl-NL" dirty="0"/>
          </a:p>
          <a:p>
            <a:pPr>
              <a:buNone/>
            </a:pPr>
            <a:r>
              <a:rPr lang="nl-NL"/>
              <a:t>Maak enkele pagina's in een nieuwe workspace: get_all_users.php, get_all_vehicles.php</a:t>
            </a:r>
            <a:endParaRPr lang="nl-NL" dirty="0"/>
          </a:p>
          <a:p>
            <a:pPr>
              <a:buNone/>
            </a:pPr>
            <a:endParaRPr lang="nl-NL" dirty="0"/>
          </a:p>
          <a:p>
            <a:pPr>
              <a:buNone/>
            </a:pPr>
            <a:r>
              <a:rPr lang="nl-NL" dirty="0"/>
              <a:t>Deze pagina's moeten de data uit de DB halen, vervolgens encoderen met JSON </a:t>
            </a:r>
            <a:r>
              <a:rPr lang="nl-NL"/>
              <a:t>(json_encode) en terugsturen via "echo".</a:t>
            </a:r>
            <a:endParaRPr lang="nl-NL" dirty="0"/>
          </a:p>
          <a:p>
            <a:pPr>
              <a:buNone/>
            </a:pPr>
            <a:endParaRPr lang="nl-NL" dirty="0"/>
          </a:p>
          <a:p>
            <a:pPr>
              <a:buNone/>
            </a:pPr>
            <a:r>
              <a:rPr lang="nl-NL" dirty="0"/>
              <a:t>Let erop om de gevoelige velden zoals password of password_hash niet mee te sturen </a:t>
            </a:r>
            <a:r>
              <a:rPr lang="nl-NL"/>
              <a:t>(dus: SELECT * niet gebruiken, maar SELECT name, email, ….)</a:t>
            </a:r>
            <a:endParaRPr lang="nl-NL" dirty="0"/>
          </a:p>
        </p:txBody>
      </p:sp>
    </p:spTree>
    <p:extLst>
      <p:ext uri="{BB962C8B-B14F-4D97-AF65-F5344CB8AC3E}">
        <p14:creationId xmlns:p14="http://schemas.microsoft.com/office/powerpoint/2010/main" val="217685725"/>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Breedbeeld</PresentationFormat>
  <Slides>6</Slides>
  <Notes>6</Notes>
  <HiddenSlides>0</HiddenSlides>
  <ScaleCrop>false</ScaleCrop>
  <HeadingPairs>
    <vt:vector size="4" baseType="variant">
      <vt:variant>
        <vt:lpstr>Thema</vt:lpstr>
      </vt:variant>
      <vt:variant>
        <vt:i4>1</vt:i4>
      </vt:variant>
      <vt:variant>
        <vt:lpstr>Diatitels</vt:lpstr>
      </vt:variant>
      <vt:variant>
        <vt:i4>6</vt:i4>
      </vt:variant>
    </vt:vector>
  </HeadingPairs>
  <TitlesOfParts>
    <vt:vector size="7" baseType="lpstr">
      <vt:lpstr>VanillaVTI</vt:lpstr>
      <vt:lpstr>Webdesign: Dynamische Websites  H4 Application Programming Interfaces</vt:lpstr>
      <vt:lpstr>API?</vt:lpstr>
      <vt:lpstr>SmarterSmartschool-extensie</vt:lpstr>
      <vt:lpstr>Opdracht: Verzin een onderwerp</vt:lpstr>
      <vt:lpstr>Opdracht: Maak zelf een eenvoudige API</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157</cp:revision>
  <dcterms:created xsi:type="dcterms:W3CDTF">2025-10-16T12:22:40Z</dcterms:created>
  <dcterms:modified xsi:type="dcterms:W3CDTF">2026-03-03T07:34:08Z</dcterms:modified>
</cp:coreProperties>
</file>